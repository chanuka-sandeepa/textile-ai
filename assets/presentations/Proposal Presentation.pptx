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306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4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2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421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5561-9EDB-F3B8-463C-C5DED1C2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FD3C6-D1C1-8456-77B8-E02533751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6BBED-9C82-32C9-993E-268BD2D8A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9EE83-DE18-93D5-295A-AA13B2709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680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0.svg"/><Relationship Id="rId4" Type="http://schemas.openxmlformats.org/officeDocument/2006/relationships/image" Target="../media/image32.svg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0.svg"/><Relationship Id="rId3" Type="http://schemas.openxmlformats.org/officeDocument/2006/relationships/image" Target="../media/image62.png"/><Relationship Id="rId7" Type="http://schemas.openxmlformats.org/officeDocument/2006/relationships/image" Target="../media/image66.sv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5.png"/><Relationship Id="rId11" Type="http://schemas.openxmlformats.org/officeDocument/2006/relationships/image" Target="../media/image54.svg"/><Relationship Id="rId5" Type="http://schemas.openxmlformats.org/officeDocument/2006/relationships/image" Target="../media/image64.svg"/><Relationship Id="rId15" Type="http://schemas.openxmlformats.org/officeDocument/2006/relationships/image" Target="../media/image72.svg"/><Relationship Id="rId10" Type="http://schemas.openxmlformats.org/officeDocument/2006/relationships/image" Target="../media/image53.png"/><Relationship Id="rId4" Type="http://schemas.openxmlformats.org/officeDocument/2006/relationships/image" Target="../media/image63.png"/><Relationship Id="rId9" Type="http://schemas.openxmlformats.org/officeDocument/2006/relationships/image" Target="../media/image68.svg"/><Relationship Id="rId1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svg"/><Relationship Id="rId3" Type="http://schemas.openxmlformats.org/officeDocument/2006/relationships/image" Target="../media/image83.png"/><Relationship Id="rId7" Type="http://schemas.openxmlformats.org/officeDocument/2006/relationships/image" Target="../media/image58.sv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7.png"/><Relationship Id="rId11" Type="http://schemas.openxmlformats.org/officeDocument/2006/relationships/image" Target="../media/image87.svg"/><Relationship Id="rId5" Type="http://schemas.openxmlformats.org/officeDocument/2006/relationships/image" Target="../media/image32.svg"/><Relationship Id="rId15" Type="http://schemas.openxmlformats.org/officeDocument/2006/relationships/image" Target="../media/image38.svg"/><Relationship Id="rId10" Type="http://schemas.openxmlformats.org/officeDocument/2006/relationships/image" Target="../media/image86.png"/><Relationship Id="rId4" Type="http://schemas.openxmlformats.org/officeDocument/2006/relationships/image" Target="../media/image31.png"/><Relationship Id="rId9" Type="http://schemas.openxmlformats.org/officeDocument/2006/relationships/image" Target="../media/image85.svg"/><Relationship Id="rId1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00.sv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svg"/><Relationship Id="rId4" Type="http://schemas.openxmlformats.org/officeDocument/2006/relationships/image" Target="../media/image98.svg"/><Relationship Id="rId9" Type="http://schemas.openxmlformats.org/officeDocument/2006/relationships/image" Target="../media/image103.png"/><Relationship Id="rId14" Type="http://schemas.openxmlformats.org/officeDocument/2006/relationships/image" Target="../media/image10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8.svg"/><Relationship Id="rId3" Type="http://schemas.openxmlformats.org/officeDocument/2006/relationships/image" Target="../media/image110.png"/><Relationship Id="rId7" Type="http://schemas.openxmlformats.org/officeDocument/2006/relationships/image" Target="../media/image114.sv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113.png"/><Relationship Id="rId11" Type="http://schemas.openxmlformats.org/officeDocument/2006/relationships/image" Target="../media/image66.svg"/><Relationship Id="rId5" Type="http://schemas.openxmlformats.org/officeDocument/2006/relationships/image" Target="../media/image112.svg"/><Relationship Id="rId10" Type="http://schemas.openxmlformats.org/officeDocument/2006/relationships/image" Target="../media/image65.png"/><Relationship Id="rId4" Type="http://schemas.openxmlformats.org/officeDocument/2006/relationships/image" Target="../media/image111.png"/><Relationship Id="rId9" Type="http://schemas.openxmlformats.org/officeDocument/2006/relationships/image" Target="../media/image116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AI-Powered Digital Marketplace for Upcycling Sri Lanka's Textile Waste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760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Project ID: R26-IT-081 | Project Proposal Presentation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52941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BSc (Hons) in Information Technology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Sri Lanka Institute of Information Technology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4CE4B-3244-F832-F4EE-B074E5840E8A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5542" y="492323"/>
            <a:ext cx="4231600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22296" y="6210811"/>
            <a:ext cx="4624754" cy="125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Prof. </a:t>
            </a:r>
            <a:r>
              <a:rPr lang="en-US" sz="3200" b="1" dirty="0" err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Dasuni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 </a:t>
            </a:r>
            <a:r>
              <a:rPr lang="en-US" sz="3200" b="1" dirty="0" err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Nawinna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1266" y="6664346"/>
            <a:ext cx="6620682" cy="576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Supervisor</a:t>
            </a:r>
          </a:p>
        </p:txBody>
      </p:sp>
      <p:sp>
        <p:nvSpPr>
          <p:cNvPr id="7" name="Text 3"/>
          <p:cNvSpPr/>
          <p:nvPr/>
        </p:nvSpPr>
        <p:spPr>
          <a:xfrm>
            <a:off x="8361801" y="6208391"/>
            <a:ext cx="4896645" cy="85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Mr. Nelum Amarasena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455585" y="6669984"/>
            <a:ext cx="5723096" cy="26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Co-Supervisor</a:t>
            </a:r>
          </a:p>
        </p:txBody>
      </p:sp>
      <p:pic>
        <p:nvPicPr>
          <p:cNvPr id="13" name="Picture 12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9052469E-819D-94AD-78E6-2B76B374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83" y="2452632"/>
            <a:ext cx="2924563" cy="3011568"/>
          </a:xfrm>
          <a:prstGeom prst="flowChartConnector">
            <a:avLst/>
          </a:prstGeom>
        </p:spPr>
      </p:pic>
      <p:pic>
        <p:nvPicPr>
          <p:cNvPr id="15" name="Picture 14" descr="A person wearing a tie and a lanyard&#10;&#10;AI-generated content may be incorrect.">
            <a:extLst>
              <a:ext uri="{FF2B5EF4-FFF2-40B4-BE49-F238E27FC236}">
                <a16:creationId xmlns:a16="http://schemas.microsoft.com/office/drawing/2014/main" id="{A904A364-4016-E2EF-B218-7D099EE66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848" y="2685558"/>
            <a:ext cx="2698367" cy="2778642"/>
          </a:xfrm>
          <a:prstGeom prst="flowChartConnector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84F616-8C93-3C42-7BC4-673CDE57935D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765" y="7921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Our Team</a:t>
            </a:r>
            <a:endParaRPr lang="en-US" sz="4400" b="1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1985" y="17486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Meet the dedicated individuals driving this innovative project: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00172" y="5300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Sandeepa S.A.C.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133" y="5665624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AI Fabric Classification Module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25278" y="5175205"/>
            <a:ext cx="29827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Siriwardhana N.S.T.N.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125277" y="5655067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Environmental Impact Prediction Module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456884" y="5175205"/>
            <a:ext cx="2971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Madushanka H.M.T.G.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456884" y="566562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Traceability, Recommendation &amp; AI Pricing Module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788491" y="5194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Thalagala T.A.D.V.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788491" y="5731550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Marketplace Platform &amp; Predictive Analytics Module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B6B3D2-FB66-0B2A-78DE-00B522620FA0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9" name="Picture 28" descr="A person in a white shirt&#10;&#10;AI-generated content may be incorrect.">
            <a:extLst>
              <a:ext uri="{FF2B5EF4-FFF2-40B4-BE49-F238E27FC236}">
                <a16:creationId xmlns:a16="http://schemas.microsoft.com/office/drawing/2014/main" id="{10C25118-A7D6-C622-6E5E-B6D1DBB74C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777"/>
          <a:stretch/>
        </p:blipFill>
        <p:spPr>
          <a:xfrm>
            <a:off x="10740892" y="2604775"/>
            <a:ext cx="2306020" cy="2398216"/>
          </a:xfrm>
          <a:prstGeom prst="flowChartConnector">
            <a:avLst/>
          </a:prstGeom>
          <a:ln w="57150">
            <a:solidFill>
              <a:schemeClr val="tx1"/>
            </a:solidFill>
          </a:ln>
        </p:spPr>
      </p:pic>
      <p:pic>
        <p:nvPicPr>
          <p:cNvPr id="19" name="Picture 18" descr="A person in a suit and glasses&#10;&#10;Description automatically generated">
            <a:extLst>
              <a:ext uri="{FF2B5EF4-FFF2-40B4-BE49-F238E27FC236}">
                <a16:creationId xmlns:a16="http://schemas.microsoft.com/office/drawing/2014/main" id="{10088EE8-0E1C-B598-1E75-9A7B34492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07" b="14387"/>
          <a:stretch/>
        </p:blipFill>
        <p:spPr>
          <a:xfrm>
            <a:off x="7315200" y="2457332"/>
            <a:ext cx="2435604" cy="2693101"/>
          </a:xfrm>
          <a:prstGeom prst="flowChartConnector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942C2D2-5533-F848-6577-BA1CFCB43A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50" t="2278" r="8829" b="33563"/>
          <a:stretch/>
        </p:blipFill>
        <p:spPr>
          <a:xfrm>
            <a:off x="3915565" y="2507689"/>
            <a:ext cx="2435605" cy="2575467"/>
          </a:xfrm>
          <a:prstGeom prst="flowChartConnector">
            <a:avLst/>
          </a:prstGeom>
          <a:ln w="19050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9C84C1-2A15-A5C2-39EA-C7C61148C5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817" b="25658"/>
          <a:stretch/>
        </p:blipFill>
        <p:spPr>
          <a:xfrm>
            <a:off x="691801" y="2394393"/>
            <a:ext cx="2567214" cy="2762279"/>
          </a:xfrm>
          <a:prstGeom prst="flowChartConnector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510" y="573227"/>
            <a:ext cx="4653677" cy="58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5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Introduction</a:t>
            </a:r>
            <a:endParaRPr lang="en-US" sz="365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1510" y="1838682"/>
            <a:ext cx="7840980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Sri Lanka’s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textile and apparel industry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generates a large amount of fabric waste during: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03020" y="2440661"/>
            <a:ext cx="7840980" cy="91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Fabric cutting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Production processes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Quality control operations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1510" y="3644146"/>
            <a:ext cx="7840980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Due to the absence of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transparent and scalable redistribution system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, much of this textile waste is: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84697" y="4335123"/>
            <a:ext cx="7840980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Burned by manufacturers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Disposed of in landfills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1510" y="5062749"/>
            <a:ext cx="7840980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leads to: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84697" y="5471041"/>
            <a:ext cx="7840980" cy="91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pollution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Increased carbon emissions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Loss of reusable textile resources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510" y="6659642"/>
            <a:ext cx="7840980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At the same time,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small-scale designers, artisans, and SMEs struggle to access affordable raw materials for sustainable production.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8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847" y="3157538"/>
            <a:ext cx="5287566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24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The Research Problem</a:t>
            </a:r>
            <a:endParaRPr lang="en-US" sz="24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9847" y="4180403"/>
            <a:ext cx="6398419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Current textile waste management systems have several limitations:</a:t>
            </a:r>
            <a:endParaRPr lang="en-US" sz="1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79847" y="4953952"/>
            <a:ext cx="6398419" cy="182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Manual sorting is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inconsistent, slow, and subjective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automated classification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of textile waste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AI-based pricing or recommendation systems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Lack of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traceability mechanisms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impact tracking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59754" y="4163735"/>
            <a:ext cx="6398419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As a result:</a:t>
            </a:r>
            <a:endParaRPr lang="en-US" sz="1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59754" y="4601885"/>
            <a:ext cx="6398419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Manufacturers lose potential revenue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Buyers cannot find a reliable waste supply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damage increases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59754" y="5733455"/>
            <a:ext cx="6398419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Statistical Evidence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59754" y="6171605"/>
            <a:ext cx="6398419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Global textile waste: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92 million tons annually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Less than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15% is recycled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Sri Lanka’s apparel industry contributes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~7% to GDP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, but produces significant unused textile waste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072738-CB06-094E-8751-53E92DB047A5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2026" y="370229"/>
            <a:ext cx="3116699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Objectives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922645" y="1605082"/>
            <a:ext cx="498634" cy="794028"/>
          </a:xfrm>
          <a:prstGeom prst="roundRect">
            <a:avLst>
              <a:gd name="adj" fmla="val 36003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78498" y="1885236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20303" y="1160415"/>
            <a:ext cx="3453004" cy="30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Main Objective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56850" y="1426596"/>
            <a:ext cx="8576099" cy="68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 and evaluate an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AI-powered digital marketplace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that enables intelligent classification, valuation, environmental impact analysis, and redistribution of textile waste in Sri Lanka, promoting circular economy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principles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68573" y="2895106"/>
            <a:ext cx="2264556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Specific Objectives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22645" y="3334137"/>
            <a:ext cx="8271510" cy="529472"/>
          </a:xfrm>
          <a:prstGeom prst="roundRect">
            <a:avLst>
              <a:gd name="adj" fmla="val 8698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22645" y="3334692"/>
            <a:ext cx="8271510" cy="60960"/>
          </a:xfrm>
          <a:prstGeom prst="roundRect">
            <a:avLst>
              <a:gd name="adj" fmla="val 85894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871412" y="3022134"/>
            <a:ext cx="373975" cy="373975"/>
          </a:xfrm>
          <a:prstGeom prst="roundRect">
            <a:avLst>
              <a:gd name="adj" fmla="val 244508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044899" y="3101211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62542" y="3520649"/>
            <a:ext cx="6914904" cy="38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Module 1 – AI Fabric Classification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err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Sandeepa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22585" y="4303373"/>
            <a:ext cx="8271510" cy="736065"/>
          </a:xfrm>
          <a:prstGeom prst="roundRect">
            <a:avLst>
              <a:gd name="adj" fmla="val 8698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892796" y="4303374"/>
            <a:ext cx="8271510" cy="60960"/>
          </a:xfrm>
          <a:prstGeom prst="roundRect">
            <a:avLst>
              <a:gd name="adj" fmla="val 85894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857911" y="3907241"/>
            <a:ext cx="373975" cy="373975"/>
          </a:xfrm>
          <a:prstGeom prst="roundRect">
            <a:avLst>
              <a:gd name="adj" fmla="val 244508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992932" y="4012786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62543" y="4627981"/>
            <a:ext cx="7536226" cy="38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Module 2 – Environmental Impact Prediction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(Siriwardhana)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922645" y="5330025"/>
            <a:ext cx="8271510" cy="690251"/>
          </a:xfrm>
          <a:prstGeom prst="roundRect">
            <a:avLst>
              <a:gd name="adj" fmla="val 8698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983914" y="5527095"/>
            <a:ext cx="8271510" cy="60960"/>
          </a:xfrm>
          <a:prstGeom prst="roundRect">
            <a:avLst>
              <a:gd name="adj" fmla="val 85894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871412" y="5215028"/>
            <a:ext cx="373975" cy="373975"/>
          </a:xfrm>
          <a:prstGeom prst="roundRect">
            <a:avLst>
              <a:gd name="adj" fmla="val 244508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028551" y="5272056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3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62543" y="5713542"/>
            <a:ext cx="7864472" cy="38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Module 3 – Traceability, Recommendations &amp; AI Pricing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(Madushanka)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847814" y="6672226"/>
            <a:ext cx="8271510" cy="841058"/>
          </a:xfrm>
          <a:prstGeom prst="roundRect">
            <a:avLst>
              <a:gd name="adj" fmla="val 8698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967567" y="6600763"/>
            <a:ext cx="8271510" cy="60960"/>
          </a:xfrm>
          <a:prstGeom prst="roundRect">
            <a:avLst>
              <a:gd name="adj" fmla="val 85894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871412" y="6311474"/>
            <a:ext cx="373975" cy="373975"/>
          </a:xfrm>
          <a:prstGeom prst="roundRect">
            <a:avLst>
              <a:gd name="adj" fmla="val 244508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983569" y="6404938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4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062542" y="6809989"/>
            <a:ext cx="8567857" cy="38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Module 4 – Marketplace Platform &amp; Predictive Analytics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(Thalagala)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4C1409-09DF-78B3-7137-7D56645DCFAF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6477" y="334786"/>
            <a:ext cx="4332327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System Overview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36477" y="1080422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proposed system architecture integrates AI-powered modules into a seamless digital marketplace, driving efficiency and sustainability in textile waste management.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36477" y="6970901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All core modules communicate efficiently through FastAPI microservices, ensuring modularity, scalability, and robust performance across the entire platform.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BE33C-C89C-6CBB-4590-5766052F2DBF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0E838A-8F3E-B29F-E93F-88CA252FE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2522" y="2013616"/>
            <a:ext cx="8615668" cy="48561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375" y="0"/>
            <a:ext cx="5496025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1083" y="1179741"/>
            <a:ext cx="63522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Individual Component</a:t>
            </a:r>
            <a:endParaRPr lang="en-US" sz="4400" b="1" dirty="0">
              <a:latin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6923" y="3406021"/>
            <a:ext cx="7720051" cy="708779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AI-Driven Fabric Classification and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Cataloguing Module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56923" y="650550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Student: </a:t>
            </a:r>
            <a:r>
              <a:rPr lang="en-US" b="1" err="1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Sandeepa</a:t>
            </a:r>
            <a:r>
              <a:rPr lang="en-US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 S.A.C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Student ID: </a:t>
            </a:r>
            <a:r>
              <a:rPr lang="en-US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IT22281814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Project ID: </a:t>
            </a:r>
            <a:r>
              <a:rPr lang="en-US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R26-IT-081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9A82B-1BEE-B13E-57FD-000B285C195B}"/>
              </a:ext>
            </a:extLst>
          </p:cNvPr>
          <p:cNvSpPr/>
          <p:nvPr/>
        </p:nvSpPr>
        <p:spPr>
          <a:xfrm>
            <a:off x="1101969" y="2930769"/>
            <a:ext cx="7111375" cy="180535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7235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Background: 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780058"/>
            <a:ext cx="7623380" cy="55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Most textile factories rely on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manual visual inspection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to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sort fabric waste based on: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55085" y="2661917"/>
            <a:ext cx="432919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Fabric type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Colour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Quality grade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9109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process is: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55085" y="4487960"/>
            <a:ext cx="31217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Time-consuming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Inconsistent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Highly subjective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6256624"/>
            <a:ext cx="131566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Computer vision, utilizing Convolutional Neural Networks (CNNs), can automatically recognize fabric characteristics even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crumpled or folded waste materials.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AutoShape 2" descr="Image result for fabric clasification ">
            <a:extLst>
              <a:ext uri="{FF2B5EF4-FFF2-40B4-BE49-F238E27FC236}">
                <a16:creationId xmlns:a16="http://schemas.microsoft.com/office/drawing/2014/main" id="{9B085A52-E798-DC2B-388E-7E91C098BF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A group of different types of fabric&#10;&#10;Description automatically generated">
            <a:extLst>
              <a:ext uri="{FF2B5EF4-FFF2-40B4-BE49-F238E27FC236}">
                <a16:creationId xmlns:a16="http://schemas.microsoft.com/office/drawing/2014/main" id="{A91087BD-1378-53DE-5922-A7BEE2780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415" y="1886282"/>
            <a:ext cx="6167210" cy="38489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Problem</a:t>
            </a:r>
            <a:endParaRPr lang="en-US" sz="2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99138" y="779502"/>
            <a:ext cx="9328813" cy="1846467"/>
          </a:xfrm>
          <a:prstGeom prst="roundRect">
            <a:avLst>
              <a:gd name="adj" fmla="val 5200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    Manual textile-waste sorting has several challenges: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899138" y="791225"/>
            <a:ext cx="539904" cy="1834744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02663" y="97893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27991" y="908090"/>
            <a:ext cx="356806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82982" y="1260342"/>
            <a:ext cx="7171373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Time-consuming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Subjective human judgement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 classification error rate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02023" y="3229201"/>
            <a:ext cx="7825502" cy="1445226"/>
          </a:xfrm>
          <a:prstGeom prst="roundRect">
            <a:avLst>
              <a:gd name="adj" fmla="val 6433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81040" y="3200629"/>
            <a:ext cx="453628" cy="1473798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430" y="3432590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35307" y="341964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Additionally,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94296" y="3645236"/>
            <a:ext cx="717137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Many existing AI models are trained on </a:t>
            </a:r>
            <a:r>
              <a:rPr lang="en-US" sz="1400" b="1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clean laboratory fabric samples</a:t>
            </a:r>
            <a:r>
              <a:rPr lang="en-US" sz="1400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, which perform poorly on </a:t>
            </a:r>
            <a:r>
              <a:rPr lang="en-US" sz="1400" b="1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real-world post-industrial textile waste</a:t>
            </a:r>
            <a:r>
              <a:rPr lang="en-US" sz="1400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864869"/>
            <a:ext cx="14630398" cy="6719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4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Gap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158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project directly addresses critical limitations in current textile waste management by leveraging advanced AI techniques tailored for real-world scenarios.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696772"/>
            <a:ext cx="13042821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70439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9653" y="384810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Feature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5077" y="384810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Existing Solutions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16691" y="384810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Proposed Module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4354711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9653" y="449841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Waste Classification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75077" y="4498419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Manual / expensive hyperspectral methods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16691" y="449841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CNN with transfer learning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536793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9653" y="551164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75077" y="551164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Clean lab images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16691" y="551164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5,000+ real textile-waste images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6018252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9653" y="616196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Real-World Performance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75077" y="616196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Low accuracy on crumpled samples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16691" y="616196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Target &gt;85% accuracy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5AABFC-B950-C0D3-718A-D9A9ACB8C03B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9523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Research Objectives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8757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7867" y="2674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Main Objective</a:t>
            </a:r>
            <a:endParaRPr lang="en-US" sz="2000" b="1" dirty="0">
              <a:latin typeface="Cambria" panose="020405030504060302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41074" y="320480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Develop a </a:t>
            </a:r>
            <a:r>
              <a:rPr lang="en-US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deep learning model for automated textile waste classification.</a:t>
            </a:r>
            <a:endParaRPr lang="en-US" dirty="0">
              <a:latin typeface="Cambria" panose="020405030504060302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57424"/>
            <a:ext cx="1134070" cy="2633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384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Sub Objectives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41074" y="4874657"/>
            <a:ext cx="619553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Train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CNN models using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transfer learning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Achieve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&gt;85% accuracy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Deploy the model as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 microservice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076447-89AA-701D-83B9-65ED537075F7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898" y="556974"/>
            <a:ext cx="5063728" cy="632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System Architecture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8898" y="1551623"/>
            <a:ext cx="13212604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module transforms raw textile waste images into structured, classified data, forming the backbone of the digital marketplace.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72" y="2061686"/>
            <a:ext cx="12789337" cy="47990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42618" y="3284091"/>
            <a:ext cx="660609" cy="6606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54057" y="5509928"/>
            <a:ext cx="1928976" cy="74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JSON Response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4173" y="3285329"/>
            <a:ext cx="660608" cy="660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36230" y="5509928"/>
            <a:ext cx="1928976" cy="37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Multi-output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6346" y="3285329"/>
            <a:ext cx="660608" cy="660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8404" y="5509928"/>
            <a:ext cx="1928976" cy="37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CNN Model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8519" y="3285329"/>
            <a:ext cx="660609" cy="660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87366" y="5509928"/>
            <a:ext cx="1928976" cy="74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Pre-processing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7481" y="3285329"/>
            <a:ext cx="660608" cy="66060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16690" y="5509928"/>
            <a:ext cx="1928976" cy="74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Image Upload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08898" y="7064216"/>
            <a:ext cx="1321260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architecture ensures robust and accurate classification, providing essential data for pricing, recommendations, and environmental impact analysis.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FBEF9C-1FCE-9A5B-5D8F-8E71FAAE9932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4D881D-988B-DB50-F853-9A52EF83A049}"/>
              </a:ext>
            </a:extLst>
          </p:cNvPr>
          <p:cNvCxnSpPr/>
          <p:nvPr/>
        </p:nvCxnSpPr>
        <p:spPr>
          <a:xfrm>
            <a:off x="2818089" y="6541477"/>
            <a:ext cx="91980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E3D2FF9-7D43-0308-5438-48B1F458DC34}"/>
              </a:ext>
            </a:extLst>
          </p:cNvPr>
          <p:cNvSpPr/>
          <p:nvPr/>
        </p:nvSpPr>
        <p:spPr>
          <a:xfrm>
            <a:off x="445477" y="2061686"/>
            <a:ext cx="13786338" cy="479905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576" y="870485"/>
            <a:ext cx="5141000" cy="57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Tools and Technologies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1576" y="1724145"/>
            <a:ext cx="12680513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project leverages a robust stack of cutting-edge tools and frameworks to ensure high performance, scalability, and efficiency across all modules.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883" y="2790623"/>
            <a:ext cx="459343" cy="459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884" y="3310890"/>
            <a:ext cx="267866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Programming Language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74884" y="3687247"/>
            <a:ext cx="4102775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Python 3.9+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The primary language for all development, chosen for its extensive libraries and AI capabilities.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753" y="2831543"/>
            <a:ext cx="459343" cy="459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63753" y="3310890"/>
            <a:ext cx="3101102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Deep Learning Frameworks</a:t>
            </a:r>
            <a:endParaRPr lang="en-US" sz="18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63753" y="3687247"/>
            <a:ext cx="4102775" cy="79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TensorFlow / </a:t>
            </a: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Keras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Industry-standard frameworks for building, training, and optimizing complex neural networks.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52623" y="2806898"/>
            <a:ext cx="459343" cy="459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52623" y="3310890"/>
            <a:ext cx="2297192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Model Techniques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552623" y="3687247"/>
            <a:ext cx="4102775" cy="106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Transfer Learning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Utilizing pre-trained models like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ResNet-50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and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EfficientNetB3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for accelerated training and superior accuracy on textile data.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882" y="5146237"/>
            <a:ext cx="459343" cy="459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4884" y="5694878"/>
            <a:ext cx="2297192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Deployment</a:t>
            </a:r>
            <a:endParaRPr lang="en-US" sz="18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74884" y="6071235"/>
            <a:ext cx="4102775" cy="106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&amp; Docker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Powering high-performance microservices and ensuring containerized, portable deployments for seamless integration.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63753" y="5146238"/>
            <a:ext cx="459343" cy="459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63753" y="5694878"/>
            <a:ext cx="2297192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Cloud Computing</a:t>
            </a:r>
            <a:endParaRPr lang="en-US" sz="18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263753" y="6071235"/>
            <a:ext cx="4102775" cy="106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Google </a:t>
            </a: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Colab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Pro / AWS GPU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Harnessing powerful GPU resources for intensive model training, experimentation, and scalable operations.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5718E-3199-F812-73A5-13AD3DCBF365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95AEFD-BBC5-C9A4-6AD0-6C817CEABE09}"/>
              </a:ext>
            </a:extLst>
          </p:cNvPr>
          <p:cNvSpPr/>
          <p:nvPr/>
        </p:nvSpPr>
        <p:spPr>
          <a:xfrm>
            <a:off x="621323" y="2649415"/>
            <a:ext cx="4349262" cy="22742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0F682-863B-4C4A-9A5C-4245D65446FA}"/>
              </a:ext>
            </a:extLst>
          </p:cNvPr>
          <p:cNvSpPr/>
          <p:nvPr/>
        </p:nvSpPr>
        <p:spPr>
          <a:xfrm>
            <a:off x="5088539" y="2627764"/>
            <a:ext cx="4277989" cy="22742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6E6CEE-2E1E-18E2-CE8D-6B21F0B70579}"/>
              </a:ext>
            </a:extLst>
          </p:cNvPr>
          <p:cNvSpPr/>
          <p:nvPr/>
        </p:nvSpPr>
        <p:spPr>
          <a:xfrm>
            <a:off x="9465015" y="2642775"/>
            <a:ext cx="4277989" cy="22742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F2E287-611F-0558-C047-0B14BE4BD0E8}"/>
              </a:ext>
            </a:extLst>
          </p:cNvPr>
          <p:cNvSpPr/>
          <p:nvPr/>
        </p:nvSpPr>
        <p:spPr>
          <a:xfrm>
            <a:off x="621323" y="5076852"/>
            <a:ext cx="4467216" cy="23790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B327C9-E04D-50A4-0932-6B76686B7C2E}"/>
              </a:ext>
            </a:extLst>
          </p:cNvPr>
          <p:cNvSpPr/>
          <p:nvPr/>
        </p:nvSpPr>
        <p:spPr>
          <a:xfrm>
            <a:off x="5187026" y="5054441"/>
            <a:ext cx="4277989" cy="24014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3120" y="790397"/>
            <a:ext cx="6481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Software Requirements</a:t>
            </a:r>
            <a:endParaRPr lang="en-US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946612" y="2920543"/>
            <a:ext cx="6391871" cy="1848179"/>
          </a:xfrm>
          <a:prstGeom prst="roundRect">
            <a:avLst>
              <a:gd name="adj" fmla="val 4230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Accept textile waste images (JPG/PNG format)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automatic fabric classification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Predict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fabric type, </a:t>
            </a:r>
            <a:r>
              <a:rPr lang="en-US" alt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colour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and quality grade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Return prediction results with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confidence scores via API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24270" y="2303978"/>
            <a:ext cx="907256" cy="2464744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03948" y="318694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2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58340" y="2420037"/>
            <a:ext cx="34872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Functional Requirements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58340" y="3021211"/>
            <a:ext cx="61345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5756" y="5186898"/>
            <a:ext cx="7556421" cy="2464744"/>
          </a:xfrm>
          <a:prstGeom prst="roundRect">
            <a:avLst>
              <a:gd name="adj" fmla="val 4230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6204" y="5229100"/>
            <a:ext cx="907256" cy="2464744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03948" y="56660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sz="2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46612" y="5323165"/>
            <a:ext cx="4144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Non-Functional Requirements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946612" y="5784324"/>
            <a:ext cx="61345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Classification accuracy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greater than 85%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 response time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less than 2 seconds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Robust 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lighting, background, and angle variations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Scalable deployment using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Docker and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7882" y="374026"/>
            <a:ext cx="4110515" cy="51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Work Breakdown Structure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43388" y="1100006"/>
            <a:ext cx="8202378" cy="78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project's systematic approach ensures a clear roadmap from research to deployment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for the AI Fabric Classification module.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917883" y="2085261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71949" y="2339459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77833" y="2208490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Literature Review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77833" y="2441138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Comprehensive study of existing AI models and textile waste management techniques.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17883" y="2891790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71949" y="3145988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7833" y="3050377"/>
            <a:ext cx="1979771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Data Collection &amp; Labeling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77833" y="3294520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Gathering and annotating a diverse dataset of Sri Lankan textile waste images.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43388" y="3901679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71949" y="3952518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3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73739" y="3972348"/>
            <a:ext cx="1541026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Data Augmentation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77833" y="4264353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Expanding the dataset through various techniques to improve model robustness.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23616" y="4850905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37532" y="5166618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4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32840" y="5070356"/>
            <a:ext cx="2544961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CNN Baseline Model Development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32840" y="5317787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Building an initial Convolutional Neural Network model for classification.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17882" y="5766356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20943" y="6020674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5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508908" y="6020674"/>
            <a:ext cx="242661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Transfer Learning &amp; Fine-tuning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32840" y="6278323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Adapting pre-trained models (ResNet-50, EfficientNetB3) for enhanced accuracy.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917882" y="6857643"/>
            <a:ext cx="493038" cy="739616"/>
          </a:xfrm>
          <a:prstGeom prst="roundRect">
            <a:avLst>
              <a:gd name="adj" fmla="val 36008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51522" y="7111961"/>
            <a:ext cx="18490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6</a:t>
            </a:r>
            <a:endParaRPr lang="en-US" sz="14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532840" y="7015699"/>
            <a:ext cx="2972038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API Development &amp; Docker Deployment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77833" y="7334166"/>
            <a:ext cx="7721084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Creating a FastAPI microservice and containerizing for scalable integration.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FBC43-636B-79C3-A454-C544652DF978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646" y="675799"/>
            <a:ext cx="4590931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Gantt Chart: 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9646" y="1492403"/>
            <a:ext cx="12670988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Our project's detailed timeline outlines the key phases for developing the AI Fabric Classification module, from data preparation to final deployment.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31566D-92E6-F774-0F04-A99970AB7D0A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C60490D-1850-E727-0629-88D67117D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46" y="2375773"/>
            <a:ext cx="12243985" cy="557247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7" y="606885"/>
            <a:ext cx="5337503" cy="856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Individual Component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99867" y="304007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Impact Prediction Module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69413" y="6534007"/>
            <a:ext cx="77640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Student: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Siriwardhana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N.S.T.N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  ID: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IT22215338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Project  ID: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R26-IT-81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7B2FE-2046-C9A8-1A79-F2FCFCE82DA7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8D4316-A215-5729-9C48-BB8B17B6A12A}"/>
              </a:ext>
            </a:extLst>
          </p:cNvPr>
          <p:cNvSpPr/>
          <p:nvPr/>
        </p:nvSpPr>
        <p:spPr>
          <a:xfrm>
            <a:off x="6400800" y="2474083"/>
            <a:ext cx="7764056" cy="15392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722"/>
            <a:ext cx="14630400" cy="82296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9792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Background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0282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Textile manufacturing consumes large amounts of: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91667" y="2536947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Water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Energy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Raw materials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930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Producing new fabrics results in: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91667" y="4445355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 carbon emissions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Large water consumption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degradation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89" y="60009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Reusing textile waste can significantly reduce these environmental impacts.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88" y="64906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However, most waste trading platforms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do not provide environmental impact measurements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AutoShape 2" descr="ESG Program - MPE Partners">
            <a:extLst>
              <a:ext uri="{FF2B5EF4-FFF2-40B4-BE49-F238E27FC236}">
                <a16:creationId xmlns:a16="http://schemas.microsoft.com/office/drawing/2014/main" id="{9D4B07B9-33D8-12DE-739D-B2E1C3E8D7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2" descr="ESG Program - MPE Partners">
            <a:extLst>
              <a:ext uri="{FF2B5EF4-FFF2-40B4-BE49-F238E27FC236}">
                <a16:creationId xmlns:a16="http://schemas.microsoft.com/office/drawing/2014/main" id="{9D4B07B9-33D8-12DE-739D-B2E1C3E8D7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 descr="ESG Program - MPE Partners">
            <a:extLst>
              <a:ext uri="{FF2B5EF4-FFF2-40B4-BE49-F238E27FC236}">
                <a16:creationId xmlns:a16="http://schemas.microsoft.com/office/drawing/2014/main" id="{FB518BA5-7099-2194-49A7-DFFDAFB8D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756" y="979289"/>
            <a:ext cx="5640654" cy="476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9" y="9790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Problem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1549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Manufacturers and buyers cannot clearly measure the environmental benefits of reusing textile waste.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89" y="35590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Key issues include: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3310" y="4146590"/>
            <a:ext cx="60960" cy="786765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81564" y="4177070"/>
            <a:ext cx="33486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automated calculation of CO₂ emission savings</a:t>
            </a:r>
            <a:endParaRPr lang="en-US" sz="1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3204" y="4146590"/>
            <a:ext cx="60960" cy="786765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01458" y="4177070"/>
            <a:ext cx="33487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estimation of water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consumption</a:t>
            </a:r>
            <a:r>
              <a:rPr lang="en-US" sz="17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reduction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63310" y="5326023"/>
            <a:ext cx="60960" cy="423863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81564" y="5356503"/>
            <a:ext cx="72686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sustainability scoring mechanism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3790" y="597455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 a result, organizations lack crucial data to evaluate the true environmental benefits.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19258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 cambria"/>
                <a:ea typeface="Noto Serif Medium" pitchFamily="34" charset="-122"/>
                <a:cs typeface="Noto Serif Medium" pitchFamily="34" charset="-120"/>
              </a:rPr>
              <a:t>Research Gap</a:t>
            </a:r>
            <a:endParaRPr lang="en-US" sz="3600" b="1" dirty="0">
              <a:latin typeface=" cambri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343" y="3539014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Feature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5434" y="3539014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Existing Solutions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17524" y="3539014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Proposed Module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6650" y="40532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4189333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Environmental Metrics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75434" y="4189333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Not available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17524" y="4189333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CO₂ and water savings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343" y="4839653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Calculation Method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75434" y="4839653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Manual LCA analysis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17524" y="4839653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LCA dataset + ML regression</a:t>
            </a:r>
            <a:endParaRPr lang="en-US">
              <a:latin typeface=" cambri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343" y="5489972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Sustainability Score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75434" y="5489972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Not available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17524" y="5489972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Green Score (A–F / 1–100)</a:t>
            </a:r>
            <a:endParaRPr lang="en-US">
              <a:latin typeface=" cambri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C981E-5F51-5384-B388-6204C2C57739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99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Objectives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99960" y="2342317"/>
            <a:ext cx="30480" cy="4707374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92052" y="2582227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30189" y="2512457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72708" y="2420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Main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Objective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89" y="3026092"/>
            <a:ext cx="63666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 a machine learning model that predicts environmental benefits from textile waste reuse, empowering sustainable choices.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284720" y="3943112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30189" y="387334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2456" y="3781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Sub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Objectives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2456" y="4271486"/>
            <a:ext cx="5614154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Collect Life Cycle Assessment (LCA) environmental data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Engineer features such as fabric type, weight, and quality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Train regression models to predict environmental savings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Deploy the model as 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microservice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98F764-9180-39B7-ED65-CB6FA4DAC991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0367" y="510778"/>
            <a:ext cx="4554141" cy="5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System Architecture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0367" y="1211534"/>
            <a:ext cx="12569547" cy="52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module processes raw data to quantify the environmental impact of textile waste reuse, providing clear and actionable sustainability metrics.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67" y="2062639"/>
            <a:ext cx="12569547" cy="565618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 2"/>
          <p:cNvSpPr/>
          <p:nvPr/>
        </p:nvSpPr>
        <p:spPr>
          <a:xfrm>
            <a:off x="2923818" y="2324373"/>
            <a:ext cx="2199627" cy="33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Input Data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923818" y="2760975"/>
            <a:ext cx="2199627" cy="49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Fabric type, weight, quality grade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6069" y="3838505"/>
            <a:ext cx="487212" cy="4872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99273" y="6396553"/>
            <a:ext cx="2211712" cy="679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Feature Processing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99273" y="7173070"/>
            <a:ext cx="2211712" cy="49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Normalize, encode, and derive features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1524" y="5615127"/>
            <a:ext cx="487211" cy="4872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0557" y="2282073"/>
            <a:ext cx="2199627" cy="33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ML Model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250557" y="2718675"/>
            <a:ext cx="2199627" cy="49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Random Forest / </a:t>
            </a:r>
            <a:r>
              <a:rPr lang="en-US" sz="170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XGBoost</a:t>
            </a:r>
            <a:r>
              <a:rPr lang="en-US" sz="170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predictions</a:t>
            </a:r>
            <a:endParaRPr lang="en-US" sz="17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9065" y="3790162"/>
            <a:ext cx="487211" cy="4872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6012" y="6396553"/>
            <a:ext cx="2199627" cy="679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Output Predictions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426012" y="7173070"/>
            <a:ext cx="2199627" cy="49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CO₂, water savings and green score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88262" y="5615127"/>
            <a:ext cx="487211" cy="48721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32F7EC-45EA-7C96-735C-8D1441A82D28}"/>
              </a:ext>
            </a:extLst>
          </p:cNvPr>
          <p:cNvSpPr/>
          <p:nvPr/>
        </p:nvSpPr>
        <p:spPr>
          <a:xfrm>
            <a:off x="12714822" y="7794335"/>
            <a:ext cx="1770184" cy="525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677942"/>
            <a:ext cx="6000512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Tools and Technologies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0689" y="1753910"/>
            <a:ext cx="1312902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Environmental Impact Prediction Module relies on a specialized set of tools and data sources to accurately quantify sustainability benefits.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689" y="2649736"/>
            <a:ext cx="536258" cy="5362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0689" y="3439478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Python 3.9+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0690" y="3896320"/>
            <a:ext cx="600051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The core language for data processing, machine learning model development, and API implementation.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1883" y="2649736"/>
            <a:ext cx="536258" cy="5362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1883" y="3439478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ML Libraries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41883" y="3896320"/>
            <a:ext cx="600051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Scikit-learn &amp;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XGBoost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Powerful frameworks for building and training robust regression models to predict CO₂ and water savings.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689" y="5303520"/>
            <a:ext cx="536258" cy="5362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0689" y="6093262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Deployment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50689" y="6550104"/>
            <a:ext cx="5579773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&amp; Docker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Enabling high-performance API services and ensuring consistent, portable deployment of our environmental prediction model.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1883" y="5303520"/>
            <a:ext cx="536258" cy="5362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1883" y="6093262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Key Datasets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41883" y="6550104"/>
            <a:ext cx="5579773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LCA &amp;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MSI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: Foundational datasets providing crucial environmental impact metrics for accurate model training and validation.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67675F-1B50-383E-7408-FBEBFC7C0CED}"/>
              </a:ext>
            </a:extLst>
          </p:cNvPr>
          <p:cNvSpPr/>
          <p:nvPr/>
        </p:nvSpPr>
        <p:spPr>
          <a:xfrm>
            <a:off x="527538" y="2649736"/>
            <a:ext cx="6000512" cy="22481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38932-9B7A-5D02-CB01-B22B6B53B223}"/>
              </a:ext>
            </a:extLst>
          </p:cNvPr>
          <p:cNvSpPr/>
          <p:nvPr/>
        </p:nvSpPr>
        <p:spPr>
          <a:xfrm>
            <a:off x="7289483" y="2569428"/>
            <a:ext cx="6152912" cy="24806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4D77D1-960C-63F6-6279-F5E41A7F622D}"/>
              </a:ext>
            </a:extLst>
          </p:cNvPr>
          <p:cNvSpPr/>
          <p:nvPr/>
        </p:nvSpPr>
        <p:spPr>
          <a:xfrm>
            <a:off x="7289483" y="5235386"/>
            <a:ext cx="6152912" cy="24806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B4E08A-92C8-FF7A-4CF9-35163B25F3D6}"/>
              </a:ext>
            </a:extLst>
          </p:cNvPr>
          <p:cNvSpPr/>
          <p:nvPr/>
        </p:nvSpPr>
        <p:spPr>
          <a:xfrm>
            <a:off x="527538" y="5156284"/>
            <a:ext cx="6000512" cy="2480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A7790-893F-32C0-0529-91EBDBDD47ED}"/>
              </a:ext>
            </a:extLst>
          </p:cNvPr>
          <p:cNvSpPr/>
          <p:nvPr/>
        </p:nvSpPr>
        <p:spPr>
          <a:xfrm>
            <a:off x="12714822" y="7794335"/>
            <a:ext cx="1770184" cy="435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2320" y="709493"/>
            <a:ext cx="5681424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Software Requirements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82320" y="1592223"/>
            <a:ext cx="7752159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For the Environmental Impact Prediction Module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82320" y="2385060"/>
            <a:ext cx="7752159" cy="2510909"/>
          </a:xfrm>
          <a:prstGeom prst="roundRect">
            <a:avLst>
              <a:gd name="adj" fmla="val 4370"/>
            </a:avLst>
          </a:prstGeom>
          <a:solidFill>
            <a:srgbClr val="FDFBF7"/>
          </a:solidFill>
          <a:ln/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82320" y="2362200"/>
            <a:ext cx="7752159" cy="91440"/>
          </a:xfrm>
          <a:prstGeom prst="roundRect">
            <a:avLst>
              <a:gd name="adj" fmla="val 9133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640847" y="2127716"/>
            <a:ext cx="596503" cy="596503"/>
          </a:xfrm>
          <a:prstGeom prst="roundRect">
            <a:avLst>
              <a:gd name="adj" fmla="val 15329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9099" y="2235875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1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4015" y="2882146"/>
            <a:ext cx="3057882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Functional Requirements</a:t>
            </a:r>
            <a:endParaRPr lang="en-US" sz="195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4015" y="3297436"/>
            <a:ext cx="7308771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Calculate environmental impact savings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Predict CO₂ emission reduction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Predict water usage reduction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Generate sustainability Green Score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82320" y="5368528"/>
            <a:ext cx="7752159" cy="2151459"/>
          </a:xfrm>
          <a:prstGeom prst="roundRect">
            <a:avLst>
              <a:gd name="adj" fmla="val 5100"/>
            </a:avLst>
          </a:prstGeom>
          <a:solidFill>
            <a:srgbClr val="FDFBF7"/>
          </a:solidFill>
          <a:ln/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82320" y="5345668"/>
            <a:ext cx="7752159" cy="91440"/>
          </a:xfrm>
          <a:prstGeom prst="roundRect">
            <a:avLst>
              <a:gd name="adj" fmla="val 9133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760148" y="5070277"/>
            <a:ext cx="596503" cy="596503"/>
          </a:xfrm>
          <a:prstGeom prst="roundRect">
            <a:avLst>
              <a:gd name="adj" fmla="val 15329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939099" y="5219343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sz="1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4015" y="5865614"/>
            <a:ext cx="363390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Non-Functional Requirements</a:t>
            </a:r>
            <a:endParaRPr lang="en-US" sz="195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4015" y="6280904"/>
            <a:ext cx="7308771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Prediction accuracy R² &gt; 0.85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Response time &lt; 2 seconds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Scalable API service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8E6EC-4759-6A0F-F9AB-1F3B908D7E1A}"/>
              </a:ext>
            </a:extLst>
          </p:cNvPr>
          <p:cNvSpPr/>
          <p:nvPr/>
        </p:nvSpPr>
        <p:spPr>
          <a:xfrm>
            <a:off x="12714822" y="7794335"/>
            <a:ext cx="1770184" cy="435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9925" y="366593"/>
            <a:ext cx="37802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Work Breakdown Structure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45648" y="806052"/>
            <a:ext cx="8484751" cy="631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This outlines the systematic approach for developing the Environmental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 Impact Prediction Module, from research to deployment.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92432" y="2181762"/>
            <a:ext cx="113348" cy="539829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62440" y="2045954"/>
            <a:ext cx="368381" cy="400048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8319" y="2194560"/>
            <a:ext cx="170021" cy="170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4184" y="205415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Literature Review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712506" y="2234653"/>
            <a:ext cx="80879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Comprehensive study of existing methodologies for quantifying environmental impact and relevant Life Cycle Assessment (LCA) studies in textiles.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2605" y="3071619"/>
            <a:ext cx="113348" cy="510302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278145" y="2965658"/>
            <a:ext cx="363459" cy="377567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3080" y="3071619"/>
            <a:ext cx="170021" cy="170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12506" y="3087053"/>
            <a:ext cx="182427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Data Collection &amp; Curation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712506" y="3298150"/>
            <a:ext cx="725864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Sourcing and compiling Life Cycle Assessment (LCA) datasets specifically for textile materials and manufacturing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processes.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599158" y="3877628"/>
            <a:ext cx="113348" cy="510302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85811" y="3806428"/>
            <a:ext cx="340162" cy="340162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0821" y="3891558"/>
            <a:ext cx="170021" cy="1700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82646" y="382416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Feature Engineering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882646" y="4035266"/>
            <a:ext cx="708850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Transforming raw LCA data and textile properties (type, weight, quality grade) into a clean, model-ready dataset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for training.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769298" y="4617958"/>
            <a:ext cx="113348" cy="539829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655951" y="4543544"/>
            <a:ext cx="340162" cy="340162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40962" y="4628674"/>
            <a:ext cx="170021" cy="1700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52786" y="456128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Model Training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052786" y="4772382"/>
            <a:ext cx="691836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Developing and training robust regression models, such as Random Forest and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XGBoost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, to accurately predict CO₂ and water savings.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599158" y="5384602"/>
            <a:ext cx="113348" cy="539829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485811" y="5310188"/>
            <a:ext cx="340162" cy="340162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70821" y="5395317"/>
            <a:ext cx="170021" cy="17002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82646" y="5327928"/>
            <a:ext cx="183106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Evaluation &amp; Optimization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882646" y="5539026"/>
            <a:ext cx="708850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Rigorous testing of model performance metrics (e.g., R², RMSE), fine-tuning hyperparameters, and ensuring predictive accuracy and reliability.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429018" y="6151245"/>
            <a:ext cx="113348" cy="510302"/>
          </a:xfrm>
          <a:prstGeom prst="roundRect">
            <a:avLst>
              <a:gd name="adj" fmla="val 42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315670" y="6076831"/>
            <a:ext cx="340162" cy="340162"/>
          </a:xfrm>
          <a:prstGeom prst="roundRect">
            <a:avLst>
              <a:gd name="adj" fmla="val 13440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0681" y="6161961"/>
            <a:ext cx="170021" cy="17002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25973" y="6154817"/>
            <a:ext cx="220944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API Development &amp; Deployment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6797575" y="6376870"/>
            <a:ext cx="725864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Building a high-performance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microservice and containerizing it with Docker for scalable and consistent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deployment.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801EA2-7C25-C6E3-DBBB-1D70EB428F49}"/>
              </a:ext>
            </a:extLst>
          </p:cNvPr>
          <p:cNvSpPr txBox="1"/>
          <p:nvPr/>
        </p:nvSpPr>
        <p:spPr>
          <a:xfrm>
            <a:off x="5986914" y="2194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B5E3E0-499D-71C8-864C-77DFAB5AE1AB}"/>
              </a:ext>
            </a:extLst>
          </p:cNvPr>
          <p:cNvSpPr/>
          <p:nvPr/>
        </p:nvSpPr>
        <p:spPr>
          <a:xfrm>
            <a:off x="12714822" y="7794335"/>
            <a:ext cx="1770184" cy="435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0987" y="477395"/>
            <a:ext cx="4223623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Gantt Chart: Weeks 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86435" y="1421542"/>
            <a:ext cx="116572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detailed timeline for the Environmental Impact Prediction Module ensures a structured approach from data acquisition to final deployment.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88398" y="2310527"/>
            <a:ext cx="25336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endParaRPr lang="en-US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BD42DC-F3C0-F918-58D6-7EE05A2CB836}"/>
              </a:ext>
            </a:extLst>
          </p:cNvPr>
          <p:cNvSpPr/>
          <p:nvPr/>
        </p:nvSpPr>
        <p:spPr>
          <a:xfrm>
            <a:off x="12714822" y="7794335"/>
            <a:ext cx="1770184" cy="525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DCA8D4-EAAE-89A6-C661-BBD8C9B65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16" y="1934307"/>
            <a:ext cx="11350093" cy="59428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8FD4-F319-0475-AEC3-585487EF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08503B1-AB01-E81C-F093-24179C51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EA92310-7E60-0DCE-7256-98A91F84CE2B}"/>
              </a:ext>
            </a:extLst>
          </p:cNvPr>
          <p:cNvSpPr/>
          <p:nvPr/>
        </p:nvSpPr>
        <p:spPr>
          <a:xfrm>
            <a:off x="7909327" y="606885"/>
            <a:ext cx="5337503" cy="856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Individual Component</a:t>
            </a:r>
            <a:endParaRPr lang="en-US" sz="3600" b="1">
              <a:latin typeface="Cambria" panose="0204050305040603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39083A7-73BF-BA1B-1C74-CC4A19CBCC4A}"/>
              </a:ext>
            </a:extLst>
          </p:cNvPr>
          <p:cNvSpPr/>
          <p:nvPr/>
        </p:nvSpPr>
        <p:spPr>
          <a:xfrm>
            <a:off x="6504617" y="2743983"/>
            <a:ext cx="7556421" cy="78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800" b="1" dirty="0">
                <a:latin typeface=" cambria"/>
                <a:ea typeface="Noto Serif" pitchFamily="34" charset="-122"/>
                <a:cs typeface="Noto Serif" pitchFamily="34" charset="-120"/>
              </a:rPr>
              <a:t>Traceability, Recommendation &amp; AI </a:t>
            </a:r>
          </a:p>
          <a:p>
            <a:pPr algn="ctr">
              <a:lnSpc>
                <a:spcPts val="2850"/>
              </a:lnSpc>
            </a:pPr>
            <a:r>
              <a:rPr lang="en-US" sz="2800" b="1" dirty="0">
                <a:latin typeface=" cambria"/>
                <a:ea typeface="Noto Serif" pitchFamily="34" charset="-122"/>
                <a:cs typeface="Noto Serif" pitchFamily="34" charset="-120"/>
              </a:rPr>
              <a:t>Pricing Module</a:t>
            </a:r>
            <a:endParaRPr lang="en-US" sz="2800" dirty="0">
              <a:latin typeface=" cambria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C5C0B8C-8515-6A49-1EBC-B0CA839E01B8}"/>
              </a:ext>
            </a:extLst>
          </p:cNvPr>
          <p:cNvSpPr/>
          <p:nvPr/>
        </p:nvSpPr>
        <p:spPr>
          <a:xfrm>
            <a:off x="5869413" y="6534007"/>
            <a:ext cx="77640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Student: </a:t>
            </a: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Madushanka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H.M.T.G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  ID: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IT22221278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Project  ID: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R26-IT-81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26900-0278-A5D6-071A-9DEE656C744D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F4CC9-7EF3-A096-D43B-5FC637DD40EC}"/>
              </a:ext>
            </a:extLst>
          </p:cNvPr>
          <p:cNvSpPr/>
          <p:nvPr/>
        </p:nvSpPr>
        <p:spPr>
          <a:xfrm>
            <a:off x="6400800" y="2474083"/>
            <a:ext cx="7764056" cy="15392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99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310" y="12925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 cambria"/>
                <a:ea typeface="Noto Serif Medium" pitchFamily="34" charset="-122"/>
                <a:cs typeface="Noto Serif Medium" pitchFamily="34" charset="-120"/>
              </a:rPr>
              <a:t>Background</a:t>
            </a:r>
            <a:endParaRPr lang="en-US" sz="3600" b="1" dirty="0">
              <a:latin typeface=" cambria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3310" y="26992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In textile waste trading, transparency and pricing accuracy are critical.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41620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Current waste trading processes suffer from: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3310" y="4328041"/>
            <a:ext cx="60960" cy="423863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3278" y="4356057"/>
            <a:ext cx="33486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Lack of traceability</a:t>
            </a:r>
            <a:endParaRPr lang="en-US" dirty="0">
              <a:latin typeface=" 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3204" y="4328041"/>
            <a:ext cx="60960" cy="423863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01458" y="4358521"/>
            <a:ext cx="33487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Manual pricing decisions</a:t>
            </a:r>
            <a:endParaRPr lang="en-US" dirty="0">
              <a:latin typeface=" 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3310" y="5144572"/>
            <a:ext cx="60960" cy="423863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81564" y="5175052"/>
            <a:ext cx="72686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Limited buyer-seller matching</a:t>
            </a:r>
            <a:endParaRPr lang="en-US" dirty="0">
              <a:latin typeface=" cambri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3700" y="6161538"/>
            <a:ext cx="83927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Integrating AI pricing, recommendation systems, and traceability can significantly improve efficiency and trust.</a:t>
            </a:r>
            <a:endParaRPr lang="en-US" dirty="0">
              <a:latin typeface=" 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39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>
                <a:latin typeface=" cambria"/>
                <a:ea typeface="Noto Serif Medium" pitchFamily="34" charset="-122"/>
                <a:cs typeface="Noto Serif Medium" pitchFamily="34" charset="-120"/>
              </a:rPr>
              <a:t>Research Problem</a:t>
            </a:r>
            <a:endParaRPr lang="en-US" sz="3600" b="1">
              <a:latin typeface=" cambria"/>
            </a:endParaRPr>
          </a:p>
        </p:txBody>
      </p:sp>
      <p:sp>
        <p:nvSpPr>
          <p:cNvPr id="4" name="Text 1"/>
          <p:cNvSpPr/>
          <p:nvPr/>
        </p:nvSpPr>
        <p:spPr>
          <a:xfrm>
            <a:off x="885230" y="226290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880955"/>
            <a:ext cx="7556421" cy="4134683"/>
          </a:xfrm>
          <a:prstGeom prst="roundRect">
            <a:avLst>
              <a:gd name="adj" fmla="val 353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3310" y="2880955"/>
            <a:ext cx="121920" cy="4134683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2524" y="3138249"/>
            <a:ext cx="32492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 cambria"/>
                <a:ea typeface="Noto Serif Medium" pitchFamily="34" charset="-122"/>
                <a:cs typeface="Noto Serif Medium" pitchFamily="34" charset="-120"/>
              </a:rPr>
              <a:t>Existing platforms lack:</a:t>
            </a:r>
            <a:endParaRPr lang="en-US" sz="2000" b="1" dirty="0">
              <a:latin typeface=" 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2524" y="3628668"/>
            <a:ext cx="6950393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Digital traceability of textile waste origin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AI-driven pricing models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Intelligent recommendation systems for buyers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2524" y="501205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These limitations lead to:</a:t>
            </a:r>
            <a:endParaRPr lang="en-US" sz="2000" b="1" dirty="0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2524" y="5511046"/>
            <a:ext cx="6950393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Unfair pricing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Lack of trust between buyers and sellers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Inefficient waste trading processes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72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Gap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696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Existing platforms struggle with crucial aspects of textile waste trading, highlighting a clear need for advanced solutions.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343" y="3539014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Feature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5434" y="3539014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Existing Platforms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17524" y="3539014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Proposed Module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8343" y="4189333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Traceability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75434" y="4189333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None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17524" y="4189333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Digital material passport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343" y="4839653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Pricing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5434" y="4839653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Manual estimation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17524" y="4839653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 regression pricing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343" y="5489972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Recommendations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75434" y="5489972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Not available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17524" y="5489972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 recommendation engine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62593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module directly addresses these limitations by integrating robust digital solutions.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57BB25-7C99-B67A-7939-B68AE01767C1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42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Research Objectives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313146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24270" y="2343626"/>
            <a:ext cx="907256" cy="1669852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948" y="3008352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8340" y="2570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Main Objective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958340" y="3060859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 a system that provides traceability, intelligent pricing, and recommendations for textile waste trading.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93790" y="4270772"/>
            <a:ext cx="7556421" cy="2694503"/>
          </a:xfrm>
          <a:prstGeom prst="roundRect">
            <a:avLst>
              <a:gd name="adj" fmla="val 3536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24270" y="4301252"/>
            <a:ext cx="907256" cy="2633543"/>
          </a:xfrm>
          <a:prstGeom prst="roundRect">
            <a:avLst>
              <a:gd name="adj" fmla="val 6469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948" y="5447824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58340" y="4528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Sub-Objectives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58340" y="5018484"/>
            <a:ext cx="613457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Create a digital material passport for waste batches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 an AI-based pricing prediction model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Implement a recommendation system for buyers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Deploy services through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APIs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030" y="518160"/>
            <a:ext cx="4710946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System Architecture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3722" y="1421624"/>
            <a:ext cx="13002339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This module integrates advanced AI with traceability to optimize the textile waste trading process, ensuring fair pricing and efficient matching.</a:t>
            </a:r>
            <a:endParaRPr lang="en-US" dirty="0">
              <a:latin typeface=" 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30" y="1872139"/>
            <a:ext cx="10485120" cy="58521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624" y="2009060"/>
            <a:ext cx="11469745" cy="59867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7D45EF-EEB3-C197-7EF5-38EFB681A94D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26708" y="420257"/>
            <a:ext cx="3171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Tools and Technologies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solidFill>
                <a:srgbClr val="3A3A3A"/>
              </a:solidFill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solidFill>
                <a:srgbClr val="3A3A3A"/>
              </a:solidFill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solidFill>
                <a:srgbClr val="3A3A3A"/>
              </a:solidFill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solidFill>
                <a:srgbClr val="3A3A3A"/>
              </a:solidFill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solidFill>
                <a:srgbClr val="3A3A3A"/>
              </a:solidFill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7393" y="934027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For the Traceability, Recommendation &amp; AI Pricing Module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0050" y="813110"/>
            <a:ext cx="283488" cy="3016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7393" y="11534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Python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87393" y="1316491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The primary programming language, serving as the backbone for backend logic, A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I model development, and data processing</a:t>
            </a: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.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0050" y="2093375"/>
            <a:ext cx="283488" cy="283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7393" y="2158505"/>
            <a:ext cx="1417558" cy="21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Scikit-learn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287393" y="246232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Utilized for developing robust machine learning models for AI pricing 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>
              <a:solidFill>
                <a:srgbClr val="4C4C4C"/>
              </a:solidFill>
              <a:latin typeface="Cambria" panose="02040503050406030204" pitchFamily="18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prediction and recommendation algorithms.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6708" y="3142777"/>
            <a:ext cx="283488" cy="3515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7393" y="3176726"/>
            <a:ext cx="1417558" cy="21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XGBoost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287393" y="340966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A powerful gradient boosting library employed for enhanced accuracy and 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>
              <a:solidFill>
                <a:srgbClr val="4C4C4C"/>
              </a:solidFill>
              <a:latin typeface="Cambria" panose="02040503050406030204" pitchFamily="18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performance in complex predictive tasks.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0050" y="4028997"/>
            <a:ext cx="283488" cy="35150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87393" y="4109073"/>
            <a:ext cx="1417558" cy="21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FastAPI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287393" y="435832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The high-performance web framework for building efficient and scalable API 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>
              <a:solidFill>
                <a:srgbClr val="4C4C4C"/>
              </a:solidFill>
              <a:latin typeface="Cambria" panose="02040503050406030204" pitchFamily="18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services for our module.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40050" y="5007118"/>
            <a:ext cx="283488" cy="35150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87393" y="5034421"/>
            <a:ext cx="1417558" cy="21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QR Code Generation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287393" y="5293068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Enables the creation of digital material passports for textile waste batches, 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>
              <a:solidFill>
                <a:srgbClr val="4C4C4C"/>
              </a:solidFill>
              <a:latin typeface="Cambria" panose="02040503050406030204" pitchFamily="18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ensuring full traceability.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40050" y="5985239"/>
            <a:ext cx="283488" cy="35150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87393" y="5997207"/>
            <a:ext cx="1417558" cy="25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Docker Deployment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287393" y="6310777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Containerization technology used to ensure consistent, portable, and 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>
              <a:solidFill>
                <a:srgbClr val="4C4C4C"/>
              </a:solidFill>
              <a:latin typeface="Cambria" panose="02040503050406030204" pitchFamily="18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Noto Serif" pitchFamily="34" charset="-122"/>
                <a:cs typeface="Noto Serif" pitchFamily="34" charset="-120"/>
              </a:rPr>
              <a:t>scalable deployment of all module services.</a:t>
            </a: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A91220-4A2A-8C93-4197-48E3C89C5958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5649"/>
            <a:ext cx="6481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Software Requirements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4141" y="2599605"/>
            <a:ext cx="13042821" cy="48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module's design is guided by specific functional and non-functional requirements to ensure optimal performance and user value.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72497"/>
            <a:ext cx="34872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Functional Requirements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1550" y="3972995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Predict resale price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Generate buyer recommendations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Provide traceability passport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Generate QR code for batch tracking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1902" y="3472497"/>
            <a:ext cx="4144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Non-Functional Requirements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1902" y="3972995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Secure and transparent data handling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Accurate price prediction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 system reliability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90F03E-3B67-23EC-8797-D6696B7015F8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5C129-109D-03EC-BCCD-1EAF5A500A22}"/>
              </a:ext>
            </a:extLst>
          </p:cNvPr>
          <p:cNvSpPr/>
          <p:nvPr/>
        </p:nvSpPr>
        <p:spPr>
          <a:xfrm>
            <a:off x="515815" y="3342641"/>
            <a:ext cx="5744308" cy="26830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EE9DB-F884-CAEC-31BE-96FEA1E9EED8}"/>
              </a:ext>
            </a:extLst>
          </p:cNvPr>
          <p:cNvSpPr/>
          <p:nvPr/>
        </p:nvSpPr>
        <p:spPr>
          <a:xfrm>
            <a:off x="6991607" y="3342641"/>
            <a:ext cx="5481747" cy="24485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2138765"/>
            <a:ext cx="5486400" cy="10368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345" y="658559"/>
            <a:ext cx="4015264" cy="474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Work Breakdown Structure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1481" y="1579385"/>
            <a:ext cx="8301038" cy="37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1481" y="2018912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976" y="2396401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7145" y="2278187"/>
            <a:ext cx="1505426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Dataset Collection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7145" y="2515195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Gathering and curating all necessary data for model training and system functionality.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1481" y="2805439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976" y="3182928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67145" y="3064713"/>
            <a:ext cx="1505426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Feature Engineering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67145" y="3301722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Transforming raw data into meaningful features to enhance model performance.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1481" y="3591966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976" y="3969455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7145" y="3851240"/>
            <a:ext cx="1679496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Pricing Model Training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67145" y="4088249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Developing and optimizing the AI-driven pricing prediction model.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1481" y="4378493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976" y="4755981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4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7145" y="4637767"/>
            <a:ext cx="2841665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Recommendation Engine Development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7145" y="4874776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Building the AI-powered system for intelligent buyer-seller matching.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1481" y="5165020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71976" y="5542508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5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67145" y="5424294"/>
            <a:ext cx="2443758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Traceability System Development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67145" y="5661303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Implementing the digital material passport and QR code tracking.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21481" y="5951547"/>
            <a:ext cx="481727" cy="910382"/>
          </a:xfrm>
          <a:prstGeom prst="roundRect">
            <a:avLst>
              <a:gd name="adj" fmla="val 36002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71976" y="6329035"/>
            <a:ext cx="180618" cy="28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6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67145" y="6210821"/>
            <a:ext cx="2194798" cy="237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API Integration &amp; Deployment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67145" y="6447830"/>
            <a:ext cx="7755374" cy="185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Connecting all components via FastAPI and deploying the module for production.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E0AF81-6D42-55C6-C776-5FF2351FC434}"/>
              </a:ext>
            </a:extLst>
          </p:cNvPr>
          <p:cNvSpPr txBox="1"/>
          <p:nvPr/>
        </p:nvSpPr>
        <p:spPr>
          <a:xfrm>
            <a:off x="380344" y="1212235"/>
            <a:ext cx="8482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project's Work Breakdown Structure clearly outlines the key phases and deliverables, ensuring a systematic and manageable approach to development.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5979" y="432911"/>
            <a:ext cx="4812268" cy="5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Gantt Chart: Weeks 4–22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9928" y="1412319"/>
            <a:ext cx="13078809" cy="4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detailed Gantt chart outlines the development timeline for the Traceability, Recommendation &amp; AI Pricing Module, from initial data collection to final deployment.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59BB0B-35B0-C16E-C940-C80331BCEF02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CBA33F4-15D9-CEB5-71F5-BA6C96F0A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738" y="2051537"/>
            <a:ext cx="12004431" cy="582563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3896"/>
            <a:ext cx="6188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Individual Component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7948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Marketplace Platform &amp; Predictive Analytics Module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4646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Student: </a:t>
            </a: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Thalagala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</a:t>
            </a:r>
            <a:r>
              <a:rPr lang="en-US" b="1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T.A.D.V</a:t>
            </a:r>
            <a:r>
              <a:rPr lang="en-US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Student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ID: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IT22281678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Project ID: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R26-IT-081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1672233"/>
            <a:ext cx="4885015" cy="48850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7901A6-66CB-4F54-248C-FFBBE03F086C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4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Background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36380"/>
            <a:ext cx="9616302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There is currently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no centralized digital platform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dedicated to textile waste trading in Sri Lanka.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29856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 digital marketplace can: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88" y="356782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Connect manufacturers and buyers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Improve waste reuse efficiency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Provide environmental impact information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Support circular economy practices.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78056-0859-8BC2-7773-39DCAD7537B2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28279-6E46-E1B8-4D8F-E74E540E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27" y="3686743"/>
            <a:ext cx="8023272" cy="45428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8160" y="7252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Problem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56937-026B-ED68-C1A6-A87FFCA13E17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59FEB-67C4-A05E-8582-E547D4C2C1DA}"/>
              </a:ext>
            </a:extLst>
          </p:cNvPr>
          <p:cNvSpPr txBox="1"/>
          <p:nvPr/>
        </p:nvSpPr>
        <p:spPr>
          <a:xfrm>
            <a:off x="6066691" y="2182560"/>
            <a:ext cx="7315200" cy="3359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Existing marketplaces: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not specialized for textile waste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 not integrate AI models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 not provide predictive analytics for waste generation</a:t>
            </a:r>
          </a:p>
          <a:p>
            <a:pPr lvl="1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limits the ability of stakeholders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plan sustainable waste management strategies.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96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Research Gap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6860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 cambria"/>
                <a:ea typeface="Noto Serif" pitchFamily="34" charset="-122"/>
                <a:cs typeface="Noto Serif" pitchFamily="34" charset="-120"/>
              </a:rPr>
              <a:t>While progress has been made, current platforms fall short in addressing the specialized needs of textile waste management. Our module aims to bridge these critical gaps.</a:t>
            </a:r>
            <a:endParaRPr lang="en-US" dirty="0">
              <a:latin typeface=" 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49560"/>
            <a:ext cx="13042821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15718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343" y="3300889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Feature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5434" y="3300889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Existing Platforms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17524" y="3300889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Proposed Module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410" y="380750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343" y="3951208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Marketplace</a:t>
            </a:r>
            <a:endParaRPr lang="en-US">
              <a:latin typeface=" cambr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75434" y="3951208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Generic e-commerce</a:t>
            </a:r>
            <a:endParaRPr lang="en-US">
              <a:latin typeface=" cambri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17524" y="3951208"/>
            <a:ext cx="38846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Specialized textile waste marketplace</a:t>
            </a:r>
            <a:endParaRPr lang="en-US">
              <a:latin typeface=" cambri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82072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8343" y="4964430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Forecasting</a:t>
            </a:r>
            <a:endParaRPr lang="en-US">
              <a:latin typeface=" cambri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5434" y="4964430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None</a:t>
            </a:r>
            <a:endParaRPr lang="en-US">
              <a:latin typeface=" cambri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17524" y="4964430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ML waste prediction</a:t>
            </a:r>
            <a:endParaRPr lang="en-US">
              <a:latin typeface=" cambri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547104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343" y="5614749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Dashboard</a:t>
            </a:r>
            <a:endParaRPr lang="en-US">
              <a:latin typeface=" cambri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75434" y="5614749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Limited analytics</a:t>
            </a:r>
            <a:endParaRPr lang="en-US">
              <a:latin typeface=" cambri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17524" y="5614749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Interactive analytics dashboard</a:t>
            </a:r>
            <a:endParaRPr lang="en-US">
              <a:latin typeface=" cambri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63841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This table highlights how our specialized module offers advanced capabilities precisely where current solutions are lacking, focusing on intelligent features crucial for a circular economy.</a:t>
            </a:r>
            <a:endParaRPr lang="en-US">
              <a:latin typeface=" cambri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EB8E0C-0DEF-7B7C-DE24-BBD22E82E9B6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5486" y="322992"/>
            <a:ext cx="3176468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Noto Serif Medium" pitchFamily="34" charset="-122"/>
                <a:cs typeface="Noto Serif Medium" pitchFamily="34" charset="-120"/>
              </a:rPr>
              <a:t>Research Objectives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31099" y="1429723"/>
            <a:ext cx="8254603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main objective is to develop an integrated digital marketplace platform with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Predictive analytics capabilities for upcycling Sri Lanka's textile waste.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31098" y="2199561"/>
            <a:ext cx="190583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Sub-Objectives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897774" y="2548761"/>
            <a:ext cx="8254603" cy="944066"/>
          </a:xfrm>
          <a:prstGeom prst="roundRect">
            <a:avLst>
              <a:gd name="adj" fmla="val 8512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907722" y="2525435"/>
            <a:ext cx="8254603" cy="60960"/>
          </a:xfrm>
          <a:prstGeom prst="roundRect">
            <a:avLst>
              <a:gd name="adj" fmla="val 8754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867840" y="2339301"/>
            <a:ext cx="381119" cy="381119"/>
          </a:xfrm>
          <a:prstGeom prst="roundRect">
            <a:avLst>
              <a:gd name="adj" fmla="val 239925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82140" y="2465189"/>
            <a:ext cx="152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1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64554" y="2756327"/>
            <a:ext cx="3327916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Develop React-based marketplace interface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  <a:cs typeface="Noto Serif Medium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55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64554" y="3063766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Create a user-friendly and responsive front-end for seamless interaction between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07721" y="3658641"/>
            <a:ext cx="8254603" cy="814765"/>
          </a:xfrm>
          <a:prstGeom prst="roundRect">
            <a:avLst>
              <a:gd name="adj" fmla="val 8512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907721" y="3608884"/>
            <a:ext cx="8254603" cy="60960"/>
          </a:xfrm>
          <a:prstGeom prst="roundRect">
            <a:avLst>
              <a:gd name="adj" fmla="val 8754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867840" y="3422968"/>
            <a:ext cx="381119" cy="381119"/>
          </a:xfrm>
          <a:prstGeom prst="roundRect">
            <a:avLst>
              <a:gd name="adj" fmla="val 239925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82139" y="3528576"/>
            <a:ext cx="152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2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31098" y="3803986"/>
            <a:ext cx="3792736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Build waste forecasting machine learning models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31098" y="4058057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Implement AI models to accurately predict future textile waste generation and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31099" y="4579737"/>
            <a:ext cx="8231226" cy="958485"/>
          </a:xfrm>
          <a:prstGeom prst="roundRect">
            <a:avLst>
              <a:gd name="adj" fmla="val 8512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931098" y="4514275"/>
            <a:ext cx="8254603" cy="60960"/>
          </a:xfrm>
          <a:prstGeom prst="roundRect">
            <a:avLst>
              <a:gd name="adj" fmla="val 8754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844462" y="4361428"/>
            <a:ext cx="381119" cy="381119"/>
          </a:xfrm>
          <a:prstGeom prst="roundRect">
            <a:avLst>
              <a:gd name="adj" fmla="val 239925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982138" y="4473406"/>
            <a:ext cx="152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3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31098" y="4731926"/>
            <a:ext cx="290524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Create analytics dashboard for trends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31098" y="5036734"/>
            <a:ext cx="7970044" cy="77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Provide an interactive dashboard displaying key insights and trends in textile waste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964554" y="5731801"/>
            <a:ext cx="8221148" cy="859393"/>
          </a:xfrm>
          <a:prstGeom prst="roundRect">
            <a:avLst>
              <a:gd name="adj" fmla="val 8512"/>
            </a:avLst>
          </a:prstGeom>
          <a:solidFill>
            <a:srgbClr val="FDFBF7"/>
          </a:solidFill>
          <a:ln/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931098" y="5621272"/>
            <a:ext cx="8254603" cy="60960"/>
          </a:xfrm>
          <a:prstGeom prst="roundRect">
            <a:avLst>
              <a:gd name="adj" fmla="val 87542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867840" y="5470624"/>
            <a:ext cx="381119" cy="381119"/>
          </a:xfrm>
          <a:prstGeom prst="roundRect">
            <a:avLst>
              <a:gd name="adj" fmla="val 239925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982138" y="5593765"/>
            <a:ext cx="152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4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897643" y="5847003"/>
            <a:ext cx="3209806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Integrate all AI modules into the platform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880912" y="6131941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Ensure smooth and efficient communication between the various AI components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51A3E1-FC0B-ABF4-43F2-DB531210C206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DE07D5AB-20A9-4F04-2867-784AD49DF376}"/>
              </a:ext>
            </a:extLst>
          </p:cNvPr>
          <p:cNvSpPr/>
          <p:nvPr/>
        </p:nvSpPr>
        <p:spPr>
          <a:xfrm>
            <a:off x="5880912" y="6361567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and the core marketplace system.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680D25C3-78DB-4DB7-8E35-DC6B0A615532}"/>
              </a:ext>
            </a:extLst>
          </p:cNvPr>
          <p:cNvSpPr/>
          <p:nvPr/>
        </p:nvSpPr>
        <p:spPr>
          <a:xfrm>
            <a:off x="5964554" y="3309769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buyers and sellers.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36DAD5AB-62D5-2681-44CB-0A58CCA3C10A}"/>
              </a:ext>
            </a:extLst>
          </p:cNvPr>
          <p:cNvSpPr/>
          <p:nvPr/>
        </p:nvSpPr>
        <p:spPr>
          <a:xfrm>
            <a:off x="5931098" y="4271647"/>
            <a:ext cx="7970044" cy="158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availability.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BBE71582-D84E-EE51-7877-0CBBE839EB9A}"/>
              </a:ext>
            </a:extLst>
          </p:cNvPr>
          <p:cNvSpPr/>
          <p:nvPr/>
        </p:nvSpPr>
        <p:spPr>
          <a:xfrm>
            <a:off x="5907721" y="5226787"/>
            <a:ext cx="290524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data.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CCA07CEC-B7F2-4DCD-696E-603C3FCD4B74}"/>
              </a:ext>
            </a:extLst>
          </p:cNvPr>
          <p:cNvSpPr/>
          <p:nvPr/>
        </p:nvSpPr>
        <p:spPr>
          <a:xfrm>
            <a:off x="5945248" y="1004691"/>
            <a:ext cx="190583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Main-Objectives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6477" y="517088"/>
            <a:ext cx="4332327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System Architecture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36477" y="1323261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system architecture is designed for scalability and efficiency, connecting user interfaces with intelligent backend services through a robust API gateway.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36477" y="7223522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modular approach allows for independent development and deployment of each component, ensuring system resilience and ease of maintenance.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3430C-B363-8995-6F54-545FC61040B8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2CB1918D-DA15-759C-3047-BAE877DFC6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04F806-F8F6-4310-6CCE-852417E3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477" y="1981985"/>
            <a:ext cx="5349704" cy="507168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28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631" y="2727364"/>
            <a:ext cx="4930497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Tools and Technologies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2596" y="3788271"/>
            <a:ext cx="12160568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platform leverages a robust and modern technology stack to ensure scalability, efficiency, and seamless integration across all components.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36516" y="4363936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>
                <a:latin typeface=" cambria"/>
                <a:ea typeface="Noto Serif Medium" pitchFamily="34" charset="-122"/>
                <a:cs typeface="Noto Serif Medium" pitchFamily="34" charset="-120"/>
              </a:rPr>
              <a:t>Frontend</a:t>
            </a:r>
            <a:endParaRPr lang="en-US" b="1">
              <a:latin typeface=" cambria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34916" y="4824174"/>
            <a:ext cx="5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React.js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Tailwind CSS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34916" y="5509736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>
                <a:latin typeface=" cambria"/>
                <a:ea typeface="Noto Serif Medium" pitchFamily="34" charset="-122"/>
                <a:cs typeface="Noto Serif Medium" pitchFamily="34" charset="-120"/>
              </a:rPr>
              <a:t>Backend</a:t>
            </a:r>
            <a:endParaRPr lang="en-US" b="1">
              <a:latin typeface=" 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34916" y="5921931"/>
            <a:ext cx="5865376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 err="1">
                <a:latin typeface=" cambria"/>
                <a:ea typeface="Noto Serif" pitchFamily="34" charset="-122"/>
                <a:cs typeface="Noto Serif" pitchFamily="34" charset="-120"/>
              </a:rPr>
              <a:t>FastAPI</a:t>
            </a:r>
            <a:endParaRPr lang="en-US" dirty="0">
              <a:latin typeface=" cambria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26048" y="4363719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>
                <a:latin typeface=" cambria"/>
                <a:ea typeface="Noto Serif Medium" pitchFamily="34" charset="-122"/>
                <a:cs typeface="Noto Serif Medium" pitchFamily="34" charset="-120"/>
              </a:rPr>
              <a:t>Databases</a:t>
            </a:r>
            <a:endParaRPr lang="en-US" b="1">
              <a:latin typeface=" cambri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04128" y="4824174"/>
            <a:ext cx="5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MongoDB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PostgreSQL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34834" y="5509736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Machine Learning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04128" y="5897999"/>
            <a:ext cx="5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Scikit-learn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XGBoost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264928" y="436128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>
                <a:latin typeface=" cambria"/>
                <a:ea typeface="Noto Serif Medium" pitchFamily="34" charset="-122"/>
                <a:cs typeface="Noto Serif Medium" pitchFamily="34" charset="-120"/>
              </a:rPr>
              <a:t>Deployment</a:t>
            </a:r>
            <a:endParaRPr lang="en-US" b="1">
              <a:latin typeface=" cambri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264928" y="4803566"/>
            <a:ext cx="5865376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Docker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5FFE4C-5F00-D7B3-E3B5-02BEE851E201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734616"/>
            <a:ext cx="583382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Software Requirements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4494" y="1739979"/>
            <a:ext cx="1320141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platform is designed with a clear set of functional and non-functional requirements to ensure a robust, user-friendly, and scalable solution for textile waste management.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4494" y="2567226"/>
            <a:ext cx="6508790" cy="4927640"/>
          </a:xfrm>
          <a:prstGeom prst="roundRect">
            <a:avLst>
              <a:gd name="adj" fmla="val 1740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427" y="2794159"/>
            <a:ext cx="313848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Functional Requirements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41427" y="3223141"/>
            <a:ext cx="6054923" cy="304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User registration: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Secure profiles for buyers and sellers.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Waste listing: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Detailed descriptions and categorization of textile waste batches.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Search and filtering: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Advanced options for efficient discovery of materials.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impact visualization: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Data-driven insights on sustainability metrics.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Analytics dashboard: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Interactive charts and reports for market trends and performance.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06997" y="2567226"/>
            <a:ext cx="6508909" cy="4927640"/>
          </a:xfrm>
          <a:prstGeom prst="roundRect">
            <a:avLst>
              <a:gd name="adj" fmla="val 1740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3930" y="2794159"/>
            <a:ext cx="37296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Non-Functional Requirements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33930" y="3223141"/>
            <a:ext cx="6055043" cy="404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Scalable architecture: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Designed to handle increasing user and data loads.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User-friendly interface: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Intuitive design for ease of use across all functionalities.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 availability: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Ensures continuous access and minimal downtime.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Secure and transparent data handling: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Protects sensitive information and builds trust.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Accurate price prediction: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Reliable AI models for fair market value.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High system reliability: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Consistent performance and data integrity.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BCCC6-D541-CDD6-0F60-E133AFD6F0F5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918" y="725924"/>
            <a:ext cx="6488192" cy="60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Work Breakdown Structure</a:t>
            </a:r>
            <a:endParaRPr lang="en-US" sz="36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0918" y="1667708"/>
            <a:ext cx="1326856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Our project execution is meticulously planned through a Work Breakdown Structure, detailing each major phase from initial analysis to final deployment.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18" y="2457926"/>
            <a:ext cx="194548" cy="194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0918" y="2741295"/>
            <a:ext cx="6550819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0918" y="2884289"/>
            <a:ext cx="260199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Requirement Analysis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0918" y="3288387"/>
            <a:ext cx="6550819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Thoroughly defining the functional and non-functional requirements for the platform.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8544" y="2457926"/>
            <a:ext cx="194548" cy="1945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98544" y="2741295"/>
            <a:ext cx="6550938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398544" y="2884289"/>
            <a:ext cx="378166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Forecasting Dataset Preparation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98544" y="3288387"/>
            <a:ext cx="6550938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Collecting, cleaning, and preparing historical and real-time data for ML model training.</a:t>
            </a:r>
            <a:endParaRPr lang="en-US">
              <a:latin typeface=" cambria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918" y="4203502"/>
            <a:ext cx="194548" cy="1945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0918" y="4486870"/>
            <a:ext cx="6550819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80918" y="4629864"/>
            <a:ext cx="2815471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latin typeface=" cambria"/>
                <a:ea typeface="Noto Serif Medium" pitchFamily="34" charset="-122"/>
                <a:cs typeface="Noto Serif Medium" pitchFamily="34" charset="-120"/>
              </a:rPr>
              <a:t>ML Model Development</a:t>
            </a:r>
            <a:endParaRPr lang="en-US" b="1" dirty="0">
              <a:latin typeface=" cambria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80918" y="5033963"/>
            <a:ext cx="6550819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 cambria"/>
                <a:ea typeface="Noto Serif" pitchFamily="34" charset="-122"/>
                <a:cs typeface="Noto Serif" pitchFamily="34" charset="-120"/>
              </a:rPr>
              <a:t>Designing, training, and validating machine learning models for waste forecasting and pricing.</a:t>
            </a:r>
            <a:endParaRPr lang="en-US">
              <a:latin typeface=" cambria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98544" y="4203502"/>
            <a:ext cx="194548" cy="19454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98544" y="4486870"/>
            <a:ext cx="6550938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398544" y="4629864"/>
            <a:ext cx="2432209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Dashboard Design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398544" y="5033963"/>
            <a:ext cx="6550938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Creating an intuitive and interactive analytics dashboard for visualizing key metrics.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918" y="5949077"/>
            <a:ext cx="194548" cy="19454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80918" y="6232446"/>
            <a:ext cx="6550819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80918" y="6375440"/>
            <a:ext cx="273153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Frontend Development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80918" y="6779538"/>
            <a:ext cx="6550819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Building the user-facing marketplace interface with React.js and Tailwind CSS.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98544" y="5949077"/>
            <a:ext cx="194548" cy="19454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98544" y="6232446"/>
            <a:ext cx="6550938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7398544" y="6375440"/>
            <a:ext cx="3810595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API Integration and Deployment</a:t>
            </a:r>
            <a:endParaRPr lang="en-US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7398544" y="6779538"/>
            <a:ext cx="6550938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Connecting all components via </a:t>
            </a:r>
            <a:r>
              <a:rPr lang="en-US" err="1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FastAPI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and deploying the entire system using Docker</a:t>
            </a: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5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4C63B-8351-53CF-6FE8-E7A267DA437C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363" y="244444"/>
            <a:ext cx="4303752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Gantt Chart: Weeks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CF29D1-418F-2A1B-AD77-D6B7120DB246}"/>
              </a:ext>
            </a:extLst>
          </p:cNvPr>
          <p:cNvSpPr/>
          <p:nvPr/>
        </p:nvSpPr>
        <p:spPr>
          <a:xfrm>
            <a:off x="12860215" y="7678615"/>
            <a:ext cx="1770184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12C1E84-7410-A316-A6EB-15F9BFF68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087" y="1371599"/>
            <a:ext cx="10677159" cy="65055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3684" y="2929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3A3A3A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Conclusion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6673" y="885576"/>
            <a:ext cx="8546122" cy="42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0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This project proposes an AI-powered digital marketplace for upcycling textiles</a:t>
            </a:r>
          </a:p>
          <a:p>
            <a:pPr marL="0" indent="0" algn="just">
              <a:lnSpc>
                <a:spcPts val="1050"/>
              </a:lnSpc>
              <a:buNone/>
            </a:pPr>
            <a:endParaRPr lang="en-US" dirty="0">
              <a:solidFill>
                <a:srgbClr val="4C4C4C"/>
              </a:solidFill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just">
              <a:lnSpc>
                <a:spcPts val="10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waste in Sri Lanka, offering a comprehensive solution to address the nation’s</a:t>
            </a:r>
          </a:p>
          <a:p>
            <a:pPr marL="0" indent="0" algn="just">
              <a:lnSpc>
                <a:spcPts val="1050"/>
              </a:lnSpc>
              <a:buNone/>
            </a:pPr>
            <a:endParaRPr lang="en-US" dirty="0">
              <a:solidFill>
                <a:srgbClr val="4C4C4C"/>
              </a:solidFill>
              <a:latin typeface="Cambria" panose="02040503050406030204" pitchFamily="18" charset="0"/>
              <a:ea typeface="Cambria" panose="02040503050406030204" pitchFamily="18" charset="0"/>
              <a:cs typeface="Noto Serif" pitchFamily="34" charset="-120"/>
            </a:endParaRPr>
          </a:p>
          <a:p>
            <a:pPr marL="0" indent="0" algn="just">
              <a:lnSpc>
                <a:spcPts val="105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 textile waste crisis.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59249" y="1824276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80217" y="1945243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800" y="2038826"/>
            <a:ext cx="152995" cy="1529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2523" y="2045730"/>
            <a:ext cx="166735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Intelligent Classification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80217" y="2383630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Automated identification and categorization of textile waste.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59249" y="2866906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80217" y="2987873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800" y="3081457"/>
            <a:ext cx="152995" cy="1529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2523" y="3102828"/>
            <a:ext cx="254531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Environmental Impact Measurement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53150" y="3446503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Quantifying the positive ecological contribution of upcycling.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59249" y="3909536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80217" y="403050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800" y="4124087"/>
            <a:ext cx="152995" cy="1529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2761" y="4129862"/>
            <a:ext cx="171414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Transparent Traceability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53150" y="4465172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End-to-end visibility of waste materials through the supply chain.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59249" y="4952167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780217" y="507313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800" y="5166717"/>
            <a:ext cx="152995" cy="1529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32523" y="518437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Data-Driven Insights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80217" y="5490747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Optimized pricing and personalized recommendations for users.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59249" y="6015575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01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780217" y="611576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3800" y="6209347"/>
            <a:ext cx="152995" cy="15299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8239" y="6228159"/>
            <a:ext cx="201965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Sustainable Trading Platform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80217" y="6605855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 dedicated marketplace fostering circular economy practices.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538282" y="714733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Ultimately, this system promotes robust circular economy practices and significant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environmental sustainability for Sri Lanka's textile industry.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2745343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  <a:cs typeface="Noto Serif Medium" pitchFamily="34" charset="-120"/>
              </a:rPr>
              <a:t>Thank You!</a:t>
            </a:r>
            <a:endParaRPr 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5031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AI-Powered Digital Marketplace for Upcycling Sri Lanka's Textile Waste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Noto Serif" pitchFamily="34" charset="-120"/>
              </a:rPr>
              <a:t>R26-IT-081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C67D00-848C-4BA1-81BC-FD59F761A2F8}"/>
</file>

<file path=customXml/itemProps2.xml><?xml version="1.0" encoding="utf-8"?>
<ds:datastoreItem xmlns:ds="http://schemas.openxmlformats.org/officeDocument/2006/customXml" ds:itemID="{AC6F1267-3422-4498-BB8B-DA346A959703}"/>
</file>

<file path=customXml/itemProps3.xml><?xml version="1.0" encoding="utf-8"?>
<ds:datastoreItem xmlns:ds="http://schemas.openxmlformats.org/officeDocument/2006/customXml" ds:itemID="{E5B08DE5-1934-4069-88F8-88E1AE9C90AD}"/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3034</Words>
  <Application>Microsoft Office PowerPoint</Application>
  <PresentationFormat>Custom</PresentationFormat>
  <Paragraphs>546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 cambria</vt:lpstr>
      <vt:lpstr>Arial</vt:lpstr>
      <vt:lpstr>Cambria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Chanuka Sandeepa</dc:creator>
  <cp:lastModifiedBy>SANDEEPA S.A.C it22281814</cp:lastModifiedBy>
  <cp:revision>6</cp:revision>
  <dcterms:created xsi:type="dcterms:W3CDTF">2026-03-16T11:15:22Z</dcterms:created>
  <dcterms:modified xsi:type="dcterms:W3CDTF">2026-03-16T19:48:11Z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