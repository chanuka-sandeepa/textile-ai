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7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667B3-0DF9-D794-992F-AF1C5C5F8381}" v="40" dt="2026-10-14T16:10:01.749"/>
    <p1510:client id="{A69FAA9F-9656-77C9-2576-9E9E9B1449C5}" v="10" dt="2026-10-14T16:07:33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73" autoAdjust="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A S.A.C it22281814" userId="S::it22281814@my.sliit.lk::84cb329b-b9c9-408c-9ce5-3f79374b24af" providerId="AD" clId="Web-{A69FAA9F-9656-77C9-2576-9E9E9B1449C5}"/>
    <pc:docChg chg="modSld">
      <pc:chgData name="SANDEEPA S.A.C it22281814" userId="S::it22281814@my.sliit.lk::84cb329b-b9c9-408c-9ce5-3f79374b24af" providerId="AD" clId="Web-{A69FAA9F-9656-77C9-2576-9E9E9B1449C5}" dt="2026-10-14T16:07:33.932" v="3" actId="20577"/>
      <pc:docMkLst>
        <pc:docMk/>
      </pc:docMkLst>
      <pc:sldChg chg="modSp">
        <pc:chgData name="SANDEEPA S.A.C it22281814" userId="S::it22281814@my.sliit.lk::84cb329b-b9c9-408c-9ce5-3f79374b24af" providerId="AD" clId="Web-{A69FAA9F-9656-77C9-2576-9E9E9B1449C5}" dt="2026-10-14T16:07:33.932" v="3" actId="20577"/>
        <pc:sldMkLst>
          <pc:docMk/>
          <pc:sldMk cId="0" sldId="258"/>
        </pc:sldMkLst>
        <pc:spChg chg="mod">
          <ac:chgData name="SANDEEPA S.A.C it22281814" userId="S::it22281814@my.sliit.lk::84cb329b-b9c9-408c-9ce5-3f79374b24af" providerId="AD" clId="Web-{A69FAA9F-9656-77C9-2576-9E9E9B1449C5}" dt="2026-10-14T16:07:33.932" v="3" actId="20577"/>
          <ac:spMkLst>
            <pc:docMk/>
            <pc:sldMk cId="0" sldId="258"/>
            <ac:spMk id="10" creationId="{00000000-0000-0000-0000-000000000000}"/>
          </ac:spMkLst>
        </pc:spChg>
      </pc:sldChg>
    </pc:docChg>
  </pc:docChgLst>
  <pc:docChgLst>
    <pc:chgData name="SIRIWARDHANA N S T N it22215338" userId="S::it22215338@my.sliit.lk::4030a044-9da2-4ca1-93fc-4ec72257b112" providerId="AD" clId="Web-{095667B3-0DF9-D794-992F-AF1C5C5F8381}"/>
    <pc:docChg chg="modSld">
      <pc:chgData name="SIRIWARDHANA N S T N it22215338" userId="S::it22215338@my.sliit.lk::4030a044-9da2-4ca1-93fc-4ec72257b112" providerId="AD" clId="Web-{095667B3-0DF9-D794-992F-AF1C5C5F8381}" dt="2026-10-14T16:09:51.264" v="17" actId="20577"/>
      <pc:docMkLst>
        <pc:docMk/>
      </pc:docMkLst>
      <pc:sldChg chg="modSp">
        <pc:chgData name="SIRIWARDHANA N S T N it22215338" userId="S::it22215338@my.sliit.lk::4030a044-9da2-4ca1-93fc-4ec72257b112" providerId="AD" clId="Web-{095667B3-0DF9-D794-992F-AF1C5C5F8381}" dt="2026-10-14T16:09:51.264" v="17" actId="20577"/>
        <pc:sldMkLst>
          <pc:docMk/>
          <pc:sldMk cId="0" sldId="258"/>
        </pc:sldMkLst>
        <pc:spChg chg="mod">
          <ac:chgData name="SIRIWARDHANA N S T N it22215338" userId="S::it22215338@my.sliit.lk::4030a044-9da2-4ca1-93fc-4ec72257b112" providerId="AD" clId="Web-{095667B3-0DF9-D794-992F-AF1C5C5F8381}" dt="2026-10-14T16:09:51.264" v="17" actId="20577"/>
          <ac:spMkLst>
            <pc:docMk/>
            <pc:sldMk cId="0" sldId="258"/>
            <ac:spMk id="14" creationId="{00000000-0000-0000-0000-000000000000}"/>
          </ac:spMkLst>
        </pc:spChg>
      </pc:sldChg>
    </pc:docChg>
  </pc:docChgLst>
  <pc:docChgLst>
    <pc:chgData clId="Web-{A69FAA9F-9656-77C9-2576-9E9E9B1449C5}"/>
    <pc:docChg chg="modSld">
      <pc:chgData name="" userId="" providerId="" clId="Web-{A69FAA9F-9656-77C9-2576-9E9E9B1449C5}" dt="2026-10-14T16:06:49.369" v="0" actId="20577"/>
      <pc:docMkLst>
        <pc:docMk/>
      </pc:docMkLst>
      <pc:sldChg chg="modSp">
        <pc:chgData name="" userId="" providerId="" clId="Web-{A69FAA9F-9656-77C9-2576-9E9E9B1449C5}" dt="2026-10-14T16:06:49.369" v="0" actId="20577"/>
        <pc:sldMkLst>
          <pc:docMk/>
          <pc:sldMk cId="0" sldId="258"/>
        </pc:sldMkLst>
        <pc:spChg chg="mod">
          <ac:chgData name="" userId="" providerId="" clId="Web-{A69FAA9F-9656-77C9-2576-9E9E9B1449C5}" dt="2026-10-14T16:06:49.369" v="0" actId="20577"/>
          <ac:spMkLst>
            <pc:docMk/>
            <pc:sldMk cId="0" sldId="258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298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235440" y="548640"/>
            <a:ext cx="2148840" cy="214884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87000" y="1965960"/>
            <a:ext cx="960120" cy="960120"/>
          </a:xfrm>
          <a:prstGeom prst="ellipse">
            <a:avLst/>
          </a:prstGeom>
          <a:solidFill>
            <a:srgbClr val="2F6954"/>
          </a:solidFill>
          <a:ln>
            <a:solidFill>
              <a:srgbClr val="2F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366760" y="3246120"/>
            <a:ext cx="777240" cy="777240"/>
          </a:xfrm>
          <a:prstGeom prst="ellipse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4023360"/>
            <a:ext cx="1737360" cy="1737360"/>
          </a:xfrm>
          <a:prstGeom prst="ellipse">
            <a:avLst/>
          </a:prstGeom>
          <a:solidFill>
            <a:srgbClr val="205344"/>
          </a:solidFill>
          <a:ln>
            <a:solidFill>
              <a:srgbClr val="205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785189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A2E1C2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TEXCYCLE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826" y="1816039"/>
            <a:ext cx="7847492" cy="19959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AI-Powered Digital Marketplace</a:t>
            </a:r>
          </a:p>
          <a:p>
            <a:pPr algn="l">
              <a:spcAft>
                <a:spcPts val="3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for Upcycling Sri Lanka’s Textile Waste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947651" y="4923420"/>
            <a:ext cx="987552" cy="50292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1372" y="5094453"/>
            <a:ext cx="77724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A2E1C2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 PROJECT ID: R26-IT-081  |  PANEL: IT-P06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73772"/>
            <a:ext cx="77724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marL="285750" indent="-285750" algn="l">
              <a:spcAft>
                <a:spcPts val="300"/>
              </a:spcAft>
              <a:buFont typeface="Wingdings" panose="05000000000000000000" pitchFamily="2" charset="2"/>
              <a:buChar char="§"/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IT22281814   •   IT22215338   •   IT22221278   •   IT22281678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263640"/>
            <a:ext cx="82296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DEEDE4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Supervisor: [Insert confirmed name]     Co-supervisor: [Insert confirmed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7" y="201168"/>
            <a:ext cx="5885827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01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762" y="814649"/>
            <a:ext cx="109728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One platform, four research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09192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2716A"/>
                </a:solidFill>
                <a:latin typeface="Aptos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TexCycle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AI connects textile assessment to sustainability information and marketplace decision support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" y="2270110"/>
            <a:ext cx="34564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2262916"/>
            <a:ext cx="64008" cy="1828800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246" y="2381772"/>
            <a:ext cx="314553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246" y="2813473"/>
            <a:ext cx="3145536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Understand the uploaded material and visible defects.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250158"/>
            <a:ext cx="34564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8254" y="2222743"/>
            <a:ext cx="64008" cy="1828800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6295" y="2388999"/>
            <a:ext cx="314553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ASSESS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90288" y="2816159"/>
            <a:ext cx="3145536" cy="75713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Estimate sustainability-related indicators with documented assumptions.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1772" y="2257227"/>
            <a:ext cx="34564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14716" y="2207171"/>
            <a:ext cx="64008" cy="1828800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2379424"/>
            <a:ext cx="314553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CONNECT + 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821661"/>
            <a:ext cx="3145536" cy="75713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Support price decisions, buyer discovery and marketplace forecasting.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" y="4635257"/>
            <a:ext cx="10424160" cy="1188721"/>
          </a:xfrm>
          <a:prstGeom prst="roundRect">
            <a:avLst/>
          </a:prstGeom>
          <a:solidFill>
            <a:srgbClr val="E6F4EC"/>
          </a:solidFill>
          <a:ln>
            <a:solidFill>
              <a:srgbClr val="E6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7037" y="4706121"/>
            <a:ext cx="1828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238965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Core contribution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122" y="5026169"/>
            <a:ext cx="978408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A role-based digital marketplace where AI outputs help users make more informed decisions about textile-waste reuse and upcycling.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02  RESEARCH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95527"/>
            <a:ext cx="1097280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Four members with distinct, connected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64008" cy="1188720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1609344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>
                <a:latin typeface="Arial"/>
                <a:cs typeface="Arial"/>
              </a:rPr>
              <a:t>MEMBER 01  |  IT22281814</a:t>
            </a:r>
            <a:r>
              <a:rPr lang="en-US" sz="1400">
                <a:latin typeface="Arial"/>
                <a:cs typeface="Arial"/>
              </a:rPr>
              <a:t> | Sandeepa S.A.C.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35608" y="2107894"/>
            <a:ext cx="494690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Fabric 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64008" cy="1188720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37376" y="1609344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/>
                <a:cs typeface="Arial"/>
              </a:rPr>
              <a:t>MEMBER 02  |  IT22215338</a:t>
            </a:r>
            <a:r>
              <a:rPr lang="en-US" sz="1400" dirty="0">
                <a:latin typeface="Arial"/>
                <a:cs typeface="Arial"/>
              </a:rPr>
              <a:t> | </a:t>
            </a:r>
            <a:r>
              <a:rPr lang="en-US" sz="1400" dirty="0" err="1">
                <a:latin typeface="Arial"/>
                <a:cs typeface="Arial"/>
              </a:rPr>
              <a:t>Siriwardhana</a:t>
            </a:r>
            <a:r>
              <a:rPr lang="en-US" sz="1400" dirty="0">
                <a:latin typeface="Arial"/>
                <a:cs typeface="Arial"/>
              </a:rPr>
              <a:t> N.S.T.N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45096" y="2080260"/>
            <a:ext cx="494690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Sustainability Intelligence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1752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3017520"/>
            <a:ext cx="64008" cy="1188720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" y="3118103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MEMBER 03  |  IT22221278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3573441"/>
            <a:ext cx="494690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Traceability + Commercial Intelligence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01752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63640" y="3017520"/>
            <a:ext cx="64008" cy="1188720"/>
          </a:xfrm>
          <a:prstGeom prst="rect">
            <a:avLst/>
          </a:prstGeom>
          <a:solidFill>
            <a:srgbClr val="775E9D"/>
          </a:solidFill>
          <a:ln>
            <a:solidFill>
              <a:srgbClr val="775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37376" y="3118103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MEMBER 04  |  IT22281678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581590"/>
            <a:ext cx="494690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Marketplace Predictive Analytics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846320"/>
            <a:ext cx="10424160" cy="749808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" y="5010912"/>
            <a:ext cx="438912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3C6F99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Supervisor: [Insert official name]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5010912"/>
            <a:ext cx="493776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3C6F99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Co-supervisor: [Insert official name]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87097"/>
            <a:ext cx="6131052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03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9412" y="1270528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/>
              <a:t>Why textile waste needs a smarter route to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412" y="2154746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9412" y="2132456"/>
            <a:ext cx="64008" cy="1920240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8576" y="2395728"/>
            <a:ext cx="316382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t>MATERIAL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27782"/>
            <a:ext cx="3163824" cy="1408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dirty="0"/>
              <a:t>Fabric type and condition may be unclear from a basic listing.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6260" y="2138552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302252" y="2132456"/>
            <a:ext cx="64008" cy="1920240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8388" y="2395728"/>
            <a:ext cx="316382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dirty="0"/>
              <a:t>VALUE UNCERTAINTY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827782"/>
            <a:ext cx="3163824" cy="1408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dirty="0"/>
              <a:t>Sellers may need support estimating value and interpreting sustainability indicators.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4340" y="2146554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91856" y="2132456"/>
            <a:ext cx="64008" cy="1920240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11896" y="2395728"/>
            <a:ext cx="316382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dirty="0"/>
              <a:t>FRAGMENTED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27782"/>
            <a:ext cx="3163824" cy="1408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dirty="0"/>
              <a:t>Relevant buyers and market signals can be difficult to connect consistently.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448366"/>
            <a:ext cx="1037844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3730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Research alignment: SDG 12 — Responsible Consumption and Production; SDG 8 — Decent Work and Economic Growth.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00600"/>
            <a:ext cx="10332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A6423C"/>
                </a:solidFill>
                <a:latin typeface="Aptos"/>
              </a:defRPr>
            </a:pPr>
            <a:r>
              <a:t>Industry impact should be claimed only where supported by measured data or a documented pilot.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7591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04  RESEARCH PROBLEM &amp;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375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The challenge is a chain of connected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572768"/>
            <a:ext cx="64008" cy="1874519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67256" y="1894453"/>
            <a:ext cx="316382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PROBLEM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85350"/>
            <a:ext cx="3163824" cy="4493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Material category and condition are not always represented in a structured 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0258" y="1567671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70832" y="1572768"/>
            <a:ext cx="64008" cy="1874519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0388" y="1900656"/>
            <a:ext cx="316382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PROBLEM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285350"/>
            <a:ext cx="3075434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Sustainability indicators and indicative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need clear calculation and interpretation.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572768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55864" y="1572768"/>
            <a:ext cx="64008" cy="1874519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13520" y="1906859"/>
            <a:ext cx="316382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PROBLEM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226899"/>
            <a:ext cx="3163824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Buyer matching and marketplace predictions need to be connected to listing information.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" y="4073168"/>
            <a:ext cx="10424160" cy="914400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" y="4142232"/>
            <a:ext cx="1828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3C6F99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Research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425696"/>
            <a:ext cx="978408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23730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How can AI-assisted textile assessment and marketplace intelligence support informed reuse, upcycling and trading decisions?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7067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05 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20050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One main objective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supported by four component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9808" y="1481328"/>
            <a:ext cx="64008" cy="914400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3544" y="1581912"/>
            <a:ext cx="1029614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MAIN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1938528"/>
            <a:ext cx="1029614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Develop an AI-powered digital marketplace that helps users assess textile materials and make more informed sustainability and commercial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43200"/>
            <a:ext cx="5257800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2743200"/>
            <a:ext cx="64008" cy="1060704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536" y="2843784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01  Identify material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200400"/>
            <a:ext cx="494690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Fabric classification and defect/condition assessment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743200"/>
            <a:ext cx="5257800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63640" y="2743200"/>
            <a:ext cx="64008" cy="1060704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37376" y="2843784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02  Estimate sustainability indicators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200400"/>
            <a:ext cx="494690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Scores, grades and environmental estimates with explicit assumptions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69080"/>
            <a:ext cx="5257800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" y="4069080"/>
            <a:ext cx="64008" cy="1060704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9536" y="4169664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03  Support commercial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526280"/>
            <a:ext cx="494690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Indicative pricing, buyer recommendation and traceability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069080"/>
            <a:ext cx="5257800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63640" y="4069080"/>
            <a:ext cx="64008" cy="1060704"/>
          </a:xfrm>
          <a:prstGeom prst="rect">
            <a:avLst/>
          </a:prstGeom>
          <a:solidFill>
            <a:srgbClr val="775E9D"/>
          </a:solidFill>
          <a:ln>
            <a:solidFill>
              <a:srgbClr val="775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37376" y="4169664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04  Predict marketplace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526280"/>
            <a:ext cx="4946904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Listing success, sales time, market trend and demand where implemented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06  FULL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3605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How the website, backend, AI services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and data work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</a:p>
        </p:txBody>
      </p:sp>
      <p:pic>
        <p:nvPicPr>
          <p:cNvPr id="23" name="Picture 22" descr="A diagram of a system&#10;&#10;Description automatically generated">
            <a:extLst>
              <a:ext uri="{FF2B5EF4-FFF2-40B4-BE49-F238E27FC236}">
                <a16:creationId xmlns:a16="http://schemas.microsoft.com/office/drawing/2014/main" id="{296AAFDE-AA40-01A2-0097-C95EE1DB2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674" y="1231490"/>
            <a:ext cx="8299655" cy="50808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7" y="201168"/>
            <a:ext cx="7377537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07 USER ROLES &amp; MARKETPLACE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82236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The same platform serves different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2697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481328"/>
            <a:ext cx="64008" cy="1874519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3815" y="1581912"/>
            <a:ext cx="238658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07682"/>
            <a:ext cx="2386584" cy="964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Upload material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and list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View predictions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Manage 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481328"/>
            <a:ext cx="2697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56432" y="1481328"/>
            <a:ext cx="64008" cy="1874519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30168" y="1581912"/>
            <a:ext cx="238658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BUYER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500" y="2007682"/>
            <a:ext cx="2386584" cy="964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Browse materials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Choose quantity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Place orders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Track and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481328"/>
            <a:ext cx="2697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72784" y="1481328"/>
            <a:ext cx="64008" cy="1874519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6520" y="1581912"/>
            <a:ext cx="238658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020952"/>
            <a:ext cx="2386584" cy="7417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Manage platform activity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Review users/listings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Monitor orders and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1481328"/>
            <a:ext cx="2423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89136" y="1481328"/>
            <a:ext cx="64008" cy="1874519"/>
          </a:xfrm>
          <a:prstGeom prst="rect">
            <a:avLst/>
          </a:prstGeom>
          <a:solidFill>
            <a:srgbClr val="775E9D"/>
          </a:solidFill>
          <a:ln>
            <a:solidFill>
              <a:srgbClr val="775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62872" y="1581912"/>
            <a:ext cx="211226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SUPER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045695"/>
            <a:ext cx="2112264" cy="5186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Platform-level access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Administrative governance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069080"/>
            <a:ext cx="10424160" cy="713232"/>
          </a:xfrm>
          <a:prstGeom prst="roundRect">
            <a:avLst/>
          </a:prstGeom>
          <a:solidFill>
            <a:srgbClr val="E6F4EC"/>
          </a:solidFill>
          <a:ln>
            <a:solidFill>
              <a:srgbClr val="E6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3544" y="4255939"/>
            <a:ext cx="1032357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Shared services: authentication • marketplace listings • orders • notifications • reviews/ratings • history (as implemented)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08 RESEARCH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7530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How the team moved from research to a working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09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44168"/>
            <a:ext cx="329184" cy="329184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408176"/>
            <a:ext cx="22860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298448"/>
            <a:ext cx="2420112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Literature +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298448"/>
            <a:ext cx="754380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Identify problem, research gap and component targets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057400"/>
            <a:ext cx="329184" cy="329184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2121408"/>
            <a:ext cx="22860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011680"/>
            <a:ext cx="224028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Dataset preparation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11680"/>
            <a:ext cx="754380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Inspect data sources, schema, labels, cleaning and feature engineering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2770632"/>
            <a:ext cx="329184" cy="329184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2834640"/>
            <a:ext cx="22860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724912"/>
            <a:ext cx="224028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Model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724912"/>
            <a:ext cx="754380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Train task-specific classifiers, regressors or segmentation models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483863"/>
            <a:ext cx="329184" cy="329184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3547872"/>
            <a:ext cx="22860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438144"/>
            <a:ext cx="224028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438144"/>
            <a:ext cx="754380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Use task-appropriate metrics on held-out data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197096"/>
            <a:ext cx="329184" cy="329184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22860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151376"/>
            <a:ext cx="224028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151376"/>
            <a:ext cx="754380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Connect inference/results to API and role-based website workflows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4910328"/>
            <a:ext cx="329184" cy="329184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960" y="4974336"/>
            <a:ext cx="22860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4864608"/>
            <a:ext cx="224028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Testing +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864608"/>
            <a:ext cx="754380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Test workflows, document limitations and interpret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7" y="201168"/>
            <a:ext cx="7003911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09  INDIVIDUAL RESEARCH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8747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Four components, four different 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257800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64008" cy="1389888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1655064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MEMBER 01  |  Fabric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011680"/>
            <a:ext cx="494690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What material is it? What defects can be identified?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257800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64008" cy="1389888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37376" y="1655064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MEMBER 02  |  Sustainability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011680"/>
            <a:ext cx="494690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What environmental/sustainability indicators can be estimated?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46120"/>
            <a:ext cx="5257800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3246120"/>
            <a:ext cx="64008" cy="1389888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" y="3346703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MEMBER 03  |  Commercial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703320"/>
            <a:ext cx="494690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What price and buyer options may help the seller?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246120"/>
            <a:ext cx="5257800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63640" y="3246120"/>
            <a:ext cx="64008" cy="1389888"/>
          </a:xfrm>
          <a:prstGeom prst="rect">
            <a:avLst/>
          </a:prstGeom>
          <a:solidFill>
            <a:srgbClr val="775E9D"/>
          </a:solidFill>
          <a:ln>
            <a:solidFill>
              <a:srgbClr val="775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37376" y="3346703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MEMBER 04  |  Marketplace Predictive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703320"/>
            <a:ext cx="494690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What marketplace outcomes or trends can be predicted?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7" y="201168"/>
            <a:ext cx="8616401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10  MEMBER 01 | IT22281814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| Sandeepa S.A.C.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1400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Fabric Intelligence — research focus &amp;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"/>
            <a:ext cx="1828800" cy="256032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38944" y="184797"/>
            <a:ext cx="1719072" cy="23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3C6F99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MEMBER 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81328"/>
            <a:ext cx="34747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800" y="1481328"/>
            <a:ext cx="64008" cy="1572768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" y="1691301"/>
            <a:ext cx="316382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RESEARCH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142744"/>
            <a:ext cx="3163824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Uploaded textile image; image validation and preprocessing.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481328"/>
            <a:ext cx="34747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70832" y="1481328"/>
            <a:ext cx="64008" cy="1572768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58284" y="1691300"/>
            <a:ext cx="316382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MODELS REPORTED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112483"/>
            <a:ext cx="3163824" cy="84946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EfficientNet-B3 for fabric classification; MobileNetV2 for defect-related classification; U-Net for segmentation only if confirmed in final implementation.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481328"/>
            <a:ext cx="347472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55864" y="1481328"/>
            <a:ext cx="64008" cy="1572768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57032" y="1741330"/>
            <a:ext cx="316382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USER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3316" y="2192773"/>
            <a:ext cx="3163824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Fabric category + confidence; defect result / mask where integrated; condition indicators only where implemented.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520440"/>
            <a:ext cx="1033272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Reported result from earlier project notes: EfficientNet-B3 test accuracy 89.68%; MobileNetV2 result 90.87% (verify exact metric and task).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251960"/>
            <a:ext cx="10424160" cy="777240"/>
          </a:xfrm>
          <a:prstGeom prst="roundRect">
            <a:avLst/>
          </a:prstGeom>
          <a:solidFill>
            <a:srgbClr val="FAEDEA"/>
          </a:solidFill>
          <a:ln>
            <a:solidFill>
              <a:srgbClr val="FA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7720" y="4410874"/>
            <a:ext cx="1022368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Explain why the model was selected, image size/normalization, class labels, confidence meaning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and how defects are calculated.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57424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11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MEMBER 01 |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47678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From textile image to a useful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"/>
            <a:ext cx="1828800" cy="256032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38944" y="184797"/>
            <a:ext cx="1719072" cy="23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3C6F99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MEMBER 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18105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1828800"/>
            <a:ext cx="64008" cy="1353312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1929384"/>
            <a:ext cx="149961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356211"/>
            <a:ext cx="149961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86584" y="2505456"/>
            <a:ext cx="438912" cy="0"/>
          </a:xfrm>
          <a:prstGeom prst="line">
            <a:avLst/>
          </a:prstGeom>
          <a:ln w="25400">
            <a:solidFill>
              <a:srgbClr val="238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0360" y="1828800"/>
            <a:ext cx="18105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80360" y="1828800"/>
            <a:ext cx="64008" cy="1353312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54096" y="1929384"/>
            <a:ext cx="149961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Preprocess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3532" y="2356211"/>
            <a:ext cx="149961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Resize / normalize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00016" y="2505456"/>
            <a:ext cx="438912" cy="0"/>
          </a:xfrm>
          <a:prstGeom prst="line">
            <a:avLst/>
          </a:prstGeom>
          <a:ln w="25400">
            <a:solidFill>
              <a:srgbClr val="238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93792" y="1828800"/>
            <a:ext cx="18105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93792" y="1828800"/>
            <a:ext cx="64008" cy="1353312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67528" y="1929384"/>
            <a:ext cx="149961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356211"/>
            <a:ext cx="149961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Trained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13448" y="2505456"/>
            <a:ext cx="438912" cy="0"/>
          </a:xfrm>
          <a:prstGeom prst="line">
            <a:avLst/>
          </a:prstGeom>
          <a:ln w="25400">
            <a:solidFill>
              <a:srgbClr val="238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07224" y="1828800"/>
            <a:ext cx="18105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507224" y="1828800"/>
            <a:ext cx="64008" cy="1353312"/>
          </a:xfrm>
          <a:prstGeom prst="rect">
            <a:avLst/>
          </a:prstGeom>
          <a:solidFill>
            <a:srgbClr val="775E9D"/>
          </a:solidFill>
          <a:ln>
            <a:solidFill>
              <a:srgbClr val="775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0" y="1929384"/>
            <a:ext cx="149961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Post-process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351793"/>
            <a:ext cx="149961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Class/mask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9326880" y="2505456"/>
            <a:ext cx="438912" cy="0"/>
          </a:xfrm>
          <a:prstGeom prst="line">
            <a:avLst/>
          </a:prstGeom>
          <a:ln w="25400">
            <a:solidFill>
              <a:srgbClr val="238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20656" y="1828800"/>
            <a:ext cx="18105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820656" y="1828800"/>
            <a:ext cx="64008" cy="1353312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94392" y="1929384"/>
            <a:ext cx="149961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Display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356211"/>
            <a:ext cx="149961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840480"/>
            <a:ext cx="50292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22960" y="3840480"/>
            <a:ext cx="64008" cy="987552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96696" y="3941064"/>
            <a:ext cx="47183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Confidence is not correctness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" y="4236125"/>
            <a:ext cx="4718304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A confidence score describes model output certainty; it does not prove the label is correct.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3840480"/>
            <a:ext cx="50292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172200" y="3840480"/>
            <a:ext cx="64008" cy="987552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45936" y="3941064"/>
            <a:ext cx="47183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Explain each condition value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7032" y="4236232"/>
            <a:ext cx="4718304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Indicate whether health, repairability, or lifespan is predicted by the model, derived from the formula,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or rule-based.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12  MEMBER 02 | IT22215338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1930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Sustainability Intelligence — outputs and calculations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"/>
            <a:ext cx="1828800" cy="256032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38944" y="184797"/>
            <a:ext cx="1719072" cy="23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3C6F99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MEMBER 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44752"/>
            <a:ext cx="260604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8368" y="1444752"/>
            <a:ext cx="64008" cy="1124712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3" y="1545336"/>
            <a:ext cx="229514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01  Sustainability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" y="1901952"/>
            <a:ext cx="229514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Model/target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1444752"/>
            <a:ext cx="260604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20439" y="1444752"/>
            <a:ext cx="64008" cy="1124712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94176" y="1545336"/>
            <a:ext cx="229514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02  Sustainability grade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3" y="1880806"/>
            <a:ext cx="229514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Grade model or mapping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1444752"/>
            <a:ext cx="260604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82512" y="1444752"/>
            <a:ext cx="64008" cy="1124712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56248" y="1545336"/>
            <a:ext cx="229514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03  Green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1901952"/>
            <a:ext cx="229514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Exact implemented formula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44584" y="1444752"/>
            <a:ext cx="260604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244584" y="1444752"/>
            <a:ext cx="64008" cy="1124712"/>
          </a:xfrm>
          <a:prstGeom prst="rect">
            <a:avLst/>
          </a:prstGeom>
          <a:solidFill>
            <a:srgbClr val="775E9D"/>
          </a:solidFill>
          <a:ln>
            <a:solidFill>
              <a:srgbClr val="775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18320" y="1545336"/>
            <a:ext cx="229514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04  CO₂ saving estimate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1524" y="1901952"/>
            <a:ext cx="229514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Units + baseline factor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2834640"/>
            <a:ext cx="260604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368" y="2834640"/>
            <a:ext cx="64008" cy="1124712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2103" y="2935224"/>
            <a:ext cx="229514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05  Water saving estimate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" y="3291840"/>
            <a:ext cx="229514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Units + baseline factor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0439" y="2834640"/>
            <a:ext cx="260604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520439" y="2834640"/>
            <a:ext cx="64008" cy="1124712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94176" y="2935224"/>
            <a:ext cx="229514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06  Carbon footprint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40" y="3261467"/>
            <a:ext cx="229514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Boundary + units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2512" y="2834640"/>
            <a:ext cx="260604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382512" y="2834640"/>
            <a:ext cx="64008" cy="1124712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56248" y="2935224"/>
            <a:ext cx="229514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07  Environmental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3291840"/>
            <a:ext cx="229514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Inputs combined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44584" y="2834640"/>
            <a:ext cx="260604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244584" y="2834640"/>
            <a:ext cx="64008" cy="1124712"/>
          </a:xfrm>
          <a:prstGeom prst="rect">
            <a:avLst/>
          </a:prstGeom>
          <a:solidFill>
            <a:srgbClr val="775E9D"/>
          </a:solidFill>
          <a:ln>
            <a:solidFill>
              <a:srgbClr val="775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418320" y="2865882"/>
            <a:ext cx="2295144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08  Recommended pathway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51209" y="3420101"/>
            <a:ext cx="2295144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Reuse/recycle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/ upcycle if implemented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4617720"/>
            <a:ext cx="10424160" cy="694944"/>
          </a:xfrm>
          <a:prstGeom prst="roundRect">
            <a:avLst/>
          </a:prstGeom>
          <a:solidFill>
            <a:srgbClr val="FAF4E4"/>
          </a:solidFill>
          <a:ln>
            <a:solidFill>
              <a:srgbClr val="FAF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05840" y="4773168"/>
            <a:ext cx="1001268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23730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Reported R² range in previous project notes: 0.9389–0.9887 across sustainability experiments. Each score must be mapped to its exact model and target.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934" y="407465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13  MEMBER 02 |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7804" y="979949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How the eight sustainability outputs are produced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"/>
            <a:ext cx="1828800" cy="256032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38944" y="184797"/>
            <a:ext cx="1719072" cy="23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3C6F99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MEMBER 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800" y="1554480"/>
            <a:ext cx="64008" cy="1645920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" y="1773975"/>
            <a:ext cx="316382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MODEL-BASED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970" y="2158469"/>
            <a:ext cx="3163824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Input features → trained regressor/grade model → predicted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55448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70832" y="1554480"/>
            <a:ext cx="64008" cy="1645920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58284" y="1773974"/>
            <a:ext cx="316382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FACTOR-BASED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131573"/>
            <a:ext cx="3163824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Material quantity × documented environmental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factor/baseline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, where that is the implemented equation.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55448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55864" y="1554480"/>
            <a:ext cx="64008" cy="1645920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11312" y="1773973"/>
            <a:ext cx="316382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RULE-BASED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136707"/>
            <a:ext cx="3163824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Thresholds or mappings → grade / recommended pathway, if implemented this way.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3785615"/>
            <a:ext cx="68580" cy="6858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14983" y="3703320"/>
            <a:ext cx="1009497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Name the inputs and units.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123944"/>
            <a:ext cx="68580" cy="6858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14983" y="4041648"/>
            <a:ext cx="1009497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Show the exact formula or model.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462272"/>
            <a:ext cx="68580" cy="6858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14983" y="4379976"/>
            <a:ext cx="1009497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Identify the source of environmental factors.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4800600"/>
            <a:ext cx="68580" cy="6858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14983" y="4718304"/>
            <a:ext cx="1009497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Explain rounding, clipping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and grade mapping.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5138927"/>
            <a:ext cx="68580" cy="6858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14983" y="5056631"/>
            <a:ext cx="1009497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C2824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State assumptions and limitations.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8012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14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MEMBER 03 | IT22221278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21905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Commercial Intelligence — pricing and buyer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"/>
            <a:ext cx="1828800" cy="256032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38944" y="184797"/>
            <a:ext cx="1719072" cy="23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3C6F99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MEMBER 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65" y="1731141"/>
            <a:ext cx="352044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0876" y="1714508"/>
            <a:ext cx="64008" cy="1627632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9475" y="1934814"/>
            <a:ext cx="320954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PRICE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72" y="2464729"/>
            <a:ext cx="3209544" cy="7417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Regressor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MAE 12.24 • RMSE 15.40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R² 0.9590 (prior reported result)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69447"/>
            <a:ext cx="352044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82242" y="1632457"/>
            <a:ext cx="64008" cy="1627632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17136" y="1888278"/>
            <a:ext cx="320954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BUYER 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385258"/>
            <a:ext cx="3209544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Prior notes describe Random Forest +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. Reported matching result: 83.56%; verify how matching quality was measured.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1669447"/>
            <a:ext cx="352044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28431" y="1632457"/>
            <a:ext cx="64008" cy="1627632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66175" y="1934813"/>
            <a:ext cx="320954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9308" y="2306935"/>
            <a:ext cx="3209544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Track analysis/listing/order events and history where implemented. Traceability is a system workflow, not automatically an ML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" y="3700247"/>
            <a:ext cx="10424160" cy="1012609"/>
          </a:xfrm>
          <a:prstGeom prst="roundRect">
            <a:avLst/>
          </a:prstGeom>
          <a:solidFill>
            <a:srgbClr val="E6F4EC"/>
          </a:solidFill>
          <a:ln>
            <a:solidFill>
              <a:srgbClr val="E6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" y="3877056"/>
            <a:ext cx="1828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38965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Commercial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1580" y="4212521"/>
            <a:ext cx="978408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Material + condition + quantity + market features → feature preparation → price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estimate/buyer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suggestions → seller decision.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13629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15  MEMBER 03 |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98158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Traceability links the material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"/>
            <a:ext cx="1828800" cy="256032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38944" y="184797"/>
            <a:ext cx="1719072" cy="23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3C6F99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MEMBER 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18105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1828800"/>
            <a:ext cx="64008" cy="1353312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1929384"/>
            <a:ext cx="149961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Material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286000"/>
            <a:ext cx="149961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Upload / details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86584" y="2505456"/>
            <a:ext cx="438912" cy="0"/>
          </a:xfrm>
          <a:prstGeom prst="line">
            <a:avLst/>
          </a:prstGeom>
          <a:ln w="25400">
            <a:solidFill>
              <a:srgbClr val="238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0360" y="1828800"/>
            <a:ext cx="18105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80360" y="1828800"/>
            <a:ext cx="64008" cy="1353312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54096" y="1929384"/>
            <a:ext cx="149961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2286000"/>
            <a:ext cx="149961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Outputs / history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00016" y="2505456"/>
            <a:ext cx="438912" cy="0"/>
          </a:xfrm>
          <a:prstGeom prst="line">
            <a:avLst/>
          </a:prstGeom>
          <a:ln w="25400">
            <a:solidFill>
              <a:srgbClr val="238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93792" y="1828800"/>
            <a:ext cx="18105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93792" y="1828800"/>
            <a:ext cx="64008" cy="1353312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67528" y="1929384"/>
            <a:ext cx="149961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Listing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2286000"/>
            <a:ext cx="149961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Published offer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13448" y="2505456"/>
            <a:ext cx="438912" cy="0"/>
          </a:xfrm>
          <a:prstGeom prst="line">
            <a:avLst/>
          </a:prstGeom>
          <a:ln w="25400">
            <a:solidFill>
              <a:srgbClr val="238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07224" y="1828800"/>
            <a:ext cx="18105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507224" y="1828800"/>
            <a:ext cx="64008" cy="1353312"/>
          </a:xfrm>
          <a:prstGeom prst="rect">
            <a:avLst/>
          </a:prstGeom>
          <a:solidFill>
            <a:srgbClr val="775E9D"/>
          </a:solidFill>
          <a:ln>
            <a:solidFill>
              <a:srgbClr val="775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0" y="1929384"/>
            <a:ext cx="149961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286000"/>
            <a:ext cx="149961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Status / delivery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26880" y="2505456"/>
            <a:ext cx="438912" cy="0"/>
          </a:xfrm>
          <a:prstGeom prst="line">
            <a:avLst/>
          </a:prstGeom>
          <a:ln w="25400">
            <a:solidFill>
              <a:srgbClr val="2389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20656" y="1828800"/>
            <a:ext cx="181051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820656" y="1828800"/>
            <a:ext cx="64008" cy="1353312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94392" y="1929384"/>
            <a:ext cx="149961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4392" y="2286000"/>
            <a:ext cx="1499616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Review / rating if implemented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840480"/>
            <a:ext cx="50292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22960" y="3840480"/>
            <a:ext cx="64008" cy="987552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96696" y="3941064"/>
            <a:ext cx="47183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Why it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" y="4297680"/>
            <a:ext cx="471830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A more structured history can support visibility and accountability.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3840480"/>
            <a:ext cx="50292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172200" y="3840480"/>
            <a:ext cx="64008" cy="987552"/>
          </a:xfrm>
          <a:prstGeom prst="rect">
            <a:avLst/>
          </a:prstGeom>
          <a:solidFill>
            <a:srgbClr val="A6423C"/>
          </a:solidFill>
          <a:ln>
            <a:solidFill>
              <a:srgbClr val="A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45936" y="3941064"/>
            <a:ext cx="47183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What it cannot prove alone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4297680"/>
            <a:ext cx="4718304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Records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alone do not verify origin or environmental impact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2747" y="813607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16  MEMBER 04 | IT22281678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81264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Marketplace Predictive Analytics — model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"/>
            <a:ext cx="1828800" cy="256032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38944" y="184797"/>
            <a:ext cx="1719072" cy="23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3C6F99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MEMBER 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01427"/>
            <a:ext cx="26974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2681310"/>
            <a:ext cx="64008" cy="1691640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2396" y="3017520"/>
            <a:ext cx="238658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LISTING 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" y="3469609"/>
            <a:ext cx="2386584" cy="7417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Classifier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Reported accuracy: 83.65%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Define the success label.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2681310"/>
            <a:ext cx="26974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74720" y="2701427"/>
            <a:ext cx="64008" cy="1691640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66744" y="3013594"/>
            <a:ext cx="238658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SALES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376231"/>
            <a:ext cx="2386584" cy="70326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Regressor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Prior notes: MAE 14.53 days; RMSE 20.87; R² 0.76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8039" y="2630215"/>
            <a:ext cx="26974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27648" y="2718089"/>
            <a:ext cx="64008" cy="1691640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39207" y="3019220"/>
            <a:ext cx="238658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MARKET TREND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9207" y="3362422"/>
            <a:ext cx="2386584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Increasing / Stable / Decreasing classes. Prior reported accuracy: 98.72%; verify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test protocol.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2610098"/>
            <a:ext cx="2331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130284" y="2630215"/>
            <a:ext cx="64008" cy="1691640"/>
          </a:xfrm>
          <a:prstGeom prst="rect">
            <a:avLst/>
          </a:prstGeom>
          <a:solidFill>
            <a:srgbClr val="775E9D"/>
          </a:solidFill>
          <a:ln>
            <a:solidFill>
              <a:srgbClr val="775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54896" y="2989263"/>
            <a:ext cx="202082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3378996"/>
            <a:ext cx="2020824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Present separately only if a distinct trained model and evaluation exist.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840480"/>
            <a:ext cx="2194560" cy="3877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5780" y="357744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17  MEMBER 04 |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7390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What signals are available to the marketplace models?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"/>
            <a:ext cx="1828800" cy="256032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38944" y="184797"/>
            <a:ext cx="1719072" cy="23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3C6F99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MEMBER 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44752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800" y="1444752"/>
            <a:ext cx="64008" cy="1280160"/>
          </a:xfrm>
          <a:prstGeom prst="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3252" y="1612496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Material/condition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1976786"/>
            <a:ext cx="4946904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fabric_type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condition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health_score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defect_area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repairability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remaining_lifespan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weight_kg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444752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63640" y="1444752"/>
            <a:ext cx="64008" cy="1280160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22136" y="1639717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Sustainability/price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22136" y="2016252"/>
            <a:ext cx="4946904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sustainability_score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green_score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co2_saving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water_saving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predicted_price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average_market_price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301752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85800" y="3017520"/>
            <a:ext cx="64008" cy="1280160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9536" y="3118103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Market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474720"/>
            <a:ext cx="4946904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buyer_type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demand_level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listing_month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season • district • province • competition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economic_index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63640" y="301752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63640" y="3017520"/>
            <a:ext cx="64008" cy="1280160"/>
          </a:xfrm>
          <a:prstGeom prst="rect">
            <a:avLst/>
          </a:prstGeom>
          <a:solidFill>
            <a:srgbClr val="775E9D"/>
          </a:solidFill>
          <a:ln>
            <a:solidFill>
              <a:srgbClr val="775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37376" y="3118103"/>
            <a:ext cx="494690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Seller/engagement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37376" y="3474720"/>
            <a:ext cx="4946904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C2824"/>
                </a:solidFill>
                <a:latin typeface="Aptos"/>
              </a:defRPr>
            </a:pP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seller_rating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weekly_views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wishlist_count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click_rate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seller_experience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listing_status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days_to_sell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18  INTEGRATED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10836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How the four components work together on the website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"/>
            <a:ext cx="1828800" cy="256032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38944" y="184797"/>
            <a:ext cx="1719072" cy="23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3C6F99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ALL MEMBERS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353312"/>
            <a:ext cx="2103120" cy="502920"/>
          </a:xfrm>
          <a:prstGeom prst="roundRect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536" y="1499616"/>
            <a:ext cx="1938528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01 •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444752"/>
            <a:ext cx="777240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Seller uploads an image and enters material details.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139696"/>
            <a:ext cx="2103120" cy="502920"/>
          </a:xfrm>
          <a:prstGeom prst="round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536" y="2286000"/>
            <a:ext cx="1938528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02 • Identify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231136"/>
            <a:ext cx="777240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Member 01 model classifies fabric and analyses defects where supported.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926080"/>
            <a:ext cx="2103120" cy="502920"/>
          </a:xfrm>
          <a:prstGeom prst="round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9536" y="3072384"/>
            <a:ext cx="1938528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03 • Assess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017520"/>
            <a:ext cx="777240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Member 02 produces sustainability indicators and environmental estimates.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12464"/>
            <a:ext cx="2103120" cy="502920"/>
          </a:xfrm>
          <a:prstGeom prst="roundRect">
            <a:avLst/>
          </a:prstGeom>
          <a:solidFill>
            <a:srgbClr val="775E9D"/>
          </a:solidFill>
          <a:ln>
            <a:solidFill>
              <a:srgbClr val="775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9536" y="3858768"/>
            <a:ext cx="1938528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04 •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Commercialise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54680" y="3803904"/>
            <a:ext cx="777240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Member 03 provides indicative price, buyer recommendations and traceability.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98848"/>
            <a:ext cx="2103120" cy="502920"/>
          </a:xfrm>
          <a:prstGeom prst="roundRect">
            <a:avLst/>
          </a:prstGeom>
          <a:solidFill>
            <a:srgbClr val="123730"/>
          </a:solidFill>
          <a:ln>
            <a:solidFill>
              <a:srgbClr val="123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9536" y="4645152"/>
            <a:ext cx="1938528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05 • Predict + trade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590288"/>
            <a:ext cx="777240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Member 04 provides marketplace predictions; users continue through listings and orders.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0555" y="5532119"/>
            <a:ext cx="11725515" cy="580715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1960" y="5648133"/>
            <a:ext cx="11725515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123730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Claim automatic data hand-offs only where the current code implements them; otherwise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describe the components as connected through shared workflows.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6029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19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1946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Report the metric that matches the model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125082"/>
              </p:ext>
            </p:extLst>
          </p:nvPr>
        </p:nvGraphicFramePr>
        <p:xfrm>
          <a:off x="621792" y="1353312"/>
          <a:ext cx="109728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</a:t>
                      </a:r>
                    </a:p>
                  </a:txBody>
                  <a:tcPr>
                    <a:solidFill>
                      <a:srgbClr val="123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/ method</a:t>
                      </a:r>
                    </a:p>
                  </a:txBody>
                  <a:tcPr>
                    <a:solidFill>
                      <a:srgbClr val="123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 reported result</a:t>
                      </a:r>
                    </a:p>
                  </a:txBody>
                  <a:tcPr>
                    <a:solidFill>
                      <a:srgbClr val="123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Required verification</a:t>
                      </a:r>
                    </a:p>
                  </a:txBody>
                  <a:tcPr>
                    <a:solidFill>
                      <a:srgbClr val="123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Fabric classification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EfficientNet-B3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 89.68%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 classes / test split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Defect model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MobileNetV2 / U-Net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90.87% reported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 exact metric and model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 prediction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XGBoost regressor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MAE 12.24 • RMSE 15.40 • R² 0.9590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 currency/unit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Listing success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XGBoost classifier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 83.65%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 success label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Sales time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XGBoost regressor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MAE 14.53 days • RMSE 20.87 • R² 0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Weak explanatory power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 trend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Classifier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 98.72% reported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 generated labels / leakage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Buyer recommendation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 + XGBoost approach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83.56% reported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Define evaluation protocol</a:t>
                      </a:r>
                    </a:p>
                  </a:txBody>
                  <a:tcPr marL="54864" marR="36576" marT="32004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Sustainability models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Regressors / grade model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R² range 0.9389–0.9887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C2824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 each value to target</a:t>
                      </a:r>
                    </a:p>
                  </a:txBody>
                  <a:tcPr marL="54864" marR="36576" marT="32004" marB="18288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9485" y="689530"/>
            <a:ext cx="7708392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21  LIMITATIONS &amp; NEXT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554927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A strong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explains what still needs real-world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"/>
            <a:ext cx="1828800" cy="256032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38944" y="184797"/>
            <a:ext cx="1719072" cy="23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3C6F99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ALL MEMBERS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53996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228" y="2175248"/>
            <a:ext cx="64008" cy="1737360"/>
          </a:xfrm>
          <a:prstGeom prst="rect">
            <a:avLst/>
          </a:prstGeom>
          <a:solidFill>
            <a:srgbClr val="A6423C"/>
          </a:solidFill>
          <a:ln>
            <a:solidFill>
              <a:srgbClr val="A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6122" y="2531307"/>
            <a:ext cx="316382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999647"/>
            <a:ext cx="3163824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Synthetic marketplace data may not represent real buyer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, actual prices or seasonal demand.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212158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07408" y="2130967"/>
            <a:ext cx="64008" cy="1737360"/>
          </a:xfrm>
          <a:prstGeom prst="rect">
            <a:avLst/>
          </a:prstGeom>
          <a:solidFill>
            <a:srgbClr val="CD9737"/>
          </a:solidFill>
          <a:ln>
            <a:solidFill>
              <a:srgbClr val="CD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8011" y="2538424"/>
            <a:ext cx="316382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8011" y="2999647"/>
            <a:ext cx="3163824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>
                <a:latin typeface="Arial" panose="020B0604020202020204" pitchFamily="34" charset="0"/>
                <a:cs typeface="Arial" panose="020B0604020202020204" pitchFamily="34" charset="0"/>
              </a:rPr>
              <a:t>Sales-time R² is weak; other scores need leakage checks and external validation.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36052" y="2230958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60435" y="2171771"/>
            <a:ext cx="64008" cy="1737360"/>
          </a:xfrm>
          <a:prstGeom prst="rect">
            <a:avLst/>
          </a:prstGeom>
          <a:solidFill>
            <a:srgbClr val="3C6F99"/>
          </a:solidFill>
          <a:ln>
            <a:solidFill>
              <a:srgbClr val="3C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46948" y="2532809"/>
            <a:ext cx="3163824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6948" y="3040451"/>
            <a:ext cx="3163824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CO₂/water estimates depend on boundaries, baselines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and factors; they are not independently certified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impacts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54864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1407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23730"/>
                </a:solidFill>
                <a:latin typeface="Aptos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Reference slide — align with the approved thesis bibliography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6459"/>
          </a:xfrm>
          <a:prstGeom prst="rect">
            <a:avLst/>
          </a:prstGeom>
          <a:solidFill>
            <a:srgbClr val="D6E2DB"/>
          </a:solidFill>
          <a:ln>
            <a:solidFill>
              <a:srgbClr val="D6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6809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2716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TEXCYCLE AI  |  R26-IT-081  |  FINAL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36576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238965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"/>
            <a:ext cx="1828800" cy="256032"/>
          </a:xfrm>
          <a:prstGeom prst="roundRect">
            <a:avLst/>
          </a:prstGeom>
          <a:solidFill>
            <a:srgbClr val="EAF2F9"/>
          </a:solidFill>
          <a:ln>
            <a:solidFill>
              <a:srgbClr val="EA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38944" y="184797"/>
            <a:ext cx="1719072" cy="23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3C6F99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ALL MEMBERS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1408176"/>
            <a:ext cx="68580" cy="6858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9264" y="1325880"/>
            <a:ext cx="1036929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[1] Ellen MacArthur Foundation, A New Textiles Economy: Redesigning Fashion’s Future, 2017.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1947672"/>
            <a:ext cx="68580" cy="6858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1865376"/>
            <a:ext cx="1036929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[2] United Nations Environment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Programme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, Sustainability and Circularity in the Textile Value Chain: A Global Roadmap, 2023.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487168"/>
            <a:ext cx="68580" cy="6858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9264" y="2404872"/>
            <a:ext cx="1036929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[3] United Nations, The 17 Goals: Sustainable Development Goals, sdgs.un.org/goals.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026663"/>
            <a:ext cx="68580" cy="6858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9264" y="2944368"/>
            <a:ext cx="1036929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[4] Tan, M. and Le, Q. V., “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EfficientNet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: Rethinking Model Scaling for Convolutional Neural Networks,” ICML, 2019.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566159"/>
            <a:ext cx="68580" cy="6858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9264" y="3483863"/>
            <a:ext cx="1036929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[5] Sandler, M. et al., “MobileNetV2: Inverted Residuals and Linear Bottlenecks,” CVPR, 2018.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105655"/>
            <a:ext cx="68580" cy="6858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9264" y="4023359"/>
            <a:ext cx="1036929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[6]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Ronneberger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, O., Fischer, P. and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Brox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, T., “U-Net: Convolutional Networks for Biomedical Image Segmentation,” MICCAI, 2015.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645152"/>
            <a:ext cx="68580" cy="6858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36929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[7] Chen, T. and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Guestrin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, C., “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: A Scalable Tree Boosting System,” KDD, 2016.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184648"/>
            <a:ext cx="68580" cy="68580"/>
          </a:xfrm>
          <a:prstGeom prst="ellipse">
            <a:avLst/>
          </a:prstGeom>
          <a:solidFill>
            <a:srgbClr val="238965"/>
          </a:solidFill>
          <a:ln>
            <a:solidFill>
              <a:srgbClr val="2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9264" y="5102352"/>
            <a:ext cx="10369296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C2824"/>
                </a:solidFill>
                <a:latin typeface="Aptos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[8]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Breiman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, L., “Random Forests,” Machine Learning, vol. 45, pp. 5–32, 2001.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21A026-1A17-5051-CC1F-2EDD7528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731" y="999064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9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4217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3" ma:contentTypeDescription="Create a new document." ma:contentTypeScope="" ma:versionID="ed8957265f396ef1a05f01d558c99f69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1597c9238c56ccca7c2d5e0a413be07c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C336FE-F6E4-48E6-8C93-50B7294005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B049C1-47DB-40A8-AE04-8D635DD7586D}">
  <ds:schemaRefs>
    <ds:schemaRef ds:uri="http://schemas.microsoft.com/office/2006/metadata/properties"/>
    <ds:schemaRef ds:uri="http://schemas.microsoft.com/office/infopath/2007/PartnerControls"/>
    <ds:schemaRef ds:uri="db72c12f-87a4-44ab-bbc5-4cc8306b158a"/>
    <ds:schemaRef ds:uri="5aad1aa7-8ede-435c-b3a7-ac11bacaeb50"/>
  </ds:schemaRefs>
</ds:datastoreItem>
</file>

<file path=customXml/itemProps3.xml><?xml version="1.0" encoding="utf-8"?>
<ds:datastoreItem xmlns:ds="http://schemas.openxmlformats.org/officeDocument/2006/customXml" ds:itemID="{70BBB269-B93E-44A5-A8D7-9D3CA62AB9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ad1aa7-8ede-435c-b3a7-ac11bacaeb50"/>
    <ds:schemaRef ds:uri="db72c12f-87a4-44ab-bbc5-4cc8306b15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2107</Words>
  <Application>Microsoft Office PowerPoint</Application>
  <PresentationFormat>Widescreen</PresentationFormat>
  <Paragraphs>345</Paragraphs>
  <Slides>23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TexCycle AI Final Research Presentation</dc:title>
  <dc:subject>Project introduction, architecture, individual research components, models, methodology, results and limitations</dc:subject>
  <dc:creator>TexCycle AI Research Team</dc:creator>
  <cp:keywords/>
  <dc:description>generated using python-pptx</dc:description>
  <cp:lastModifiedBy>SANDEEPA S.A.C it22281814</cp:lastModifiedBy>
  <cp:revision>28</cp:revision>
  <dcterms:created xsi:type="dcterms:W3CDTF">2013-01-27T09:14:16Z</dcterms:created>
  <dcterms:modified xsi:type="dcterms:W3CDTF">2026-10-14T16:24:10Z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  <property fmtid="{D5CDD505-2E9C-101B-9397-08002B2CF9AE}" pid="3" name="MediaServiceImageTags">
    <vt:lpwstr/>
  </property>
</Properties>
</file>