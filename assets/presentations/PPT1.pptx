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44"/>
  </p:notesMasterIdLst>
  <p:sldIdLst>
    <p:sldId id="256" r:id="rId5"/>
    <p:sldId id="298" r:id="rId6"/>
    <p:sldId id="296" r:id="rId7"/>
    <p:sldId id="258" r:id="rId8"/>
    <p:sldId id="260" r:id="rId9"/>
    <p:sldId id="261" r:id="rId10"/>
    <p:sldId id="262" r:id="rId11"/>
    <p:sldId id="263" r:id="rId12"/>
    <p:sldId id="291" r:id="rId13"/>
    <p:sldId id="264" r:id="rId14"/>
    <p:sldId id="265" r:id="rId15"/>
    <p:sldId id="302" r:id="rId16"/>
    <p:sldId id="306" r:id="rId17"/>
    <p:sldId id="310" r:id="rId18"/>
    <p:sldId id="311" r:id="rId19"/>
    <p:sldId id="312" r:id="rId20"/>
    <p:sldId id="313" r:id="rId21"/>
    <p:sldId id="297" r:id="rId22"/>
    <p:sldId id="299" r:id="rId23"/>
    <p:sldId id="266" r:id="rId24"/>
    <p:sldId id="304" r:id="rId25"/>
    <p:sldId id="300" r:id="rId26"/>
    <p:sldId id="292" r:id="rId27"/>
    <p:sldId id="293" r:id="rId28"/>
    <p:sldId id="294" r:id="rId29"/>
    <p:sldId id="295" r:id="rId30"/>
    <p:sldId id="269" r:id="rId31"/>
    <p:sldId id="270" r:id="rId32"/>
    <p:sldId id="301" r:id="rId33"/>
    <p:sldId id="303" r:id="rId34"/>
    <p:sldId id="305" r:id="rId35"/>
    <p:sldId id="273" r:id="rId36"/>
    <p:sldId id="307" r:id="rId37"/>
    <p:sldId id="308" r:id="rId38"/>
    <p:sldId id="282" r:id="rId39"/>
    <p:sldId id="283" r:id="rId40"/>
    <p:sldId id="284" r:id="rId41"/>
    <p:sldId id="286" r:id="rId42"/>
    <p:sldId id="290" r:id="rId43"/>
  </p:sldIdLst>
  <p:sldSz cx="18288000" cy="10287000"/>
  <p:notesSz cx="6858000" cy="9144000"/>
  <p:embeddedFontLst>
    <p:embeddedFont>
      <p:font typeface="Aptos Slab Black" panose="020B0004020202020204" pitchFamily="34" charset="0"/>
      <p:bold r:id="rId45"/>
      <p:italic r:id="rId46"/>
      <p:boldItalic r:id="rId47"/>
    </p:embeddedFont>
    <p:embeddedFont>
      <p:font typeface="Archivo Black" panose="020B0604020202020204" charset="0"/>
      <p:regular r:id="rId48"/>
    </p:embeddedFont>
    <p:embeddedFont>
      <p:font typeface="Cambria" panose="02040503050406030204" pitchFamily="18" charset="0"/>
      <p:regular r:id="rId49"/>
      <p:bold r:id="rId50"/>
      <p:italic r:id="rId51"/>
      <p:boldItalic r:id="rId52"/>
    </p:embeddedFont>
    <p:embeddedFont>
      <p:font typeface="Canva Sans" panose="020B0604020202020204" charset="0"/>
      <p:regular r:id="rId53"/>
    </p:embeddedFont>
    <p:embeddedFont>
      <p:font typeface="Canva Sans Bold" panose="020B0604020202020204" charset="0"/>
      <p:regular r:id="rId54"/>
      <p:bold r:id="rId55"/>
    </p:embeddedFont>
    <p:embeddedFont>
      <p:font typeface="League Gothic" panose="020B0604020202020204" charset="0"/>
      <p:regular r:id="rId56"/>
    </p:embeddedFont>
    <p:embeddedFont>
      <p:font typeface="Open Sans" panose="020B0606030504020204" pitchFamily="34" charset="0"/>
      <p:regular r:id="rId57"/>
      <p:bold r:id="rId58"/>
      <p:italic r:id="rId59"/>
      <p:boldItalic r:id="rId60"/>
    </p:embeddedFont>
    <p:embeddedFont>
      <p:font typeface="Open Sans Bold" panose="020B0806030504020204" pitchFamily="34" charset="0"/>
      <p:regular r:id="rId61"/>
      <p:bold r:id="rId62"/>
    </p:embeddedFont>
    <p:embeddedFont>
      <p:font typeface="Poppins" panose="00000500000000000000" pitchFamily="2" charset="0"/>
      <p:regular r:id="rId63"/>
      <p:bold r:id="rId64"/>
      <p:italic r:id="rId65"/>
      <p:boldItalic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4AB3E6-3E08-4292-518C-16B7B0DEB504}" v="7" dt="2026-10-17T07:17:57.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0" d="100"/>
          <a:sy n="50" d="100"/>
        </p:scale>
        <p:origin x="946" y="3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viewProps" Target="viewProps.xml"/><Relationship Id="rId7" Type="http://schemas.openxmlformats.org/officeDocument/2006/relationships/slide" Target="slides/slide3.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font" Target="fonts/font22.fntdata"/><Relationship Id="rId5" Type="http://schemas.openxmlformats.org/officeDocument/2006/relationships/slide" Target="slides/slide1.xml"/><Relationship Id="rId61" Type="http://schemas.openxmlformats.org/officeDocument/2006/relationships/font" Target="fonts/font17.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7.fntdata"/><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10.fntdata"/><Relationship Id="rId62" Type="http://schemas.openxmlformats.org/officeDocument/2006/relationships/font" Target="fonts/font18.fntdata"/><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font" Target="fonts/font2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font" Target="fonts/font6.fntdata"/><Relationship Id="rId55"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RIWARDHANA N S T N it22215338" userId="S::it22215338@my.sliit.lk::4030a044-9da2-4ca1-93fc-4ec72257b112" providerId="AD" clId="Web-{944AB3E6-3E08-4292-518C-16B7B0DEB504}"/>
    <pc:docChg chg="modSld">
      <pc:chgData name="SIRIWARDHANA N S T N it22215338" userId="S::it22215338@my.sliit.lk::4030a044-9da2-4ca1-93fc-4ec72257b112" providerId="AD" clId="Web-{944AB3E6-3E08-4292-518C-16B7B0DEB504}" dt="2026-10-17T07:17:57.194" v="7" actId="1076"/>
      <pc:docMkLst>
        <pc:docMk/>
      </pc:docMkLst>
      <pc:sldChg chg="modSp">
        <pc:chgData name="SIRIWARDHANA N S T N it22215338" userId="S::it22215338@my.sliit.lk::4030a044-9da2-4ca1-93fc-4ec72257b112" providerId="AD" clId="Web-{944AB3E6-3E08-4292-518C-16B7B0DEB504}" dt="2026-10-17T07:17:57.194" v="7" actId="1076"/>
        <pc:sldMkLst>
          <pc:docMk/>
          <pc:sldMk cId="0" sldId="296"/>
        </pc:sldMkLst>
        <pc:picChg chg="mod modCrop">
          <ac:chgData name="SIRIWARDHANA N S T N it22215338" userId="S::it22215338@my.sliit.lk::4030a044-9da2-4ca1-93fc-4ec72257b112" providerId="AD" clId="Web-{944AB3E6-3E08-4292-518C-16B7B0DEB504}" dt="2026-10-17T07:17:57.194" v="7" actId="1076"/>
          <ac:picMkLst>
            <pc:docMk/>
            <pc:sldMk cId="0" sldId="296"/>
            <ac:picMk id="25" creationId="{67D7D0E1-B8F0-5B4A-6AAB-D343C06FFA0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92ADB7-E9FD-794F-8540-2AC2BE45443E}"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C1669A-57B9-144F-8385-598E72727C88}" type="slidenum">
              <a:rPr lang="en-US" smtClean="0"/>
              <a:t>‹#›</a:t>
            </a:fld>
            <a:endParaRPr lang="en-US"/>
          </a:p>
        </p:txBody>
      </p:sp>
    </p:spTree>
    <p:extLst>
      <p:ext uri="{BB962C8B-B14F-4D97-AF65-F5344CB8AC3E}">
        <p14:creationId xmlns:p14="http://schemas.microsoft.com/office/powerpoint/2010/main" val="1189790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6DED2"/>
          </a:solidFill>
          <a:ln/>
        </p:spPr>
        <p:txBody>
          <a:bodyPr/>
          <a:lstStyle/>
          <a:p>
            <a:endParaRPr lang="en-US" sz="2250"/>
          </a:p>
        </p:txBody>
      </p:sp>
      <p:sp>
        <p:nvSpPr>
          <p:cNvPr id="3" name="Shape 1"/>
          <p:cNvSpPr/>
          <p:nvPr/>
        </p:nvSpPr>
        <p:spPr>
          <a:xfrm>
            <a:off x="0" y="0"/>
            <a:ext cx="18288000" cy="10287000"/>
          </a:xfrm>
          <a:prstGeom prst="rect">
            <a:avLst/>
          </a:prstGeom>
          <a:solidFill>
            <a:srgbClr val="FDFBF7"/>
          </a:solidFill>
          <a:ln/>
        </p:spPr>
        <p:txBody>
          <a:bodyPr/>
          <a:lstStyle/>
          <a:p>
            <a:endParaRPr lang="en-US" sz="2250"/>
          </a:p>
        </p:txBody>
      </p:sp>
      <p:pic>
        <p:nvPicPr>
          <p:cNvPr id="4" name="Image 0" descr="preencoded.png">
            <a:hlinkClick r:id="rId2"/>
          </p:cNvPr>
          <p:cNvPicPr>
            <a:picLocks noChangeAspect="1"/>
          </p:cNvPicPr>
          <p:nvPr/>
        </p:nvPicPr>
        <p:blipFill>
          <a:blip r:embed="rId3"/>
          <a:stretch>
            <a:fillRect/>
          </a:stretch>
        </p:blipFill>
        <p:spPr>
          <a:xfrm>
            <a:off x="16049020" y="9686925"/>
            <a:ext cx="2153256" cy="514350"/>
          </a:xfrm>
          <a:prstGeom prst="rect">
            <a:avLst/>
          </a:prstGeom>
        </p:spPr>
      </p:pic>
    </p:spTree>
    <p:extLst>
      <p:ext uri="{BB962C8B-B14F-4D97-AF65-F5344CB8AC3E}">
        <p14:creationId xmlns:p14="http://schemas.microsoft.com/office/powerpoint/2010/main" val="17917936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6DED2"/>
          </a:solidFill>
          <a:ln/>
        </p:spPr>
        <p:txBody>
          <a:bodyPr/>
          <a:lstStyle/>
          <a:p>
            <a:endParaRPr lang="en-US" sz="2250"/>
          </a:p>
        </p:txBody>
      </p:sp>
      <p:sp>
        <p:nvSpPr>
          <p:cNvPr id="3" name="Shape 1"/>
          <p:cNvSpPr/>
          <p:nvPr/>
        </p:nvSpPr>
        <p:spPr>
          <a:xfrm>
            <a:off x="0" y="0"/>
            <a:ext cx="18288000" cy="10287000"/>
          </a:xfrm>
          <a:prstGeom prst="rect">
            <a:avLst/>
          </a:prstGeom>
          <a:solidFill>
            <a:srgbClr val="FDFBF7"/>
          </a:solidFill>
          <a:ln/>
        </p:spPr>
        <p:txBody>
          <a:bodyPr/>
          <a:lstStyle/>
          <a:p>
            <a:endParaRPr lang="en-US" sz="2250"/>
          </a:p>
        </p:txBody>
      </p:sp>
      <p:pic>
        <p:nvPicPr>
          <p:cNvPr id="4" name="Image 0" descr="preencoded.png">
            <a:hlinkClick r:id="rId2"/>
          </p:cNvPr>
          <p:cNvPicPr>
            <a:picLocks noChangeAspect="1"/>
          </p:cNvPicPr>
          <p:nvPr/>
        </p:nvPicPr>
        <p:blipFill>
          <a:blip r:embed="rId3"/>
          <a:stretch>
            <a:fillRect/>
          </a:stretch>
        </p:blipFill>
        <p:spPr>
          <a:xfrm>
            <a:off x="16049020" y="9686925"/>
            <a:ext cx="2153256" cy="514350"/>
          </a:xfrm>
          <a:prstGeom prst="rect">
            <a:avLst/>
          </a:prstGeom>
        </p:spPr>
      </p:pic>
    </p:spTree>
    <p:extLst>
      <p:ext uri="{BB962C8B-B14F-4D97-AF65-F5344CB8AC3E}">
        <p14:creationId xmlns:p14="http://schemas.microsoft.com/office/powerpoint/2010/main" val="3723062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5 master">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6DED2"/>
          </a:solidFill>
          <a:ln/>
        </p:spPr>
        <p:txBody>
          <a:bodyPr/>
          <a:lstStyle/>
          <a:p>
            <a:endParaRPr lang="en-US"/>
          </a:p>
        </p:txBody>
      </p:sp>
      <p:sp>
        <p:nvSpPr>
          <p:cNvPr id="3" name="Shape 1"/>
          <p:cNvSpPr/>
          <p:nvPr/>
        </p:nvSpPr>
        <p:spPr>
          <a:xfrm>
            <a:off x="0" y="0"/>
            <a:ext cx="18288000" cy="10287000"/>
          </a:xfrm>
          <a:prstGeom prst="rect">
            <a:avLst/>
          </a:prstGeom>
          <a:solidFill>
            <a:srgbClr val="FDFB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6049020" y="9686925"/>
            <a:ext cx="2153256" cy="514350"/>
          </a:xfrm>
          <a:prstGeom prst="rect">
            <a:avLst/>
          </a:prstGeom>
        </p:spPr>
      </p:pic>
    </p:spTree>
    <p:extLst>
      <p:ext uri="{BB962C8B-B14F-4D97-AF65-F5344CB8AC3E}">
        <p14:creationId xmlns:p14="http://schemas.microsoft.com/office/powerpoint/2010/main" val="286564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0"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21.sv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www.researchgate.net/publication/389687628_Enhancing_Image_Classification_Performance_through_Transfer_Learning_and_Adaptive_Augmentation_A_MobileNetV2_Approach" TargetMode="External"/><Relationship Id="rId5" Type="http://schemas.openxmlformats.org/officeDocument/2006/relationships/hyperlink" Target="https://www.researchgate.net/publication/375113224_Study_on_CNN_based_Transfer_Learning_in_Image_Classification" TargetMode="External"/><Relationship Id="rId4" Type="http://schemas.openxmlformats.org/officeDocument/2006/relationships/hyperlink" Target="https://arxiv.org/abs/1801.04381?ut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21.sv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8.sv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s>
</file>

<file path=ppt/slides/_rels/slide24.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6.png"/><Relationship Id="rId7" Type="http://schemas.openxmlformats.org/officeDocument/2006/relationships/image" Target="../media/image32.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1.svg"/><Relationship Id="rId4" Type="http://schemas.openxmlformats.org/officeDocument/2006/relationships/image" Target="../media/image30.svg"/></Relationships>
</file>

<file path=ppt/slides/_rels/slide25.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6.png"/><Relationship Id="rId7" Type="http://schemas.openxmlformats.org/officeDocument/2006/relationships/image" Target="../media/image32.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1.svg"/><Relationship Id="rId4" Type="http://schemas.openxmlformats.org/officeDocument/2006/relationships/image" Target="../media/image30.svg"/></Relationships>
</file>

<file path=ppt/slides/_rels/slide26.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6.png"/><Relationship Id="rId7" Type="http://schemas.openxmlformats.org/officeDocument/2006/relationships/image" Target="../media/image32.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1.svg"/><Relationship Id="rId4" Type="http://schemas.openxmlformats.org/officeDocument/2006/relationships/image" Target="../media/image30.sv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8.sv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6.png"/><Relationship Id="rId7" Type="http://schemas.openxmlformats.org/officeDocument/2006/relationships/image" Target="../media/image32.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1.svg"/><Relationship Id="rId4" Type="http://schemas.openxmlformats.org/officeDocument/2006/relationships/image" Target="../media/image30.svg"/></Relationships>
</file>

<file path=ppt/slides/_rels/slide34.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6.png"/><Relationship Id="rId7" Type="http://schemas.openxmlformats.org/officeDocument/2006/relationships/image" Target="../media/image32.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1.svg"/><Relationship Id="rId4" Type="http://schemas.openxmlformats.org/officeDocument/2006/relationships/image" Target="../media/image30.svg"/></Relationships>
</file>

<file path=ppt/slides/_rels/slide35.xml.rels><?xml version="1.0" encoding="UTF-8" standalone="yes"?>
<Relationships xmlns="http://schemas.openxmlformats.org/package/2006/relationships"><Relationship Id="rId3" Type="http://schemas.openxmlformats.org/officeDocument/2006/relationships/image" Target="../media/image38.sv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5.svg"/><Relationship Id="rId5" Type="http://schemas.openxmlformats.org/officeDocument/2006/relationships/image" Target="../media/image40.svg"/><Relationship Id="rId4" Type="http://schemas.openxmlformats.org/officeDocument/2006/relationships/image" Target="../media/image39.svg"/></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6.sv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95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7" name="Freeform 7"/>
          <p:cNvSpPr/>
          <p:nvPr/>
        </p:nvSpPr>
        <p:spPr>
          <a:xfrm>
            <a:off x="1979577" y="7060499"/>
            <a:ext cx="3637680" cy="1000188"/>
          </a:xfrm>
          <a:custGeom>
            <a:avLst/>
            <a:gdLst/>
            <a:ahLst/>
            <a:cxnLst/>
            <a:rect l="l" t="t" r="r" b="b"/>
            <a:pathLst>
              <a:path w="3637680" h="1000188">
                <a:moveTo>
                  <a:pt x="0" y="0"/>
                </a:moveTo>
                <a:lnTo>
                  <a:pt x="3637680" y="0"/>
                </a:lnTo>
                <a:lnTo>
                  <a:pt x="3637680" y="1000188"/>
                </a:lnTo>
                <a:lnTo>
                  <a:pt x="0" y="10001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5755432" y="7316132"/>
            <a:ext cx="744555" cy="744555"/>
          </a:xfrm>
          <a:custGeom>
            <a:avLst/>
            <a:gdLst/>
            <a:ahLst/>
            <a:cxnLst/>
            <a:rect l="l" t="t" r="r" b="b"/>
            <a:pathLst>
              <a:path w="744555" h="744555">
                <a:moveTo>
                  <a:pt x="0" y="0"/>
                </a:moveTo>
                <a:lnTo>
                  <a:pt x="744555" y="0"/>
                </a:lnTo>
                <a:lnTo>
                  <a:pt x="744555" y="744555"/>
                </a:lnTo>
                <a:lnTo>
                  <a:pt x="0" y="7445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flipH="1">
            <a:off x="6046329" y="7553338"/>
            <a:ext cx="162760" cy="270142"/>
          </a:xfrm>
          <a:custGeom>
            <a:avLst/>
            <a:gdLst/>
            <a:ahLst/>
            <a:cxnLst/>
            <a:rect l="l" t="t" r="r" b="b"/>
            <a:pathLst>
              <a:path w="162760" h="270142">
                <a:moveTo>
                  <a:pt x="162761" y="0"/>
                </a:moveTo>
                <a:lnTo>
                  <a:pt x="0" y="0"/>
                </a:lnTo>
                <a:lnTo>
                  <a:pt x="0" y="270143"/>
                </a:lnTo>
                <a:lnTo>
                  <a:pt x="162761" y="270143"/>
                </a:lnTo>
                <a:lnTo>
                  <a:pt x="162761" y="0"/>
                </a:lnTo>
                <a:close/>
              </a:path>
            </a:pathLst>
          </a:custGeom>
          <a:blipFill>
            <a:blip>
              <a:extLst>
                <a:ext uri="{96DAC541-7B7A-43D3-8B79-37D633B846F1}">
                  <asvg:svgBlip xmlns:asvg="http://schemas.microsoft.com/office/drawing/2016/SVG/main" r:embed="rId5"/>
                </a:ext>
              </a:extLst>
            </a:blip>
            <a:stretch>
              <a:fillRect l="-1509" r="-1509"/>
            </a:stretch>
          </a:blipFill>
        </p:spPr>
        <p:txBody>
          <a:bodyPr/>
          <a:lstStyle/>
          <a:p>
            <a:endParaRPr lang="en-US"/>
          </a:p>
        </p:txBody>
      </p:sp>
      <p:grpSp>
        <p:nvGrpSpPr>
          <p:cNvPr id="10" name="Group 10"/>
          <p:cNvGrpSpPr/>
          <p:nvPr/>
        </p:nvGrpSpPr>
        <p:grpSpPr>
          <a:xfrm>
            <a:off x="20999" y="9533010"/>
            <a:ext cx="3917169" cy="703984"/>
            <a:chOff x="0" y="0"/>
            <a:chExt cx="5222892" cy="938645"/>
          </a:xfrm>
        </p:grpSpPr>
        <p:sp>
          <p:nvSpPr>
            <p:cNvPr id="11" name="Freeform 11"/>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6"/>
              <a:stretch>
                <a:fillRect l="-64" r="-64" b="1"/>
              </a:stretch>
            </a:blipFill>
          </p:spPr>
          <p:txBody>
            <a:bodyPr/>
            <a:lstStyle/>
            <a:p>
              <a:endParaRPr lang="en-US"/>
            </a:p>
          </p:txBody>
        </p:sp>
      </p:grpSp>
      <p:sp>
        <p:nvSpPr>
          <p:cNvPr id="12" name="TextBox 12"/>
          <p:cNvSpPr txBox="1"/>
          <p:nvPr/>
        </p:nvSpPr>
        <p:spPr>
          <a:xfrm>
            <a:off x="2009819" y="7511245"/>
            <a:ext cx="3591118" cy="677493"/>
          </a:xfrm>
          <a:prstGeom prst="rect">
            <a:avLst/>
          </a:prstGeom>
        </p:spPr>
        <p:txBody>
          <a:bodyPr wrap="square" lIns="0" tIns="0" rIns="0" bIns="0" rtlCol="0" anchor="t">
            <a:spAutoFit/>
          </a:bodyPr>
          <a:lstStyle/>
          <a:p>
            <a:pPr algn="ctr"/>
            <a:r>
              <a:rPr lang="en-US" sz="2100" spc="134">
                <a:solidFill>
                  <a:srgbClr val="FFFFFF"/>
                </a:solidFill>
                <a:latin typeface="Poppins"/>
                <a:cs typeface="Poppins"/>
              </a:rPr>
              <a:t>Project ID: R26-IT-081</a:t>
            </a:r>
            <a:endParaRPr lang="en-US"/>
          </a:p>
          <a:p>
            <a:pPr algn="ctr">
              <a:lnSpc>
                <a:spcPts val="2940"/>
              </a:lnSpc>
            </a:pPr>
            <a:endParaRPr lang="en-US" sz="2100" spc="134">
              <a:solidFill>
                <a:srgbClr val="FFFFFF"/>
              </a:solidFill>
              <a:latin typeface="Poppins"/>
              <a:ea typeface="Poppins"/>
              <a:cs typeface="Poppins"/>
            </a:endParaRPr>
          </a:p>
        </p:txBody>
      </p:sp>
      <p:sp>
        <p:nvSpPr>
          <p:cNvPr id="13" name="TextBox 13"/>
          <p:cNvSpPr txBox="1"/>
          <p:nvPr/>
        </p:nvSpPr>
        <p:spPr>
          <a:xfrm>
            <a:off x="573487" y="2421427"/>
            <a:ext cx="8337682" cy="2954655"/>
          </a:xfrm>
          <a:prstGeom prst="rect">
            <a:avLst/>
          </a:prstGeom>
        </p:spPr>
        <p:txBody>
          <a:bodyPr wrap="square" lIns="0" tIns="0" rIns="0" bIns="0" rtlCol="0" anchor="t">
            <a:spAutoFit/>
          </a:bodyPr>
          <a:lstStyle/>
          <a:p>
            <a:r>
              <a:rPr lang="en-US" sz="4800">
                <a:solidFill>
                  <a:srgbClr val="3A3A3A"/>
                </a:solidFill>
                <a:ea typeface="+mn-lt"/>
                <a:cs typeface="+mn-lt"/>
              </a:rPr>
              <a:t>AI-Powered Digital Marketplace for Upcycling Sri Lanka's Textile Waste</a:t>
            </a:r>
            <a:endParaRPr lang="en-US"/>
          </a:p>
          <a:p>
            <a:endParaRPr lang="en-US" sz="4800">
              <a:solidFill>
                <a:srgbClr val="00B050"/>
              </a:solidFill>
              <a:latin typeface="Aptos Slab Black" panose="020F0502020204030204" pitchFamily="34" charset="0"/>
            </a:endParaRPr>
          </a:p>
        </p:txBody>
      </p:sp>
      <p:sp>
        <p:nvSpPr>
          <p:cNvPr id="14" name="TextBox 14"/>
          <p:cNvSpPr txBox="1"/>
          <p:nvPr/>
        </p:nvSpPr>
        <p:spPr>
          <a:xfrm>
            <a:off x="584942" y="5282077"/>
            <a:ext cx="6440871" cy="1164358"/>
          </a:xfrm>
          <a:prstGeom prst="rect">
            <a:avLst/>
          </a:prstGeom>
        </p:spPr>
        <p:txBody>
          <a:bodyPr lIns="0" tIns="0" rIns="0" bIns="0" rtlCol="0" anchor="t">
            <a:spAutoFit/>
          </a:bodyPr>
          <a:lstStyle/>
          <a:p>
            <a:r>
              <a:rPr lang="en-US" sz="2400">
                <a:solidFill>
                  <a:schemeClr val="tx2"/>
                </a:solidFill>
                <a:latin typeface="Open Sans" panose="020B0606030504020204" pitchFamily="34" charset="0"/>
                <a:ea typeface="Open Sans" panose="020B0606030504020204" pitchFamily="34" charset="0"/>
                <a:cs typeface="Open Sans" panose="020B0606030504020204" pitchFamily="34" charset="0"/>
              </a:rPr>
              <a:t>BSc (Hons) in Information Technology</a:t>
            </a:r>
            <a:endParaRPr lang="en-US"/>
          </a:p>
          <a:p>
            <a:r>
              <a:rPr lang="en-US" sz="2400">
                <a:solidFill>
                  <a:schemeClr val="tx2"/>
                </a:solidFill>
                <a:latin typeface="Open Sans" panose="020B0606030504020204" pitchFamily="34" charset="0"/>
                <a:ea typeface="Open Sans" panose="020B0606030504020204" pitchFamily="34" charset="0"/>
                <a:cs typeface="Open Sans" panose="020B0606030504020204" pitchFamily="34" charset="0"/>
              </a:rPr>
              <a:t>Sri Lanka Institute of Information Technology</a:t>
            </a:r>
            <a:endParaRPr lang="en-US"/>
          </a:p>
          <a:p>
            <a:pPr>
              <a:lnSpc>
                <a:spcPts val="3600"/>
              </a:lnSpc>
            </a:pPr>
            <a:endParaRPr lang="en-US" sz="24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6"/>
          <p:cNvSpPr txBox="1"/>
          <p:nvPr/>
        </p:nvSpPr>
        <p:spPr>
          <a:xfrm>
            <a:off x="17602200" y="9847805"/>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01</a:t>
            </a:r>
          </a:p>
        </p:txBody>
      </p:sp>
      <p:pic>
        <p:nvPicPr>
          <p:cNvPr id="4" name="Picture 3" descr="A pile of garbage on the ground with The Burghers of Calais in the background&#10;&#10;AI-generated content may be incorrect.">
            <a:extLst>
              <a:ext uri="{FF2B5EF4-FFF2-40B4-BE49-F238E27FC236}">
                <a16:creationId xmlns:a16="http://schemas.microsoft.com/office/drawing/2014/main" id="{9E47AB4C-C515-26B8-861F-676028EC71A8}"/>
              </a:ext>
            </a:extLst>
          </p:cNvPr>
          <p:cNvPicPr>
            <a:picLocks noChangeAspect="1"/>
          </p:cNvPicPr>
          <p:nvPr/>
        </p:nvPicPr>
        <p:blipFill>
          <a:blip r:embed="rId7"/>
          <a:srcRect l="705" t="-335" r="-849" b="335"/>
          <a:stretch>
            <a:fillRect/>
          </a:stretch>
        </p:blipFill>
        <p:spPr>
          <a:xfrm>
            <a:off x="9929740" y="-25397"/>
            <a:ext cx="7533040" cy="102953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37533" y="1457614"/>
            <a:ext cx="5289500" cy="661095"/>
          </a:xfrm>
          <a:prstGeom prst="rect">
            <a:avLst/>
          </a:prstGeom>
          <a:noFill/>
          <a:ln/>
        </p:spPr>
        <p:txBody>
          <a:bodyPr wrap="none" lIns="0" tIns="0" rIns="0" bIns="0" rtlCol="0" anchor="t"/>
          <a:lstStyle/>
          <a:p>
            <a:r>
              <a:rPr lang="en-US" sz="5500" b="1">
                <a:latin typeface="Cambria"/>
                <a:ea typeface="Cambria"/>
              </a:rPr>
              <a:t>Our Team</a:t>
            </a:r>
            <a:endParaRPr lang="en-US" sz="5500">
              <a:latin typeface="Cambria"/>
              <a:ea typeface="Cambria"/>
            </a:endParaRPr>
          </a:p>
          <a:p>
            <a:pPr>
              <a:lnSpc>
                <a:spcPts val="5188"/>
              </a:lnSpc>
            </a:pPr>
            <a:endParaRPr lang="en-US" sz="4100">
              <a:ea typeface="Calibri"/>
              <a:cs typeface="Calibri"/>
            </a:endParaRPr>
          </a:p>
        </p:txBody>
      </p:sp>
      <p:sp>
        <p:nvSpPr>
          <p:cNvPr id="4" name="Text 1"/>
          <p:cNvSpPr/>
          <p:nvPr/>
        </p:nvSpPr>
        <p:spPr>
          <a:xfrm>
            <a:off x="902870" y="7763514"/>
            <a:ext cx="5780943" cy="1571029"/>
          </a:xfrm>
          <a:prstGeom prst="rect">
            <a:avLst/>
          </a:prstGeom>
          <a:noFill/>
          <a:ln/>
        </p:spPr>
        <p:txBody>
          <a:bodyPr wrap="none" lIns="0" tIns="0" rIns="0" bIns="0" rtlCol="0" anchor="t"/>
          <a:lstStyle/>
          <a:p>
            <a:pPr>
              <a:lnSpc>
                <a:spcPts val="2563"/>
              </a:lnSpc>
            </a:pPr>
            <a:r>
              <a:rPr lang="en-US" sz="4000" b="1">
                <a:latin typeface="Cambria" panose="02040503050406030204" pitchFamily="18" charset="0"/>
                <a:ea typeface="Cambria" panose="02040503050406030204" pitchFamily="18" charset="0"/>
                <a:cs typeface="Noto Serif Medium" pitchFamily="34" charset="-120"/>
              </a:rPr>
              <a:t>Prof. </a:t>
            </a:r>
            <a:r>
              <a:rPr lang="en-US" sz="4000" b="1" err="1">
                <a:latin typeface="Cambria" panose="02040503050406030204" pitchFamily="18" charset="0"/>
                <a:ea typeface="Cambria" panose="02040503050406030204" pitchFamily="18" charset="0"/>
                <a:cs typeface="Noto Serif Medium" pitchFamily="34" charset="-120"/>
              </a:rPr>
              <a:t>Dasuni</a:t>
            </a:r>
            <a:r>
              <a:rPr lang="en-US" sz="4000" b="1">
                <a:latin typeface="Cambria" panose="02040503050406030204" pitchFamily="18" charset="0"/>
                <a:ea typeface="Cambria" panose="02040503050406030204" pitchFamily="18" charset="0"/>
                <a:cs typeface="Noto Serif Medium" pitchFamily="34" charset="-120"/>
              </a:rPr>
              <a:t> </a:t>
            </a:r>
            <a:r>
              <a:rPr lang="en-US" sz="4000" b="1" err="1">
                <a:latin typeface="Cambria" panose="02040503050406030204" pitchFamily="18" charset="0"/>
                <a:ea typeface="Cambria" panose="02040503050406030204" pitchFamily="18" charset="0"/>
                <a:cs typeface="Noto Serif Medium" pitchFamily="34" charset="-120"/>
              </a:rPr>
              <a:t>Nawinna</a:t>
            </a:r>
            <a:endParaRPr lang="en-US" sz="4000" b="1">
              <a:latin typeface="Cambria" panose="02040503050406030204" pitchFamily="18" charset="0"/>
              <a:ea typeface="Cambria" panose="02040503050406030204" pitchFamily="18" charset="0"/>
            </a:endParaRPr>
          </a:p>
        </p:txBody>
      </p:sp>
      <p:sp>
        <p:nvSpPr>
          <p:cNvPr id="5" name="Text 2"/>
          <p:cNvSpPr/>
          <p:nvPr/>
        </p:nvSpPr>
        <p:spPr>
          <a:xfrm>
            <a:off x="851582" y="8330433"/>
            <a:ext cx="8275853" cy="720625"/>
          </a:xfrm>
          <a:prstGeom prst="rect">
            <a:avLst/>
          </a:prstGeom>
          <a:noFill/>
          <a:ln/>
        </p:spPr>
        <p:txBody>
          <a:bodyPr wrap="none" lIns="0" tIns="0" rIns="0" bIns="0" rtlCol="0" anchor="t"/>
          <a:lstStyle/>
          <a:p>
            <a:pPr>
              <a:lnSpc>
                <a:spcPts val="2313"/>
              </a:lnSpc>
            </a:pPr>
            <a:r>
              <a:rPr lang="en-US" sz="3000">
                <a:latin typeface="Cambria" panose="02040503050406030204" pitchFamily="18" charset="0"/>
                <a:ea typeface="Cambria" panose="02040503050406030204" pitchFamily="18" charset="0"/>
                <a:cs typeface="Calibri" panose="020F0502020204030204" pitchFamily="34" charset="0"/>
              </a:rPr>
              <a:t>Project Supervisor</a:t>
            </a:r>
          </a:p>
        </p:txBody>
      </p:sp>
      <p:sp>
        <p:nvSpPr>
          <p:cNvPr id="7" name="Text 3"/>
          <p:cNvSpPr/>
          <p:nvPr/>
        </p:nvSpPr>
        <p:spPr>
          <a:xfrm>
            <a:off x="10452252" y="7760489"/>
            <a:ext cx="6120806" cy="1072798"/>
          </a:xfrm>
          <a:prstGeom prst="rect">
            <a:avLst/>
          </a:prstGeom>
          <a:noFill/>
          <a:ln/>
        </p:spPr>
        <p:txBody>
          <a:bodyPr wrap="none" lIns="0" tIns="0" rIns="0" bIns="0" rtlCol="0" anchor="t"/>
          <a:lstStyle/>
          <a:p>
            <a:pPr>
              <a:lnSpc>
                <a:spcPts val="2563"/>
              </a:lnSpc>
            </a:pPr>
            <a:r>
              <a:rPr lang="en-US" sz="4000" b="1">
                <a:latin typeface="Cambria" panose="02040503050406030204" pitchFamily="18" charset="0"/>
                <a:ea typeface="Cambria" panose="02040503050406030204" pitchFamily="18" charset="0"/>
                <a:cs typeface="Noto Serif Medium" pitchFamily="34" charset="-120"/>
              </a:rPr>
              <a:t>Mr. Nelum Amarasena</a:t>
            </a:r>
            <a:endParaRPr lang="en-US" sz="4000" b="1">
              <a:latin typeface="Cambria" panose="02040503050406030204" pitchFamily="18" charset="0"/>
              <a:ea typeface="Cambria" panose="02040503050406030204" pitchFamily="18" charset="0"/>
            </a:endParaRPr>
          </a:p>
        </p:txBody>
      </p:sp>
      <p:sp>
        <p:nvSpPr>
          <p:cNvPr id="8" name="Text 4"/>
          <p:cNvSpPr/>
          <p:nvPr/>
        </p:nvSpPr>
        <p:spPr>
          <a:xfrm>
            <a:off x="10569481" y="8337480"/>
            <a:ext cx="7153870" cy="330550"/>
          </a:xfrm>
          <a:prstGeom prst="rect">
            <a:avLst/>
          </a:prstGeom>
          <a:noFill/>
          <a:ln/>
        </p:spPr>
        <p:txBody>
          <a:bodyPr wrap="none" lIns="0" tIns="0" rIns="0" bIns="0" rtlCol="0" anchor="t"/>
          <a:lstStyle/>
          <a:p>
            <a:pPr>
              <a:lnSpc>
                <a:spcPts val="2313"/>
              </a:lnSpc>
            </a:pPr>
            <a:r>
              <a:rPr lang="en-US" sz="3000">
                <a:latin typeface="Cambria" panose="02040503050406030204" pitchFamily="18" charset="0"/>
                <a:ea typeface="Cambria" panose="02040503050406030204" pitchFamily="18" charset="0"/>
                <a:cs typeface="Calibri" panose="020F0502020204030204" pitchFamily="34" charset="0"/>
              </a:rPr>
              <a:t>Project Co-Supervisor</a:t>
            </a:r>
          </a:p>
        </p:txBody>
      </p:sp>
      <p:pic>
        <p:nvPicPr>
          <p:cNvPr id="13" name="Picture 12" descr="A person smiling for the camera&#10;&#10;AI-generated content may be incorrect.">
            <a:extLst>
              <a:ext uri="{FF2B5EF4-FFF2-40B4-BE49-F238E27FC236}">
                <a16:creationId xmlns:a16="http://schemas.microsoft.com/office/drawing/2014/main" id="{9052469E-819D-94AD-78E6-2B76B374B4CE}"/>
              </a:ext>
            </a:extLst>
          </p:cNvPr>
          <p:cNvPicPr>
            <a:picLocks noChangeAspect="1"/>
          </p:cNvPicPr>
          <p:nvPr/>
        </p:nvPicPr>
        <p:blipFill>
          <a:blip r:embed="rId3"/>
          <a:stretch>
            <a:fillRect/>
          </a:stretch>
        </p:blipFill>
        <p:spPr>
          <a:xfrm>
            <a:off x="1517104" y="3065790"/>
            <a:ext cx="3655704" cy="3764460"/>
          </a:xfrm>
          <a:prstGeom prst="flowChartConnector">
            <a:avLst/>
          </a:prstGeom>
        </p:spPr>
      </p:pic>
      <p:pic>
        <p:nvPicPr>
          <p:cNvPr id="15" name="Picture 14" descr="A person wearing a tie and a lanyard&#10;&#10;AI-generated content may be incorrect.">
            <a:extLst>
              <a:ext uri="{FF2B5EF4-FFF2-40B4-BE49-F238E27FC236}">
                <a16:creationId xmlns:a16="http://schemas.microsoft.com/office/drawing/2014/main" id="{A904A364-4016-E2EF-B218-7D099EE66A9C}"/>
              </a:ext>
            </a:extLst>
          </p:cNvPr>
          <p:cNvPicPr>
            <a:picLocks noChangeAspect="1"/>
          </p:cNvPicPr>
          <p:nvPr/>
        </p:nvPicPr>
        <p:blipFill>
          <a:blip r:embed="rId4"/>
          <a:stretch>
            <a:fillRect/>
          </a:stretch>
        </p:blipFill>
        <p:spPr>
          <a:xfrm>
            <a:off x="10797311" y="3356947"/>
            <a:ext cx="3372959" cy="3473303"/>
          </a:xfrm>
          <a:prstGeom prst="flowChartConnector">
            <a:avLst/>
          </a:prstGeom>
        </p:spPr>
      </p:pic>
      <p:sp>
        <p:nvSpPr>
          <p:cNvPr id="3" name="Rectangle 2">
            <a:extLst>
              <a:ext uri="{FF2B5EF4-FFF2-40B4-BE49-F238E27FC236}">
                <a16:creationId xmlns:a16="http://schemas.microsoft.com/office/drawing/2014/main" id="{2A84F616-8C93-3C42-7BC4-673CDE57935D}"/>
              </a:ext>
            </a:extLst>
          </p:cNvPr>
          <p:cNvSpPr/>
          <p:nvPr/>
        </p:nvSpPr>
        <p:spPr>
          <a:xfrm>
            <a:off x="16075269" y="9598270"/>
            <a:ext cx="2212730" cy="688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50">
              <a:ln>
                <a:solidFill>
                  <a:schemeClr val="bg1"/>
                </a:solidFill>
              </a:ln>
              <a:solidFill>
                <a:schemeClr val="tx1"/>
              </a:solidFill>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5956" y="990211"/>
            <a:ext cx="7088238" cy="885974"/>
          </a:xfrm>
          <a:prstGeom prst="rect">
            <a:avLst/>
          </a:prstGeom>
          <a:noFill/>
          <a:ln/>
        </p:spPr>
        <p:txBody>
          <a:bodyPr wrap="none" lIns="0" tIns="0" rIns="0" bIns="0" rtlCol="0" anchor="t"/>
          <a:lstStyle/>
          <a:p>
            <a:pPr>
              <a:lnSpc>
                <a:spcPts val="6938"/>
              </a:lnSpc>
            </a:pPr>
            <a:r>
              <a:rPr lang="en-US" sz="5500" b="1">
                <a:latin typeface="Cambria" panose="02040503050406030204" pitchFamily="18" charset="0"/>
                <a:ea typeface="Noto Serif Medium" pitchFamily="34" charset="-122"/>
                <a:cs typeface="Noto Serif Medium" pitchFamily="34" charset="-120"/>
              </a:rPr>
              <a:t>Our Team</a:t>
            </a:r>
            <a:endParaRPr lang="en-US" sz="5500" b="1">
              <a:latin typeface="Cambria" panose="02040503050406030204" pitchFamily="18" charset="0"/>
            </a:endParaRPr>
          </a:p>
        </p:txBody>
      </p:sp>
      <p:sp>
        <p:nvSpPr>
          <p:cNvPr id="3" name="Text 1"/>
          <p:cNvSpPr/>
          <p:nvPr/>
        </p:nvSpPr>
        <p:spPr>
          <a:xfrm>
            <a:off x="814982" y="2185842"/>
            <a:ext cx="16303526" cy="453629"/>
          </a:xfrm>
          <a:prstGeom prst="rect">
            <a:avLst/>
          </a:prstGeom>
          <a:noFill/>
          <a:ln/>
        </p:spPr>
        <p:txBody>
          <a:bodyPr wrap="none" lIns="0" tIns="0" rIns="0" bIns="0" rtlCol="0" anchor="t"/>
          <a:lstStyle/>
          <a:p>
            <a:pPr>
              <a:lnSpc>
                <a:spcPts val="3563"/>
              </a:lnSpc>
            </a:pPr>
            <a:r>
              <a:rPr lang="en-US" sz="2250">
                <a:latin typeface="Cambria" panose="02040503050406030204" pitchFamily="18" charset="0"/>
                <a:ea typeface="Noto Serif" pitchFamily="34" charset="-122"/>
                <a:cs typeface="Noto Serif" pitchFamily="34" charset="-120"/>
              </a:rPr>
              <a:t>Meet the dedicated individuals driving this innovative project:</a:t>
            </a:r>
            <a:endParaRPr lang="en-US" sz="2250">
              <a:latin typeface="Cambria" panose="02040503050406030204" pitchFamily="18" charset="0"/>
            </a:endParaRPr>
          </a:p>
        </p:txBody>
      </p:sp>
      <p:sp>
        <p:nvSpPr>
          <p:cNvPr id="5" name="Text 2"/>
          <p:cNvSpPr/>
          <p:nvPr/>
        </p:nvSpPr>
        <p:spPr>
          <a:xfrm>
            <a:off x="1125216" y="6625921"/>
            <a:ext cx="3544044" cy="442913"/>
          </a:xfrm>
          <a:prstGeom prst="rect">
            <a:avLst/>
          </a:prstGeom>
          <a:noFill/>
          <a:ln/>
        </p:spPr>
        <p:txBody>
          <a:bodyPr wrap="none" lIns="0" tIns="0" rIns="0" bIns="0" rtlCol="0" anchor="t"/>
          <a:lstStyle/>
          <a:p>
            <a:pPr>
              <a:lnSpc>
                <a:spcPts val="3438"/>
              </a:lnSpc>
            </a:pPr>
            <a:r>
              <a:rPr lang="en-US" sz="2250" b="1">
                <a:latin typeface="Cambria" panose="02040503050406030204" pitchFamily="18" charset="0"/>
                <a:ea typeface="Noto Serif Medium" pitchFamily="34" charset="-122"/>
                <a:cs typeface="Noto Serif Medium" pitchFamily="34" charset="-120"/>
              </a:rPr>
              <a:t>Sandeepa S.A.C.</a:t>
            </a:r>
            <a:endParaRPr lang="en-US" sz="2250" b="1">
              <a:latin typeface="Cambria" panose="02040503050406030204" pitchFamily="18" charset="0"/>
            </a:endParaRPr>
          </a:p>
        </p:txBody>
      </p:sp>
      <p:sp>
        <p:nvSpPr>
          <p:cNvPr id="6" name="Text 3"/>
          <p:cNvSpPr/>
          <p:nvPr/>
        </p:nvSpPr>
        <p:spPr>
          <a:xfrm>
            <a:off x="793916" y="7082031"/>
            <a:ext cx="3810000" cy="907256"/>
          </a:xfrm>
          <a:prstGeom prst="rect">
            <a:avLst/>
          </a:prstGeom>
          <a:noFill/>
          <a:ln/>
        </p:spPr>
        <p:txBody>
          <a:bodyPr wrap="square" lIns="0" tIns="0" rIns="0" bIns="0" rtlCol="0" anchor="t"/>
          <a:lstStyle/>
          <a:p>
            <a:pPr>
              <a:lnSpc>
                <a:spcPts val="3563"/>
              </a:lnSpc>
            </a:pPr>
            <a:r>
              <a:rPr lang="en-US" sz="2250">
                <a:latin typeface="Cambria" panose="02040503050406030204" pitchFamily="18" charset="0"/>
                <a:ea typeface="Noto Serif" pitchFamily="34" charset="-122"/>
                <a:cs typeface="Noto Serif" pitchFamily="34" charset="-120"/>
              </a:rPr>
              <a:t>AI Fabric Classification Module</a:t>
            </a:r>
            <a:endParaRPr lang="en-US" sz="2250">
              <a:latin typeface="Cambria" panose="02040503050406030204" pitchFamily="18" charset="0"/>
            </a:endParaRPr>
          </a:p>
        </p:txBody>
      </p:sp>
      <p:sp>
        <p:nvSpPr>
          <p:cNvPr id="8" name="Text 4"/>
          <p:cNvSpPr/>
          <p:nvPr/>
        </p:nvSpPr>
        <p:spPr>
          <a:xfrm>
            <a:off x="5156597" y="6469006"/>
            <a:ext cx="3728443" cy="442913"/>
          </a:xfrm>
          <a:prstGeom prst="rect">
            <a:avLst/>
          </a:prstGeom>
          <a:noFill/>
          <a:ln/>
        </p:spPr>
        <p:txBody>
          <a:bodyPr wrap="none" lIns="0" tIns="0" rIns="0" bIns="0" rtlCol="0" anchor="t"/>
          <a:lstStyle/>
          <a:p>
            <a:pPr>
              <a:lnSpc>
                <a:spcPts val="3438"/>
              </a:lnSpc>
            </a:pPr>
            <a:r>
              <a:rPr lang="en-US" sz="2250">
                <a:latin typeface="Cambria" panose="02040503050406030204" pitchFamily="18" charset="0"/>
                <a:ea typeface="Noto Serif Medium" pitchFamily="34" charset="-122"/>
                <a:cs typeface="Noto Serif Medium" pitchFamily="34" charset="-120"/>
              </a:rPr>
              <a:t>Siriwardhana N.S.T.N.</a:t>
            </a:r>
            <a:endParaRPr lang="en-US" sz="2250">
              <a:latin typeface="Cambria" panose="02040503050406030204" pitchFamily="18" charset="0"/>
            </a:endParaRPr>
          </a:p>
        </p:txBody>
      </p:sp>
      <p:sp>
        <p:nvSpPr>
          <p:cNvPr id="9" name="Text 5"/>
          <p:cNvSpPr/>
          <p:nvPr/>
        </p:nvSpPr>
        <p:spPr>
          <a:xfrm>
            <a:off x="5156597" y="7068835"/>
            <a:ext cx="3810149" cy="907256"/>
          </a:xfrm>
          <a:prstGeom prst="rect">
            <a:avLst/>
          </a:prstGeom>
          <a:noFill/>
          <a:ln/>
        </p:spPr>
        <p:txBody>
          <a:bodyPr wrap="square" lIns="0" tIns="0" rIns="0" bIns="0" rtlCol="0" anchor="t"/>
          <a:lstStyle/>
          <a:p>
            <a:pPr>
              <a:lnSpc>
                <a:spcPts val="3563"/>
              </a:lnSpc>
            </a:pPr>
            <a:r>
              <a:rPr lang="en-US" sz="2250">
                <a:latin typeface="Cambria" panose="02040503050406030204" pitchFamily="18" charset="0"/>
                <a:ea typeface="Noto Serif" pitchFamily="34" charset="-122"/>
                <a:cs typeface="Noto Serif" pitchFamily="34" charset="-120"/>
              </a:rPr>
              <a:t>Environmental Impact Prediction Module</a:t>
            </a:r>
            <a:endParaRPr lang="en-US" sz="2250">
              <a:latin typeface="Cambria" panose="02040503050406030204" pitchFamily="18" charset="0"/>
            </a:endParaRPr>
          </a:p>
        </p:txBody>
      </p:sp>
      <p:sp>
        <p:nvSpPr>
          <p:cNvPr id="11" name="Text 6"/>
          <p:cNvSpPr/>
          <p:nvPr/>
        </p:nvSpPr>
        <p:spPr>
          <a:xfrm>
            <a:off x="9321106" y="6469006"/>
            <a:ext cx="3714006" cy="442913"/>
          </a:xfrm>
          <a:prstGeom prst="rect">
            <a:avLst/>
          </a:prstGeom>
          <a:noFill/>
          <a:ln/>
        </p:spPr>
        <p:txBody>
          <a:bodyPr wrap="none" lIns="0" tIns="0" rIns="0" bIns="0" rtlCol="0" anchor="t"/>
          <a:lstStyle/>
          <a:p>
            <a:pPr>
              <a:lnSpc>
                <a:spcPts val="3438"/>
              </a:lnSpc>
            </a:pPr>
            <a:r>
              <a:rPr lang="en-US" sz="2250">
                <a:latin typeface="Cambria" panose="02040503050406030204" pitchFamily="18" charset="0"/>
                <a:ea typeface="Noto Serif Medium" pitchFamily="34" charset="-122"/>
                <a:cs typeface="Noto Serif Medium" pitchFamily="34" charset="-120"/>
              </a:rPr>
              <a:t>Madushanka H.M.T.G.</a:t>
            </a:r>
            <a:endParaRPr lang="en-US" sz="2250">
              <a:latin typeface="Cambria" panose="02040503050406030204" pitchFamily="18" charset="0"/>
            </a:endParaRPr>
          </a:p>
        </p:txBody>
      </p:sp>
      <p:sp>
        <p:nvSpPr>
          <p:cNvPr id="12" name="Text 7"/>
          <p:cNvSpPr/>
          <p:nvPr/>
        </p:nvSpPr>
        <p:spPr>
          <a:xfrm>
            <a:off x="9321106" y="7082030"/>
            <a:ext cx="3810149" cy="1360885"/>
          </a:xfrm>
          <a:prstGeom prst="rect">
            <a:avLst/>
          </a:prstGeom>
          <a:noFill/>
          <a:ln/>
        </p:spPr>
        <p:txBody>
          <a:bodyPr wrap="square" lIns="0" tIns="0" rIns="0" bIns="0" rtlCol="0" anchor="t"/>
          <a:lstStyle/>
          <a:p>
            <a:pPr>
              <a:lnSpc>
                <a:spcPts val="3563"/>
              </a:lnSpc>
            </a:pPr>
            <a:r>
              <a:rPr lang="en-US" sz="2250">
                <a:latin typeface="Cambria" panose="02040503050406030204" pitchFamily="18" charset="0"/>
                <a:ea typeface="Noto Serif" pitchFamily="34" charset="-122"/>
                <a:cs typeface="Noto Serif" pitchFamily="34" charset="-120"/>
              </a:rPr>
              <a:t>Traceability, Recommendation &amp; AI Pricing Module</a:t>
            </a:r>
            <a:endParaRPr lang="en-US" sz="2250">
              <a:latin typeface="Cambria" panose="02040503050406030204" pitchFamily="18" charset="0"/>
            </a:endParaRPr>
          </a:p>
        </p:txBody>
      </p:sp>
      <p:sp>
        <p:nvSpPr>
          <p:cNvPr id="14" name="Text 8"/>
          <p:cNvSpPr/>
          <p:nvPr/>
        </p:nvSpPr>
        <p:spPr>
          <a:xfrm>
            <a:off x="13485614" y="6493620"/>
            <a:ext cx="3544044" cy="442913"/>
          </a:xfrm>
          <a:prstGeom prst="rect">
            <a:avLst/>
          </a:prstGeom>
          <a:noFill/>
          <a:ln/>
        </p:spPr>
        <p:txBody>
          <a:bodyPr wrap="none" lIns="0" tIns="0" rIns="0" bIns="0" rtlCol="0" anchor="t"/>
          <a:lstStyle/>
          <a:p>
            <a:pPr>
              <a:lnSpc>
                <a:spcPts val="3438"/>
              </a:lnSpc>
            </a:pPr>
            <a:r>
              <a:rPr lang="en-US" sz="2250">
                <a:latin typeface="Cambria" panose="02040503050406030204" pitchFamily="18" charset="0"/>
                <a:ea typeface="Noto Serif Medium" pitchFamily="34" charset="-122"/>
                <a:cs typeface="Noto Serif Medium" pitchFamily="34" charset="-120"/>
              </a:rPr>
              <a:t>Thalagala T.A.D.V.</a:t>
            </a:r>
            <a:endParaRPr lang="en-US" sz="2250">
              <a:latin typeface="Cambria" panose="02040503050406030204" pitchFamily="18" charset="0"/>
            </a:endParaRPr>
          </a:p>
        </p:txBody>
      </p:sp>
      <p:sp>
        <p:nvSpPr>
          <p:cNvPr id="15" name="Text 9"/>
          <p:cNvSpPr/>
          <p:nvPr/>
        </p:nvSpPr>
        <p:spPr>
          <a:xfrm>
            <a:off x="13485614" y="7164438"/>
            <a:ext cx="3810149" cy="907256"/>
          </a:xfrm>
          <a:prstGeom prst="rect">
            <a:avLst/>
          </a:prstGeom>
          <a:noFill/>
          <a:ln/>
        </p:spPr>
        <p:txBody>
          <a:bodyPr wrap="square" lIns="0" tIns="0" rIns="0" bIns="0" rtlCol="0" anchor="t"/>
          <a:lstStyle/>
          <a:p>
            <a:pPr>
              <a:lnSpc>
                <a:spcPts val="3563"/>
              </a:lnSpc>
            </a:pPr>
            <a:r>
              <a:rPr lang="en-US" sz="2250">
                <a:latin typeface="Cambria" panose="02040503050406030204" pitchFamily="18" charset="0"/>
                <a:ea typeface="Noto Serif" pitchFamily="34" charset="-122"/>
                <a:cs typeface="Noto Serif" pitchFamily="34" charset="-120"/>
              </a:rPr>
              <a:t>Marketplace Platform &amp; Predictive Analytics Module</a:t>
            </a:r>
            <a:endParaRPr lang="en-US" sz="2250">
              <a:latin typeface="Cambria" panose="02040503050406030204" pitchFamily="18" charset="0"/>
            </a:endParaRPr>
          </a:p>
        </p:txBody>
      </p:sp>
      <p:sp>
        <p:nvSpPr>
          <p:cNvPr id="16" name="Rectangle 15">
            <a:extLst>
              <a:ext uri="{FF2B5EF4-FFF2-40B4-BE49-F238E27FC236}">
                <a16:creationId xmlns:a16="http://schemas.microsoft.com/office/drawing/2014/main" id="{B0B6B3D2-FB66-0B2A-78DE-00B522620FA0}"/>
              </a:ext>
            </a:extLst>
          </p:cNvPr>
          <p:cNvSpPr/>
          <p:nvPr/>
        </p:nvSpPr>
        <p:spPr>
          <a:xfrm>
            <a:off x="16075269" y="9598270"/>
            <a:ext cx="2212730" cy="688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50">
              <a:ln>
                <a:solidFill>
                  <a:schemeClr val="bg1"/>
                </a:solidFill>
              </a:ln>
              <a:solidFill>
                <a:schemeClr val="tx1"/>
              </a:solidFill>
              <a:latin typeface="Cambria" panose="02040503050406030204" pitchFamily="18" charset="0"/>
              <a:ea typeface="Cambria" panose="02040503050406030204" pitchFamily="18" charset="0"/>
            </a:endParaRPr>
          </a:p>
        </p:txBody>
      </p:sp>
      <p:pic>
        <p:nvPicPr>
          <p:cNvPr id="25" name="Picture 24" descr="A person in a black suit&#10;&#10;AI-generated content may be incorrect.">
            <a:extLst>
              <a:ext uri="{FF2B5EF4-FFF2-40B4-BE49-F238E27FC236}">
                <a16:creationId xmlns:a16="http://schemas.microsoft.com/office/drawing/2014/main" id="{67D7D0E1-B8F0-5B4A-6AAB-D343C06FFA07}"/>
              </a:ext>
            </a:extLst>
          </p:cNvPr>
          <p:cNvPicPr>
            <a:picLocks noChangeAspect="1"/>
          </p:cNvPicPr>
          <p:nvPr/>
        </p:nvPicPr>
        <p:blipFill>
          <a:blip r:embed="rId3"/>
          <a:stretch>
            <a:fillRect/>
          </a:stretch>
        </p:blipFill>
        <p:spPr>
          <a:xfrm>
            <a:off x="938323" y="3256833"/>
            <a:ext cx="3044505" cy="317748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9" name="Picture 28" descr="A person in a white shirt&#10;&#10;AI-generated content may be incorrect.">
            <a:extLst>
              <a:ext uri="{FF2B5EF4-FFF2-40B4-BE49-F238E27FC236}">
                <a16:creationId xmlns:a16="http://schemas.microsoft.com/office/drawing/2014/main" id="{10C25118-A7D6-C622-6E5E-B6D1DBB74C51}"/>
              </a:ext>
            </a:extLst>
          </p:cNvPr>
          <p:cNvPicPr>
            <a:picLocks noChangeAspect="1"/>
          </p:cNvPicPr>
          <p:nvPr/>
        </p:nvPicPr>
        <p:blipFill rotWithShape="1">
          <a:blip r:embed="rId4"/>
          <a:srcRect b="30777"/>
          <a:stretch/>
        </p:blipFill>
        <p:spPr>
          <a:xfrm>
            <a:off x="13426115" y="3255969"/>
            <a:ext cx="2882525" cy="2997770"/>
          </a:xfrm>
          <a:prstGeom prst="flowChartConnector">
            <a:avLst/>
          </a:prstGeom>
          <a:ln w="57150">
            <a:solidFill>
              <a:schemeClr val="tx1"/>
            </a:solidFill>
          </a:ln>
        </p:spPr>
      </p:pic>
      <p:pic>
        <p:nvPicPr>
          <p:cNvPr id="19" name="Picture 18" descr="A person in a suit and glasses&#10;&#10;Description automatically generated">
            <a:extLst>
              <a:ext uri="{FF2B5EF4-FFF2-40B4-BE49-F238E27FC236}">
                <a16:creationId xmlns:a16="http://schemas.microsoft.com/office/drawing/2014/main" id="{10088EE8-0E1C-B598-1E75-9A7B3449273B}"/>
              </a:ext>
            </a:extLst>
          </p:cNvPr>
          <p:cNvPicPr>
            <a:picLocks noChangeAspect="1"/>
          </p:cNvPicPr>
          <p:nvPr/>
        </p:nvPicPr>
        <p:blipFill rotWithShape="1">
          <a:blip r:embed="rId5"/>
          <a:srcRect t="2707" b="14387"/>
          <a:stretch/>
        </p:blipFill>
        <p:spPr>
          <a:xfrm>
            <a:off x="9144000" y="3071666"/>
            <a:ext cx="3044505" cy="3366376"/>
          </a:xfrm>
          <a:prstGeom prst="flowChartConnector">
            <a:avLst/>
          </a:prstGeom>
          <a:ln w="28575">
            <a:solidFill>
              <a:schemeClr val="tx1"/>
            </a:solidFill>
          </a:ln>
        </p:spPr>
      </p:pic>
      <p:pic>
        <p:nvPicPr>
          <p:cNvPr id="24" name="Picture 23">
            <a:extLst>
              <a:ext uri="{FF2B5EF4-FFF2-40B4-BE49-F238E27FC236}">
                <a16:creationId xmlns:a16="http://schemas.microsoft.com/office/drawing/2014/main" id="{6942C2D2-5533-F848-6577-BA1CFCB43A06}"/>
              </a:ext>
            </a:extLst>
          </p:cNvPr>
          <p:cNvPicPr>
            <a:picLocks noChangeAspect="1"/>
          </p:cNvPicPr>
          <p:nvPr/>
        </p:nvPicPr>
        <p:blipFill rotWithShape="1">
          <a:blip r:embed="rId6"/>
          <a:srcRect l="10250" t="2278" r="8829" b="33563"/>
          <a:stretch/>
        </p:blipFill>
        <p:spPr>
          <a:xfrm>
            <a:off x="4894457" y="3134612"/>
            <a:ext cx="3044506" cy="3219334"/>
          </a:xfrm>
          <a:prstGeom prst="flowChartConnector">
            <a:avLst/>
          </a:prstGeom>
          <a:ln w="19050">
            <a:solidFill>
              <a:schemeClr val="tx1"/>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999"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4" name="Group 4"/>
          <p:cNvGrpSpPr/>
          <p:nvPr/>
        </p:nvGrpSpPr>
        <p:grpSpPr>
          <a:xfrm>
            <a:off x="-20999" y="-375776"/>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6" name="Group 6"/>
          <p:cNvGrpSpPr/>
          <p:nvPr/>
        </p:nvGrpSpPr>
        <p:grpSpPr>
          <a:xfrm>
            <a:off x="20999" y="9533010"/>
            <a:ext cx="3917169" cy="703984"/>
            <a:chOff x="0" y="0"/>
            <a:chExt cx="5222892" cy="938645"/>
          </a:xfrm>
        </p:grpSpPr>
        <p:sp>
          <p:nvSpPr>
            <p:cNvPr id="7" name="Freeform 7"/>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10" name="TextBox 10"/>
          <p:cNvSpPr txBox="1"/>
          <p:nvPr/>
        </p:nvSpPr>
        <p:spPr>
          <a:xfrm>
            <a:off x="2216333" y="410556"/>
            <a:ext cx="5560367" cy="1228734"/>
          </a:xfrm>
          <a:prstGeom prst="rect">
            <a:avLst/>
          </a:prstGeom>
        </p:spPr>
        <p:txBody>
          <a:bodyPr lIns="0" tIns="0" rIns="0" bIns="0" rtlCol="0" anchor="t">
            <a:spAutoFit/>
          </a:bodyPr>
          <a:lstStyle/>
          <a:p>
            <a:pPr algn="just">
              <a:lnSpc>
                <a:spcPts val="8999"/>
              </a:lnSpc>
            </a:pPr>
            <a:r>
              <a:rPr lang="en-US" sz="9999">
                <a:solidFill>
                  <a:srgbClr val="009B0B"/>
                </a:solidFill>
                <a:latin typeface="League Gothic"/>
                <a:ea typeface="League Gothic"/>
                <a:cs typeface="League Gothic"/>
                <a:sym typeface="League Gothic"/>
              </a:rPr>
              <a:t>INTRODUCTION</a:t>
            </a:r>
          </a:p>
        </p:txBody>
      </p:sp>
      <p:sp>
        <p:nvSpPr>
          <p:cNvPr id="11" name="TextBox 11"/>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03</a:t>
            </a:r>
          </a:p>
        </p:txBody>
      </p:sp>
      <p:sp>
        <p:nvSpPr>
          <p:cNvPr id="12" name="TextBox 12"/>
          <p:cNvSpPr txBox="1"/>
          <p:nvPr/>
        </p:nvSpPr>
        <p:spPr>
          <a:xfrm>
            <a:off x="15201076" y="9716626"/>
            <a:ext cx="2039789" cy="383951"/>
          </a:xfrm>
          <a:prstGeom prst="rect">
            <a:avLst/>
          </a:prstGeom>
        </p:spPr>
        <p:txBody>
          <a:bodyPr wrap="square"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12/05/2026</a:t>
            </a:r>
          </a:p>
        </p:txBody>
      </p:sp>
      <p:sp>
        <p:nvSpPr>
          <p:cNvPr id="13" name="TextBox 13"/>
          <p:cNvSpPr txBox="1"/>
          <p:nvPr/>
        </p:nvSpPr>
        <p:spPr>
          <a:xfrm>
            <a:off x="914400" y="1643914"/>
            <a:ext cx="7320182" cy="587375"/>
          </a:xfrm>
          <a:prstGeom prst="rect">
            <a:avLst/>
          </a:prstGeom>
        </p:spPr>
        <p:txBody>
          <a:bodyPr lIns="0" tIns="0" rIns="0" bIns="0" rtlCol="0" anchor="t">
            <a:spAutoFit/>
          </a:bodyPr>
          <a:lstStyle/>
          <a:p>
            <a:pPr algn="l">
              <a:lnSpc>
                <a:spcPts val="4899"/>
              </a:lnSpc>
            </a:pPr>
            <a:r>
              <a:rPr lang="en-US" sz="3499">
                <a:solidFill>
                  <a:srgbClr val="009B0B"/>
                </a:solidFill>
                <a:latin typeface="Canva Sans"/>
                <a:ea typeface="Canva Sans"/>
                <a:cs typeface="Canva Sans"/>
                <a:sym typeface="Canva Sans"/>
              </a:rPr>
              <a:t>Introduction to the problem</a:t>
            </a:r>
          </a:p>
        </p:txBody>
      </p:sp>
      <p:sp>
        <p:nvSpPr>
          <p:cNvPr id="14" name="TextBox 14"/>
          <p:cNvSpPr txBox="1"/>
          <p:nvPr/>
        </p:nvSpPr>
        <p:spPr>
          <a:xfrm>
            <a:off x="914400" y="2548593"/>
            <a:ext cx="15901845" cy="3600986"/>
          </a:xfrm>
          <a:prstGeom prst="rect">
            <a:avLst/>
          </a:prstGeom>
        </p:spPr>
        <p:txBody>
          <a:bodyPr lIns="0" tIns="0" rIns="0" bIns="0" rtlCol="0" anchor="t">
            <a:spAutoFit/>
          </a:bodyPr>
          <a:lstStyle/>
          <a:p>
            <a:r>
              <a:rPr lang="en-US" sz="3200"/>
              <a:t>The main research problem is the lack of an intelligent and integrated digital system for textile waste management in Sri Lanka’s apparel industry. Currently, textile waste is manually sorted and often burned or disposed of in landfills, causing environmental pollution and economic loss. Manufacturers face difficulties in managing and valuing waste materials, while designers, </a:t>
            </a:r>
            <a:r>
              <a:rPr lang="en-US" sz="3200" err="1"/>
              <a:t>upcyclers</a:t>
            </a:r>
            <a:r>
              <a:rPr lang="en-US" sz="3200"/>
              <a:t>, and SMEs struggle to find affordable and reliable reusable fabrics.</a:t>
            </a:r>
          </a:p>
          <a:p>
            <a:endParaRPr lang="en-US" sz="2800"/>
          </a:p>
          <a:p>
            <a:endParaRPr lang="en-US" sz="2800">
              <a:ea typeface="+mn-lt"/>
              <a:cs typeface="+mn-lt"/>
            </a:endParaRPr>
          </a:p>
          <a:p>
            <a:endParaRPr lang="en-US">
              <a:ea typeface="+mn-lt"/>
              <a:cs typeface="+mn-lt"/>
            </a:endParaRPr>
          </a:p>
        </p:txBody>
      </p:sp>
      <p:sp>
        <p:nvSpPr>
          <p:cNvPr id="15" name="TextBox 15"/>
          <p:cNvSpPr txBox="1"/>
          <p:nvPr/>
        </p:nvSpPr>
        <p:spPr>
          <a:xfrm>
            <a:off x="914400" y="5659503"/>
            <a:ext cx="8719703" cy="587375"/>
          </a:xfrm>
          <a:prstGeom prst="rect">
            <a:avLst/>
          </a:prstGeom>
        </p:spPr>
        <p:txBody>
          <a:bodyPr lIns="0" tIns="0" rIns="0" bIns="0" rtlCol="0" anchor="t">
            <a:spAutoFit/>
          </a:bodyPr>
          <a:lstStyle/>
          <a:p>
            <a:pPr algn="l">
              <a:lnSpc>
                <a:spcPts val="4899"/>
              </a:lnSpc>
            </a:pPr>
            <a:r>
              <a:rPr lang="en-US" sz="3499">
                <a:solidFill>
                  <a:srgbClr val="009B0B"/>
                </a:solidFill>
                <a:latin typeface="Canva Sans"/>
                <a:ea typeface="Canva Sans"/>
                <a:cs typeface="Canva Sans"/>
                <a:sym typeface="Canva Sans"/>
              </a:rPr>
              <a:t>Social or research impact of the solution</a:t>
            </a:r>
          </a:p>
        </p:txBody>
      </p:sp>
      <p:sp>
        <p:nvSpPr>
          <p:cNvPr id="16" name="TextBox 16"/>
          <p:cNvSpPr txBox="1"/>
          <p:nvPr/>
        </p:nvSpPr>
        <p:spPr>
          <a:xfrm>
            <a:off x="914400" y="6355501"/>
            <a:ext cx="12156496" cy="1785104"/>
          </a:xfrm>
          <a:prstGeom prst="rect">
            <a:avLst/>
          </a:prstGeom>
        </p:spPr>
        <p:txBody>
          <a:bodyPr lIns="0" tIns="0" rIns="0" bIns="0" rtlCol="0" anchor="t">
            <a:spAutoFit/>
          </a:bodyPr>
          <a:lstStyle/>
          <a:p>
            <a:r>
              <a:rPr lang="en-US" sz="2800" dirty="0"/>
              <a:t>To address these challenges, this research focuses on developing an AI-powered </a:t>
            </a:r>
            <a:r>
              <a:rPr lang="en-US" sz="3200" dirty="0"/>
              <a:t>marketplace</a:t>
            </a:r>
            <a:r>
              <a:rPr lang="en-US" sz="2800" dirty="0"/>
              <a:t> that enables automated fabric classification, environmental impact analysis, intelligent pricing, traceability, and predictive analytics to support a sustainable circular economy.</a:t>
            </a:r>
          </a:p>
        </p:txBody>
      </p:sp>
      <p:pic>
        <p:nvPicPr>
          <p:cNvPr id="17" name="Picture 16" descr="A cartoon of a child with red spots on his body&#10;&#10;AI-generated content may be incorrect.">
            <a:extLst>
              <a:ext uri="{FF2B5EF4-FFF2-40B4-BE49-F238E27FC236}">
                <a16:creationId xmlns:a16="http://schemas.microsoft.com/office/drawing/2014/main" id="{2AA1324C-C17A-9CA8-84C9-D4267668EB7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35293" y="5229383"/>
            <a:ext cx="4947358" cy="37105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999" y="-49997"/>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4" name="Group 4"/>
          <p:cNvGrpSpPr/>
          <p:nvPr/>
        </p:nvGrpSpPr>
        <p:grpSpPr>
          <a:xfrm>
            <a:off x="20999" y="9533010"/>
            <a:ext cx="3917169" cy="703984"/>
            <a:chOff x="0" y="0"/>
            <a:chExt cx="5222892" cy="938645"/>
          </a:xfrm>
        </p:grpSpPr>
        <p:sp>
          <p:nvSpPr>
            <p:cNvPr id="5" name="Freeform 5"/>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8" name="TextBox 8"/>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05</a:t>
            </a:r>
          </a:p>
        </p:txBody>
      </p:sp>
      <p:sp>
        <p:nvSpPr>
          <p:cNvPr id="10" name="TextBox 10"/>
          <p:cNvSpPr txBox="1"/>
          <p:nvPr/>
        </p:nvSpPr>
        <p:spPr>
          <a:xfrm>
            <a:off x="756470" y="969704"/>
            <a:ext cx="6726260" cy="538609"/>
          </a:xfrm>
          <a:prstGeom prst="rect">
            <a:avLst/>
          </a:prstGeom>
        </p:spPr>
        <p:txBody>
          <a:bodyPr lIns="0" tIns="0" rIns="0" bIns="0" rtlCol="0" anchor="t">
            <a:spAutoFit/>
          </a:bodyPr>
          <a:lstStyle/>
          <a:p>
            <a:pPr algn="l">
              <a:lnSpc>
                <a:spcPts val="4200"/>
              </a:lnSpc>
            </a:pPr>
            <a:r>
              <a:rPr lang="en-US" sz="3200">
                <a:solidFill>
                  <a:srgbClr val="009B0B"/>
                </a:solidFill>
                <a:latin typeface="Canva Sans"/>
                <a:ea typeface="Canva Sans"/>
                <a:cs typeface="Canva Sans"/>
                <a:sym typeface="Canva Sans"/>
              </a:rPr>
              <a:t>Our </a:t>
            </a:r>
            <a:r>
              <a:rPr lang="en-US" sz="3600">
                <a:solidFill>
                  <a:srgbClr val="009B0B"/>
                </a:solidFill>
                <a:latin typeface="Canva Sans"/>
                <a:ea typeface="Canva Sans"/>
                <a:cs typeface="Canva Sans"/>
                <a:sym typeface="Canva Sans"/>
              </a:rPr>
              <a:t>Approach</a:t>
            </a:r>
            <a:r>
              <a:rPr lang="en-US" sz="3200">
                <a:solidFill>
                  <a:srgbClr val="009B0B"/>
                </a:solidFill>
                <a:latin typeface="Canva Sans"/>
                <a:ea typeface="Canva Sans"/>
                <a:cs typeface="Canva Sans"/>
                <a:sym typeface="Canva Sans"/>
              </a:rPr>
              <a:t> to Address Gaps</a:t>
            </a:r>
          </a:p>
        </p:txBody>
      </p:sp>
      <p:sp>
        <p:nvSpPr>
          <p:cNvPr id="11" name="TextBox 11"/>
          <p:cNvSpPr txBox="1"/>
          <p:nvPr/>
        </p:nvSpPr>
        <p:spPr>
          <a:xfrm>
            <a:off x="1872162" y="1749776"/>
            <a:ext cx="10936542" cy="3016210"/>
          </a:xfrm>
          <a:prstGeom prst="rect">
            <a:avLst/>
          </a:prstGeom>
        </p:spPr>
        <p:txBody>
          <a:bodyPr wrap="square" lIns="0" tIns="0" rIns="0" bIns="0" rtlCol="0" anchor="t">
            <a:spAutoFit/>
          </a:bodyPr>
          <a:lstStyle/>
          <a:p>
            <a:pPr marL="457200" lvl="0"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AI-powered marketplace </a:t>
            </a:r>
          </a:p>
          <a:p>
            <a:pPr marL="457200" lvl="0"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CNN fabric classification </a:t>
            </a:r>
          </a:p>
          <a:p>
            <a:pPr marL="457200" lvl="0"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Environmental impact prediction </a:t>
            </a:r>
          </a:p>
          <a:p>
            <a:pPr marL="457200" lvl="0"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Microservices architecture Traceability system </a:t>
            </a:r>
          </a:p>
          <a:p>
            <a:pPr marL="457200" lvl="0"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AI pricing &amp; recommendation </a:t>
            </a:r>
          </a:p>
          <a:p>
            <a:pPr marL="457200" lvl="0"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Predictive analytics dashboard </a:t>
            </a:r>
          </a:p>
          <a:p>
            <a:pPr lvl="0" eaLnBrk="0" fontAlgn="base" hangingPunct="0">
              <a:spcBef>
                <a:spcPct val="0"/>
              </a:spcBef>
              <a:spcAft>
                <a:spcPct val="0"/>
              </a:spcAft>
              <a:buFontTx/>
              <a:buChar char="•"/>
            </a:pPr>
            <a:endParaRPr lang="en-US" altLang="en-US" sz="2800" dirty="0">
              <a:latin typeface="Arial" panose="020B0604020202020204" pitchFamily="34" charset="0"/>
            </a:endParaRPr>
          </a:p>
        </p:txBody>
      </p:sp>
      <p:sp>
        <p:nvSpPr>
          <p:cNvPr id="12" name="TextBox 12"/>
          <p:cNvSpPr txBox="1"/>
          <p:nvPr/>
        </p:nvSpPr>
        <p:spPr>
          <a:xfrm>
            <a:off x="785327" y="4886325"/>
            <a:ext cx="6726260" cy="514350"/>
          </a:xfrm>
          <a:prstGeom prst="rect">
            <a:avLst/>
          </a:prstGeom>
        </p:spPr>
        <p:txBody>
          <a:bodyPr lIns="0" tIns="0" rIns="0" bIns="0" rtlCol="0" anchor="t">
            <a:spAutoFit/>
          </a:bodyPr>
          <a:lstStyle/>
          <a:p>
            <a:pPr algn="l">
              <a:lnSpc>
                <a:spcPts val="4200"/>
              </a:lnSpc>
            </a:pPr>
            <a:r>
              <a:rPr lang="en-US" sz="3000" dirty="0">
                <a:solidFill>
                  <a:srgbClr val="009B0B"/>
                </a:solidFill>
                <a:latin typeface="Canva Sans"/>
                <a:ea typeface="Canva Sans"/>
                <a:cs typeface="Canva Sans"/>
                <a:sym typeface="Canva Sans"/>
              </a:rPr>
              <a:t>Constraints and Limitations</a:t>
            </a:r>
          </a:p>
        </p:txBody>
      </p:sp>
      <p:sp>
        <p:nvSpPr>
          <p:cNvPr id="13" name="TextBox 13"/>
          <p:cNvSpPr txBox="1"/>
          <p:nvPr/>
        </p:nvSpPr>
        <p:spPr>
          <a:xfrm>
            <a:off x="1472750" y="5572068"/>
            <a:ext cx="14805909" cy="2954655"/>
          </a:xfrm>
          <a:prstGeom prst="rect">
            <a:avLst/>
          </a:prstGeom>
        </p:spPr>
        <p:txBody>
          <a:bodyPr lIns="0" tIns="0" rIns="0" bIns="0" rtlCol="0" anchor="t">
            <a:spAutoFit/>
          </a:bodyPr>
          <a:lstStyle/>
          <a:p>
            <a:pPr lvl="0" eaLnBrk="0" fontAlgn="base" hangingPunct="0">
              <a:spcBef>
                <a:spcPct val="0"/>
              </a:spcBef>
              <a:spcAft>
                <a:spcPct val="0"/>
              </a:spcAft>
            </a:pPr>
            <a:endParaRPr lang="en-US" altLang="en-US" sz="2400" dirty="0">
              <a:latin typeface="Arial" panose="020B0604020202020204" pitchFamily="34" charset="0"/>
            </a:endParaRPr>
          </a:p>
          <a:p>
            <a:pPr marL="914400" lvl="1"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Limited availability of Sri Lankan textile waste datasets </a:t>
            </a:r>
          </a:p>
          <a:p>
            <a:pPr marL="914400" lvl="1"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Prediction accuracy depends on image quality and available data </a:t>
            </a:r>
          </a:p>
          <a:p>
            <a:pPr marL="914400" lvl="1"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Environmental impact calculations use secondary LCA data sources </a:t>
            </a:r>
          </a:p>
          <a:p>
            <a:pPr marL="914400" lvl="1"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Limited historical transaction data for AI pricing models </a:t>
            </a:r>
          </a:p>
          <a:p>
            <a:pPr marL="914400" lvl="1"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Time and resource limitations for large-scale deployment and testing </a:t>
            </a:r>
          </a:p>
          <a:p>
            <a:pPr marL="914400" lvl="1" indent="-457200" eaLnBrk="0" fontAlgn="base" hangingPunct="0">
              <a:spcBef>
                <a:spcPct val="0"/>
              </a:spcBef>
              <a:spcAft>
                <a:spcPct val="0"/>
              </a:spcAft>
              <a:buFont typeface="Wingdings" panose="05000000000000000000" pitchFamily="2" charset="2"/>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User adoption may vary based on awareness and technology usage skills </a:t>
            </a:r>
          </a:p>
        </p:txBody>
      </p:sp>
      <p:pic>
        <p:nvPicPr>
          <p:cNvPr id="14" name="Picture 13" descr="Close up of a person's chest with a plant and graphics&#10;&#10;AI-generated content may be incorrect.">
            <a:extLst>
              <a:ext uri="{FF2B5EF4-FFF2-40B4-BE49-F238E27FC236}">
                <a16:creationId xmlns:a16="http://schemas.microsoft.com/office/drawing/2014/main" id="{83867857-9A9B-08A5-6C8C-7135F7444A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69744" y="724658"/>
            <a:ext cx="5661746" cy="50398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999" y="49997"/>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4" name="Group 4"/>
          <p:cNvGrpSpPr/>
          <p:nvPr/>
        </p:nvGrpSpPr>
        <p:grpSpPr>
          <a:xfrm>
            <a:off x="12755136" y="568165"/>
            <a:ext cx="5532864" cy="9014850"/>
            <a:chOff x="0" y="0"/>
            <a:chExt cx="7377152" cy="12019800"/>
          </a:xfrm>
        </p:grpSpPr>
        <p:sp>
          <p:nvSpPr>
            <p:cNvPr id="5" name="Freeform 5"/>
            <p:cNvSpPr/>
            <p:nvPr/>
          </p:nvSpPr>
          <p:spPr>
            <a:xfrm>
              <a:off x="0" y="0"/>
              <a:ext cx="7377176" cy="12019788"/>
            </a:xfrm>
            <a:custGeom>
              <a:avLst/>
              <a:gdLst/>
              <a:ahLst/>
              <a:cxnLst/>
              <a:rect l="l" t="t" r="r" b="b"/>
              <a:pathLst>
                <a:path w="7377176" h="12019788">
                  <a:moveTo>
                    <a:pt x="0" y="0"/>
                  </a:moveTo>
                  <a:lnTo>
                    <a:pt x="7377176" y="0"/>
                  </a:lnTo>
                  <a:lnTo>
                    <a:pt x="7377176" y="12019788"/>
                  </a:lnTo>
                  <a:lnTo>
                    <a:pt x="0" y="12019788"/>
                  </a:lnTo>
                  <a:lnTo>
                    <a:pt x="0" y="0"/>
                  </a:lnTo>
                  <a:close/>
                </a:path>
              </a:pathLst>
            </a:custGeom>
            <a:blipFill>
              <a:blip r:embed="rId3"/>
              <a:stretch>
                <a:fillRect l="-41" r="-40"/>
              </a:stretch>
            </a:blipFill>
          </p:spPr>
          <p:txBody>
            <a:bodyPr/>
            <a:lstStyle/>
            <a:p>
              <a:endParaRPr lang="en-US"/>
            </a:p>
          </p:txBody>
        </p:sp>
      </p:grpSp>
      <p:sp>
        <p:nvSpPr>
          <p:cNvPr id="6" name="TextBox 6"/>
          <p:cNvSpPr txBox="1"/>
          <p:nvPr/>
        </p:nvSpPr>
        <p:spPr>
          <a:xfrm>
            <a:off x="2846784" y="1568796"/>
            <a:ext cx="10301150" cy="1228734"/>
          </a:xfrm>
          <a:prstGeom prst="rect">
            <a:avLst/>
          </a:prstGeom>
        </p:spPr>
        <p:txBody>
          <a:bodyPr lIns="0" tIns="0" rIns="0" bIns="0" rtlCol="0" anchor="t">
            <a:spAutoFit/>
          </a:bodyPr>
          <a:lstStyle/>
          <a:p>
            <a:pPr algn="l">
              <a:lnSpc>
                <a:spcPts val="8999"/>
              </a:lnSpc>
            </a:pPr>
            <a:r>
              <a:rPr lang="en-US" sz="9999" dirty="0">
                <a:solidFill>
                  <a:srgbClr val="009B0B"/>
                </a:solidFill>
                <a:latin typeface="League Gothic"/>
                <a:ea typeface="League Gothic"/>
                <a:cs typeface="League Gothic"/>
                <a:sym typeface="League Gothic"/>
              </a:rPr>
              <a:t>RESEARCH QUESTION</a:t>
            </a:r>
          </a:p>
        </p:txBody>
      </p:sp>
      <p:grpSp>
        <p:nvGrpSpPr>
          <p:cNvPr id="7" name="Group 7"/>
          <p:cNvGrpSpPr/>
          <p:nvPr/>
        </p:nvGrpSpPr>
        <p:grpSpPr>
          <a:xfrm>
            <a:off x="20999" y="9533010"/>
            <a:ext cx="3917169" cy="703984"/>
            <a:chOff x="0" y="0"/>
            <a:chExt cx="5222892" cy="938645"/>
          </a:xfrm>
        </p:grpSpPr>
        <p:sp>
          <p:nvSpPr>
            <p:cNvPr id="8" name="Freeform 8"/>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4"/>
              <a:stretch>
                <a:fillRect l="-64" r="-64" b="1"/>
              </a:stretch>
            </a:blipFill>
          </p:spPr>
          <p:txBody>
            <a:bodyPr/>
            <a:lstStyle/>
            <a:p>
              <a:endParaRPr lang="en-US"/>
            </a:p>
          </p:txBody>
        </p:sp>
      </p:grpSp>
      <p:sp>
        <p:nvSpPr>
          <p:cNvPr id="9" name="TextBox 9"/>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06</a:t>
            </a:r>
          </a:p>
        </p:txBody>
      </p:sp>
      <p:sp>
        <p:nvSpPr>
          <p:cNvPr id="10" name="TextBox 10"/>
          <p:cNvSpPr txBox="1"/>
          <p:nvPr/>
        </p:nvSpPr>
        <p:spPr>
          <a:xfrm>
            <a:off x="15201076" y="9716626"/>
            <a:ext cx="1615169" cy="389254"/>
          </a:xfrm>
          <a:prstGeom prst="rect">
            <a:avLst/>
          </a:prstGeom>
        </p:spPr>
        <p:txBody>
          <a:bodyPr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9/11/2025</a:t>
            </a:r>
          </a:p>
        </p:txBody>
      </p:sp>
      <p:sp>
        <p:nvSpPr>
          <p:cNvPr id="11" name="TextBox 11"/>
          <p:cNvSpPr txBox="1"/>
          <p:nvPr/>
        </p:nvSpPr>
        <p:spPr>
          <a:xfrm>
            <a:off x="1940117" y="4085501"/>
            <a:ext cx="10794038" cy="2215991"/>
          </a:xfrm>
          <a:prstGeom prst="rect">
            <a:avLst/>
          </a:prstGeom>
        </p:spPr>
        <p:txBody>
          <a:bodyPr wrap="square" lIns="0" tIns="0" rIns="0" bIns="0" rtlCol="0" anchor="t">
            <a:spAutoFit/>
          </a:bodyPr>
          <a:lstStyle/>
          <a:p>
            <a:r>
              <a:rPr lang="en-US" sz="3600" dirty="0"/>
              <a:t>How can an AI-powered digital marketplace improve textile waste classification, environmental impact prediction, pricing, traceability, and waste redistribution in Sri Lanka?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0894"/>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19" name="Group 19"/>
          <p:cNvGrpSpPr/>
          <p:nvPr/>
        </p:nvGrpSpPr>
        <p:grpSpPr>
          <a:xfrm>
            <a:off x="20999" y="9533010"/>
            <a:ext cx="3917169" cy="703984"/>
            <a:chOff x="0" y="0"/>
            <a:chExt cx="5222892" cy="938645"/>
          </a:xfrm>
        </p:grpSpPr>
        <p:sp>
          <p:nvSpPr>
            <p:cNvPr id="20" name="Freeform 20"/>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21" name="TextBox 21"/>
          <p:cNvSpPr txBox="1"/>
          <p:nvPr/>
        </p:nvSpPr>
        <p:spPr>
          <a:xfrm>
            <a:off x="15201076" y="9716626"/>
            <a:ext cx="1615169" cy="389254"/>
          </a:xfrm>
          <a:prstGeom prst="rect">
            <a:avLst/>
          </a:prstGeom>
        </p:spPr>
        <p:txBody>
          <a:bodyPr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9/11/2025</a:t>
            </a:r>
          </a:p>
        </p:txBody>
      </p:sp>
      <p:sp>
        <p:nvSpPr>
          <p:cNvPr id="28" name="TextBox 28"/>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07</a:t>
            </a:r>
          </a:p>
        </p:txBody>
      </p:sp>
      <p:sp>
        <p:nvSpPr>
          <p:cNvPr id="37" name="TextBox 37"/>
          <p:cNvSpPr txBox="1"/>
          <p:nvPr/>
        </p:nvSpPr>
        <p:spPr>
          <a:xfrm>
            <a:off x="1979577" y="1851715"/>
            <a:ext cx="10301150" cy="1228734"/>
          </a:xfrm>
          <a:prstGeom prst="rect">
            <a:avLst/>
          </a:prstGeom>
        </p:spPr>
        <p:txBody>
          <a:bodyPr lIns="0" tIns="0" rIns="0" bIns="0" rtlCol="0" anchor="t">
            <a:spAutoFit/>
          </a:bodyPr>
          <a:lstStyle/>
          <a:p>
            <a:pPr algn="l">
              <a:lnSpc>
                <a:spcPts val="8999"/>
              </a:lnSpc>
            </a:pPr>
            <a:r>
              <a:rPr lang="en-US" sz="9999" dirty="0">
                <a:solidFill>
                  <a:srgbClr val="009B0B"/>
                </a:solidFill>
                <a:latin typeface="League Gothic"/>
                <a:ea typeface="League Gothic"/>
                <a:cs typeface="League Gothic"/>
                <a:sym typeface="League Gothic"/>
              </a:rPr>
              <a:t>RESEARCH GAP</a:t>
            </a:r>
          </a:p>
        </p:txBody>
      </p:sp>
      <p:sp>
        <p:nvSpPr>
          <p:cNvPr id="38" name="TextBox 37">
            <a:extLst>
              <a:ext uri="{FF2B5EF4-FFF2-40B4-BE49-F238E27FC236}">
                <a16:creationId xmlns:a16="http://schemas.microsoft.com/office/drawing/2014/main" id="{4759CB93-94A2-BD95-2D7A-C4CAE08C3384}"/>
              </a:ext>
            </a:extLst>
          </p:cNvPr>
          <p:cNvSpPr txBox="1"/>
          <p:nvPr/>
        </p:nvSpPr>
        <p:spPr>
          <a:xfrm>
            <a:off x="1219200" y="3518723"/>
            <a:ext cx="16383000" cy="2516458"/>
          </a:xfrm>
          <a:prstGeom prst="rect">
            <a:avLst/>
          </a:prstGeom>
        </p:spPr>
        <p:txBody>
          <a:bodyPr wrap="square" lIns="0" tIns="0" rIns="0" bIns="0" rtlCol="0" anchor="t">
            <a:spAutoFit/>
          </a:bodyPr>
          <a:lstStyle/>
          <a:p>
            <a:pPr>
              <a:lnSpc>
                <a:spcPct val="150000"/>
              </a:lnSpc>
            </a:pPr>
            <a:r>
              <a:rPr lang="en-US" sz="2800" dirty="0">
                <a:latin typeface="Canva Sans" panose="020B0604020202020204" charset="0"/>
              </a:rPr>
              <a:t>Existing dermatological AI models rely heavily on single-modality image data and provide limited transparency in their decision-making. Many ignore relevant clinical metadata or diagnostic reports, reducing diagnostic accuracy and trustworthiness. Moreover, there is minimal work on underrepresented conditions like tinea and leprosy.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4" name="Group 4"/>
          <p:cNvGrpSpPr/>
          <p:nvPr/>
        </p:nvGrpSpPr>
        <p:grpSpPr>
          <a:xfrm>
            <a:off x="20999" y="9533010"/>
            <a:ext cx="3917169" cy="703984"/>
            <a:chOff x="0" y="0"/>
            <a:chExt cx="5222892" cy="938645"/>
          </a:xfrm>
        </p:grpSpPr>
        <p:sp>
          <p:nvSpPr>
            <p:cNvPr id="5" name="Freeform 5"/>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TextBox 7"/>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08</a:t>
            </a:r>
          </a:p>
        </p:txBody>
      </p:sp>
      <p:sp>
        <p:nvSpPr>
          <p:cNvPr id="8" name="TextBox 8"/>
          <p:cNvSpPr txBox="1"/>
          <p:nvPr/>
        </p:nvSpPr>
        <p:spPr>
          <a:xfrm>
            <a:off x="15201076" y="9716626"/>
            <a:ext cx="1615169" cy="389254"/>
          </a:xfrm>
          <a:prstGeom prst="rect">
            <a:avLst/>
          </a:prstGeom>
        </p:spPr>
        <p:txBody>
          <a:bodyPr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9/11/2025</a:t>
            </a:r>
          </a:p>
        </p:txBody>
      </p:sp>
      <p:pic>
        <p:nvPicPr>
          <p:cNvPr id="6" name="Picture 5" descr="A screen shot of a screen&#10;&#10;AI-generated content may be incorrect.">
            <a:extLst>
              <a:ext uri="{FF2B5EF4-FFF2-40B4-BE49-F238E27FC236}">
                <a16:creationId xmlns:a16="http://schemas.microsoft.com/office/drawing/2014/main" id="{08AC2314-F6FA-8E94-E69F-678982931C61}"/>
              </a:ext>
            </a:extLst>
          </p:cNvPr>
          <p:cNvPicPr>
            <a:picLocks noChangeAspect="1"/>
          </p:cNvPicPr>
          <p:nvPr/>
        </p:nvPicPr>
        <p:blipFill>
          <a:blip r:embed="rId4"/>
          <a:stretch>
            <a:fillRect/>
          </a:stretch>
        </p:blipFill>
        <p:spPr>
          <a:xfrm>
            <a:off x="1985963" y="223838"/>
            <a:ext cx="13558838" cy="90392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18605" y="1367284"/>
            <a:ext cx="6426250" cy="717798"/>
          </a:xfrm>
          <a:prstGeom prst="rect">
            <a:avLst/>
          </a:prstGeom>
          <a:noFill/>
          <a:ln/>
        </p:spPr>
        <p:txBody>
          <a:bodyPr wrap="none" lIns="0" tIns="0" rIns="0" bIns="0" rtlCol="0" anchor="t"/>
          <a:lstStyle/>
          <a:p>
            <a:pPr>
              <a:lnSpc>
                <a:spcPts val="5625"/>
              </a:lnSpc>
            </a:pPr>
            <a:r>
              <a:rPr lang="en-US" sz="4500">
                <a:solidFill>
                  <a:srgbClr val="3A3A3A"/>
                </a:solidFill>
                <a:latin typeface="Noto Serif Medium" pitchFamily="34" charset="0"/>
                <a:ea typeface="Noto Serif Medium" pitchFamily="34" charset="-122"/>
                <a:cs typeface="Noto Serif Medium" pitchFamily="34" charset="-120"/>
              </a:rPr>
              <a:t>Tools and Technologies</a:t>
            </a:r>
            <a:endParaRPr lang="en-US" sz="4500"/>
          </a:p>
        </p:txBody>
      </p:sp>
      <p:sp>
        <p:nvSpPr>
          <p:cNvPr id="5" name="Text 2"/>
          <p:cNvSpPr/>
          <p:nvPr/>
        </p:nvSpPr>
        <p:spPr>
          <a:xfrm>
            <a:off x="2821042" y="2450064"/>
            <a:ext cx="4981838" cy="4651776"/>
          </a:xfrm>
          <a:prstGeom prst="rect">
            <a:avLst/>
          </a:prstGeom>
          <a:noFill/>
          <a:ln/>
        </p:spPr>
        <p:txBody>
          <a:bodyPr wrap="none" lIns="0" tIns="0" rIns="0" bIns="0" rtlCol="0" anchor="t"/>
          <a:lstStyle/>
          <a:p>
            <a:pPr marL="342900" indent="-342900">
              <a:lnSpc>
                <a:spcPts val="2813"/>
              </a:lnSpc>
              <a:buFont typeface="Wingdings"/>
              <a:buChar char="v"/>
            </a:pPr>
            <a:r>
              <a:rPr lang="en-US" sz="2800" dirty="0">
                <a:solidFill>
                  <a:srgbClr val="4C4C4C"/>
                </a:solidFill>
                <a:latin typeface="Noto Serif Medium"/>
                <a:ea typeface="+mn-lt"/>
                <a:cs typeface="+mn-lt"/>
              </a:rPr>
              <a:t>   React.js</a:t>
            </a:r>
          </a:p>
          <a:p>
            <a:pPr marL="342900" indent="-342900">
              <a:lnSpc>
                <a:spcPts val="2813"/>
              </a:lnSpc>
              <a:buFont typeface="Wingdings"/>
              <a:buChar char="v"/>
            </a:pPr>
            <a:r>
              <a:rPr lang="en-US" sz="2800" dirty="0">
                <a:solidFill>
                  <a:srgbClr val="4C4C4C"/>
                </a:solidFill>
                <a:latin typeface="Noto Serif Medium"/>
                <a:ea typeface="+mn-lt"/>
                <a:cs typeface="+mn-lt"/>
              </a:rPr>
              <a:t>  Tailwind CSS</a:t>
            </a:r>
          </a:p>
          <a:p>
            <a:pPr marL="342900" indent="-342900">
              <a:lnSpc>
                <a:spcPts val="2813"/>
              </a:lnSpc>
              <a:buFont typeface="Wingdings"/>
              <a:buChar char="v"/>
            </a:pPr>
            <a:r>
              <a:rPr lang="en-US" sz="2800" dirty="0">
                <a:solidFill>
                  <a:srgbClr val="4C4C4C"/>
                </a:solidFill>
                <a:latin typeface="Noto Serif Medium"/>
                <a:ea typeface="+mn-lt"/>
                <a:cs typeface="+mn-lt"/>
              </a:rPr>
              <a:t>  </a:t>
            </a:r>
            <a:r>
              <a:rPr lang="en-US" sz="2800" dirty="0" err="1">
                <a:solidFill>
                  <a:srgbClr val="4C4C4C"/>
                </a:solidFill>
                <a:latin typeface="Noto Serif Medium"/>
                <a:ea typeface="+mn-lt"/>
                <a:cs typeface="+mn-lt"/>
              </a:rPr>
              <a:t>FastAPI</a:t>
            </a:r>
            <a:endParaRPr lang="en-US" sz="2800" dirty="0">
              <a:solidFill>
                <a:srgbClr val="4C4C4C"/>
              </a:solidFill>
              <a:latin typeface="Noto Serif Medium"/>
              <a:ea typeface="+mn-lt"/>
              <a:cs typeface="+mn-lt"/>
            </a:endParaRPr>
          </a:p>
          <a:p>
            <a:pPr marL="457200" indent="-457200">
              <a:buFont typeface="Wingdings"/>
              <a:buChar char="v"/>
            </a:pPr>
            <a:r>
              <a:rPr lang="en-US" sz="2800" dirty="0">
                <a:solidFill>
                  <a:srgbClr val="4C4C4C"/>
                </a:solidFill>
                <a:latin typeface="Noto Serif Medium"/>
                <a:ea typeface="Calibri"/>
                <a:cs typeface="Calibri"/>
              </a:rPr>
              <a:t>MongoDB Atlas</a:t>
            </a:r>
          </a:p>
          <a:p>
            <a:pPr marL="457200" indent="-457200">
              <a:buFont typeface="Wingdings"/>
              <a:buChar char="v"/>
            </a:pPr>
            <a:r>
              <a:rPr lang="en-US" sz="2800" dirty="0" err="1">
                <a:solidFill>
                  <a:srgbClr val="4C4C4C"/>
                </a:solidFill>
                <a:latin typeface="Noto Serif Medium"/>
                <a:ea typeface="Calibri"/>
                <a:cs typeface="Calibri"/>
              </a:rPr>
              <a:t>Axios</a:t>
            </a:r>
            <a:endParaRPr lang="en-US" sz="2800" dirty="0">
              <a:solidFill>
                <a:srgbClr val="4C4C4C"/>
              </a:solidFill>
              <a:latin typeface="Noto Serif Medium"/>
              <a:ea typeface="Calibri"/>
              <a:cs typeface="Calibri"/>
            </a:endParaRPr>
          </a:p>
          <a:p>
            <a:pPr marL="457200" indent="-457200">
              <a:buFont typeface="Wingdings"/>
              <a:buChar char="v"/>
            </a:pPr>
            <a:r>
              <a:rPr lang="en-US" sz="2800" dirty="0">
                <a:solidFill>
                  <a:srgbClr val="4C4C4C"/>
                </a:solidFill>
                <a:latin typeface="Noto Serif Medium"/>
                <a:ea typeface="Calibri"/>
                <a:cs typeface="Calibri"/>
              </a:rPr>
              <a:t>Python</a:t>
            </a:r>
          </a:p>
          <a:p>
            <a:pPr marL="457200" indent="-457200">
              <a:buFont typeface="Wingdings"/>
              <a:buChar char="v"/>
            </a:pPr>
            <a:r>
              <a:rPr lang="en-US" sz="2800" dirty="0">
                <a:solidFill>
                  <a:srgbClr val="4C4C4C"/>
                </a:solidFill>
                <a:latin typeface="Noto Serif Medium"/>
                <a:ea typeface="Calibri"/>
                <a:cs typeface="Calibri"/>
              </a:rPr>
              <a:t>Scikit-learn</a:t>
            </a:r>
          </a:p>
          <a:p>
            <a:pPr marL="457200" indent="-457200">
              <a:buFont typeface="Wingdings"/>
              <a:buChar char="v"/>
            </a:pPr>
            <a:r>
              <a:rPr lang="en-US" sz="2800" dirty="0">
                <a:solidFill>
                  <a:srgbClr val="4C4C4C"/>
                </a:solidFill>
                <a:latin typeface="Noto Serif Medium"/>
                <a:ea typeface="Calibri"/>
                <a:cs typeface="Calibri"/>
              </a:rPr>
              <a:t>Random Forest Algorithm</a:t>
            </a:r>
          </a:p>
          <a:p>
            <a:pPr marL="457200" indent="-457200">
              <a:buFont typeface="Wingdings"/>
              <a:buChar char="v"/>
            </a:pPr>
            <a:r>
              <a:rPr lang="en-US" sz="2800" dirty="0">
                <a:solidFill>
                  <a:srgbClr val="4C4C4C"/>
                </a:solidFill>
                <a:latin typeface="Noto Serif Medium"/>
                <a:ea typeface="Calibri"/>
                <a:cs typeface="Calibri"/>
              </a:rPr>
              <a:t>Git &amp; GitHub</a:t>
            </a:r>
          </a:p>
          <a:p>
            <a:pPr marL="457200" indent="-457200">
              <a:buFont typeface="Wingdings"/>
              <a:buChar char="v"/>
            </a:pPr>
            <a:r>
              <a:rPr lang="en-US" sz="2800" dirty="0" err="1">
                <a:solidFill>
                  <a:srgbClr val="4C4C4C"/>
                </a:solidFill>
                <a:latin typeface="Noto Serif Medium"/>
                <a:ea typeface="Calibri"/>
                <a:cs typeface="Calibri"/>
              </a:rPr>
              <a:t>Vite</a:t>
            </a:r>
            <a:endParaRPr lang="en-US" sz="2800" dirty="0">
              <a:solidFill>
                <a:srgbClr val="4C4C4C"/>
              </a:solidFill>
              <a:latin typeface="Noto Serif Medium"/>
              <a:ea typeface="Calibri"/>
              <a:cs typeface="Calibri"/>
            </a:endParaRPr>
          </a:p>
          <a:p>
            <a:pPr marL="457200" indent="-457200">
              <a:buFont typeface="Wingdings"/>
              <a:buChar char="v"/>
            </a:pPr>
            <a:r>
              <a:rPr lang="en-US" sz="2800" dirty="0">
                <a:solidFill>
                  <a:srgbClr val="4C4C4C"/>
                </a:solidFill>
                <a:latin typeface="Noto Serif Medium"/>
                <a:ea typeface="Calibri"/>
                <a:cs typeface="Calibri"/>
              </a:rPr>
              <a:t>Postman</a:t>
            </a:r>
          </a:p>
          <a:p>
            <a:br>
              <a:rPr lang="en-US" dirty="0"/>
            </a:br>
            <a:endParaRPr lang="en-US" dirty="0">
              <a:ea typeface="Calibri"/>
              <a:cs typeface="Calibri"/>
            </a:endParaRPr>
          </a:p>
        </p:txBody>
      </p:sp>
      <p:sp>
        <p:nvSpPr>
          <p:cNvPr id="19" name="Freeform 11">
            <a:extLst>
              <a:ext uri="{FF2B5EF4-FFF2-40B4-BE49-F238E27FC236}">
                <a16:creationId xmlns:a16="http://schemas.microsoft.com/office/drawing/2014/main" id="{3E68CF24-F1B0-9115-CDD0-5E82C9DAB3D6}"/>
              </a:ext>
            </a:extLst>
          </p:cNvPr>
          <p:cNvSpPr/>
          <p:nvPr/>
        </p:nvSpPr>
        <p:spPr>
          <a:xfrm>
            <a:off x="14959712" y="7701810"/>
            <a:ext cx="1874196" cy="1874196"/>
          </a:xfrm>
          <a:custGeom>
            <a:avLst/>
            <a:gdLst/>
            <a:ahLst/>
            <a:cxnLst/>
            <a:rect l="l" t="t" r="r" b="b"/>
            <a:pathLst>
              <a:path w="1874196" h="1874196">
                <a:moveTo>
                  <a:pt x="0" y="0"/>
                </a:moveTo>
                <a:lnTo>
                  <a:pt x="1874196" y="0"/>
                </a:lnTo>
                <a:lnTo>
                  <a:pt x="1874196" y="1874196"/>
                </a:lnTo>
                <a:lnTo>
                  <a:pt x="0" y="1874196"/>
                </a:lnTo>
                <a:lnTo>
                  <a:pt x="0" y="0"/>
                </a:lnTo>
                <a:close/>
              </a:path>
            </a:pathLst>
          </a:custGeom>
          <a:blipFill>
            <a:blip r:embed="rId3"/>
            <a:stretch>
              <a:fillRect/>
            </a:stretch>
          </a:blipFill>
        </p:spPr>
        <p:txBody>
          <a:bodyPr/>
          <a:lstStyle/>
          <a:p>
            <a:endParaRPr lang="en-US"/>
          </a:p>
        </p:txBody>
      </p:sp>
      <p:sp>
        <p:nvSpPr>
          <p:cNvPr id="20" name="Freeform 10">
            <a:extLst>
              <a:ext uri="{FF2B5EF4-FFF2-40B4-BE49-F238E27FC236}">
                <a16:creationId xmlns:a16="http://schemas.microsoft.com/office/drawing/2014/main" id="{A5243DF0-157F-1A42-6BF8-CCBBCACDBF0D}"/>
              </a:ext>
            </a:extLst>
          </p:cNvPr>
          <p:cNvSpPr/>
          <p:nvPr/>
        </p:nvSpPr>
        <p:spPr>
          <a:xfrm>
            <a:off x="9104237" y="8402673"/>
            <a:ext cx="2409136" cy="1607987"/>
          </a:xfrm>
          <a:custGeom>
            <a:avLst/>
            <a:gdLst/>
            <a:ahLst/>
            <a:cxnLst/>
            <a:rect l="l" t="t" r="r" b="b"/>
            <a:pathLst>
              <a:path w="2409136" h="1607987">
                <a:moveTo>
                  <a:pt x="0" y="0"/>
                </a:moveTo>
                <a:lnTo>
                  <a:pt x="2409136" y="0"/>
                </a:lnTo>
                <a:lnTo>
                  <a:pt x="2409136" y="1607986"/>
                </a:lnTo>
                <a:lnTo>
                  <a:pt x="0" y="1607986"/>
                </a:lnTo>
                <a:lnTo>
                  <a:pt x="0" y="0"/>
                </a:lnTo>
                <a:close/>
              </a:path>
            </a:pathLst>
          </a:custGeom>
          <a:blipFill>
            <a:blip r:embed="rId4"/>
            <a:stretch>
              <a:fillRect l="-792" r="-792"/>
            </a:stretch>
          </a:blipFill>
        </p:spPr>
        <p:txBody>
          <a:bodyPr/>
          <a:lstStyle/>
          <a:p>
            <a:endParaRPr lang="en-US"/>
          </a:p>
        </p:txBody>
      </p:sp>
      <p:sp>
        <p:nvSpPr>
          <p:cNvPr id="21" name="Freeform 12">
            <a:extLst>
              <a:ext uri="{FF2B5EF4-FFF2-40B4-BE49-F238E27FC236}">
                <a16:creationId xmlns:a16="http://schemas.microsoft.com/office/drawing/2014/main" id="{6874ED5F-3165-701F-281B-0DA26488DDE0}"/>
              </a:ext>
            </a:extLst>
          </p:cNvPr>
          <p:cNvSpPr/>
          <p:nvPr/>
        </p:nvSpPr>
        <p:spPr>
          <a:xfrm>
            <a:off x="11506200" y="7423130"/>
            <a:ext cx="2743768" cy="1962103"/>
          </a:xfrm>
          <a:custGeom>
            <a:avLst/>
            <a:gdLst/>
            <a:ahLst/>
            <a:cxnLst/>
            <a:rect l="l" t="t" r="r" b="b"/>
            <a:pathLst>
              <a:path w="2743768" h="1962103">
                <a:moveTo>
                  <a:pt x="0" y="0"/>
                </a:moveTo>
                <a:lnTo>
                  <a:pt x="2743768" y="0"/>
                </a:lnTo>
                <a:lnTo>
                  <a:pt x="2743768" y="1962103"/>
                </a:lnTo>
                <a:lnTo>
                  <a:pt x="0" y="1962103"/>
                </a:lnTo>
                <a:lnTo>
                  <a:pt x="0" y="0"/>
                </a:lnTo>
                <a:close/>
              </a:path>
            </a:pathLst>
          </a:custGeom>
          <a:blipFill>
            <a:blip r:embed="rId5"/>
            <a:stretch>
              <a:fillRect l="-4419" r="-4419"/>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4" name="Freeform 4"/>
          <p:cNvSpPr/>
          <p:nvPr/>
        </p:nvSpPr>
        <p:spPr>
          <a:xfrm>
            <a:off x="11871741" y="2090053"/>
            <a:ext cx="5367312" cy="5367312"/>
          </a:xfrm>
          <a:custGeom>
            <a:avLst/>
            <a:gdLst/>
            <a:ahLst/>
            <a:cxnLst/>
            <a:rect l="l" t="t" r="r" b="b"/>
            <a:pathLst>
              <a:path w="5367312" h="5367312">
                <a:moveTo>
                  <a:pt x="0" y="0"/>
                </a:moveTo>
                <a:lnTo>
                  <a:pt x="5367312" y="0"/>
                </a:lnTo>
                <a:lnTo>
                  <a:pt x="5367312" y="5367311"/>
                </a:lnTo>
                <a:lnTo>
                  <a:pt x="0" y="53673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2106671" y="2324983"/>
            <a:ext cx="4897452" cy="4897452"/>
          </a:xfrm>
          <a:custGeom>
            <a:avLst/>
            <a:gdLst/>
            <a:ahLst/>
            <a:cxnLst/>
            <a:rect l="l" t="t" r="r" b="b"/>
            <a:pathLst>
              <a:path w="4897452" h="4897452">
                <a:moveTo>
                  <a:pt x="0" y="0"/>
                </a:moveTo>
                <a:lnTo>
                  <a:pt x="4897452" y="0"/>
                </a:lnTo>
                <a:lnTo>
                  <a:pt x="4897452" y="4897451"/>
                </a:lnTo>
                <a:lnTo>
                  <a:pt x="0" y="48974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2244300" y="2389937"/>
            <a:ext cx="4767543" cy="4767543"/>
          </a:xfrm>
          <a:custGeom>
            <a:avLst/>
            <a:gdLst/>
            <a:ahLst/>
            <a:cxnLst/>
            <a:rect l="l" t="t" r="r" b="b"/>
            <a:pathLst>
              <a:path w="4767543" h="4767543">
                <a:moveTo>
                  <a:pt x="0" y="0"/>
                </a:moveTo>
                <a:lnTo>
                  <a:pt x="4767544" y="0"/>
                </a:lnTo>
                <a:lnTo>
                  <a:pt x="4767544" y="4767543"/>
                </a:lnTo>
                <a:lnTo>
                  <a:pt x="0" y="47675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2289757" y="2595654"/>
            <a:ext cx="4571091" cy="4356111"/>
          </a:xfrm>
          <a:custGeom>
            <a:avLst/>
            <a:gdLst/>
            <a:ahLst/>
            <a:cxnLst/>
            <a:rect l="l" t="t" r="r" b="b"/>
            <a:pathLst>
              <a:path w="4571091" h="4356111">
                <a:moveTo>
                  <a:pt x="0" y="0"/>
                </a:moveTo>
                <a:lnTo>
                  <a:pt x="4571091" y="0"/>
                </a:lnTo>
                <a:lnTo>
                  <a:pt x="4571091" y="4356111"/>
                </a:lnTo>
                <a:lnTo>
                  <a:pt x="0" y="435611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rot="-10800000">
            <a:off x="14555397" y="1297517"/>
            <a:ext cx="3458417" cy="6916834"/>
          </a:xfrm>
          <a:custGeom>
            <a:avLst/>
            <a:gdLst/>
            <a:ahLst/>
            <a:cxnLst/>
            <a:rect l="l" t="t" r="r" b="b"/>
            <a:pathLst>
              <a:path w="3458417" h="6916834">
                <a:moveTo>
                  <a:pt x="0" y="0"/>
                </a:moveTo>
                <a:lnTo>
                  <a:pt x="3458417" y="0"/>
                </a:lnTo>
                <a:lnTo>
                  <a:pt x="3458417" y="6916834"/>
                </a:lnTo>
                <a:lnTo>
                  <a:pt x="0" y="6916834"/>
                </a:lnTo>
                <a:lnTo>
                  <a:pt x="0" y="0"/>
                </a:lnTo>
                <a:close/>
              </a:path>
            </a:pathLst>
          </a:custGeom>
          <a:blipFill>
            <a:blip>
              <a:extLst>
                <a:ext uri="{96DAC541-7B7A-43D3-8B79-37D633B846F1}">
                  <asvg:svgBlip xmlns:asvg="http://schemas.microsoft.com/office/drawing/2016/SVG/main" r:embed="rId6"/>
                </a:ext>
              </a:extLst>
            </a:blip>
            <a:stretch>
              <a:fillRect l="-68" r="-68"/>
            </a:stretch>
          </a:blipFill>
        </p:spPr>
        <p:txBody>
          <a:bodyPr/>
          <a:lstStyle/>
          <a:p>
            <a:endParaRPr lang="en-US"/>
          </a:p>
        </p:txBody>
      </p:sp>
      <p:grpSp>
        <p:nvGrpSpPr>
          <p:cNvPr id="11" name="Group 11"/>
          <p:cNvGrpSpPr/>
          <p:nvPr/>
        </p:nvGrpSpPr>
        <p:grpSpPr>
          <a:xfrm>
            <a:off x="0" y="9583016"/>
            <a:ext cx="3917169" cy="703984"/>
            <a:chOff x="0" y="0"/>
            <a:chExt cx="5222892" cy="938645"/>
          </a:xfrm>
        </p:grpSpPr>
        <p:sp>
          <p:nvSpPr>
            <p:cNvPr id="12" name="Freeform 12"/>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7"/>
              <a:stretch>
                <a:fillRect l="-64" r="-64" b="1"/>
              </a:stretch>
            </a:blipFill>
          </p:spPr>
          <p:txBody>
            <a:bodyPr/>
            <a:lstStyle/>
            <a:p>
              <a:endParaRPr lang="en-US"/>
            </a:p>
          </p:txBody>
        </p:sp>
      </p:grpSp>
      <p:sp>
        <p:nvSpPr>
          <p:cNvPr id="14" name="TextBox 14"/>
          <p:cNvSpPr txBox="1"/>
          <p:nvPr/>
        </p:nvSpPr>
        <p:spPr>
          <a:xfrm>
            <a:off x="667728" y="2816256"/>
            <a:ext cx="6913505" cy="1282065"/>
          </a:xfrm>
          <a:prstGeom prst="rect">
            <a:avLst/>
          </a:prstGeom>
        </p:spPr>
        <p:txBody>
          <a:bodyPr lIns="0" tIns="0" rIns="0" bIns="0" rtlCol="0" anchor="t">
            <a:spAutoFit/>
          </a:bodyPr>
          <a:lstStyle/>
          <a:p>
            <a:pPr algn="l">
              <a:lnSpc>
                <a:spcPts val="9360"/>
              </a:lnSpc>
            </a:pPr>
            <a:r>
              <a:rPr lang="en-US" sz="10400" spc="208">
                <a:solidFill>
                  <a:srgbClr val="50616C"/>
                </a:solidFill>
                <a:latin typeface="League Gothic"/>
                <a:ea typeface="League Gothic"/>
                <a:cs typeface="League Gothic"/>
                <a:sym typeface="League Gothic"/>
              </a:rPr>
              <a:t>IT22281814</a:t>
            </a:r>
          </a:p>
        </p:txBody>
      </p:sp>
      <p:sp>
        <p:nvSpPr>
          <p:cNvPr id="15" name="TextBox 15"/>
          <p:cNvSpPr txBox="1"/>
          <p:nvPr/>
        </p:nvSpPr>
        <p:spPr>
          <a:xfrm>
            <a:off x="667728" y="4321362"/>
            <a:ext cx="6440871" cy="432435"/>
          </a:xfrm>
          <a:prstGeom prst="rect">
            <a:avLst/>
          </a:prstGeom>
        </p:spPr>
        <p:txBody>
          <a:bodyPr lIns="0" tIns="0" rIns="0" bIns="0" rtlCol="0" anchor="t">
            <a:spAutoFit/>
          </a:bodyPr>
          <a:lstStyle/>
          <a:p>
            <a:pPr algn="l">
              <a:lnSpc>
                <a:spcPts val="3600"/>
              </a:lnSpc>
            </a:pPr>
            <a:r>
              <a:rPr lang="en-US" sz="2400" b="1">
                <a:solidFill>
                  <a:srgbClr val="50616C"/>
                </a:solidFill>
                <a:latin typeface="Open Sans Bold"/>
                <a:ea typeface="Open Sans Bold"/>
                <a:cs typeface="Open Sans Bold"/>
                <a:sym typeface="Open Sans Bold"/>
              </a:rPr>
              <a:t>Specialization - Information Technology</a:t>
            </a:r>
          </a:p>
        </p:txBody>
      </p:sp>
      <p:sp>
        <p:nvSpPr>
          <p:cNvPr id="16" name="TextBox 16"/>
          <p:cNvSpPr txBox="1"/>
          <p:nvPr/>
        </p:nvSpPr>
        <p:spPr>
          <a:xfrm>
            <a:off x="667728" y="1359487"/>
            <a:ext cx="11211835" cy="1458927"/>
          </a:xfrm>
          <a:prstGeom prst="rect">
            <a:avLst/>
          </a:prstGeom>
        </p:spPr>
        <p:txBody>
          <a:bodyPr lIns="0" tIns="0" rIns="0" bIns="0" rtlCol="0" anchor="t">
            <a:spAutoFit/>
          </a:bodyPr>
          <a:lstStyle/>
          <a:p>
            <a:pPr algn="just">
              <a:lnSpc>
                <a:spcPts val="10612"/>
              </a:lnSpc>
            </a:pPr>
            <a:r>
              <a:rPr lang="en-US" sz="11750" spc="235" err="1">
                <a:solidFill>
                  <a:srgbClr val="009B0B"/>
                </a:solidFill>
                <a:latin typeface="League Gothic"/>
                <a:ea typeface="League Gothic"/>
                <a:cs typeface="League Gothic"/>
              </a:rPr>
              <a:t>Sandeepa</a:t>
            </a:r>
            <a:r>
              <a:rPr lang="en-US" sz="11750" spc="235">
                <a:solidFill>
                  <a:srgbClr val="009B0B"/>
                </a:solidFill>
                <a:latin typeface="League Gothic"/>
                <a:ea typeface="League Gothic"/>
                <a:cs typeface="League Gothic"/>
              </a:rPr>
              <a:t> S.A.C.</a:t>
            </a:r>
          </a:p>
        </p:txBody>
      </p:sp>
      <p:sp>
        <p:nvSpPr>
          <p:cNvPr id="17" name="TextBox 17"/>
          <p:cNvSpPr txBox="1"/>
          <p:nvPr/>
        </p:nvSpPr>
        <p:spPr>
          <a:xfrm>
            <a:off x="281055" y="5477474"/>
            <a:ext cx="11049305" cy="1329082"/>
          </a:xfrm>
          <a:prstGeom prst="rect">
            <a:avLst/>
          </a:prstGeom>
        </p:spPr>
        <p:txBody>
          <a:bodyPr wrap="square" lIns="0" tIns="0" rIns="0" bIns="0" rtlCol="0" anchor="t">
            <a:spAutoFit/>
          </a:bodyPr>
          <a:lstStyle/>
          <a:p>
            <a:pPr>
              <a:lnSpc>
                <a:spcPts val="5114"/>
              </a:lnSpc>
            </a:pPr>
            <a:r>
              <a:rPr lang="en-US" sz="5450" i="1">
                <a:solidFill>
                  <a:srgbClr val="009B0B">
                    <a:alpha val="69804"/>
                  </a:srgbClr>
                </a:solidFill>
                <a:ea typeface="+mn-lt"/>
                <a:cs typeface="+mn-lt"/>
                <a:sym typeface="Archivo Black"/>
              </a:rPr>
              <a:t>AI-Powered Fabric Inspection &amp; Damage Detection System</a:t>
            </a:r>
            <a:endParaRPr lang="en-US">
              <a:ea typeface="+mn-lt"/>
              <a:cs typeface="+mn-lt"/>
            </a:endParaRPr>
          </a:p>
        </p:txBody>
      </p:sp>
      <p:sp>
        <p:nvSpPr>
          <p:cNvPr id="18" name="TextBox 18"/>
          <p:cNvSpPr txBox="1"/>
          <p:nvPr/>
        </p:nvSpPr>
        <p:spPr>
          <a:xfrm>
            <a:off x="4544080" y="9614703"/>
            <a:ext cx="9267378" cy="794320"/>
          </a:xfrm>
          <a:prstGeom prst="rect">
            <a:avLst/>
          </a:prstGeom>
        </p:spPr>
        <p:txBody>
          <a:bodyPr wrap="square"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IT22281814| </a:t>
            </a:r>
            <a:r>
              <a:rPr lang="en-US" sz="2300" err="1">
                <a:solidFill>
                  <a:srgbClr val="000000"/>
                </a:solidFill>
                <a:latin typeface="Canva Sans"/>
                <a:ea typeface="Canva Sans"/>
                <a:cs typeface="Canva Sans"/>
                <a:sym typeface="Canva Sans"/>
              </a:rPr>
              <a:t>Sandeepa</a:t>
            </a:r>
            <a:r>
              <a:rPr lang="en-US" sz="2300">
                <a:solidFill>
                  <a:srgbClr val="000000"/>
                </a:solidFill>
                <a:latin typeface="Canva Sans"/>
                <a:ea typeface="Canva Sans"/>
                <a:cs typeface="Canva Sans"/>
                <a:sym typeface="Canva Sans"/>
              </a:rPr>
              <a:t> S.A.C. | </a:t>
            </a:r>
            <a:r>
              <a:rPr lang="en-US" sz="2300">
                <a:solidFill>
                  <a:srgbClr val="000000"/>
                </a:solidFill>
                <a:latin typeface="Canva Sans"/>
                <a:ea typeface="Canva Sans"/>
                <a:cs typeface="Poppins"/>
                <a:sym typeface="Canva Sans"/>
              </a:rPr>
              <a:t>Project ID: R26-IT-081</a:t>
            </a:r>
            <a:endParaRPr lang="en-US" sz="2300">
              <a:solidFill>
                <a:srgbClr val="000000"/>
              </a:solidFill>
              <a:latin typeface="Canva Sans"/>
              <a:ea typeface="Canva Sans"/>
              <a:cs typeface="Poppins"/>
            </a:endParaRPr>
          </a:p>
          <a:p>
            <a:pPr algn="ctr">
              <a:lnSpc>
                <a:spcPts val="3220"/>
              </a:lnSpc>
            </a:pPr>
            <a:endParaRPr lang="en-US" sz="2300">
              <a:latin typeface="Canva Sans"/>
            </a:endParaRPr>
          </a:p>
        </p:txBody>
      </p:sp>
      <p:sp>
        <p:nvSpPr>
          <p:cNvPr id="19" name="TextBox 19"/>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dirty="0">
                <a:solidFill>
                  <a:srgbClr val="000000"/>
                </a:solidFill>
                <a:latin typeface="Canva Sans Bold"/>
                <a:ea typeface="Canva Sans Bold"/>
                <a:cs typeface="Canva Sans Bold"/>
                <a:sym typeface="Canva Sans Bold"/>
              </a:rPr>
              <a:t>10</a:t>
            </a:r>
          </a:p>
        </p:txBody>
      </p:sp>
      <p:pic>
        <p:nvPicPr>
          <p:cNvPr id="13" name="Picture 12" descr="A person in a black suit&#10;&#10;AI-generated content may be incorrect.">
            <a:extLst>
              <a:ext uri="{FF2B5EF4-FFF2-40B4-BE49-F238E27FC236}">
                <a16:creationId xmlns:a16="http://schemas.microsoft.com/office/drawing/2014/main" id="{0919DE20-BF08-BDBF-5A4B-D575FDEC8F39}"/>
              </a:ext>
            </a:extLst>
          </p:cNvPr>
          <p:cNvPicPr>
            <a:picLocks noChangeAspect="1"/>
          </p:cNvPicPr>
          <p:nvPr/>
        </p:nvPicPr>
        <p:blipFill>
          <a:blip r:embed="rId8"/>
          <a:stretch>
            <a:fillRect/>
          </a:stretch>
        </p:blipFill>
        <p:spPr>
          <a:xfrm>
            <a:off x="12170105" y="2425273"/>
            <a:ext cx="4742196" cy="469027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999" y="0"/>
            <a:ext cx="18288000" cy="10287000"/>
            <a:chOff x="0" y="-749145"/>
            <a:chExt cx="24384000" cy="13716000"/>
          </a:xfrm>
        </p:grpSpPr>
        <p:sp>
          <p:nvSpPr>
            <p:cNvPr id="3" name="Freeform 3"/>
            <p:cNvSpPr/>
            <p:nvPr/>
          </p:nvSpPr>
          <p:spPr>
            <a:xfrm>
              <a:off x="0" y="-749145"/>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4" name="Group 4"/>
          <p:cNvGrpSpPr/>
          <p:nvPr/>
        </p:nvGrpSpPr>
        <p:grpSpPr>
          <a:xfrm>
            <a:off x="20999" y="9533010"/>
            <a:ext cx="3917169" cy="703984"/>
            <a:chOff x="0" y="0"/>
            <a:chExt cx="5222892" cy="938645"/>
          </a:xfrm>
        </p:grpSpPr>
        <p:sp>
          <p:nvSpPr>
            <p:cNvPr id="5" name="Freeform 5"/>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Freeform 7"/>
          <p:cNvSpPr/>
          <p:nvPr/>
        </p:nvSpPr>
        <p:spPr>
          <a:xfrm rot="2478992">
            <a:off x="1216499" y="2044731"/>
            <a:ext cx="4043219" cy="3954064"/>
          </a:xfrm>
          <a:custGeom>
            <a:avLst/>
            <a:gdLst/>
            <a:ahLst/>
            <a:cxnLst/>
            <a:rect l="l" t="t" r="r" b="b"/>
            <a:pathLst>
              <a:path w="4043219" h="3954064">
                <a:moveTo>
                  <a:pt x="0" y="0"/>
                </a:moveTo>
                <a:lnTo>
                  <a:pt x="4043219" y="0"/>
                </a:lnTo>
                <a:lnTo>
                  <a:pt x="4043219" y="3954064"/>
                </a:lnTo>
                <a:lnTo>
                  <a:pt x="0" y="39540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rot="2700000">
            <a:off x="1321932" y="6149915"/>
            <a:ext cx="3832353" cy="3747848"/>
          </a:xfrm>
          <a:custGeom>
            <a:avLst/>
            <a:gdLst/>
            <a:ahLst/>
            <a:cxnLst/>
            <a:rect l="l" t="t" r="r" b="b"/>
            <a:pathLst>
              <a:path w="3832353" h="3747848">
                <a:moveTo>
                  <a:pt x="0" y="0"/>
                </a:moveTo>
                <a:lnTo>
                  <a:pt x="3832353" y="0"/>
                </a:lnTo>
                <a:lnTo>
                  <a:pt x="3832353" y="3747847"/>
                </a:lnTo>
                <a:lnTo>
                  <a:pt x="0" y="37478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rot="2478992">
            <a:off x="13170596" y="2280913"/>
            <a:ext cx="3411897" cy="3336663"/>
          </a:xfrm>
          <a:custGeom>
            <a:avLst/>
            <a:gdLst/>
            <a:ahLst/>
            <a:cxnLst/>
            <a:rect l="l" t="t" r="r" b="b"/>
            <a:pathLst>
              <a:path w="3411897" h="3336663">
                <a:moveTo>
                  <a:pt x="0" y="0"/>
                </a:moveTo>
                <a:lnTo>
                  <a:pt x="3411896" y="0"/>
                </a:lnTo>
                <a:lnTo>
                  <a:pt x="3411896" y="3336662"/>
                </a:lnTo>
                <a:lnTo>
                  <a:pt x="0" y="33366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rot="2478992">
            <a:off x="13036931" y="6046807"/>
            <a:ext cx="4043219" cy="3954064"/>
          </a:xfrm>
          <a:custGeom>
            <a:avLst/>
            <a:gdLst/>
            <a:ahLst/>
            <a:cxnLst/>
            <a:rect l="l" t="t" r="r" b="b"/>
            <a:pathLst>
              <a:path w="4043219" h="3954064">
                <a:moveTo>
                  <a:pt x="0" y="0"/>
                </a:moveTo>
                <a:lnTo>
                  <a:pt x="4043219" y="0"/>
                </a:lnTo>
                <a:lnTo>
                  <a:pt x="4043219" y="3954063"/>
                </a:lnTo>
                <a:lnTo>
                  <a:pt x="0" y="395406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TextBox 17"/>
          <p:cNvSpPr txBox="1"/>
          <p:nvPr/>
        </p:nvSpPr>
        <p:spPr>
          <a:xfrm>
            <a:off x="725014" y="2912639"/>
            <a:ext cx="7598810" cy="5330883"/>
          </a:xfrm>
          <a:prstGeom prst="rect">
            <a:avLst/>
          </a:prstGeom>
        </p:spPr>
        <p:txBody>
          <a:bodyPr wrap="square" lIns="0" tIns="0" rIns="0" bIns="0" rtlCol="0" anchor="t">
            <a:spAutoFit/>
          </a:bodyPr>
          <a:lstStyle/>
          <a:p>
            <a:pPr>
              <a:lnSpc>
                <a:spcPts val="4199"/>
              </a:lnSpc>
            </a:pPr>
            <a:r>
              <a:rPr lang="en-US" sz="2400" spc="-72" dirty="0">
                <a:solidFill>
                  <a:srgbClr val="000000"/>
                </a:solidFill>
                <a:latin typeface="Canva Sans"/>
                <a:ea typeface="Canva Sans"/>
                <a:cs typeface="Canva Sans"/>
                <a:sym typeface="Canva Sans"/>
              </a:rPr>
              <a:t>The Fabric Intelligence Module is an AI-based system developed to automate fabric inspection using Deep Learning and Computer Vision.</a:t>
            </a:r>
          </a:p>
          <a:p>
            <a:pPr>
              <a:lnSpc>
                <a:spcPts val="4199"/>
              </a:lnSpc>
            </a:pPr>
            <a:r>
              <a:rPr lang="en-US" sz="2400" b="1" spc="-72" dirty="0">
                <a:solidFill>
                  <a:srgbClr val="000000"/>
                </a:solidFill>
                <a:latin typeface="Canva Sans"/>
                <a:ea typeface="Canva Sans"/>
                <a:cs typeface="Canva Sans"/>
                <a:sym typeface="Canva Sans"/>
              </a:rPr>
              <a:t>The system can:</a:t>
            </a:r>
          </a:p>
          <a:p>
            <a:pPr marL="914400" lvl="1" indent="-457200">
              <a:lnSpc>
                <a:spcPts val="4199"/>
              </a:lnSpc>
              <a:buFont typeface="Arial" panose="020B0604020202020204" pitchFamily="34" charset="0"/>
              <a:buChar char="•"/>
            </a:pPr>
            <a:r>
              <a:rPr lang="en-US" sz="2400" spc="-72" dirty="0">
                <a:solidFill>
                  <a:srgbClr val="000000"/>
                </a:solidFill>
                <a:latin typeface="Canva Sans"/>
                <a:ea typeface="Canva Sans"/>
                <a:cs typeface="Canva Sans"/>
                <a:sym typeface="Canva Sans"/>
              </a:rPr>
              <a:t>Identify fabric types</a:t>
            </a:r>
          </a:p>
          <a:p>
            <a:pPr marL="914400" lvl="1" indent="-457200">
              <a:lnSpc>
                <a:spcPts val="4199"/>
              </a:lnSpc>
              <a:buFont typeface="Arial" panose="020B0604020202020204" pitchFamily="34" charset="0"/>
              <a:buChar char="•"/>
            </a:pPr>
            <a:r>
              <a:rPr lang="en-US" sz="2400" spc="-72" dirty="0">
                <a:solidFill>
                  <a:srgbClr val="000000"/>
                </a:solidFill>
                <a:latin typeface="Canva Sans"/>
                <a:ea typeface="Canva Sans"/>
                <a:cs typeface="Canva Sans"/>
                <a:sym typeface="Canva Sans"/>
              </a:rPr>
              <a:t>Detect fabric damages</a:t>
            </a:r>
          </a:p>
          <a:p>
            <a:pPr marL="914400" lvl="1" indent="-457200">
              <a:lnSpc>
                <a:spcPts val="4199"/>
              </a:lnSpc>
              <a:buFont typeface="Arial" panose="020B0604020202020204" pitchFamily="34" charset="0"/>
              <a:buChar char="•"/>
            </a:pPr>
            <a:r>
              <a:rPr lang="en-US" sz="2400" spc="-72" dirty="0">
                <a:solidFill>
                  <a:srgbClr val="000000"/>
                </a:solidFill>
                <a:latin typeface="Canva Sans"/>
                <a:ea typeface="Canva Sans"/>
                <a:cs typeface="Canva Sans"/>
                <a:sym typeface="Canva Sans"/>
              </a:rPr>
              <a:t>Classify fabrics as Good or Defective</a:t>
            </a:r>
          </a:p>
          <a:p>
            <a:pPr marL="457200" indent="-457200">
              <a:lnSpc>
                <a:spcPts val="4199"/>
              </a:lnSpc>
              <a:buFont typeface="Wingdings" pitchFamily="2" charset="2"/>
              <a:buChar char="v"/>
            </a:pPr>
            <a:endParaRPr lang="en-US" sz="2400" spc="-72" dirty="0">
              <a:solidFill>
                <a:srgbClr val="000000"/>
              </a:solidFill>
              <a:latin typeface="Canva Sans"/>
              <a:ea typeface="Canva Sans"/>
              <a:cs typeface="Canva Sans"/>
              <a:sym typeface="Canva Sans"/>
            </a:endParaRPr>
          </a:p>
          <a:p>
            <a:pPr marL="342900" indent="-342900">
              <a:lnSpc>
                <a:spcPts val="4199"/>
              </a:lnSpc>
              <a:buFont typeface="Wingdings" panose="05000000000000000000" pitchFamily="2" charset="2"/>
              <a:buChar char="ü"/>
            </a:pPr>
            <a:r>
              <a:rPr lang="en-US" sz="2400" spc="-72" dirty="0">
                <a:solidFill>
                  <a:srgbClr val="000000"/>
                </a:solidFill>
                <a:latin typeface="Canva Sans"/>
                <a:ea typeface="Canva Sans"/>
                <a:cs typeface="Canva Sans"/>
                <a:sym typeface="Canva Sans"/>
              </a:rPr>
              <a:t>Improves textile quality inspection accuracy</a:t>
            </a:r>
          </a:p>
          <a:p>
            <a:pPr marL="342900" indent="-342900">
              <a:lnSpc>
                <a:spcPts val="4199"/>
              </a:lnSpc>
              <a:buFont typeface="Wingdings" panose="05000000000000000000" pitchFamily="2" charset="2"/>
              <a:buChar char="ü"/>
            </a:pPr>
            <a:r>
              <a:rPr lang="en-US" sz="2400" spc="-72" dirty="0">
                <a:solidFill>
                  <a:srgbClr val="000000"/>
                </a:solidFill>
                <a:latin typeface="Canva Sans"/>
                <a:ea typeface="Canva Sans"/>
                <a:cs typeface="Canva Sans"/>
                <a:sym typeface="Canva Sans"/>
              </a:rPr>
              <a:t>Reduces manual effort</a:t>
            </a:r>
            <a:endParaRPr lang="en-GB" sz="2400" spc="-72" dirty="0">
              <a:solidFill>
                <a:srgbClr val="000000"/>
              </a:solidFill>
              <a:latin typeface="Canva Sans"/>
              <a:ea typeface="Canva Sans"/>
              <a:cs typeface="Canva Sans"/>
              <a:sym typeface="Canva Sans"/>
            </a:endParaRPr>
          </a:p>
        </p:txBody>
      </p:sp>
      <p:sp>
        <p:nvSpPr>
          <p:cNvPr id="18" name="TextBox 18"/>
          <p:cNvSpPr txBox="1"/>
          <p:nvPr/>
        </p:nvSpPr>
        <p:spPr>
          <a:xfrm>
            <a:off x="414457" y="2054702"/>
            <a:ext cx="3853887" cy="587084"/>
          </a:xfrm>
          <a:prstGeom prst="rect">
            <a:avLst/>
          </a:prstGeom>
        </p:spPr>
        <p:txBody>
          <a:bodyPr wrap="square" lIns="0" tIns="0" rIns="0" bIns="0" rtlCol="0" anchor="t">
            <a:spAutoFit/>
          </a:bodyPr>
          <a:lstStyle/>
          <a:p>
            <a:pPr algn="ctr">
              <a:lnSpc>
                <a:spcPts val="4899"/>
              </a:lnSpc>
            </a:pPr>
            <a:r>
              <a:rPr lang="en-US" sz="3499" dirty="0">
                <a:solidFill>
                  <a:srgbClr val="009B0B"/>
                </a:solidFill>
                <a:latin typeface="Canva Sans"/>
                <a:ea typeface="Canva Sans"/>
                <a:cs typeface="Canva Sans"/>
                <a:sym typeface="Canva Sans"/>
              </a:rPr>
              <a:t>INTRODUCTION</a:t>
            </a:r>
          </a:p>
        </p:txBody>
      </p:sp>
      <p:sp>
        <p:nvSpPr>
          <p:cNvPr id="19" name="TextBox 19"/>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dirty="0">
                <a:solidFill>
                  <a:srgbClr val="000000"/>
                </a:solidFill>
                <a:latin typeface="Canva Sans Bold"/>
                <a:ea typeface="Canva Sans Bold"/>
                <a:cs typeface="Canva Sans Bold"/>
                <a:sym typeface="Canva Sans Bold"/>
              </a:rPr>
              <a:t>11</a:t>
            </a:r>
          </a:p>
        </p:txBody>
      </p:sp>
      <p:sp>
        <p:nvSpPr>
          <p:cNvPr id="23" name="TextBox 23"/>
          <p:cNvSpPr txBox="1"/>
          <p:nvPr/>
        </p:nvSpPr>
        <p:spPr>
          <a:xfrm>
            <a:off x="1373701" y="960961"/>
            <a:ext cx="16213047" cy="618887"/>
          </a:xfrm>
          <a:prstGeom prst="rect">
            <a:avLst/>
          </a:prstGeom>
        </p:spPr>
        <p:txBody>
          <a:bodyPr wrap="square" lIns="0" tIns="0" rIns="0" bIns="0" rtlCol="0" anchor="t">
            <a:spAutoFit/>
          </a:bodyPr>
          <a:lstStyle/>
          <a:p>
            <a:pPr>
              <a:lnSpc>
                <a:spcPts val="4649"/>
              </a:lnSpc>
            </a:pPr>
            <a:r>
              <a:rPr lang="en-GB" sz="4950" dirty="0">
                <a:solidFill>
                  <a:srgbClr val="009B0B">
                    <a:alpha val="69804"/>
                  </a:srgbClr>
                </a:solidFill>
                <a:latin typeface="Archivo Black"/>
                <a:sym typeface="Archivo Black"/>
              </a:rPr>
              <a:t>INTRODUCTION &amp; RESEARCH PROBLEM</a:t>
            </a:r>
            <a:endParaRPr lang="en-GB" sz="4950" dirty="0">
              <a:solidFill>
                <a:srgbClr val="009B0B">
                  <a:alpha val="69804"/>
                </a:srgbClr>
              </a:solidFill>
              <a:latin typeface="Archivo Black"/>
              <a:ea typeface="Archivo Black"/>
              <a:cs typeface="Archivo Black"/>
            </a:endParaRPr>
          </a:p>
        </p:txBody>
      </p:sp>
      <p:sp>
        <p:nvSpPr>
          <p:cNvPr id="6" name="TextBox 17">
            <a:extLst>
              <a:ext uri="{FF2B5EF4-FFF2-40B4-BE49-F238E27FC236}">
                <a16:creationId xmlns:a16="http://schemas.microsoft.com/office/drawing/2014/main" id="{270B2623-4AAC-F7EA-F973-5B2B5DA5432E}"/>
              </a:ext>
            </a:extLst>
          </p:cNvPr>
          <p:cNvSpPr txBox="1"/>
          <p:nvPr/>
        </p:nvSpPr>
        <p:spPr>
          <a:xfrm>
            <a:off x="9627512" y="2772781"/>
            <a:ext cx="7598810" cy="4790222"/>
          </a:xfrm>
          <a:prstGeom prst="rect">
            <a:avLst/>
          </a:prstGeom>
        </p:spPr>
        <p:txBody>
          <a:bodyPr wrap="square" lIns="0" tIns="0" rIns="0" bIns="0" rtlCol="0" anchor="t">
            <a:spAutoFit/>
          </a:bodyPr>
          <a:lstStyle/>
          <a:p>
            <a:pPr>
              <a:lnSpc>
                <a:spcPts val="4199"/>
              </a:lnSpc>
            </a:pPr>
            <a:r>
              <a:rPr lang="en-US" sz="2400" b="1" spc="-72" dirty="0">
                <a:solidFill>
                  <a:srgbClr val="000000"/>
                </a:solidFill>
                <a:latin typeface="Canva Sans"/>
                <a:ea typeface="Canva Sans"/>
                <a:cs typeface="Canva Sans"/>
                <a:sym typeface="Canva Sans"/>
              </a:rPr>
              <a:t>Current Issues</a:t>
            </a:r>
          </a:p>
          <a:p>
            <a:pPr marL="800100" lvl="1" indent="-342900">
              <a:lnSpc>
                <a:spcPts val="4199"/>
              </a:lnSpc>
              <a:buFont typeface="Arial" panose="020B0604020202020204" pitchFamily="34" charset="0"/>
              <a:buChar char="•"/>
            </a:pPr>
            <a:r>
              <a:rPr lang="en-US" sz="2400" spc="-72" dirty="0">
                <a:solidFill>
                  <a:srgbClr val="000000"/>
                </a:solidFill>
                <a:latin typeface="Canva Sans"/>
                <a:ea typeface="Canva Sans"/>
                <a:cs typeface="Canva Sans"/>
                <a:sym typeface="Canva Sans"/>
              </a:rPr>
              <a:t>Manual inspection is slow and inconsistent</a:t>
            </a:r>
          </a:p>
          <a:p>
            <a:pPr marL="800100" lvl="1" indent="-342900">
              <a:lnSpc>
                <a:spcPts val="4199"/>
              </a:lnSpc>
              <a:buFont typeface="Arial" panose="020B0604020202020204" pitchFamily="34" charset="0"/>
              <a:buChar char="•"/>
            </a:pPr>
            <a:r>
              <a:rPr lang="en-US" sz="2400" spc="-72" dirty="0">
                <a:solidFill>
                  <a:srgbClr val="000000"/>
                </a:solidFill>
                <a:latin typeface="Canva Sans"/>
                <a:ea typeface="Canva Sans"/>
                <a:cs typeface="Canva Sans"/>
                <a:sym typeface="Canva Sans"/>
              </a:rPr>
              <a:t>Human errors reduce accuracy</a:t>
            </a:r>
          </a:p>
          <a:p>
            <a:pPr marL="800100" lvl="1" indent="-342900">
              <a:lnSpc>
                <a:spcPts val="4199"/>
              </a:lnSpc>
              <a:buFont typeface="Arial" panose="020B0604020202020204" pitchFamily="34" charset="0"/>
              <a:buChar char="•"/>
            </a:pPr>
            <a:r>
              <a:rPr lang="en-US" sz="2400" spc="-72" dirty="0">
                <a:solidFill>
                  <a:srgbClr val="000000"/>
                </a:solidFill>
                <a:latin typeface="Canva Sans"/>
                <a:ea typeface="Canva Sans"/>
                <a:cs typeface="Canva Sans"/>
                <a:sym typeface="Canva Sans"/>
              </a:rPr>
              <a:t>Difficult to identify small defects</a:t>
            </a:r>
          </a:p>
          <a:p>
            <a:pPr>
              <a:lnSpc>
                <a:spcPts val="4199"/>
              </a:lnSpc>
            </a:pPr>
            <a:endParaRPr lang="en-US" sz="2400" b="1" spc="-72" dirty="0">
              <a:solidFill>
                <a:srgbClr val="000000"/>
              </a:solidFill>
              <a:latin typeface="Canva Sans"/>
              <a:ea typeface="Canva Sans"/>
              <a:cs typeface="Canva Sans"/>
              <a:sym typeface="Canva Sans"/>
            </a:endParaRPr>
          </a:p>
          <a:p>
            <a:pPr>
              <a:lnSpc>
                <a:spcPts val="4199"/>
              </a:lnSpc>
            </a:pPr>
            <a:r>
              <a:rPr lang="en-US" sz="2400" b="1" spc="-72" dirty="0">
                <a:solidFill>
                  <a:srgbClr val="000000"/>
                </a:solidFill>
                <a:latin typeface="Canva Sans"/>
                <a:ea typeface="Canva Sans"/>
                <a:cs typeface="Canva Sans"/>
                <a:sym typeface="Canva Sans"/>
              </a:rPr>
              <a:t>Need for an AI Solution</a:t>
            </a:r>
          </a:p>
          <a:p>
            <a:pPr marL="800100" lvl="1" indent="-342900">
              <a:lnSpc>
                <a:spcPts val="4199"/>
              </a:lnSpc>
              <a:buFont typeface="Arial" panose="020B0604020202020204" pitchFamily="34" charset="0"/>
              <a:buChar char="•"/>
            </a:pPr>
            <a:r>
              <a:rPr lang="en-US" sz="2400" spc="-72" dirty="0">
                <a:solidFill>
                  <a:srgbClr val="000000"/>
                </a:solidFill>
                <a:latin typeface="Canva Sans"/>
                <a:ea typeface="Canva Sans"/>
                <a:cs typeface="Canva Sans"/>
                <a:sym typeface="Canva Sans"/>
              </a:rPr>
              <a:t>Faster inspection</a:t>
            </a:r>
          </a:p>
          <a:p>
            <a:pPr marL="800100" lvl="1" indent="-342900">
              <a:lnSpc>
                <a:spcPts val="4199"/>
              </a:lnSpc>
              <a:buFont typeface="Arial" panose="020B0604020202020204" pitchFamily="34" charset="0"/>
              <a:buChar char="•"/>
            </a:pPr>
            <a:r>
              <a:rPr lang="en-US" sz="2400" spc="-72" dirty="0">
                <a:solidFill>
                  <a:srgbClr val="000000"/>
                </a:solidFill>
                <a:latin typeface="Canva Sans"/>
                <a:ea typeface="Canva Sans"/>
                <a:cs typeface="Canva Sans"/>
                <a:sym typeface="Canva Sans"/>
              </a:rPr>
              <a:t>Accurate damage detection</a:t>
            </a:r>
          </a:p>
          <a:p>
            <a:pPr marL="800100" lvl="1" indent="-342900">
              <a:lnSpc>
                <a:spcPts val="4199"/>
              </a:lnSpc>
              <a:buFont typeface="Arial" panose="020B0604020202020204" pitchFamily="34" charset="0"/>
              <a:buChar char="•"/>
            </a:pPr>
            <a:r>
              <a:rPr lang="en-US" sz="2400" spc="-72" dirty="0">
                <a:solidFill>
                  <a:srgbClr val="000000"/>
                </a:solidFill>
                <a:latin typeface="Canva Sans"/>
                <a:ea typeface="Canva Sans"/>
                <a:cs typeface="Canva Sans"/>
                <a:sym typeface="Canva Sans"/>
              </a:rPr>
              <a:t>Real-time fabric analysis</a:t>
            </a:r>
            <a:endParaRPr lang="en-GB" sz="2400" spc="-72" dirty="0">
              <a:solidFill>
                <a:srgbClr val="000000"/>
              </a:solidFill>
              <a:latin typeface="Canva Sans"/>
              <a:ea typeface="Canva Sans"/>
              <a:cs typeface="Canva Sans"/>
              <a:sym typeface="Canva Sans"/>
            </a:endParaRPr>
          </a:p>
        </p:txBody>
      </p:sp>
      <p:sp>
        <p:nvSpPr>
          <p:cNvPr id="12" name="TextBox 18">
            <a:extLst>
              <a:ext uri="{FF2B5EF4-FFF2-40B4-BE49-F238E27FC236}">
                <a16:creationId xmlns:a16="http://schemas.microsoft.com/office/drawing/2014/main" id="{559D56D7-C823-189C-E997-857A92A71E42}"/>
              </a:ext>
            </a:extLst>
          </p:cNvPr>
          <p:cNvSpPr txBox="1"/>
          <p:nvPr/>
        </p:nvSpPr>
        <p:spPr>
          <a:xfrm>
            <a:off x="8711305" y="2036764"/>
            <a:ext cx="6034564" cy="587084"/>
          </a:xfrm>
          <a:prstGeom prst="rect">
            <a:avLst/>
          </a:prstGeom>
        </p:spPr>
        <p:txBody>
          <a:bodyPr wrap="square" lIns="0" tIns="0" rIns="0" bIns="0" rtlCol="0" anchor="t">
            <a:spAutoFit/>
          </a:bodyPr>
          <a:lstStyle/>
          <a:p>
            <a:pPr algn="ctr">
              <a:lnSpc>
                <a:spcPts val="4899"/>
              </a:lnSpc>
            </a:pPr>
            <a:r>
              <a:rPr lang="en-US" sz="3499" dirty="0">
                <a:solidFill>
                  <a:srgbClr val="009B0B"/>
                </a:solidFill>
                <a:latin typeface="Canva Sans"/>
                <a:ea typeface="Canva Sans"/>
                <a:cs typeface="Canva Sans"/>
                <a:sym typeface="Canva Sans"/>
              </a:rPr>
              <a:t>RESEARCH PROBLEM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999" y="87507"/>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10" name="TextBox 10"/>
          <p:cNvSpPr txBox="1"/>
          <p:nvPr/>
        </p:nvSpPr>
        <p:spPr>
          <a:xfrm>
            <a:off x="10626119" y="4864135"/>
            <a:ext cx="7345744" cy="425694"/>
          </a:xfrm>
          <a:prstGeom prst="rect">
            <a:avLst/>
          </a:prstGeom>
        </p:spPr>
        <p:txBody>
          <a:bodyPr lIns="0" tIns="0" rIns="0" bIns="0" rtlCol="0" anchor="t">
            <a:spAutoFit/>
          </a:bodyPr>
          <a:lstStyle/>
          <a:p>
            <a:pPr algn="just">
              <a:lnSpc>
                <a:spcPts val="3600"/>
              </a:lnSpc>
            </a:pPr>
            <a:endParaRPr lang="en-US" sz="2400">
              <a:solidFill>
                <a:srgbClr val="073064"/>
              </a:solidFill>
              <a:latin typeface="Open Sans"/>
              <a:ea typeface="Open Sans"/>
              <a:cs typeface="Open Sans"/>
              <a:sym typeface="Open Sans"/>
            </a:endParaRPr>
          </a:p>
        </p:txBody>
      </p:sp>
      <p:grpSp>
        <p:nvGrpSpPr>
          <p:cNvPr id="22" name="Group 22"/>
          <p:cNvGrpSpPr/>
          <p:nvPr/>
        </p:nvGrpSpPr>
        <p:grpSpPr>
          <a:xfrm>
            <a:off x="20999" y="9533010"/>
            <a:ext cx="3917169" cy="703984"/>
            <a:chOff x="0" y="0"/>
            <a:chExt cx="5222892" cy="938645"/>
          </a:xfrm>
        </p:grpSpPr>
        <p:sp>
          <p:nvSpPr>
            <p:cNvPr id="23" name="Freeform 23"/>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34" name="TextBox 34"/>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dirty="0">
                <a:solidFill>
                  <a:srgbClr val="000000"/>
                </a:solidFill>
                <a:latin typeface="Canva Sans Bold"/>
                <a:ea typeface="Canva Sans Bold"/>
                <a:cs typeface="Canva Sans Bold"/>
                <a:sym typeface="Canva Sans Bold"/>
              </a:rPr>
              <a:t>12</a:t>
            </a:r>
          </a:p>
        </p:txBody>
      </p:sp>
      <p:sp>
        <p:nvSpPr>
          <p:cNvPr id="41" name="TextBox 40">
            <a:extLst>
              <a:ext uri="{FF2B5EF4-FFF2-40B4-BE49-F238E27FC236}">
                <a16:creationId xmlns:a16="http://schemas.microsoft.com/office/drawing/2014/main" id="{FB97DA25-7E03-2DE0-613B-47DE2F0129BE}"/>
              </a:ext>
            </a:extLst>
          </p:cNvPr>
          <p:cNvSpPr txBox="1"/>
          <p:nvPr/>
        </p:nvSpPr>
        <p:spPr>
          <a:xfrm>
            <a:off x="914400" y="3930811"/>
            <a:ext cx="12934335" cy="369332"/>
          </a:xfrm>
          <a:prstGeom prst="rect">
            <a:avLst/>
          </a:prstGeom>
          <a:noFill/>
        </p:spPr>
        <p:txBody>
          <a:bodyPr wrap="square">
            <a:spAutoFit/>
          </a:bodyPr>
          <a:lstStyle/>
          <a:p>
            <a:pPr algn="l"/>
            <a:r>
              <a:rPr lang="en-GB" b="0" i="0">
                <a:effectLst/>
                <a:latin typeface="fkGroteskNeue"/>
              </a:rPr>
              <a:t>.</a:t>
            </a:r>
          </a:p>
        </p:txBody>
      </p:sp>
      <p:sp>
        <p:nvSpPr>
          <p:cNvPr id="43" name="TextBox 42">
            <a:extLst>
              <a:ext uri="{FF2B5EF4-FFF2-40B4-BE49-F238E27FC236}">
                <a16:creationId xmlns:a16="http://schemas.microsoft.com/office/drawing/2014/main" id="{1974F814-9D94-79F0-DA97-1BFCBF402A52}"/>
              </a:ext>
            </a:extLst>
          </p:cNvPr>
          <p:cNvSpPr txBox="1"/>
          <p:nvPr/>
        </p:nvSpPr>
        <p:spPr>
          <a:xfrm>
            <a:off x="914400" y="2131781"/>
            <a:ext cx="8346856" cy="5288499"/>
          </a:xfrm>
          <a:prstGeom prst="rect">
            <a:avLst/>
          </a:prstGeom>
          <a:noFill/>
        </p:spPr>
        <p:txBody>
          <a:bodyPr wrap="square">
            <a:spAutoFit/>
          </a:bodyPr>
          <a:lstStyle/>
          <a:p>
            <a:pPr>
              <a:lnSpc>
                <a:spcPct val="150000"/>
              </a:lnSpc>
            </a:pPr>
            <a:r>
              <a:rPr lang="en-US" sz="3200" b="1" dirty="0">
                <a:solidFill>
                  <a:srgbClr val="00B050"/>
                </a:solidFill>
                <a:latin typeface="Calibri" panose="020F0502020204030204" pitchFamily="34" charset="0"/>
                <a:ea typeface="Calibri" panose="020F0502020204030204" pitchFamily="34" charset="0"/>
                <a:cs typeface="Calibri" panose="020F0502020204030204" pitchFamily="34" charset="0"/>
              </a:rPr>
              <a:t>MAIN OBJECTIVE</a:t>
            </a:r>
          </a:p>
          <a:p>
            <a:pPr>
              <a:lnSpc>
                <a:spcPct val="150000"/>
              </a:lnSpc>
            </a:pPr>
            <a:r>
              <a:rPr lang="en-US" sz="2800" dirty="0">
                <a:latin typeface="Calibri" panose="020F0502020204030204" pitchFamily="34" charset="0"/>
                <a:ea typeface="Calibri" panose="020F0502020204030204" pitchFamily="34" charset="0"/>
                <a:cs typeface="Calibri" panose="020F0502020204030204" pitchFamily="34" charset="0"/>
              </a:rPr>
              <a:t>Develop an AI-powered fabric inspection system using CNN models.</a:t>
            </a:r>
          </a:p>
          <a:p>
            <a:pPr>
              <a:lnSpc>
                <a:spcPct val="150000"/>
              </a:lnSpc>
            </a:pPr>
            <a:r>
              <a:rPr lang="en-US" sz="2800" b="1" dirty="0">
                <a:solidFill>
                  <a:srgbClr val="00B050"/>
                </a:solidFill>
                <a:latin typeface="Calibri" panose="020F0502020204030204" pitchFamily="34" charset="0"/>
                <a:ea typeface="Calibri" panose="020F0502020204030204" pitchFamily="34" charset="0"/>
                <a:cs typeface="Calibri" panose="020F0502020204030204" pitchFamily="34" charset="0"/>
              </a:rPr>
              <a:t>SPECIFIC OBJECTIVES</a:t>
            </a:r>
          </a:p>
          <a:p>
            <a:pPr marL="914400" lvl="1" indent="-45720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Fabric type classification</a:t>
            </a:r>
          </a:p>
          <a:p>
            <a:pPr marL="914400" lvl="1" indent="-45720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Damage detection</a:t>
            </a:r>
          </a:p>
          <a:p>
            <a:pPr marL="914400" lvl="1" indent="-45720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Good vs Defective prediction</a:t>
            </a:r>
          </a:p>
          <a:p>
            <a:pPr marL="914400" lvl="1" indent="-45720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Improve inspection accuracy</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23">
            <a:extLst>
              <a:ext uri="{FF2B5EF4-FFF2-40B4-BE49-F238E27FC236}">
                <a16:creationId xmlns:a16="http://schemas.microsoft.com/office/drawing/2014/main" id="{5FA94606-41C3-ABCF-76B6-2437DD3BEE67}"/>
              </a:ext>
            </a:extLst>
          </p:cNvPr>
          <p:cNvSpPr txBox="1"/>
          <p:nvPr/>
        </p:nvSpPr>
        <p:spPr>
          <a:xfrm>
            <a:off x="1373701" y="960961"/>
            <a:ext cx="16213047" cy="613501"/>
          </a:xfrm>
          <a:prstGeom prst="rect">
            <a:avLst/>
          </a:prstGeom>
        </p:spPr>
        <p:txBody>
          <a:bodyPr wrap="square" lIns="0" tIns="0" rIns="0" bIns="0" rtlCol="0" anchor="t">
            <a:spAutoFit/>
          </a:bodyPr>
          <a:lstStyle/>
          <a:p>
            <a:pPr>
              <a:lnSpc>
                <a:spcPts val="4649"/>
              </a:lnSpc>
            </a:pPr>
            <a:r>
              <a:rPr lang="en-GB" sz="4800" dirty="0">
                <a:solidFill>
                  <a:srgbClr val="009B0B">
                    <a:alpha val="69804"/>
                  </a:srgbClr>
                </a:solidFill>
                <a:latin typeface="Archivo Black"/>
                <a:sym typeface="Archivo Black"/>
              </a:rPr>
              <a:t>RESEARCH OBJECTIVES &amp; SYSTEM OVERVIEW</a:t>
            </a:r>
            <a:endParaRPr lang="en-GB" sz="4800" dirty="0">
              <a:solidFill>
                <a:srgbClr val="009B0B">
                  <a:alpha val="69804"/>
                </a:srgbClr>
              </a:solidFill>
              <a:latin typeface="Archivo Black"/>
              <a:ea typeface="Archivo Black"/>
              <a:cs typeface="Archivo Black"/>
            </a:endParaRPr>
          </a:p>
        </p:txBody>
      </p:sp>
      <p:sp>
        <p:nvSpPr>
          <p:cNvPr id="5" name="TextBox 18">
            <a:extLst>
              <a:ext uri="{FF2B5EF4-FFF2-40B4-BE49-F238E27FC236}">
                <a16:creationId xmlns:a16="http://schemas.microsoft.com/office/drawing/2014/main" id="{00868A44-5F65-AEEB-970B-F970276E0753}"/>
              </a:ext>
            </a:extLst>
          </p:cNvPr>
          <p:cNvSpPr txBox="1"/>
          <p:nvPr/>
        </p:nvSpPr>
        <p:spPr>
          <a:xfrm>
            <a:off x="11151254" y="1872010"/>
            <a:ext cx="5529143" cy="587084"/>
          </a:xfrm>
          <a:prstGeom prst="rect">
            <a:avLst/>
          </a:prstGeom>
        </p:spPr>
        <p:txBody>
          <a:bodyPr wrap="square" lIns="0" tIns="0" rIns="0" bIns="0" rtlCol="0" anchor="t">
            <a:spAutoFit/>
          </a:bodyPr>
          <a:lstStyle/>
          <a:p>
            <a:pPr algn="ctr">
              <a:lnSpc>
                <a:spcPts val="4899"/>
              </a:lnSpc>
            </a:pPr>
            <a:r>
              <a:rPr lang="en-US" sz="3499" b="1" dirty="0">
                <a:solidFill>
                  <a:srgbClr val="009B0B"/>
                </a:solidFill>
                <a:latin typeface="Calibri" panose="020F0502020204030204" pitchFamily="34" charset="0"/>
                <a:ea typeface="Calibri" panose="020F0502020204030204" pitchFamily="34" charset="0"/>
                <a:cs typeface="Calibri" panose="020F0502020204030204" pitchFamily="34" charset="0"/>
                <a:sym typeface="Canva Sans"/>
              </a:rPr>
              <a:t>SYSTEM OVERVIEW</a:t>
            </a:r>
          </a:p>
        </p:txBody>
      </p:sp>
      <p:sp>
        <p:nvSpPr>
          <p:cNvPr id="6" name="TextBox 5">
            <a:extLst>
              <a:ext uri="{FF2B5EF4-FFF2-40B4-BE49-F238E27FC236}">
                <a16:creationId xmlns:a16="http://schemas.microsoft.com/office/drawing/2014/main" id="{B806F196-3492-540A-B491-8510C5EEE31D}"/>
              </a:ext>
            </a:extLst>
          </p:cNvPr>
          <p:cNvSpPr txBox="1"/>
          <p:nvPr/>
        </p:nvSpPr>
        <p:spPr>
          <a:xfrm>
            <a:off x="6978936" y="8363481"/>
            <a:ext cx="5394960" cy="1446550"/>
          </a:xfrm>
          <a:prstGeom prst="rect">
            <a:avLst/>
          </a:prstGeom>
          <a:noFill/>
        </p:spPr>
        <p:txBody>
          <a:bodyPr wrap="square" rtlCol="0">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Outputs</a:t>
            </a:r>
            <a:r>
              <a:rPr lang="en-US" sz="2800" b="1" dirty="0">
                <a:latin typeface="Calibri" panose="020F0502020204030204" pitchFamily="34" charset="0"/>
                <a:ea typeface="Calibri" panose="020F0502020204030204" pitchFamily="34" charset="0"/>
                <a:cs typeface="Calibri" panose="020F0502020204030204" pitchFamily="34" charset="0"/>
              </a:rPr>
              <a:t>:</a:t>
            </a:r>
          </a:p>
          <a:p>
            <a:pPr marL="800100" lvl="1" indent="-3429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Fabric Type</a:t>
            </a:r>
          </a:p>
          <a:p>
            <a:pPr marL="800100" lvl="1" indent="-3429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Good Fabric / Defective Fabric</a:t>
            </a:r>
          </a:p>
        </p:txBody>
      </p:sp>
      <p:pic>
        <p:nvPicPr>
          <p:cNvPr id="8" name="Picture 7">
            <a:extLst>
              <a:ext uri="{FF2B5EF4-FFF2-40B4-BE49-F238E27FC236}">
                <a16:creationId xmlns:a16="http://schemas.microsoft.com/office/drawing/2014/main" id="{6BCB64E2-CC90-1891-4813-37FD905D3DBE}"/>
              </a:ext>
            </a:extLst>
          </p:cNvPr>
          <p:cNvPicPr>
            <a:picLocks noChangeAspect="1"/>
          </p:cNvPicPr>
          <p:nvPr/>
        </p:nvPicPr>
        <p:blipFill>
          <a:blip r:embed="rId4">
            <a:extLst>
              <a:ext uri="{28A0092B-C50C-407E-A947-70E740481C1C}">
                <a14:useLocalDpi xmlns:a14="http://schemas.microsoft.com/office/drawing/2010/main" val="0"/>
              </a:ext>
            </a:extLst>
          </a:blip>
          <a:srcRect b="26750"/>
          <a:stretch>
            <a:fillRect/>
          </a:stretch>
        </p:blipFill>
        <p:spPr>
          <a:xfrm>
            <a:off x="12373896" y="2474384"/>
            <a:ext cx="4657594" cy="7242241"/>
          </a:xfrm>
          <a:prstGeom prst="rect">
            <a:avLst/>
          </a:prstGeom>
        </p:spPr>
      </p:pic>
    </p:spTree>
    <p:extLst>
      <p:ext uri="{BB962C8B-B14F-4D97-AF65-F5344CB8AC3E}">
        <p14:creationId xmlns:p14="http://schemas.microsoft.com/office/powerpoint/2010/main" val="3735513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F44CD-23CE-7BA3-C2D7-9DC03A4CB5C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92E1A7-71F7-2C54-B0C9-964C8D10A78B}"/>
              </a:ext>
            </a:extLst>
          </p:cNvPr>
          <p:cNvGrpSpPr/>
          <p:nvPr/>
        </p:nvGrpSpPr>
        <p:grpSpPr>
          <a:xfrm>
            <a:off x="20999" y="0"/>
            <a:ext cx="18288000" cy="10287000"/>
            <a:chOff x="0" y="-749145"/>
            <a:chExt cx="24384000" cy="13716000"/>
          </a:xfrm>
        </p:grpSpPr>
        <p:sp>
          <p:nvSpPr>
            <p:cNvPr id="3" name="Freeform 3">
              <a:extLst>
                <a:ext uri="{FF2B5EF4-FFF2-40B4-BE49-F238E27FC236}">
                  <a16:creationId xmlns:a16="http://schemas.microsoft.com/office/drawing/2014/main" id="{179DBC14-A6CE-3387-EC1B-26ED789A6928}"/>
                </a:ext>
              </a:extLst>
            </p:cNvPr>
            <p:cNvSpPr/>
            <p:nvPr/>
          </p:nvSpPr>
          <p:spPr>
            <a:xfrm>
              <a:off x="0" y="-749145"/>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4" name="Group 4">
            <a:extLst>
              <a:ext uri="{FF2B5EF4-FFF2-40B4-BE49-F238E27FC236}">
                <a16:creationId xmlns:a16="http://schemas.microsoft.com/office/drawing/2014/main" id="{4A2BE75D-943C-1C54-9ADF-F11C9B85B3EC}"/>
              </a:ext>
            </a:extLst>
          </p:cNvPr>
          <p:cNvGrpSpPr/>
          <p:nvPr/>
        </p:nvGrpSpPr>
        <p:grpSpPr>
          <a:xfrm>
            <a:off x="20999" y="9533010"/>
            <a:ext cx="3917169" cy="703984"/>
            <a:chOff x="0" y="0"/>
            <a:chExt cx="5222892" cy="938645"/>
          </a:xfrm>
        </p:grpSpPr>
        <p:sp>
          <p:nvSpPr>
            <p:cNvPr id="5" name="Freeform 5">
              <a:extLst>
                <a:ext uri="{FF2B5EF4-FFF2-40B4-BE49-F238E27FC236}">
                  <a16:creationId xmlns:a16="http://schemas.microsoft.com/office/drawing/2014/main" id="{90F33BE9-7FD7-3B9E-EB04-BE4971C96450}"/>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Freeform 7">
            <a:extLst>
              <a:ext uri="{FF2B5EF4-FFF2-40B4-BE49-F238E27FC236}">
                <a16:creationId xmlns:a16="http://schemas.microsoft.com/office/drawing/2014/main" id="{0397E1EA-AF92-4186-5F40-4481EA0690F7}"/>
              </a:ext>
            </a:extLst>
          </p:cNvPr>
          <p:cNvSpPr/>
          <p:nvPr/>
        </p:nvSpPr>
        <p:spPr>
          <a:xfrm rot="2478992">
            <a:off x="1216499" y="2044731"/>
            <a:ext cx="4043219" cy="3954064"/>
          </a:xfrm>
          <a:custGeom>
            <a:avLst/>
            <a:gdLst/>
            <a:ahLst/>
            <a:cxnLst/>
            <a:rect l="l" t="t" r="r" b="b"/>
            <a:pathLst>
              <a:path w="4043219" h="3954064">
                <a:moveTo>
                  <a:pt x="0" y="0"/>
                </a:moveTo>
                <a:lnTo>
                  <a:pt x="4043219" y="0"/>
                </a:lnTo>
                <a:lnTo>
                  <a:pt x="4043219" y="3954064"/>
                </a:lnTo>
                <a:lnTo>
                  <a:pt x="0" y="39540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2DC4B6EC-5AE9-CA7E-6FA3-5F963F3AA97E}"/>
              </a:ext>
            </a:extLst>
          </p:cNvPr>
          <p:cNvSpPr/>
          <p:nvPr/>
        </p:nvSpPr>
        <p:spPr>
          <a:xfrm rot="2700000">
            <a:off x="1321932" y="6149915"/>
            <a:ext cx="3832353" cy="3747848"/>
          </a:xfrm>
          <a:custGeom>
            <a:avLst/>
            <a:gdLst/>
            <a:ahLst/>
            <a:cxnLst/>
            <a:rect l="l" t="t" r="r" b="b"/>
            <a:pathLst>
              <a:path w="3832353" h="3747848">
                <a:moveTo>
                  <a:pt x="0" y="0"/>
                </a:moveTo>
                <a:lnTo>
                  <a:pt x="3832353" y="0"/>
                </a:lnTo>
                <a:lnTo>
                  <a:pt x="3832353" y="3747847"/>
                </a:lnTo>
                <a:lnTo>
                  <a:pt x="0" y="37478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85DD886C-B830-8D5A-E8ED-61672C364E07}"/>
              </a:ext>
            </a:extLst>
          </p:cNvPr>
          <p:cNvSpPr/>
          <p:nvPr/>
        </p:nvSpPr>
        <p:spPr>
          <a:xfrm rot="2478992">
            <a:off x="13170596" y="2280913"/>
            <a:ext cx="3411897" cy="3336663"/>
          </a:xfrm>
          <a:custGeom>
            <a:avLst/>
            <a:gdLst/>
            <a:ahLst/>
            <a:cxnLst/>
            <a:rect l="l" t="t" r="r" b="b"/>
            <a:pathLst>
              <a:path w="3411897" h="3336663">
                <a:moveTo>
                  <a:pt x="0" y="0"/>
                </a:moveTo>
                <a:lnTo>
                  <a:pt x="3411896" y="0"/>
                </a:lnTo>
                <a:lnTo>
                  <a:pt x="3411896" y="3336662"/>
                </a:lnTo>
                <a:lnTo>
                  <a:pt x="0" y="33366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7DF0F829-0095-A2F2-174F-A20DE54D7F35}"/>
              </a:ext>
            </a:extLst>
          </p:cNvPr>
          <p:cNvSpPr/>
          <p:nvPr/>
        </p:nvSpPr>
        <p:spPr>
          <a:xfrm rot="2478992">
            <a:off x="13036931" y="6046807"/>
            <a:ext cx="4043219" cy="3954064"/>
          </a:xfrm>
          <a:custGeom>
            <a:avLst/>
            <a:gdLst/>
            <a:ahLst/>
            <a:cxnLst/>
            <a:rect l="l" t="t" r="r" b="b"/>
            <a:pathLst>
              <a:path w="4043219" h="3954064">
                <a:moveTo>
                  <a:pt x="0" y="0"/>
                </a:moveTo>
                <a:lnTo>
                  <a:pt x="4043219" y="0"/>
                </a:lnTo>
                <a:lnTo>
                  <a:pt x="4043219" y="3954063"/>
                </a:lnTo>
                <a:lnTo>
                  <a:pt x="0" y="395406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TextBox 17">
            <a:extLst>
              <a:ext uri="{FF2B5EF4-FFF2-40B4-BE49-F238E27FC236}">
                <a16:creationId xmlns:a16="http://schemas.microsoft.com/office/drawing/2014/main" id="{97BDBE04-FD5C-2EEE-5D42-AB143A637ECA}"/>
              </a:ext>
            </a:extLst>
          </p:cNvPr>
          <p:cNvSpPr txBox="1"/>
          <p:nvPr/>
        </p:nvSpPr>
        <p:spPr>
          <a:xfrm>
            <a:off x="1521321" y="2302715"/>
            <a:ext cx="7555181" cy="4266874"/>
          </a:xfrm>
          <a:prstGeom prst="rect">
            <a:avLst/>
          </a:prstGeom>
        </p:spPr>
        <p:txBody>
          <a:bodyPr wrap="square" lIns="0" tIns="0" rIns="0" bIns="0" rtlCol="0" anchor="t">
            <a:spAutoFit/>
          </a:bodyPr>
          <a:lstStyle/>
          <a:p>
            <a:pPr>
              <a:lnSpc>
                <a:spcPts val="4199"/>
              </a:lnSpc>
            </a:pPr>
            <a:r>
              <a:rPr lang="en-GB" sz="2400" b="1" spc="-72" dirty="0">
                <a:solidFill>
                  <a:srgbClr val="000000"/>
                </a:solidFill>
                <a:latin typeface="Canva Sans"/>
                <a:ea typeface="Canva Sans"/>
                <a:cs typeface="Canva Sans"/>
                <a:sym typeface="Canva Sans"/>
              </a:rPr>
              <a:t>AI MODEL USED – MobileNetV2 CNN</a:t>
            </a:r>
          </a:p>
          <a:p>
            <a:pPr>
              <a:lnSpc>
                <a:spcPts val="4199"/>
              </a:lnSpc>
            </a:pPr>
            <a:r>
              <a:rPr lang="en-GB" sz="2400" spc="-72" dirty="0">
                <a:solidFill>
                  <a:srgbClr val="000000"/>
                </a:solidFill>
                <a:latin typeface="Canva Sans"/>
                <a:ea typeface="Canva Sans"/>
                <a:cs typeface="Canva Sans"/>
                <a:sym typeface="Canva Sans"/>
              </a:rPr>
              <a:t>Pretrained MobileNetV2 with Transfer Learning</a:t>
            </a:r>
          </a:p>
          <a:p>
            <a:pPr>
              <a:lnSpc>
                <a:spcPts val="4199"/>
              </a:lnSpc>
            </a:pPr>
            <a:endParaRPr lang="en-GB" sz="2400" spc="-72" dirty="0">
              <a:solidFill>
                <a:srgbClr val="000000"/>
              </a:solidFill>
              <a:latin typeface="Canva Sans"/>
              <a:ea typeface="Canva Sans"/>
              <a:cs typeface="Canva Sans"/>
              <a:sym typeface="Canva Sans"/>
            </a:endParaRPr>
          </a:p>
          <a:p>
            <a:pPr>
              <a:lnSpc>
                <a:spcPts val="4199"/>
              </a:lnSpc>
            </a:pPr>
            <a:r>
              <a:rPr lang="en-GB" sz="2400" b="1" spc="-72" dirty="0">
                <a:solidFill>
                  <a:srgbClr val="000000"/>
                </a:solidFill>
                <a:latin typeface="Canva Sans"/>
                <a:ea typeface="Canva Sans"/>
                <a:cs typeface="Canva Sans"/>
                <a:sym typeface="Canva Sans"/>
              </a:rPr>
              <a:t>Why MobileNetV2?</a:t>
            </a:r>
          </a:p>
          <a:p>
            <a:pPr marL="914400" lvl="1" indent="-457200">
              <a:lnSpc>
                <a:spcPts val="4199"/>
              </a:lnSpc>
              <a:buFont typeface="Arial" panose="020B0604020202020204" pitchFamily="34" charset="0"/>
              <a:buChar char="•"/>
            </a:pPr>
            <a:r>
              <a:rPr lang="en-GB" sz="2400" spc="-72" dirty="0">
                <a:solidFill>
                  <a:srgbClr val="000000"/>
                </a:solidFill>
                <a:latin typeface="Canva Sans"/>
                <a:ea typeface="Canva Sans"/>
                <a:cs typeface="Canva Sans"/>
                <a:sym typeface="Canva Sans"/>
              </a:rPr>
              <a:t>High accuracy</a:t>
            </a:r>
          </a:p>
          <a:p>
            <a:pPr marL="914400" lvl="1" indent="-457200">
              <a:lnSpc>
                <a:spcPts val="4199"/>
              </a:lnSpc>
              <a:buFont typeface="Arial" panose="020B0604020202020204" pitchFamily="34" charset="0"/>
              <a:buChar char="•"/>
            </a:pPr>
            <a:r>
              <a:rPr lang="en-GB" sz="2400" spc="-72" dirty="0">
                <a:solidFill>
                  <a:srgbClr val="000000"/>
                </a:solidFill>
                <a:latin typeface="Canva Sans"/>
                <a:ea typeface="Canva Sans"/>
                <a:cs typeface="Canva Sans"/>
                <a:sym typeface="Canva Sans"/>
              </a:rPr>
              <a:t>Fast processing</a:t>
            </a:r>
          </a:p>
          <a:p>
            <a:pPr marL="914400" lvl="1" indent="-457200">
              <a:lnSpc>
                <a:spcPts val="4199"/>
              </a:lnSpc>
              <a:buFont typeface="Arial" panose="020B0604020202020204" pitchFamily="34" charset="0"/>
              <a:buChar char="•"/>
            </a:pPr>
            <a:r>
              <a:rPr lang="en-GB" sz="2400" spc="-72" dirty="0">
                <a:solidFill>
                  <a:srgbClr val="000000"/>
                </a:solidFill>
                <a:latin typeface="Canva Sans"/>
                <a:ea typeface="Canva Sans"/>
                <a:cs typeface="Canva Sans"/>
                <a:sym typeface="Canva Sans"/>
              </a:rPr>
              <a:t>Lightweight architecture</a:t>
            </a:r>
          </a:p>
          <a:p>
            <a:pPr marL="914400" lvl="1" indent="-457200">
              <a:lnSpc>
                <a:spcPts val="4199"/>
              </a:lnSpc>
              <a:buFont typeface="Arial" panose="020B0604020202020204" pitchFamily="34" charset="0"/>
              <a:buChar char="•"/>
            </a:pPr>
            <a:r>
              <a:rPr lang="en-GB" sz="2400" spc="-72" dirty="0">
                <a:solidFill>
                  <a:srgbClr val="000000"/>
                </a:solidFill>
                <a:latin typeface="Canva Sans"/>
                <a:ea typeface="Canva Sans"/>
                <a:cs typeface="Canva Sans"/>
                <a:sym typeface="Canva Sans"/>
              </a:rPr>
              <a:t>Suitable for image classification</a:t>
            </a:r>
          </a:p>
        </p:txBody>
      </p:sp>
      <p:sp>
        <p:nvSpPr>
          <p:cNvPr id="19" name="TextBox 19">
            <a:extLst>
              <a:ext uri="{FF2B5EF4-FFF2-40B4-BE49-F238E27FC236}">
                <a16:creationId xmlns:a16="http://schemas.microsoft.com/office/drawing/2014/main" id="{7D04AAB9-9106-C767-94D0-391234A25853}"/>
              </a:ext>
            </a:extLst>
          </p:cNvPr>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dirty="0">
                <a:solidFill>
                  <a:srgbClr val="000000"/>
                </a:solidFill>
                <a:latin typeface="Canva Sans Bold"/>
                <a:ea typeface="Canva Sans Bold"/>
                <a:cs typeface="Canva Sans Bold"/>
                <a:sym typeface="Canva Sans Bold"/>
              </a:rPr>
              <a:t>13</a:t>
            </a:r>
          </a:p>
        </p:txBody>
      </p:sp>
      <p:sp>
        <p:nvSpPr>
          <p:cNvPr id="23" name="TextBox 23">
            <a:extLst>
              <a:ext uri="{FF2B5EF4-FFF2-40B4-BE49-F238E27FC236}">
                <a16:creationId xmlns:a16="http://schemas.microsoft.com/office/drawing/2014/main" id="{E3DDD0E8-FD85-712A-C21B-79DECF34512B}"/>
              </a:ext>
            </a:extLst>
          </p:cNvPr>
          <p:cNvSpPr txBox="1"/>
          <p:nvPr/>
        </p:nvSpPr>
        <p:spPr>
          <a:xfrm>
            <a:off x="1373701" y="960961"/>
            <a:ext cx="16213047" cy="620619"/>
          </a:xfrm>
          <a:prstGeom prst="rect">
            <a:avLst/>
          </a:prstGeom>
        </p:spPr>
        <p:txBody>
          <a:bodyPr wrap="square" lIns="0" tIns="0" rIns="0" bIns="0" rtlCol="0" anchor="t">
            <a:spAutoFit/>
          </a:bodyPr>
          <a:lstStyle/>
          <a:p>
            <a:pPr algn="l">
              <a:lnSpc>
                <a:spcPts val="4649"/>
              </a:lnSpc>
            </a:pPr>
            <a:r>
              <a:rPr lang="en-GB" sz="4999" dirty="0">
                <a:solidFill>
                  <a:srgbClr val="009B0B">
                    <a:alpha val="69804"/>
                  </a:srgbClr>
                </a:solidFill>
                <a:latin typeface="Archivo Black"/>
                <a:ea typeface="Archivo Black"/>
                <a:cs typeface="Archivo Black"/>
                <a:sym typeface="Archivo Black"/>
              </a:rPr>
              <a:t>AI MODEL &amp; TRAINING PROCESS</a:t>
            </a:r>
          </a:p>
        </p:txBody>
      </p:sp>
      <p:sp>
        <p:nvSpPr>
          <p:cNvPr id="6" name="TextBox 18">
            <a:extLst>
              <a:ext uri="{FF2B5EF4-FFF2-40B4-BE49-F238E27FC236}">
                <a16:creationId xmlns:a16="http://schemas.microsoft.com/office/drawing/2014/main" id="{9F9E3377-3EF0-3951-CEB6-1F44B3DD7A5A}"/>
              </a:ext>
            </a:extLst>
          </p:cNvPr>
          <p:cNvSpPr txBox="1"/>
          <p:nvPr/>
        </p:nvSpPr>
        <p:spPr>
          <a:xfrm>
            <a:off x="10776513" y="2177447"/>
            <a:ext cx="5544079" cy="592598"/>
          </a:xfrm>
          <a:prstGeom prst="rect">
            <a:avLst/>
          </a:prstGeom>
        </p:spPr>
        <p:txBody>
          <a:bodyPr wrap="square" lIns="0" tIns="0" rIns="0" bIns="0" rtlCol="0" anchor="t">
            <a:spAutoFit/>
          </a:bodyPr>
          <a:lstStyle/>
          <a:p>
            <a:pPr algn="ctr">
              <a:lnSpc>
                <a:spcPts val="4899"/>
              </a:lnSpc>
            </a:pPr>
            <a:r>
              <a:rPr lang="en-US" sz="3499" b="1" dirty="0">
                <a:solidFill>
                  <a:srgbClr val="009B0B"/>
                </a:solidFill>
                <a:latin typeface="Canva Sans"/>
                <a:ea typeface="Canva Sans"/>
                <a:cs typeface="Canva Sans"/>
                <a:sym typeface="Canva Sans"/>
              </a:rPr>
              <a:t>TRAINING PROCESS</a:t>
            </a:r>
          </a:p>
        </p:txBody>
      </p:sp>
      <p:graphicFrame>
        <p:nvGraphicFramePr>
          <p:cNvPr id="14" name="Table 13">
            <a:extLst>
              <a:ext uri="{FF2B5EF4-FFF2-40B4-BE49-F238E27FC236}">
                <a16:creationId xmlns:a16="http://schemas.microsoft.com/office/drawing/2014/main" id="{BF89CE32-989E-C517-14C5-DA68A063B1BA}"/>
              </a:ext>
            </a:extLst>
          </p:cNvPr>
          <p:cNvGraphicFramePr>
            <a:graphicFrameLocks noGrp="1"/>
          </p:cNvGraphicFramePr>
          <p:nvPr>
            <p:extLst>
              <p:ext uri="{D42A27DB-BD31-4B8C-83A1-F6EECF244321}">
                <p14:modId xmlns:p14="http://schemas.microsoft.com/office/powerpoint/2010/main" val="1963041342"/>
              </p:ext>
            </p:extLst>
          </p:nvPr>
        </p:nvGraphicFramePr>
        <p:xfrm>
          <a:off x="10238831" y="3162973"/>
          <a:ext cx="7020699" cy="3108960"/>
        </p:xfrm>
        <a:graphic>
          <a:graphicData uri="http://schemas.openxmlformats.org/drawingml/2006/table">
            <a:tbl>
              <a:tblPr/>
              <a:tblGrid>
                <a:gridCol w="1788218">
                  <a:extLst>
                    <a:ext uri="{9D8B030D-6E8A-4147-A177-3AD203B41FA5}">
                      <a16:colId xmlns:a16="http://schemas.microsoft.com/office/drawing/2014/main" val="4174668836"/>
                    </a:ext>
                  </a:extLst>
                </a:gridCol>
                <a:gridCol w="5232481">
                  <a:extLst>
                    <a:ext uri="{9D8B030D-6E8A-4147-A177-3AD203B41FA5}">
                      <a16:colId xmlns:a16="http://schemas.microsoft.com/office/drawing/2014/main" val="831174672"/>
                    </a:ext>
                  </a:extLst>
                </a:gridCol>
              </a:tblGrid>
              <a:tr h="0">
                <a:tc>
                  <a:txBody>
                    <a:bodyPr/>
                    <a:lstStyle/>
                    <a:p>
                      <a:r>
                        <a:rPr lang="en-US" sz="2800" b="1">
                          <a:latin typeface="Calibri" panose="020F0502020204030204" pitchFamily="34" charset="0"/>
                          <a:ea typeface="Calibri" panose="020F0502020204030204" pitchFamily="34" charset="0"/>
                          <a:cs typeface="Calibri" panose="020F0502020204030204" pitchFamily="34" charset="0"/>
                        </a:rPr>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b="1" dirty="0">
                          <a:latin typeface="Calibri" panose="020F0502020204030204" pitchFamily="34" charset="0"/>
                          <a:ea typeface="Calibri" panose="020F0502020204030204" pitchFamily="34" charset="0"/>
                          <a:cs typeface="Calibri" panose="020F050202020403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8377486"/>
                  </a:ext>
                </a:extLst>
              </a:tr>
              <a:tr h="0">
                <a:tc>
                  <a:txBody>
                    <a:bodyPr/>
                    <a:lstStyle/>
                    <a:p>
                      <a:r>
                        <a:rPr lang="en-US" sz="2800">
                          <a:latin typeface="Calibri" panose="020F0502020204030204" pitchFamily="34" charset="0"/>
                          <a:ea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latin typeface="Calibri" panose="020F0502020204030204" pitchFamily="34" charset="0"/>
                          <a:ea typeface="Calibri" panose="020F0502020204030204" pitchFamily="34" charset="0"/>
                          <a:cs typeface="Calibri" panose="020F0502020204030204" pitchFamily="34" charset="0"/>
                        </a:rPr>
                        <a:t>Dataset Collection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4364429"/>
                  </a:ext>
                </a:extLst>
              </a:tr>
              <a:tr h="0">
                <a:tc>
                  <a:txBody>
                    <a:bodyPr/>
                    <a:lstStyle/>
                    <a:p>
                      <a:r>
                        <a:rPr lang="en-US" sz="2800">
                          <a:latin typeface="Calibri" panose="020F0502020204030204" pitchFamily="34" charset="0"/>
                          <a:ea typeface="Calibri" panose="020F0502020204030204" pitchFamily="34" charset="0"/>
                          <a:cs typeface="Calibri" panose="020F050202020403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latin typeface="Calibri" panose="020F0502020204030204" pitchFamily="34" charset="0"/>
                          <a:ea typeface="Calibri" panose="020F0502020204030204" pitchFamily="34" charset="0"/>
                          <a:cs typeface="Calibri" panose="020F0502020204030204" pitchFamily="34" charset="0"/>
                        </a:rPr>
                        <a:t>Image Preprocessing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8241456"/>
                  </a:ext>
                </a:extLst>
              </a:tr>
              <a:tr h="0">
                <a:tc>
                  <a:txBody>
                    <a:bodyPr/>
                    <a:lstStyle/>
                    <a:p>
                      <a:r>
                        <a:rPr lang="en-US" sz="2800">
                          <a:latin typeface="Calibri" panose="020F0502020204030204" pitchFamily="34" charset="0"/>
                          <a:ea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a:latin typeface="Calibri" panose="020F0502020204030204" pitchFamily="34" charset="0"/>
                          <a:ea typeface="Calibri" panose="020F0502020204030204" pitchFamily="34" charset="0"/>
                          <a:cs typeface="Calibri" panose="020F0502020204030204" pitchFamily="34" charset="0"/>
                        </a:rPr>
                        <a:t>Data Augmentation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2384065"/>
                  </a:ext>
                </a:extLst>
              </a:tr>
              <a:tr h="0">
                <a:tc>
                  <a:txBody>
                    <a:bodyPr/>
                    <a:lstStyle/>
                    <a:p>
                      <a:r>
                        <a:rPr lang="en-US" sz="2800">
                          <a:latin typeface="Calibri" panose="020F0502020204030204" pitchFamily="34" charset="0"/>
                          <a:ea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a:latin typeface="Calibri" panose="020F0502020204030204" pitchFamily="34" charset="0"/>
                          <a:ea typeface="Calibri" panose="020F0502020204030204" pitchFamily="34" charset="0"/>
                          <a:cs typeface="Calibri" panose="020F0502020204030204" pitchFamily="34" charset="0"/>
                        </a:rPr>
                        <a:t>Transfer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7879385"/>
                  </a:ext>
                </a:extLst>
              </a:tr>
              <a:tr h="0">
                <a:tc>
                  <a:txBody>
                    <a:bodyPr/>
                    <a:lstStyle/>
                    <a:p>
                      <a:r>
                        <a:rPr lang="en-US" sz="2800">
                          <a:latin typeface="Calibri" panose="020F0502020204030204" pitchFamily="34" charset="0"/>
                          <a:ea typeface="Calibri" panose="020F0502020204030204" pitchFamily="34" charset="0"/>
                          <a:cs typeface="Calibri" panose="020F050202020403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latin typeface="Calibri" panose="020F0502020204030204" pitchFamily="34" charset="0"/>
                          <a:ea typeface="Calibri" panose="020F0502020204030204" pitchFamily="34" charset="0"/>
                          <a:cs typeface="Calibri" panose="020F0502020204030204" pitchFamily="34" charset="0"/>
                        </a:rPr>
                        <a:t>Fine-Tuning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2202412"/>
                  </a:ext>
                </a:extLst>
              </a:tr>
            </a:tbl>
          </a:graphicData>
        </a:graphic>
      </p:graphicFrame>
      <p:sp>
        <p:nvSpPr>
          <p:cNvPr id="21" name="TextBox 20">
            <a:extLst>
              <a:ext uri="{FF2B5EF4-FFF2-40B4-BE49-F238E27FC236}">
                <a16:creationId xmlns:a16="http://schemas.microsoft.com/office/drawing/2014/main" id="{0EBC4FF0-281A-22CA-6728-8F4D614A989B}"/>
              </a:ext>
            </a:extLst>
          </p:cNvPr>
          <p:cNvSpPr txBox="1"/>
          <p:nvPr/>
        </p:nvSpPr>
        <p:spPr>
          <a:xfrm>
            <a:off x="8730172" y="6474644"/>
            <a:ext cx="9152020" cy="461665"/>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Technologies: </a:t>
            </a:r>
            <a:r>
              <a:rPr lang="en-US" sz="2400" dirty="0" err="1">
                <a:latin typeface="Calibri" panose="020F0502020204030204" pitchFamily="34" charset="0"/>
                <a:ea typeface="Calibri" panose="020F0502020204030204" pitchFamily="34" charset="0"/>
                <a:cs typeface="Calibri" panose="020F0502020204030204" pitchFamily="34" charset="0"/>
              </a:rPr>
              <a:t>PyTorch</a:t>
            </a:r>
            <a:r>
              <a:rPr lang="en-US" sz="2400" dirty="0">
                <a:latin typeface="Calibri" panose="020F0502020204030204" pitchFamily="34" charset="0"/>
                <a:ea typeface="Calibri" panose="020F0502020204030204" pitchFamily="34" charset="0"/>
                <a:cs typeface="Calibri" panose="020F0502020204030204" pitchFamily="34" charset="0"/>
              </a:rPr>
              <a:t>, OpenCV, Python, Google </a:t>
            </a:r>
            <a:r>
              <a:rPr lang="en-US" sz="2400" dirty="0" err="1">
                <a:latin typeface="Calibri" panose="020F0502020204030204" pitchFamily="34" charset="0"/>
                <a:ea typeface="Calibri" panose="020F0502020204030204" pitchFamily="34" charset="0"/>
                <a:cs typeface="Calibri" panose="020F0502020204030204" pitchFamily="34" charset="0"/>
              </a:rPr>
              <a:t>Colab</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46830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F44CD-23CE-7BA3-C2D7-9DC03A4CB5C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92E1A7-71F7-2C54-B0C9-964C8D10A78B}"/>
              </a:ext>
            </a:extLst>
          </p:cNvPr>
          <p:cNvGrpSpPr/>
          <p:nvPr/>
        </p:nvGrpSpPr>
        <p:grpSpPr>
          <a:xfrm>
            <a:off x="20999" y="-5419"/>
            <a:ext cx="18288000" cy="10287000"/>
            <a:chOff x="0" y="-749145"/>
            <a:chExt cx="24384000" cy="13716000"/>
          </a:xfrm>
        </p:grpSpPr>
        <p:sp>
          <p:nvSpPr>
            <p:cNvPr id="3" name="Freeform 3">
              <a:extLst>
                <a:ext uri="{FF2B5EF4-FFF2-40B4-BE49-F238E27FC236}">
                  <a16:creationId xmlns:a16="http://schemas.microsoft.com/office/drawing/2014/main" id="{179DBC14-A6CE-3387-EC1B-26ED789A6928}"/>
                </a:ext>
              </a:extLst>
            </p:cNvPr>
            <p:cNvSpPr/>
            <p:nvPr/>
          </p:nvSpPr>
          <p:spPr>
            <a:xfrm>
              <a:off x="0" y="-749145"/>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4" name="Group 4">
            <a:extLst>
              <a:ext uri="{FF2B5EF4-FFF2-40B4-BE49-F238E27FC236}">
                <a16:creationId xmlns:a16="http://schemas.microsoft.com/office/drawing/2014/main" id="{4A2BE75D-943C-1C54-9ADF-F11C9B85B3EC}"/>
              </a:ext>
            </a:extLst>
          </p:cNvPr>
          <p:cNvGrpSpPr/>
          <p:nvPr/>
        </p:nvGrpSpPr>
        <p:grpSpPr>
          <a:xfrm>
            <a:off x="20999" y="9533010"/>
            <a:ext cx="3917169" cy="703984"/>
            <a:chOff x="0" y="0"/>
            <a:chExt cx="5222892" cy="938645"/>
          </a:xfrm>
        </p:grpSpPr>
        <p:sp>
          <p:nvSpPr>
            <p:cNvPr id="5" name="Freeform 5">
              <a:extLst>
                <a:ext uri="{FF2B5EF4-FFF2-40B4-BE49-F238E27FC236}">
                  <a16:creationId xmlns:a16="http://schemas.microsoft.com/office/drawing/2014/main" id="{90F33BE9-7FD7-3B9E-EB04-BE4971C96450}"/>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Freeform 7">
            <a:extLst>
              <a:ext uri="{FF2B5EF4-FFF2-40B4-BE49-F238E27FC236}">
                <a16:creationId xmlns:a16="http://schemas.microsoft.com/office/drawing/2014/main" id="{0397E1EA-AF92-4186-5F40-4481EA0690F7}"/>
              </a:ext>
            </a:extLst>
          </p:cNvPr>
          <p:cNvSpPr/>
          <p:nvPr/>
        </p:nvSpPr>
        <p:spPr>
          <a:xfrm rot="2478992">
            <a:off x="1216499" y="2044731"/>
            <a:ext cx="4043219" cy="3954064"/>
          </a:xfrm>
          <a:custGeom>
            <a:avLst/>
            <a:gdLst/>
            <a:ahLst/>
            <a:cxnLst/>
            <a:rect l="l" t="t" r="r" b="b"/>
            <a:pathLst>
              <a:path w="4043219" h="3954064">
                <a:moveTo>
                  <a:pt x="0" y="0"/>
                </a:moveTo>
                <a:lnTo>
                  <a:pt x="4043219" y="0"/>
                </a:lnTo>
                <a:lnTo>
                  <a:pt x="4043219" y="3954064"/>
                </a:lnTo>
                <a:lnTo>
                  <a:pt x="0" y="39540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2DC4B6EC-5AE9-CA7E-6FA3-5F963F3AA97E}"/>
              </a:ext>
            </a:extLst>
          </p:cNvPr>
          <p:cNvSpPr/>
          <p:nvPr/>
        </p:nvSpPr>
        <p:spPr>
          <a:xfrm rot="2700000">
            <a:off x="1321932" y="6149915"/>
            <a:ext cx="3832353" cy="3747848"/>
          </a:xfrm>
          <a:custGeom>
            <a:avLst/>
            <a:gdLst/>
            <a:ahLst/>
            <a:cxnLst/>
            <a:rect l="l" t="t" r="r" b="b"/>
            <a:pathLst>
              <a:path w="3832353" h="3747848">
                <a:moveTo>
                  <a:pt x="0" y="0"/>
                </a:moveTo>
                <a:lnTo>
                  <a:pt x="3832353" y="0"/>
                </a:lnTo>
                <a:lnTo>
                  <a:pt x="3832353" y="3747847"/>
                </a:lnTo>
                <a:lnTo>
                  <a:pt x="0" y="37478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85DD886C-B830-8D5A-E8ED-61672C364E07}"/>
              </a:ext>
            </a:extLst>
          </p:cNvPr>
          <p:cNvSpPr/>
          <p:nvPr/>
        </p:nvSpPr>
        <p:spPr>
          <a:xfrm rot="2478992">
            <a:off x="13170596" y="2280913"/>
            <a:ext cx="3411897" cy="3336663"/>
          </a:xfrm>
          <a:custGeom>
            <a:avLst/>
            <a:gdLst/>
            <a:ahLst/>
            <a:cxnLst/>
            <a:rect l="l" t="t" r="r" b="b"/>
            <a:pathLst>
              <a:path w="3411897" h="3336663">
                <a:moveTo>
                  <a:pt x="0" y="0"/>
                </a:moveTo>
                <a:lnTo>
                  <a:pt x="3411896" y="0"/>
                </a:lnTo>
                <a:lnTo>
                  <a:pt x="3411896" y="3336662"/>
                </a:lnTo>
                <a:lnTo>
                  <a:pt x="0" y="33366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7DF0F829-0095-A2F2-174F-A20DE54D7F35}"/>
              </a:ext>
            </a:extLst>
          </p:cNvPr>
          <p:cNvSpPr/>
          <p:nvPr/>
        </p:nvSpPr>
        <p:spPr>
          <a:xfrm rot="2478992">
            <a:off x="13036931" y="6046807"/>
            <a:ext cx="4043219" cy="3954064"/>
          </a:xfrm>
          <a:custGeom>
            <a:avLst/>
            <a:gdLst/>
            <a:ahLst/>
            <a:cxnLst/>
            <a:rect l="l" t="t" r="r" b="b"/>
            <a:pathLst>
              <a:path w="4043219" h="3954064">
                <a:moveTo>
                  <a:pt x="0" y="0"/>
                </a:moveTo>
                <a:lnTo>
                  <a:pt x="4043219" y="0"/>
                </a:lnTo>
                <a:lnTo>
                  <a:pt x="4043219" y="3954063"/>
                </a:lnTo>
                <a:lnTo>
                  <a:pt x="0" y="395406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TextBox 17">
            <a:extLst>
              <a:ext uri="{FF2B5EF4-FFF2-40B4-BE49-F238E27FC236}">
                <a16:creationId xmlns:a16="http://schemas.microsoft.com/office/drawing/2014/main" id="{97BDBE04-FD5C-2EEE-5D42-AB143A637ECA}"/>
              </a:ext>
            </a:extLst>
          </p:cNvPr>
          <p:cNvSpPr txBox="1"/>
          <p:nvPr/>
        </p:nvSpPr>
        <p:spPr>
          <a:xfrm>
            <a:off x="1280310" y="3216654"/>
            <a:ext cx="13354891" cy="5343322"/>
          </a:xfrm>
          <a:prstGeom prst="rect">
            <a:avLst/>
          </a:prstGeom>
        </p:spPr>
        <p:txBody>
          <a:bodyPr wrap="square" lIns="0" tIns="0" rIns="0" bIns="0" rtlCol="0" anchor="t">
            <a:spAutoFit/>
          </a:bodyPr>
          <a:lstStyle/>
          <a:p>
            <a:pPr>
              <a:lnSpc>
                <a:spcPts val="4199"/>
              </a:lnSpc>
            </a:pPr>
            <a:r>
              <a:rPr lang="en-GB" sz="2799"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Supported Types:</a:t>
            </a:r>
            <a:endParaRPr lang="en-US" sz="2800" b="1" i="0" dirty="0">
              <a:solidFill>
                <a:srgbClr val="F9FAFB"/>
              </a:solidFill>
              <a:effectLst/>
              <a:highlight>
                <a:srgbClr val="151517"/>
              </a:highlight>
              <a:latin typeface="Calibri" panose="020F0502020204030204" pitchFamily="34" charset="0"/>
              <a:ea typeface="Calibri" panose="020F0502020204030204" pitchFamily="34" charset="0"/>
              <a:cs typeface="Calibri" panose="020F0502020204030204" pitchFamily="34" charset="0"/>
            </a:endParaRPr>
          </a:p>
          <a:p>
            <a:pPr>
              <a:lnSpc>
                <a:spcPts val="4199"/>
              </a:lnSpc>
            </a:pPr>
            <a:endParaRPr lang="en-GB" sz="2799"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endParaRPr>
          </a:p>
          <a:p>
            <a:pPr>
              <a:lnSpc>
                <a:spcPts val="4199"/>
              </a:lnSpc>
            </a:pPr>
            <a:endParaRPr lang="en-GB" sz="2799"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endParaRPr>
          </a:p>
          <a:p>
            <a:pPr>
              <a:lnSpc>
                <a:spcPts val="4199"/>
              </a:lnSpc>
            </a:pPr>
            <a:r>
              <a:rPr lang="en-US" sz="2799" b="1"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Workflow:</a:t>
            </a:r>
          </a:p>
          <a:p>
            <a:pPr>
              <a:lnSpc>
                <a:spcPts val="4199"/>
              </a:lnSpc>
            </a:pPr>
            <a:r>
              <a:rPr lang="en-US" sz="2799"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Fabric Image → CNN Feature Extraction → Fabric Type Prediction</a:t>
            </a:r>
          </a:p>
          <a:p>
            <a:pPr>
              <a:lnSpc>
                <a:spcPts val="4199"/>
              </a:lnSpc>
            </a:pPr>
            <a:endParaRPr lang="en-US" sz="2799"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endParaRPr>
          </a:p>
          <a:p>
            <a:pPr>
              <a:lnSpc>
                <a:spcPts val="4199"/>
              </a:lnSpc>
            </a:pPr>
            <a:r>
              <a:rPr lang="en-US" sz="2799" b="1"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DAMAGE DETECTION</a:t>
            </a:r>
          </a:p>
          <a:p>
            <a:pPr>
              <a:lnSpc>
                <a:spcPts val="4199"/>
              </a:lnSpc>
            </a:pPr>
            <a:r>
              <a:rPr lang="en-US" sz="2799"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Detected Defects:</a:t>
            </a:r>
          </a:p>
          <a:p>
            <a:pPr marL="914400" lvl="1" indent="-457200">
              <a:lnSpc>
                <a:spcPts val="4199"/>
              </a:lnSpc>
              <a:buFont typeface="Arial" panose="020B0604020202020204" pitchFamily="34" charset="0"/>
              <a:buChar char="•"/>
            </a:pPr>
            <a:r>
              <a:rPr lang="en-US" sz="2799"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Good Fabric</a:t>
            </a:r>
          </a:p>
          <a:p>
            <a:pPr marL="914400" lvl="1" indent="-457200">
              <a:lnSpc>
                <a:spcPts val="4199"/>
              </a:lnSpc>
              <a:buFont typeface="Arial" panose="020B0604020202020204" pitchFamily="34" charset="0"/>
              <a:buChar char="•"/>
            </a:pPr>
            <a:r>
              <a:rPr lang="en-US" sz="2799"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Defective Fabric</a:t>
            </a:r>
            <a:endParaRPr lang="en-GB" sz="2799" spc="-72"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endParaRPr>
          </a:p>
        </p:txBody>
      </p:sp>
      <p:sp>
        <p:nvSpPr>
          <p:cNvPr id="18" name="TextBox 18">
            <a:extLst>
              <a:ext uri="{FF2B5EF4-FFF2-40B4-BE49-F238E27FC236}">
                <a16:creationId xmlns:a16="http://schemas.microsoft.com/office/drawing/2014/main" id="{1A12902A-5566-EC12-6169-58043B3A9944}"/>
              </a:ext>
            </a:extLst>
          </p:cNvPr>
          <p:cNvSpPr txBox="1"/>
          <p:nvPr/>
        </p:nvSpPr>
        <p:spPr>
          <a:xfrm>
            <a:off x="-114278" y="2161782"/>
            <a:ext cx="9081815" cy="587084"/>
          </a:xfrm>
          <a:prstGeom prst="rect">
            <a:avLst/>
          </a:prstGeom>
        </p:spPr>
        <p:txBody>
          <a:bodyPr wrap="square" lIns="0" tIns="0" rIns="0" bIns="0" rtlCol="0" anchor="t">
            <a:spAutoFit/>
          </a:bodyPr>
          <a:lstStyle/>
          <a:p>
            <a:pPr algn="ctr">
              <a:lnSpc>
                <a:spcPts val="4899"/>
              </a:lnSpc>
            </a:pPr>
            <a:r>
              <a:rPr lang="en-US" sz="3499" dirty="0">
                <a:solidFill>
                  <a:srgbClr val="009B0B"/>
                </a:solidFill>
                <a:latin typeface="Canva Sans"/>
                <a:ea typeface="Canva Sans"/>
                <a:cs typeface="Canva Sans"/>
                <a:sym typeface="Canva Sans"/>
              </a:rPr>
              <a:t>FABRIC TYPE CLASSIFICATION</a:t>
            </a:r>
          </a:p>
        </p:txBody>
      </p:sp>
      <p:sp>
        <p:nvSpPr>
          <p:cNvPr id="19" name="TextBox 19">
            <a:extLst>
              <a:ext uri="{FF2B5EF4-FFF2-40B4-BE49-F238E27FC236}">
                <a16:creationId xmlns:a16="http://schemas.microsoft.com/office/drawing/2014/main" id="{7D04AAB9-9106-C767-94D0-391234A25853}"/>
              </a:ext>
            </a:extLst>
          </p:cNvPr>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dirty="0">
                <a:solidFill>
                  <a:srgbClr val="000000"/>
                </a:solidFill>
                <a:latin typeface="Canva Sans Bold"/>
                <a:ea typeface="Canva Sans Bold"/>
                <a:cs typeface="Canva Sans Bold"/>
                <a:sym typeface="Canva Sans Bold"/>
              </a:rPr>
              <a:t>14</a:t>
            </a:r>
          </a:p>
        </p:txBody>
      </p:sp>
      <p:sp>
        <p:nvSpPr>
          <p:cNvPr id="23" name="TextBox 23">
            <a:extLst>
              <a:ext uri="{FF2B5EF4-FFF2-40B4-BE49-F238E27FC236}">
                <a16:creationId xmlns:a16="http://schemas.microsoft.com/office/drawing/2014/main" id="{E3DDD0E8-FD85-712A-C21B-79DECF34512B}"/>
              </a:ext>
            </a:extLst>
          </p:cNvPr>
          <p:cNvSpPr txBox="1"/>
          <p:nvPr/>
        </p:nvSpPr>
        <p:spPr>
          <a:xfrm>
            <a:off x="1373701" y="960961"/>
            <a:ext cx="16213047" cy="599267"/>
          </a:xfrm>
          <a:prstGeom prst="rect">
            <a:avLst/>
          </a:prstGeom>
        </p:spPr>
        <p:txBody>
          <a:bodyPr wrap="square" lIns="0" tIns="0" rIns="0" bIns="0" rtlCol="0" anchor="t">
            <a:spAutoFit/>
          </a:bodyPr>
          <a:lstStyle/>
          <a:p>
            <a:pPr algn="l">
              <a:lnSpc>
                <a:spcPts val="4649"/>
              </a:lnSpc>
            </a:pPr>
            <a:r>
              <a:rPr lang="en-GB" sz="4400" dirty="0">
                <a:solidFill>
                  <a:srgbClr val="009B0B">
                    <a:alpha val="69804"/>
                  </a:srgbClr>
                </a:solidFill>
                <a:latin typeface="Archivo Black"/>
                <a:ea typeface="Archivo Black"/>
                <a:cs typeface="Archivo Black"/>
                <a:sym typeface="Archivo Black"/>
              </a:rPr>
              <a:t>FABRIC CLASSIFICATION &amp; DAMAGE DETECTION</a:t>
            </a:r>
          </a:p>
        </p:txBody>
      </p:sp>
      <p:sp>
        <p:nvSpPr>
          <p:cNvPr id="11" name="TextBox 10">
            <a:extLst>
              <a:ext uri="{FF2B5EF4-FFF2-40B4-BE49-F238E27FC236}">
                <a16:creationId xmlns:a16="http://schemas.microsoft.com/office/drawing/2014/main" id="{7BF79CFC-2517-22DC-B02F-CE2AA4D8120B}"/>
              </a:ext>
            </a:extLst>
          </p:cNvPr>
          <p:cNvSpPr txBox="1"/>
          <p:nvPr/>
        </p:nvSpPr>
        <p:spPr>
          <a:xfrm>
            <a:off x="1280310" y="3749283"/>
            <a:ext cx="13868250" cy="954107"/>
          </a:xfrm>
          <a:prstGeom prst="rect">
            <a:avLst/>
          </a:prstGeom>
          <a:noFill/>
        </p:spPr>
        <p:txBody>
          <a:bodyPr wrap="square">
            <a:spAutoFit/>
          </a:bodyPr>
          <a:lstStyle/>
          <a:p>
            <a:pPr marL="457200" indent="-457200" algn="l">
              <a:spcBef>
                <a:spcPts val="1200"/>
              </a:spcBef>
              <a:buFont typeface="Wingdings" panose="05000000000000000000" pitchFamily="2" charset="2"/>
              <a:buChar char="Ø"/>
            </a:pPr>
            <a:r>
              <a:rPr lang="en-US" sz="2800" b="0" i="0">
                <a:solidFill>
                  <a:srgbClr val="0F1115"/>
                </a:solidFill>
                <a:effectLst/>
                <a:latin typeface="quote-cjk-patch"/>
              </a:rPr>
              <a:t>Acrylic, Artificial</a:t>
            </a:r>
            <a:r>
              <a:rPr lang="en-US" sz="2800">
                <a:solidFill>
                  <a:srgbClr val="0F1115"/>
                </a:solidFill>
                <a:latin typeface="quote-cjk-patch"/>
              </a:rPr>
              <a:t> </a:t>
            </a:r>
            <a:r>
              <a:rPr lang="en-US" sz="2800" b="0" i="0">
                <a:solidFill>
                  <a:srgbClr val="0F1115"/>
                </a:solidFill>
                <a:effectLst/>
                <a:latin typeface="quote-cjk-patch"/>
              </a:rPr>
              <a:t>leather, Blended</a:t>
            </a:r>
            <a:r>
              <a:rPr lang="en-US" sz="2800">
                <a:solidFill>
                  <a:srgbClr val="0F1115"/>
                </a:solidFill>
                <a:latin typeface="quote-cjk-patch"/>
              </a:rPr>
              <a:t>, </a:t>
            </a:r>
            <a:r>
              <a:rPr lang="en-US" sz="2800" b="0" i="0">
                <a:solidFill>
                  <a:srgbClr val="0F1115"/>
                </a:solidFill>
                <a:effectLst/>
                <a:latin typeface="quote-cjk-patch"/>
              </a:rPr>
              <a:t>Chenille</a:t>
            </a:r>
            <a:r>
              <a:rPr lang="en-US" sz="2800">
                <a:solidFill>
                  <a:srgbClr val="0F1115"/>
                </a:solidFill>
                <a:latin typeface="quote-cjk-patch"/>
              </a:rPr>
              <a:t>, </a:t>
            </a:r>
            <a:r>
              <a:rPr lang="en-US" sz="2800" b="0" i="0">
                <a:solidFill>
                  <a:srgbClr val="0F1115"/>
                </a:solidFill>
                <a:effectLst/>
                <a:latin typeface="quote-cjk-patch"/>
              </a:rPr>
              <a:t>Corduroy</a:t>
            </a:r>
            <a:r>
              <a:rPr lang="en-US" sz="2800">
                <a:solidFill>
                  <a:srgbClr val="0F1115"/>
                </a:solidFill>
                <a:latin typeface="quote-cjk-patch"/>
              </a:rPr>
              <a:t>, </a:t>
            </a:r>
            <a:r>
              <a:rPr lang="en-US" sz="2800" b="0" i="0">
                <a:solidFill>
                  <a:srgbClr val="0F1115"/>
                </a:solidFill>
                <a:effectLst/>
                <a:latin typeface="quote-cjk-patch"/>
              </a:rPr>
              <a:t>Cotton</a:t>
            </a:r>
            <a:r>
              <a:rPr lang="en-US" sz="2800">
                <a:solidFill>
                  <a:srgbClr val="0F1115"/>
                </a:solidFill>
                <a:latin typeface="quote-cjk-patch"/>
              </a:rPr>
              <a:t>, </a:t>
            </a:r>
            <a:r>
              <a:rPr lang="en-US" sz="2800" b="0" i="0">
                <a:solidFill>
                  <a:srgbClr val="0F1115"/>
                </a:solidFill>
                <a:effectLst/>
                <a:latin typeface="quote-cjk-patch"/>
              </a:rPr>
              <a:t>Crepe</a:t>
            </a:r>
            <a:r>
              <a:rPr lang="en-US" sz="2800">
                <a:solidFill>
                  <a:srgbClr val="0F1115"/>
                </a:solidFill>
                <a:latin typeface="quote-cjk-patch"/>
              </a:rPr>
              <a:t>, </a:t>
            </a:r>
            <a:r>
              <a:rPr lang="en-US" sz="2800" b="0" i="0">
                <a:solidFill>
                  <a:srgbClr val="0F1115"/>
                </a:solidFill>
                <a:effectLst/>
                <a:latin typeface="quote-cjk-patch"/>
              </a:rPr>
              <a:t>Denim</a:t>
            </a:r>
            <a:r>
              <a:rPr lang="en-US" sz="2800">
                <a:solidFill>
                  <a:srgbClr val="0F1115"/>
                </a:solidFill>
                <a:latin typeface="quote-cjk-patch"/>
              </a:rPr>
              <a:t>, </a:t>
            </a:r>
            <a:r>
              <a:rPr lang="en-US" sz="2800" b="0" i="0">
                <a:solidFill>
                  <a:srgbClr val="0F1115"/>
                </a:solidFill>
                <a:effectLst/>
                <a:latin typeface="quote-cjk-patch"/>
              </a:rPr>
              <a:t>Fleece</a:t>
            </a:r>
            <a:r>
              <a:rPr lang="en-US" sz="2800">
                <a:solidFill>
                  <a:srgbClr val="0F1115"/>
                </a:solidFill>
                <a:latin typeface="quote-cjk-patch"/>
              </a:rPr>
              <a:t>, </a:t>
            </a:r>
            <a:r>
              <a:rPr lang="en-US" sz="2800" b="0" i="0">
                <a:solidFill>
                  <a:srgbClr val="0F1115"/>
                </a:solidFill>
                <a:effectLst/>
                <a:latin typeface="quote-cjk-patch"/>
              </a:rPr>
              <a:t>Felt</a:t>
            </a:r>
            <a:r>
              <a:rPr lang="en-US" sz="2800">
                <a:solidFill>
                  <a:srgbClr val="0F1115"/>
                </a:solidFill>
                <a:latin typeface="quote-cjk-patch"/>
              </a:rPr>
              <a:t>, </a:t>
            </a:r>
            <a:r>
              <a:rPr lang="en-US" sz="2800" b="0" i="0">
                <a:solidFill>
                  <a:srgbClr val="0F1115"/>
                </a:solidFill>
                <a:effectLst/>
                <a:latin typeface="quote-cjk-patch"/>
              </a:rPr>
              <a:t>Leather</a:t>
            </a:r>
            <a:r>
              <a:rPr lang="en-US" sz="2800">
                <a:solidFill>
                  <a:srgbClr val="0F1115"/>
                </a:solidFill>
                <a:latin typeface="quote-cjk-patch"/>
              </a:rPr>
              <a:t>, </a:t>
            </a:r>
            <a:r>
              <a:rPr lang="en-US" sz="2800" b="0" i="0">
                <a:solidFill>
                  <a:srgbClr val="0F1115"/>
                </a:solidFill>
                <a:effectLst/>
                <a:latin typeface="quote-cjk-patch"/>
              </a:rPr>
              <a:t>Linen, Nylon, Polyester</a:t>
            </a:r>
            <a:r>
              <a:rPr lang="en-US" sz="2800">
                <a:solidFill>
                  <a:srgbClr val="0F1115"/>
                </a:solidFill>
                <a:latin typeface="quote-cjk-patch"/>
              </a:rPr>
              <a:t>, </a:t>
            </a:r>
            <a:r>
              <a:rPr lang="en-US" sz="2800" b="0" i="0">
                <a:solidFill>
                  <a:srgbClr val="0F1115"/>
                </a:solidFill>
                <a:effectLst/>
                <a:latin typeface="quote-cjk-patch"/>
              </a:rPr>
              <a:t>Satin</a:t>
            </a:r>
            <a:r>
              <a:rPr lang="en-US" sz="2800">
                <a:solidFill>
                  <a:srgbClr val="0F1115"/>
                </a:solidFill>
                <a:latin typeface="quote-cjk-patch"/>
              </a:rPr>
              <a:t>, </a:t>
            </a:r>
            <a:r>
              <a:rPr lang="en-US" sz="2800" b="0" i="0">
                <a:solidFill>
                  <a:srgbClr val="0F1115"/>
                </a:solidFill>
                <a:effectLst/>
                <a:latin typeface="quote-cjk-patch"/>
              </a:rPr>
              <a:t>Silk</a:t>
            </a:r>
            <a:r>
              <a:rPr lang="en-US" sz="2800">
                <a:solidFill>
                  <a:srgbClr val="0F1115"/>
                </a:solidFill>
                <a:latin typeface="quote-cjk-patch"/>
              </a:rPr>
              <a:t>, </a:t>
            </a:r>
            <a:r>
              <a:rPr lang="en-US" sz="2800" b="0" i="0">
                <a:solidFill>
                  <a:srgbClr val="0F1115"/>
                </a:solidFill>
                <a:effectLst/>
                <a:latin typeface="quote-cjk-patch"/>
              </a:rPr>
              <a:t>Suede</a:t>
            </a:r>
            <a:r>
              <a:rPr lang="en-US" sz="2800">
                <a:solidFill>
                  <a:srgbClr val="0F1115"/>
                </a:solidFill>
                <a:latin typeface="quote-cjk-patch"/>
              </a:rPr>
              <a:t>, </a:t>
            </a:r>
            <a:r>
              <a:rPr lang="en-US" sz="2800" b="0" i="0">
                <a:solidFill>
                  <a:srgbClr val="0F1115"/>
                </a:solidFill>
                <a:effectLst/>
                <a:latin typeface="quote-cjk-patch"/>
              </a:rPr>
              <a:t>Terrycloth</a:t>
            </a:r>
            <a:r>
              <a:rPr lang="en-US" sz="2800">
                <a:solidFill>
                  <a:srgbClr val="0F1115"/>
                </a:solidFill>
                <a:latin typeface="quote-cjk-patch"/>
              </a:rPr>
              <a:t>, </a:t>
            </a:r>
            <a:r>
              <a:rPr lang="en-US" sz="2800" b="0" i="0">
                <a:solidFill>
                  <a:srgbClr val="0F1115"/>
                </a:solidFill>
                <a:effectLst/>
                <a:latin typeface="quote-cjk-patch"/>
              </a:rPr>
              <a:t>Velvet</a:t>
            </a:r>
            <a:r>
              <a:rPr lang="en-US" sz="2800">
                <a:solidFill>
                  <a:srgbClr val="0F1115"/>
                </a:solidFill>
                <a:latin typeface="quote-cjk-patch"/>
              </a:rPr>
              <a:t>, </a:t>
            </a:r>
            <a:r>
              <a:rPr lang="en-US" sz="2800" b="0" i="0">
                <a:solidFill>
                  <a:srgbClr val="0F1115"/>
                </a:solidFill>
                <a:effectLst/>
                <a:latin typeface="quote-cjk-patch"/>
              </a:rPr>
              <a:t>Viscose</a:t>
            </a:r>
            <a:r>
              <a:rPr lang="en-US" sz="2800">
                <a:solidFill>
                  <a:srgbClr val="0F1115"/>
                </a:solidFill>
                <a:latin typeface="quote-cjk-patch"/>
              </a:rPr>
              <a:t>, </a:t>
            </a:r>
            <a:r>
              <a:rPr lang="en-US" sz="2800" b="0" i="0">
                <a:solidFill>
                  <a:srgbClr val="0F1115"/>
                </a:solidFill>
                <a:effectLst/>
                <a:latin typeface="quote-cjk-patch"/>
              </a:rPr>
              <a:t>Wool</a:t>
            </a:r>
          </a:p>
        </p:txBody>
      </p:sp>
    </p:spTree>
    <p:extLst>
      <p:ext uri="{BB962C8B-B14F-4D97-AF65-F5344CB8AC3E}">
        <p14:creationId xmlns:p14="http://schemas.microsoft.com/office/powerpoint/2010/main" val="3476006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441"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10" name="TextBox 10"/>
          <p:cNvSpPr txBox="1"/>
          <p:nvPr/>
        </p:nvSpPr>
        <p:spPr>
          <a:xfrm>
            <a:off x="10626119" y="4864135"/>
            <a:ext cx="7345744" cy="425694"/>
          </a:xfrm>
          <a:prstGeom prst="rect">
            <a:avLst/>
          </a:prstGeom>
        </p:spPr>
        <p:txBody>
          <a:bodyPr lIns="0" tIns="0" rIns="0" bIns="0" rtlCol="0" anchor="t">
            <a:spAutoFit/>
          </a:bodyPr>
          <a:lstStyle/>
          <a:p>
            <a:pPr algn="just">
              <a:lnSpc>
                <a:spcPts val="3600"/>
              </a:lnSpc>
            </a:pPr>
            <a:endParaRPr lang="en-US" sz="2400">
              <a:solidFill>
                <a:srgbClr val="073064"/>
              </a:solidFill>
              <a:latin typeface="Open Sans"/>
              <a:ea typeface="Open Sans"/>
              <a:cs typeface="Open Sans"/>
              <a:sym typeface="Open Sans"/>
            </a:endParaRPr>
          </a:p>
        </p:txBody>
      </p:sp>
      <p:grpSp>
        <p:nvGrpSpPr>
          <p:cNvPr id="22" name="Group 22"/>
          <p:cNvGrpSpPr/>
          <p:nvPr/>
        </p:nvGrpSpPr>
        <p:grpSpPr>
          <a:xfrm>
            <a:off x="20999" y="9533010"/>
            <a:ext cx="3917169" cy="703984"/>
            <a:chOff x="0" y="0"/>
            <a:chExt cx="5222892" cy="938645"/>
          </a:xfrm>
        </p:grpSpPr>
        <p:sp>
          <p:nvSpPr>
            <p:cNvPr id="23" name="Freeform 23"/>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34" name="TextBox 34"/>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dirty="0">
                <a:solidFill>
                  <a:srgbClr val="000000"/>
                </a:solidFill>
                <a:latin typeface="Canva Sans Bold"/>
                <a:ea typeface="Canva Sans Bold"/>
                <a:cs typeface="Canva Sans Bold"/>
                <a:sym typeface="Canva Sans Bold"/>
              </a:rPr>
              <a:t>15</a:t>
            </a:r>
          </a:p>
        </p:txBody>
      </p:sp>
      <p:sp>
        <p:nvSpPr>
          <p:cNvPr id="39" name="TextBox 39"/>
          <p:cNvSpPr txBox="1"/>
          <p:nvPr/>
        </p:nvSpPr>
        <p:spPr>
          <a:xfrm>
            <a:off x="914400" y="834559"/>
            <a:ext cx="10309807" cy="443198"/>
          </a:xfrm>
          <a:prstGeom prst="rect">
            <a:avLst/>
          </a:prstGeom>
        </p:spPr>
        <p:txBody>
          <a:bodyPr wrap="square" lIns="0" tIns="0" rIns="0" bIns="0" rtlCol="0" anchor="t">
            <a:spAutoFit/>
          </a:bodyPr>
          <a:lstStyle/>
          <a:p>
            <a:pPr>
              <a:lnSpc>
                <a:spcPts val="3150"/>
              </a:lnSpc>
            </a:pPr>
            <a:r>
              <a:rPr lang="en-US" sz="4000" b="1" dirty="0">
                <a:solidFill>
                  <a:srgbClr val="009B0B"/>
                </a:solidFill>
                <a:latin typeface="Calibri" panose="020F0502020204030204" pitchFamily="34" charset="0"/>
                <a:ea typeface="Calibri" panose="020F0502020204030204" pitchFamily="34" charset="0"/>
                <a:cs typeface="Calibri" panose="020F0502020204030204" pitchFamily="34" charset="0"/>
              </a:rPr>
              <a:t>KEY FEATURES &amp; NOVELTY FEATURES</a:t>
            </a:r>
          </a:p>
        </p:txBody>
      </p:sp>
      <p:sp>
        <p:nvSpPr>
          <p:cNvPr id="41" name="TextBox 40">
            <a:extLst>
              <a:ext uri="{FF2B5EF4-FFF2-40B4-BE49-F238E27FC236}">
                <a16:creationId xmlns:a16="http://schemas.microsoft.com/office/drawing/2014/main" id="{FB97DA25-7E03-2DE0-613B-47DE2F0129BE}"/>
              </a:ext>
            </a:extLst>
          </p:cNvPr>
          <p:cNvSpPr txBox="1"/>
          <p:nvPr/>
        </p:nvSpPr>
        <p:spPr>
          <a:xfrm>
            <a:off x="914400" y="3930811"/>
            <a:ext cx="12934335" cy="369332"/>
          </a:xfrm>
          <a:prstGeom prst="rect">
            <a:avLst/>
          </a:prstGeom>
          <a:noFill/>
        </p:spPr>
        <p:txBody>
          <a:bodyPr wrap="square">
            <a:spAutoFit/>
          </a:bodyPr>
          <a:lstStyle/>
          <a:p>
            <a:pPr algn="l"/>
            <a:r>
              <a:rPr lang="en-GB" b="0" i="0">
                <a:effectLst/>
                <a:latin typeface="fkGroteskNeue"/>
              </a:rPr>
              <a:t>.</a:t>
            </a:r>
          </a:p>
        </p:txBody>
      </p:sp>
      <p:sp>
        <p:nvSpPr>
          <p:cNvPr id="43" name="TextBox 42">
            <a:extLst>
              <a:ext uri="{FF2B5EF4-FFF2-40B4-BE49-F238E27FC236}">
                <a16:creationId xmlns:a16="http://schemas.microsoft.com/office/drawing/2014/main" id="{1974F814-9D94-79F0-DA97-1BFCBF402A52}"/>
              </a:ext>
            </a:extLst>
          </p:cNvPr>
          <p:cNvSpPr txBox="1"/>
          <p:nvPr/>
        </p:nvSpPr>
        <p:spPr>
          <a:xfrm>
            <a:off x="797144" y="3412471"/>
            <a:ext cx="15981001" cy="2126864"/>
          </a:xfrm>
          <a:prstGeom prst="rect">
            <a:avLst/>
          </a:prstGeom>
          <a:noFill/>
        </p:spPr>
        <p:txBody>
          <a:bodyPr wrap="square" lIns="91440" tIns="45720" rIns="91440" bIns="45720" anchor="t">
            <a:spAutoFit/>
          </a:bodyPr>
          <a:lstStyle/>
          <a:p>
            <a:endParaRPr lang="en-US"/>
          </a:p>
          <a:p>
            <a:br>
              <a:rPr lang="en-US"/>
            </a:br>
            <a:endParaRPr lang="en-US"/>
          </a:p>
          <a:p>
            <a:pPr>
              <a:lnSpc>
                <a:spcPct val="150000"/>
              </a:lnSpc>
            </a:pPr>
            <a:br>
              <a:rPr lang="en-US"/>
            </a:br>
            <a:endParaRPr lang="en-US"/>
          </a:p>
          <a:p>
            <a:pPr>
              <a:lnSpc>
                <a:spcPct val="150000"/>
              </a:lnSpc>
            </a:pPr>
            <a:endParaRPr lang="en-US"/>
          </a:p>
        </p:txBody>
      </p:sp>
      <p:sp>
        <p:nvSpPr>
          <p:cNvPr id="5" name="TextBox 4">
            <a:extLst>
              <a:ext uri="{FF2B5EF4-FFF2-40B4-BE49-F238E27FC236}">
                <a16:creationId xmlns:a16="http://schemas.microsoft.com/office/drawing/2014/main" id="{072A650C-AF2F-A0A9-B55B-BA8F06D1437E}"/>
              </a:ext>
            </a:extLst>
          </p:cNvPr>
          <p:cNvSpPr txBox="1"/>
          <p:nvPr/>
        </p:nvSpPr>
        <p:spPr>
          <a:xfrm>
            <a:off x="1476069" y="1483588"/>
            <a:ext cx="15981001" cy="7319824"/>
          </a:xfrm>
          <a:prstGeom prst="rect">
            <a:avLst/>
          </a:prstGeom>
          <a:noFill/>
        </p:spPr>
        <p:txBody>
          <a:bodyPr wrap="square" lIns="91440" tIns="45720" rIns="91440" bIns="45720" anchor="t">
            <a:spAutoFit/>
          </a:bodyPr>
          <a:lstStyle/>
          <a:p>
            <a:pPr>
              <a:lnSpc>
                <a:spcPct val="150000"/>
              </a:lnSpc>
            </a:pPr>
            <a:r>
              <a:rPr lang="en-US" sz="3200" b="1" dirty="0">
                <a:latin typeface="Calibri" panose="020F0502020204030204" pitchFamily="34" charset="0"/>
                <a:ea typeface="Calibri" panose="020F0502020204030204" pitchFamily="34" charset="0"/>
                <a:cs typeface="Calibri" panose="020F0502020204030204" pitchFamily="34" charset="0"/>
              </a:rPr>
              <a:t>KEY FEATURES</a:t>
            </a:r>
          </a:p>
          <a:p>
            <a:pPr marL="285750" indent="-28575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Fabric Type Classification – Automatically identifies different fabric materials</a:t>
            </a:r>
          </a:p>
          <a:p>
            <a:pPr marL="285750" indent="-28575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Damage Detection – Detects visible fabric defects automatically</a:t>
            </a:r>
          </a:p>
          <a:p>
            <a:pPr marL="285750" indent="-28575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Good vs Defective Prediction – Classifies fabric conditions intelligently</a:t>
            </a:r>
          </a:p>
          <a:p>
            <a:pPr marL="285750" indent="-28575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Statistical Analysis – Provides model accuracy and condition analysis</a:t>
            </a:r>
          </a:p>
          <a:p>
            <a:pPr>
              <a:lnSpc>
                <a:spcPct val="150000"/>
              </a:lnSpc>
            </a:pPr>
            <a:endParaRPr lang="en-US" sz="28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3200" b="1" dirty="0">
                <a:latin typeface="Calibri" panose="020F0502020204030204" pitchFamily="34" charset="0"/>
                <a:ea typeface="Calibri" panose="020F0502020204030204" pitchFamily="34" charset="0"/>
                <a:cs typeface="Calibri" panose="020F0502020204030204" pitchFamily="34" charset="0"/>
              </a:rPr>
              <a:t>NOVELTY FEATURES</a:t>
            </a:r>
          </a:p>
          <a:p>
            <a:pPr marL="285750" indent="-28575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AI-Powered Automated Inspection (replaces manual methods)</a:t>
            </a:r>
          </a:p>
          <a:p>
            <a:pPr marL="285750" indent="-28575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MobileNetV2 Transfer Learning (pretrained CNN for efficient learning)</a:t>
            </a:r>
          </a:p>
          <a:p>
            <a:pPr marL="285750" indent="-28575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Intelligent Defect Identification (texture &amp; pattern analysis)</a:t>
            </a:r>
          </a:p>
          <a:p>
            <a:pPr marL="285750" indent="-285750">
              <a:lnSpc>
                <a:spcPct val="150000"/>
              </a:lnSpc>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Real-Time Fabric Analysis (fast image-based predictions)</a:t>
            </a:r>
          </a:p>
        </p:txBody>
      </p:sp>
    </p:spTree>
    <p:extLst>
      <p:ext uri="{BB962C8B-B14F-4D97-AF65-F5344CB8AC3E}">
        <p14:creationId xmlns:p14="http://schemas.microsoft.com/office/powerpoint/2010/main" val="3142663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605" y="-66518"/>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10" name="TextBox 10"/>
          <p:cNvSpPr txBox="1"/>
          <p:nvPr/>
        </p:nvSpPr>
        <p:spPr>
          <a:xfrm>
            <a:off x="10626119" y="4864135"/>
            <a:ext cx="7345744" cy="425694"/>
          </a:xfrm>
          <a:prstGeom prst="rect">
            <a:avLst/>
          </a:prstGeom>
        </p:spPr>
        <p:txBody>
          <a:bodyPr lIns="0" tIns="0" rIns="0" bIns="0" rtlCol="0" anchor="t">
            <a:spAutoFit/>
          </a:bodyPr>
          <a:lstStyle/>
          <a:p>
            <a:pPr algn="just">
              <a:lnSpc>
                <a:spcPts val="3600"/>
              </a:lnSpc>
            </a:pPr>
            <a:endParaRPr lang="en-US" sz="2400">
              <a:solidFill>
                <a:srgbClr val="073064"/>
              </a:solidFill>
              <a:latin typeface="Open Sans"/>
              <a:ea typeface="Open Sans"/>
              <a:cs typeface="Open Sans"/>
              <a:sym typeface="Open Sans"/>
            </a:endParaRPr>
          </a:p>
        </p:txBody>
      </p:sp>
      <p:grpSp>
        <p:nvGrpSpPr>
          <p:cNvPr id="22" name="Group 22"/>
          <p:cNvGrpSpPr/>
          <p:nvPr/>
        </p:nvGrpSpPr>
        <p:grpSpPr>
          <a:xfrm>
            <a:off x="20999" y="9533010"/>
            <a:ext cx="3917169" cy="703984"/>
            <a:chOff x="0" y="0"/>
            <a:chExt cx="5222892" cy="938645"/>
          </a:xfrm>
        </p:grpSpPr>
        <p:sp>
          <p:nvSpPr>
            <p:cNvPr id="23" name="Freeform 23"/>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34" name="TextBox 34"/>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dirty="0">
                <a:solidFill>
                  <a:srgbClr val="000000"/>
                </a:solidFill>
                <a:latin typeface="Canva Sans Bold"/>
                <a:ea typeface="Canva Sans Bold"/>
                <a:cs typeface="Canva Sans Bold"/>
                <a:sym typeface="Canva Sans Bold"/>
              </a:rPr>
              <a:t>16</a:t>
            </a:r>
          </a:p>
        </p:txBody>
      </p:sp>
      <p:sp>
        <p:nvSpPr>
          <p:cNvPr id="39" name="TextBox 39"/>
          <p:cNvSpPr txBox="1"/>
          <p:nvPr/>
        </p:nvSpPr>
        <p:spPr>
          <a:xfrm>
            <a:off x="556313" y="774800"/>
            <a:ext cx="11163247" cy="456728"/>
          </a:xfrm>
          <a:prstGeom prst="rect">
            <a:avLst/>
          </a:prstGeom>
        </p:spPr>
        <p:txBody>
          <a:bodyPr wrap="square" lIns="0" tIns="0" rIns="0" bIns="0" rtlCol="0" anchor="t">
            <a:spAutoFit/>
          </a:bodyPr>
          <a:lstStyle/>
          <a:p>
            <a:pPr>
              <a:lnSpc>
                <a:spcPts val="3150"/>
              </a:lnSpc>
            </a:pPr>
            <a:r>
              <a:rPr lang="en-US" sz="4400" b="1" dirty="0">
                <a:solidFill>
                  <a:srgbClr val="009B0B"/>
                </a:solidFill>
                <a:latin typeface="Calibri" panose="020F0502020204030204" pitchFamily="34" charset="0"/>
                <a:ea typeface="Calibri" panose="020F0502020204030204" pitchFamily="34" charset="0"/>
                <a:cs typeface="Calibri" panose="020F0502020204030204" pitchFamily="34" charset="0"/>
              </a:rPr>
              <a:t>STATISTICAL ANALYSIS &amp; CURRENT PROGRESS</a:t>
            </a:r>
          </a:p>
        </p:txBody>
      </p:sp>
      <p:sp>
        <p:nvSpPr>
          <p:cNvPr id="41" name="TextBox 40">
            <a:extLst>
              <a:ext uri="{FF2B5EF4-FFF2-40B4-BE49-F238E27FC236}">
                <a16:creationId xmlns:a16="http://schemas.microsoft.com/office/drawing/2014/main" id="{FB97DA25-7E03-2DE0-613B-47DE2F0129BE}"/>
              </a:ext>
            </a:extLst>
          </p:cNvPr>
          <p:cNvSpPr txBox="1"/>
          <p:nvPr/>
        </p:nvSpPr>
        <p:spPr>
          <a:xfrm>
            <a:off x="914400" y="3930811"/>
            <a:ext cx="12934335" cy="369332"/>
          </a:xfrm>
          <a:prstGeom prst="rect">
            <a:avLst/>
          </a:prstGeom>
          <a:noFill/>
        </p:spPr>
        <p:txBody>
          <a:bodyPr wrap="square">
            <a:spAutoFit/>
          </a:bodyPr>
          <a:lstStyle/>
          <a:p>
            <a:pPr algn="l"/>
            <a:r>
              <a:rPr lang="en-GB" b="0" i="0">
                <a:effectLst/>
                <a:latin typeface="fkGroteskNeue"/>
              </a:rPr>
              <a:t>.</a:t>
            </a:r>
          </a:p>
        </p:txBody>
      </p:sp>
      <p:sp>
        <p:nvSpPr>
          <p:cNvPr id="5" name="TextBox 4">
            <a:extLst>
              <a:ext uri="{FF2B5EF4-FFF2-40B4-BE49-F238E27FC236}">
                <a16:creationId xmlns:a16="http://schemas.microsoft.com/office/drawing/2014/main" id="{072A650C-AF2F-A0A9-B55B-BA8F06D1437E}"/>
              </a:ext>
            </a:extLst>
          </p:cNvPr>
          <p:cNvSpPr txBox="1"/>
          <p:nvPr/>
        </p:nvSpPr>
        <p:spPr>
          <a:xfrm>
            <a:off x="559639" y="1527263"/>
            <a:ext cx="7029882" cy="1493358"/>
          </a:xfrm>
          <a:prstGeom prst="rect">
            <a:avLst/>
          </a:prstGeom>
          <a:noFill/>
        </p:spPr>
        <p:txBody>
          <a:bodyPr wrap="square" lIns="91440" tIns="45720" rIns="91440" bIns="45720" anchor="t">
            <a:spAutoFit/>
          </a:bodyPr>
          <a:lstStyle/>
          <a:p>
            <a:pPr>
              <a:lnSpc>
                <a:spcPct val="150000"/>
              </a:lnSpc>
            </a:pPr>
            <a:r>
              <a:rPr lang="en-US" sz="3200" b="1" dirty="0">
                <a:latin typeface="Calibri" panose="020F0502020204030204" pitchFamily="34" charset="0"/>
                <a:ea typeface="Calibri" panose="020F0502020204030204" pitchFamily="34" charset="0"/>
                <a:cs typeface="Calibri" panose="020F0502020204030204" pitchFamily="34" charset="0"/>
              </a:rPr>
              <a:t>STATISTICAL ANALYSIS</a:t>
            </a:r>
          </a:p>
          <a:p>
            <a:pPr>
              <a:lnSpc>
                <a:spcPct val="150000"/>
              </a:lnSpc>
            </a:pPr>
            <a:endParaRPr lang="en-US" sz="3200" b="1"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A0182EF1-91FE-379C-1358-6B3E03F722C9}"/>
              </a:ext>
            </a:extLst>
          </p:cNvPr>
          <p:cNvGraphicFramePr>
            <a:graphicFrameLocks noGrp="1"/>
          </p:cNvGraphicFramePr>
          <p:nvPr>
            <p:extLst>
              <p:ext uri="{D42A27DB-BD31-4B8C-83A1-F6EECF244321}">
                <p14:modId xmlns:p14="http://schemas.microsoft.com/office/powerpoint/2010/main" val="3413105707"/>
              </p:ext>
            </p:extLst>
          </p:nvPr>
        </p:nvGraphicFramePr>
        <p:xfrm>
          <a:off x="754546" y="2574286"/>
          <a:ext cx="5496976" cy="1432560"/>
        </p:xfrm>
        <a:graphic>
          <a:graphicData uri="http://schemas.openxmlformats.org/drawingml/2006/table">
            <a:tbl>
              <a:tblPr/>
              <a:tblGrid>
                <a:gridCol w="2982376">
                  <a:extLst>
                    <a:ext uri="{9D8B030D-6E8A-4147-A177-3AD203B41FA5}">
                      <a16:colId xmlns:a16="http://schemas.microsoft.com/office/drawing/2014/main" val="968101158"/>
                    </a:ext>
                  </a:extLst>
                </a:gridCol>
                <a:gridCol w="2514600">
                  <a:extLst>
                    <a:ext uri="{9D8B030D-6E8A-4147-A177-3AD203B41FA5}">
                      <a16:colId xmlns:a16="http://schemas.microsoft.com/office/drawing/2014/main" val="1868592317"/>
                    </a:ext>
                  </a:extLst>
                </a:gridCol>
              </a:tblGrid>
              <a:tr h="0">
                <a:tc>
                  <a:txBody>
                    <a:bodyPr/>
                    <a:lstStyle/>
                    <a:p>
                      <a:r>
                        <a:rPr lang="en-US" sz="2800" b="1" dirty="0">
                          <a:latin typeface="Calibri" panose="020F0502020204030204" pitchFamily="34" charset="0"/>
                          <a:ea typeface="Calibri" panose="020F0502020204030204" pitchFamily="34" charset="0"/>
                          <a:cs typeface="Calibri" panose="020F0502020204030204" pitchFamily="34"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b="1" dirty="0">
                          <a:latin typeface="Calibri" panose="020F0502020204030204" pitchFamily="34" charset="0"/>
                          <a:ea typeface="Calibri" panose="020F0502020204030204" pitchFamily="34" charset="0"/>
                          <a:cs typeface="Calibri" panose="020F0502020204030204" pitchFamily="34" charset="0"/>
                        </a:rPr>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837209"/>
                  </a:ext>
                </a:extLst>
              </a:tr>
              <a:tr h="0">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Fabric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64.23%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7234131"/>
                  </a:ext>
                </a:extLst>
              </a:tr>
              <a:tr h="0">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Damage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86.3%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35306"/>
                  </a:ext>
                </a:extLst>
              </a:tr>
            </a:tbl>
          </a:graphicData>
        </a:graphic>
      </p:graphicFrame>
      <p:sp>
        <p:nvSpPr>
          <p:cNvPr id="7" name="TextBox 6">
            <a:extLst>
              <a:ext uri="{FF2B5EF4-FFF2-40B4-BE49-F238E27FC236}">
                <a16:creationId xmlns:a16="http://schemas.microsoft.com/office/drawing/2014/main" id="{21DD1C66-DE05-3EDF-F4EA-8417E3D9E8A8}"/>
              </a:ext>
            </a:extLst>
          </p:cNvPr>
          <p:cNvSpPr txBox="1"/>
          <p:nvPr/>
        </p:nvSpPr>
        <p:spPr>
          <a:xfrm>
            <a:off x="9144000" y="1749868"/>
            <a:ext cx="9387840" cy="584775"/>
          </a:xfrm>
          <a:prstGeom prst="rect">
            <a:avLst/>
          </a:prstGeom>
          <a:noFill/>
        </p:spPr>
        <p:txBody>
          <a:bodyPr wrap="square">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Dataset Statistics</a:t>
            </a:r>
          </a:p>
        </p:txBody>
      </p:sp>
      <p:graphicFrame>
        <p:nvGraphicFramePr>
          <p:cNvPr id="8" name="Table 7">
            <a:extLst>
              <a:ext uri="{FF2B5EF4-FFF2-40B4-BE49-F238E27FC236}">
                <a16:creationId xmlns:a16="http://schemas.microsoft.com/office/drawing/2014/main" id="{4AB6DA42-76AC-E254-2439-65968876E769}"/>
              </a:ext>
            </a:extLst>
          </p:cNvPr>
          <p:cNvGraphicFramePr>
            <a:graphicFrameLocks noGrp="1"/>
          </p:cNvGraphicFramePr>
          <p:nvPr>
            <p:extLst>
              <p:ext uri="{D42A27DB-BD31-4B8C-83A1-F6EECF244321}">
                <p14:modId xmlns:p14="http://schemas.microsoft.com/office/powerpoint/2010/main" val="3690572134"/>
              </p:ext>
            </p:extLst>
          </p:nvPr>
        </p:nvGraphicFramePr>
        <p:xfrm>
          <a:off x="9457210" y="2535589"/>
          <a:ext cx="6194270" cy="1615440"/>
        </p:xfrm>
        <a:graphic>
          <a:graphicData uri="http://schemas.openxmlformats.org/drawingml/2006/table">
            <a:tbl>
              <a:tblPr/>
              <a:tblGrid>
                <a:gridCol w="3237710">
                  <a:extLst>
                    <a:ext uri="{9D8B030D-6E8A-4147-A177-3AD203B41FA5}">
                      <a16:colId xmlns:a16="http://schemas.microsoft.com/office/drawing/2014/main" val="1347880973"/>
                    </a:ext>
                  </a:extLst>
                </a:gridCol>
                <a:gridCol w="2956560">
                  <a:extLst>
                    <a:ext uri="{9D8B030D-6E8A-4147-A177-3AD203B41FA5}">
                      <a16:colId xmlns:a16="http://schemas.microsoft.com/office/drawing/2014/main" val="4171557708"/>
                    </a:ext>
                  </a:extLst>
                </a:gridCol>
              </a:tblGrid>
              <a:tr h="0">
                <a:tc>
                  <a:txBody>
                    <a:bodyPr/>
                    <a:lstStyle/>
                    <a:p>
                      <a:r>
                        <a:rPr lang="en-US" sz="3200" b="1" dirty="0">
                          <a:latin typeface="Calibri" panose="020F0502020204030204" pitchFamily="34" charset="0"/>
                          <a:ea typeface="Calibri" panose="020F0502020204030204" pitchFamily="34" charset="0"/>
                          <a:cs typeface="Calibri" panose="020F0502020204030204" pitchFamily="34" charset="0"/>
                        </a:rPr>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200" b="1" dirty="0">
                          <a:latin typeface="Calibri" panose="020F0502020204030204" pitchFamily="34" charset="0"/>
                          <a:ea typeface="Calibri" panose="020F0502020204030204" pitchFamily="34" charset="0"/>
                          <a:cs typeface="Calibri" panose="020F0502020204030204" pitchFamily="34" charset="0"/>
                        </a:rPr>
                        <a:t>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3885408"/>
                  </a:ext>
                </a:extLst>
              </a:tr>
              <a:tr h="0">
                <a:tc>
                  <a:txBody>
                    <a:bodyPr/>
                    <a:lstStyle/>
                    <a:p>
                      <a:r>
                        <a:rPr lang="en-US" sz="2800" dirty="0">
                          <a:latin typeface="Calibri" panose="020F0502020204030204" pitchFamily="34" charset="0"/>
                          <a:ea typeface="Calibri" panose="020F0502020204030204" pitchFamily="34" charset="0"/>
                          <a:cs typeface="Calibri" panose="020F0502020204030204" pitchFamily="34" charset="0"/>
                        </a:rPr>
                        <a:t>Good Fabrics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a:latin typeface="Calibri" panose="020F0502020204030204" pitchFamily="34" charset="0"/>
                          <a:ea typeface="Calibri" panose="020F0502020204030204" pitchFamily="34" charset="0"/>
                          <a:cs typeface="Calibri" panose="020F0502020204030204" pitchFamily="34" charset="0"/>
                        </a:rPr>
                        <a:t>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7702875"/>
                  </a:ext>
                </a:extLst>
              </a:tr>
              <a:tr h="0">
                <a:tc>
                  <a:txBody>
                    <a:bodyPr/>
                    <a:lstStyle/>
                    <a:p>
                      <a:r>
                        <a:rPr lang="en-US" sz="2800">
                          <a:latin typeface="Calibri" panose="020F0502020204030204" pitchFamily="34" charset="0"/>
                          <a:ea typeface="Calibri" panose="020F0502020204030204" pitchFamily="34" charset="0"/>
                          <a:cs typeface="Calibri" panose="020F0502020204030204" pitchFamily="34" charset="0"/>
                        </a:rPr>
                        <a:t>Defective Fabrics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latin typeface="Calibri" panose="020F0502020204030204" pitchFamily="34" charset="0"/>
                          <a:ea typeface="Calibri" panose="020F0502020204030204" pitchFamily="34" charset="0"/>
                          <a:cs typeface="Calibri" panose="020F050202020403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6409660"/>
                  </a:ext>
                </a:extLst>
              </a:tr>
            </a:tbl>
          </a:graphicData>
        </a:graphic>
      </p:graphicFrame>
      <p:sp>
        <p:nvSpPr>
          <p:cNvPr id="15" name="TextBox 14">
            <a:extLst>
              <a:ext uri="{FF2B5EF4-FFF2-40B4-BE49-F238E27FC236}">
                <a16:creationId xmlns:a16="http://schemas.microsoft.com/office/drawing/2014/main" id="{F2954B45-5A6D-23C9-B2E3-71AD3197DD18}"/>
              </a:ext>
            </a:extLst>
          </p:cNvPr>
          <p:cNvSpPr txBox="1"/>
          <p:nvPr/>
        </p:nvSpPr>
        <p:spPr>
          <a:xfrm>
            <a:off x="5520417" y="4544619"/>
            <a:ext cx="9265920" cy="584775"/>
          </a:xfrm>
          <a:prstGeom prst="rect">
            <a:avLst/>
          </a:prstGeom>
          <a:noFill/>
        </p:spPr>
        <p:txBody>
          <a:bodyPr wrap="square">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CURRENT PROGRESS</a:t>
            </a:r>
          </a:p>
        </p:txBody>
      </p:sp>
      <p:graphicFrame>
        <p:nvGraphicFramePr>
          <p:cNvPr id="16" name="Table 15">
            <a:extLst>
              <a:ext uri="{FF2B5EF4-FFF2-40B4-BE49-F238E27FC236}">
                <a16:creationId xmlns:a16="http://schemas.microsoft.com/office/drawing/2014/main" id="{AA6C260D-02C9-4778-A359-2B4740E72AA0}"/>
              </a:ext>
            </a:extLst>
          </p:cNvPr>
          <p:cNvGraphicFramePr>
            <a:graphicFrameLocks noGrp="1"/>
          </p:cNvGraphicFramePr>
          <p:nvPr>
            <p:extLst>
              <p:ext uri="{D42A27DB-BD31-4B8C-83A1-F6EECF244321}">
                <p14:modId xmlns:p14="http://schemas.microsoft.com/office/powerpoint/2010/main" val="1536834911"/>
              </p:ext>
            </p:extLst>
          </p:nvPr>
        </p:nvGraphicFramePr>
        <p:xfrm>
          <a:off x="4282196" y="5360317"/>
          <a:ext cx="8229600" cy="3261360"/>
        </p:xfrm>
        <a:graphic>
          <a:graphicData uri="http://schemas.openxmlformats.org/drawingml/2006/table">
            <a:tbl>
              <a:tblPr/>
              <a:tblGrid>
                <a:gridCol w="4114800">
                  <a:extLst>
                    <a:ext uri="{9D8B030D-6E8A-4147-A177-3AD203B41FA5}">
                      <a16:colId xmlns:a16="http://schemas.microsoft.com/office/drawing/2014/main" val="1313200435"/>
                    </a:ext>
                  </a:extLst>
                </a:gridCol>
                <a:gridCol w="4114800">
                  <a:extLst>
                    <a:ext uri="{9D8B030D-6E8A-4147-A177-3AD203B41FA5}">
                      <a16:colId xmlns:a16="http://schemas.microsoft.com/office/drawing/2014/main" val="2010174728"/>
                    </a:ext>
                  </a:extLst>
                </a:gridCol>
              </a:tblGrid>
              <a:tr h="0">
                <a:tc>
                  <a:txBody>
                    <a:bodyPr/>
                    <a:lstStyle/>
                    <a:p>
                      <a:r>
                        <a:rPr lang="en-US" sz="2800" b="1">
                          <a:latin typeface="Calibri" panose="020F0502020204030204" pitchFamily="34" charset="0"/>
                          <a:ea typeface="Calibri" panose="020F0502020204030204" pitchFamily="34" charset="0"/>
                          <a:cs typeface="Calibri" panose="020F0502020204030204" pitchFamily="34" charset="0"/>
                        </a:rPr>
                        <a:t>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b="1" dirty="0">
                          <a:latin typeface="Calibri" panose="020F0502020204030204" pitchFamily="34" charset="0"/>
                          <a:ea typeface="Calibri" panose="020F0502020204030204" pitchFamily="34" charset="0"/>
                          <a:cs typeface="Calibri" panose="020F0502020204030204" pitchFamily="34" charset="0"/>
                        </a:rPr>
                        <a:t>Task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6383836"/>
                  </a:ext>
                </a:extLst>
              </a:tr>
              <a:tr h="0">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a:latin typeface="Calibri" panose="020F0502020204030204" pitchFamily="34" charset="0"/>
                          <a:ea typeface="Calibri" panose="020F0502020204030204" pitchFamily="34" charset="0"/>
                          <a:cs typeface="Calibri" panose="020F0502020204030204" pitchFamily="34" charset="0"/>
                        </a:rPr>
                        <a:t>Dataset Collection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5497717"/>
                  </a:ext>
                </a:extLst>
              </a:tr>
              <a:tr h="0">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a:latin typeface="Calibri" panose="020F0502020204030204" pitchFamily="34" charset="0"/>
                          <a:ea typeface="Calibri" panose="020F0502020204030204" pitchFamily="34" charset="0"/>
                          <a:cs typeface="Calibri" panose="020F0502020204030204" pitchFamily="34" charset="0"/>
                        </a:rPr>
                        <a:t>MobileNetV2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6953382"/>
                  </a:ext>
                </a:extLst>
              </a:tr>
              <a:tr h="0">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a:latin typeface="Calibri" panose="020F0502020204030204" pitchFamily="34" charset="0"/>
                          <a:ea typeface="Calibri" panose="020F0502020204030204" pitchFamily="34" charset="0"/>
                          <a:cs typeface="Calibri" panose="020F0502020204030204" pitchFamily="34" charset="0"/>
                        </a:rPr>
                        <a:t>Fabric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2005509"/>
                  </a:ext>
                </a:extLst>
              </a:tr>
              <a:tr h="0">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a:latin typeface="Calibri" panose="020F0502020204030204" pitchFamily="34" charset="0"/>
                          <a:ea typeface="Calibri" panose="020F0502020204030204" pitchFamily="34" charset="0"/>
                          <a:cs typeface="Calibri" panose="020F0502020204030204" pitchFamily="34" charset="0"/>
                        </a:rPr>
                        <a:t>Damage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9622713"/>
                  </a:ext>
                </a:extLst>
              </a:tr>
              <a:tr h="0">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In Progress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Statistical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8291405"/>
                  </a:ext>
                </a:extLst>
              </a:tr>
              <a:tr h="0">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In Progress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Design frontend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3377337"/>
                  </a:ext>
                </a:extLst>
              </a:tr>
            </a:tbl>
          </a:graphicData>
        </a:graphic>
      </p:graphicFrame>
    </p:spTree>
    <p:extLst>
      <p:ext uri="{BB962C8B-B14F-4D97-AF65-F5344CB8AC3E}">
        <p14:creationId xmlns:p14="http://schemas.microsoft.com/office/powerpoint/2010/main" val="2833316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D0817-AD6D-DAA7-FA66-8155CCFF27AB}"/>
            </a:ext>
          </a:extLst>
        </p:cNvPr>
        <p:cNvGrpSpPr/>
        <p:nvPr/>
      </p:nvGrpSpPr>
      <p:grpSpPr>
        <a:xfrm>
          <a:off x="0" y="0"/>
          <a:ext cx="0" cy="0"/>
          <a:chOff x="0" y="0"/>
          <a:chExt cx="0" cy="0"/>
        </a:xfrm>
      </p:grpSpPr>
      <p:grpSp>
        <p:nvGrpSpPr>
          <p:cNvPr id="15" name="Group 2">
            <a:extLst>
              <a:ext uri="{FF2B5EF4-FFF2-40B4-BE49-F238E27FC236}">
                <a16:creationId xmlns:a16="http://schemas.microsoft.com/office/drawing/2014/main" id="{6810A076-E02A-52F7-34C4-E6007B3AC734}"/>
              </a:ext>
            </a:extLst>
          </p:cNvPr>
          <p:cNvGrpSpPr/>
          <p:nvPr/>
        </p:nvGrpSpPr>
        <p:grpSpPr>
          <a:xfrm>
            <a:off x="194255" y="28566"/>
            <a:ext cx="18288000" cy="10287000"/>
            <a:chOff x="0" y="0"/>
            <a:chExt cx="24384000" cy="13716000"/>
          </a:xfrm>
        </p:grpSpPr>
        <p:sp>
          <p:nvSpPr>
            <p:cNvPr id="16" name="Freeform 3">
              <a:extLst>
                <a:ext uri="{FF2B5EF4-FFF2-40B4-BE49-F238E27FC236}">
                  <a16:creationId xmlns:a16="http://schemas.microsoft.com/office/drawing/2014/main" id="{DE2E7B39-0643-8B82-3338-4C9DF72C4597}"/>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 name="Group 4">
            <a:extLst>
              <a:ext uri="{FF2B5EF4-FFF2-40B4-BE49-F238E27FC236}">
                <a16:creationId xmlns:a16="http://schemas.microsoft.com/office/drawing/2014/main" id="{5090A4F6-C364-51A1-7B22-1B50C284B5A2}"/>
              </a:ext>
            </a:extLst>
          </p:cNvPr>
          <p:cNvGrpSpPr/>
          <p:nvPr/>
        </p:nvGrpSpPr>
        <p:grpSpPr>
          <a:xfrm>
            <a:off x="-9525" y="9554441"/>
            <a:ext cx="3917169" cy="703984"/>
            <a:chOff x="0" y="0"/>
            <a:chExt cx="5222892" cy="938645"/>
          </a:xfrm>
        </p:grpSpPr>
        <p:sp>
          <p:nvSpPr>
            <p:cNvPr id="5" name="Freeform 5">
              <a:extLst>
                <a:ext uri="{FF2B5EF4-FFF2-40B4-BE49-F238E27FC236}">
                  <a16:creationId xmlns:a16="http://schemas.microsoft.com/office/drawing/2014/main" id="{C106843F-BDBE-5808-475E-3D5395E30A3A}"/>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TextBox 9">
            <a:extLst>
              <a:ext uri="{FF2B5EF4-FFF2-40B4-BE49-F238E27FC236}">
                <a16:creationId xmlns:a16="http://schemas.microsoft.com/office/drawing/2014/main" id="{E23ACFB8-D72D-8BF6-0369-1D77E0C5B830}"/>
              </a:ext>
            </a:extLst>
          </p:cNvPr>
          <p:cNvSpPr txBox="1"/>
          <p:nvPr/>
        </p:nvSpPr>
        <p:spPr>
          <a:xfrm>
            <a:off x="17031490" y="9716626"/>
            <a:ext cx="851161" cy="389197"/>
          </a:xfrm>
          <a:prstGeom prst="rect">
            <a:avLst/>
          </a:prstGeom>
        </p:spPr>
        <p:txBody>
          <a:bodyPr lIns="0" tIns="0" rIns="0" bIns="0" rtlCol="0" anchor="t">
            <a:spAutoFit/>
          </a:bodyPr>
          <a:lstStyle/>
          <a:p>
            <a:pPr marL="0" marR="0" lvl="0" indent="0" algn="ctr" defTabSz="914400" rtl="0" eaLnBrk="1" fontAlgn="auto" latinLnBrk="0" hangingPunct="1">
              <a:lnSpc>
                <a:spcPts val="322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0000"/>
                </a:solidFill>
                <a:effectLst/>
                <a:uLnTx/>
                <a:uFillTx/>
                <a:latin typeface="Canva Sans Bold"/>
                <a:ea typeface="Canva Sans Bold"/>
                <a:cs typeface="Canva Sans Bold"/>
                <a:sym typeface="Canva Sans Bold"/>
              </a:rPr>
              <a:t>17</a:t>
            </a:r>
          </a:p>
        </p:txBody>
      </p:sp>
      <p:sp>
        <p:nvSpPr>
          <p:cNvPr id="11" name="TextBox 11">
            <a:extLst>
              <a:ext uri="{FF2B5EF4-FFF2-40B4-BE49-F238E27FC236}">
                <a16:creationId xmlns:a16="http://schemas.microsoft.com/office/drawing/2014/main" id="{A9763507-C70E-DFF4-510C-B1DB6CB0D59D}"/>
              </a:ext>
            </a:extLst>
          </p:cNvPr>
          <p:cNvSpPr txBox="1"/>
          <p:nvPr/>
        </p:nvSpPr>
        <p:spPr>
          <a:xfrm>
            <a:off x="981117" y="927183"/>
            <a:ext cx="15494953" cy="632674"/>
          </a:xfrm>
          <a:prstGeom prst="rect">
            <a:avLst/>
          </a:prstGeom>
        </p:spPr>
        <p:txBody>
          <a:bodyPr lIns="0" tIns="0" rIns="0" bIns="0" rtlCol="0" anchor="t">
            <a:spAutoFit/>
          </a:bodyPr>
          <a:lstStyle/>
          <a:p>
            <a:pPr lvl="0" algn="ctr">
              <a:lnSpc>
                <a:spcPts val="4649"/>
              </a:lnSpc>
            </a:pPr>
            <a:r>
              <a:rPr lang="en-US" sz="5400" b="1" dirty="0">
                <a:solidFill>
                  <a:srgbClr val="00B050"/>
                </a:solidFill>
              </a:rPr>
              <a:t>REFERENCES</a:t>
            </a:r>
            <a:endParaRPr kumimoji="0" lang="en-GB" sz="4999" b="1" i="0" u="none" strike="noStrike" kern="1200" cap="none" spc="0" normalizeH="0" baseline="0" noProof="0" dirty="0">
              <a:ln>
                <a:noFill/>
              </a:ln>
              <a:solidFill>
                <a:srgbClr val="00B050"/>
              </a:solidFill>
              <a:effectLst/>
              <a:uLnTx/>
              <a:uFillTx/>
              <a:latin typeface="Archivo Black"/>
              <a:ea typeface="Archivo Black"/>
              <a:cs typeface="Archivo Black"/>
              <a:sym typeface="Archivo Black"/>
            </a:endParaRPr>
          </a:p>
        </p:txBody>
      </p:sp>
      <p:sp>
        <p:nvSpPr>
          <p:cNvPr id="13" name="TextBox 13">
            <a:extLst>
              <a:ext uri="{FF2B5EF4-FFF2-40B4-BE49-F238E27FC236}">
                <a16:creationId xmlns:a16="http://schemas.microsoft.com/office/drawing/2014/main" id="{92F45DCD-99B7-614B-B3D8-E7071A3C0B6D}"/>
              </a:ext>
            </a:extLst>
          </p:cNvPr>
          <p:cNvSpPr txBox="1"/>
          <p:nvPr/>
        </p:nvSpPr>
        <p:spPr>
          <a:xfrm>
            <a:off x="0" y="2973900"/>
            <a:ext cx="6133621" cy="893963"/>
          </a:xfrm>
          <a:prstGeom prst="rect">
            <a:avLst/>
          </a:prstGeom>
        </p:spPr>
        <p:txBody>
          <a:bodyPr lIns="0" tIns="0" rIns="0" bIns="0" rtlCol="0" anchor="t">
            <a:spAutoFit/>
          </a:bodyPr>
          <a:lstStyle/>
          <a:p>
            <a:pPr marL="561340" marR="0" lvl="1" indent="-280670" algn="l" defTabSz="914400" rtl="0" eaLnBrk="1" fontAlgn="auto" latinLnBrk="0" hangingPunct="1">
              <a:lnSpc>
                <a:spcPts val="3640"/>
              </a:lnSpc>
              <a:spcBef>
                <a:spcPts val="0"/>
              </a:spcBef>
              <a:spcAft>
                <a:spcPts val="0"/>
              </a:spcAft>
              <a:buClrTx/>
              <a:buSzTx/>
              <a:buFont typeface="Arial"/>
              <a:buChar char="•"/>
              <a:tabLst/>
              <a:defRPr/>
            </a:pPr>
            <a:endParaRPr kumimoji="0" lang="en-US" sz="2600" b="0" i="0" u="none" strike="noStrike" kern="1200" cap="none" spc="0" normalizeH="0" baseline="0" noProof="0">
              <a:ln>
                <a:noFill/>
              </a:ln>
              <a:solidFill>
                <a:srgbClr val="000000"/>
              </a:solidFill>
              <a:effectLst/>
              <a:uLnTx/>
              <a:uFillTx/>
              <a:latin typeface="Canva Sans"/>
              <a:ea typeface="Canva Sans"/>
              <a:cs typeface="Canva Sans"/>
            </a:endParaRPr>
          </a:p>
          <a:p>
            <a:pPr marL="0" marR="0" lvl="0" indent="0" algn="l" defTabSz="914400" rtl="0" eaLnBrk="1" fontAlgn="auto" latinLnBrk="0" hangingPunct="1">
              <a:lnSpc>
                <a:spcPts val="3640"/>
              </a:lnSpc>
              <a:spcBef>
                <a:spcPts val="0"/>
              </a:spcBef>
              <a:spcAft>
                <a:spcPts val="0"/>
              </a:spcAft>
              <a:buClrTx/>
              <a:buSzTx/>
              <a:buFontTx/>
              <a:buNone/>
              <a:tabLst/>
              <a:defRPr/>
            </a:pPr>
            <a:endParaRPr kumimoji="0" lang="en-US" sz="2600" b="0" i="0" u="none" strike="noStrike" kern="1200" cap="none" spc="0" normalizeH="0" baseline="0" noProof="0">
              <a:ln>
                <a:noFill/>
              </a:ln>
              <a:solidFill>
                <a:srgbClr val="000000"/>
              </a:solidFill>
              <a:effectLst/>
              <a:uLnTx/>
              <a:uFillTx/>
              <a:latin typeface="Canva Sans"/>
              <a:ea typeface="Canva Sans"/>
              <a:cs typeface="Canva Sans"/>
              <a:sym typeface="Canva Sans"/>
            </a:endParaRPr>
          </a:p>
        </p:txBody>
      </p:sp>
      <p:sp>
        <p:nvSpPr>
          <p:cNvPr id="7" name="TextBox 6">
            <a:extLst>
              <a:ext uri="{FF2B5EF4-FFF2-40B4-BE49-F238E27FC236}">
                <a16:creationId xmlns:a16="http://schemas.microsoft.com/office/drawing/2014/main" id="{9D2A3CA9-51C3-49C4-C00E-262078F1CF0B}"/>
              </a:ext>
            </a:extLst>
          </p:cNvPr>
          <p:cNvSpPr txBox="1"/>
          <p:nvPr/>
        </p:nvSpPr>
        <p:spPr>
          <a:xfrm>
            <a:off x="1743491" y="2128410"/>
            <a:ext cx="16139160" cy="6464398"/>
          </a:xfrm>
          <a:prstGeom prst="rect">
            <a:avLst/>
          </a:prstGeom>
          <a:noFill/>
        </p:spPr>
        <p:txBody>
          <a:bodyPr wrap="square">
            <a:spAutoFit/>
          </a:bodyPr>
          <a:lstStyle/>
          <a:p>
            <a:pPr marL="457200"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pPr>
            <a:r>
              <a:rPr kumimoji="0" lang="en-US" altLang="en-US" sz="3200" b="0" i="0" u="none" strike="noStrike" cap="none" normalizeH="0" baseline="0" dirty="0">
                <a:ln>
                  <a:noFill/>
                </a:ln>
                <a:solidFill>
                  <a:schemeClr val="tx1"/>
                </a:solidFill>
                <a:effectLst/>
                <a:latin typeface="Arial" panose="020B0604020202020204" pitchFamily="34" charset="0"/>
              </a:rPr>
              <a:t>Sandler et al., </a:t>
            </a:r>
            <a:r>
              <a:rPr kumimoji="0" lang="en-US" altLang="en-US" sz="3200" b="0" i="1" u="none" strike="noStrike" cap="none" normalizeH="0" baseline="0" dirty="0">
                <a:ln>
                  <a:noFill/>
                </a:ln>
                <a:solidFill>
                  <a:schemeClr val="tx1"/>
                </a:solidFill>
                <a:effectLst/>
                <a:latin typeface="Arial" panose="020B0604020202020204" pitchFamily="34" charset="0"/>
              </a:rPr>
              <a:t>MobileNetV2: Inverted Residuals and Linear Bottlenecks</a:t>
            </a:r>
            <a:r>
              <a:rPr kumimoji="0" lang="en-US" altLang="en-US" sz="3200" b="0" i="0" u="none" strike="noStrike" cap="none" normalizeH="0" baseline="0" dirty="0">
                <a:ln>
                  <a:noFill/>
                </a:ln>
                <a:solidFill>
                  <a:schemeClr val="tx1"/>
                </a:solidFill>
                <a:effectLst/>
                <a:latin typeface="Arial" panose="020B0604020202020204" pitchFamily="34" charset="0"/>
              </a:rPr>
              <a:t>, 2018.</a:t>
            </a:r>
          </a:p>
          <a:p>
            <a:pPr marR="0" lvl="0" algn="l" defTabSz="914400" rtl="0" eaLnBrk="0" fontAlgn="base" latinLnBrk="0" hangingPunct="0">
              <a:lnSpc>
                <a:spcPct val="2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hlinkClick r:id="rId4"/>
              </a:rPr>
              <a:t>https://arxiv.org/abs/1801.04381?utm</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pPr>
            <a:r>
              <a:rPr kumimoji="0" lang="en-US" altLang="en-US" sz="3200" b="0" i="0" u="none" strike="noStrike" cap="none" normalizeH="0" baseline="0" dirty="0">
                <a:ln>
                  <a:noFill/>
                </a:ln>
                <a:solidFill>
                  <a:schemeClr val="tx1"/>
                </a:solidFill>
                <a:effectLst/>
                <a:latin typeface="Arial" panose="020B0604020202020204" pitchFamily="34" charset="0"/>
              </a:rPr>
              <a:t>Islam, </a:t>
            </a:r>
            <a:r>
              <a:rPr kumimoji="0" lang="en-US" altLang="en-US" sz="3200" b="0" i="1" u="none" strike="noStrike" cap="none" normalizeH="0" baseline="0" dirty="0">
                <a:ln>
                  <a:noFill/>
                </a:ln>
                <a:solidFill>
                  <a:schemeClr val="tx1"/>
                </a:solidFill>
                <a:effectLst/>
                <a:latin typeface="Arial" panose="020B0604020202020204" pitchFamily="34" charset="0"/>
              </a:rPr>
              <a:t>CNN-Based Transfer Learning in Image Classification</a:t>
            </a:r>
            <a:r>
              <a:rPr kumimoji="0" lang="en-US" altLang="en-US" sz="3200" b="0" i="0" u="none" strike="noStrike" cap="none" normalizeH="0" baseline="0" dirty="0">
                <a:ln>
                  <a:noFill/>
                </a:ln>
                <a:solidFill>
                  <a:schemeClr val="tx1"/>
                </a:solidFill>
                <a:effectLst/>
                <a:latin typeface="Arial" panose="020B0604020202020204" pitchFamily="34" charset="0"/>
              </a:rPr>
              <a:t>, 2020.</a:t>
            </a:r>
          </a:p>
          <a:p>
            <a:pPr marR="0" lvl="0" algn="l" defTabSz="914400" rtl="0" eaLnBrk="0" fontAlgn="base" latinLnBrk="0" hangingPunct="0">
              <a:lnSpc>
                <a:spcPct val="2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hlinkClick r:id="rId5"/>
              </a:rPr>
              <a:t>https://www.researchgate.net/publication/375113224_Study_on_CNN_based_Transfer_Learning_in_Image_Classification</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pPr>
            <a:r>
              <a:rPr kumimoji="0" lang="en-US" altLang="en-US" sz="3200" b="0" i="0" u="none" strike="noStrike" cap="none" normalizeH="0" baseline="0" dirty="0" err="1">
                <a:ln>
                  <a:noFill/>
                </a:ln>
                <a:solidFill>
                  <a:schemeClr val="tx1"/>
                </a:solidFill>
                <a:effectLst/>
                <a:latin typeface="Arial" panose="020B0604020202020204" pitchFamily="34" charset="0"/>
              </a:rPr>
              <a:t>Gondhalekar</a:t>
            </a:r>
            <a:r>
              <a:rPr kumimoji="0" lang="en-US" altLang="en-US" sz="3200" b="0" i="0" u="none" strike="noStrike" cap="none" normalizeH="0" baseline="0" dirty="0">
                <a:ln>
                  <a:noFill/>
                </a:ln>
                <a:solidFill>
                  <a:schemeClr val="tx1"/>
                </a:solidFill>
                <a:effectLst/>
                <a:latin typeface="Arial" panose="020B0604020202020204" pitchFamily="34" charset="0"/>
              </a:rPr>
              <a:t> et al., </a:t>
            </a:r>
            <a:r>
              <a:rPr kumimoji="0" lang="en-US" altLang="en-US" sz="3200" b="0" i="1" u="none" strike="noStrike" cap="none" normalizeH="0" baseline="0" dirty="0">
                <a:ln>
                  <a:noFill/>
                </a:ln>
                <a:solidFill>
                  <a:schemeClr val="tx1"/>
                </a:solidFill>
                <a:effectLst/>
                <a:latin typeface="Arial" panose="020B0604020202020204" pitchFamily="34" charset="0"/>
              </a:rPr>
              <a:t>MobileNetV2 Approach for Image Classification</a:t>
            </a:r>
            <a:r>
              <a:rPr kumimoji="0" lang="en-US" altLang="en-US" sz="3200" b="0" i="0" u="none" strike="noStrike" cap="none" normalizeH="0" baseline="0" dirty="0">
                <a:ln>
                  <a:noFill/>
                </a:ln>
                <a:solidFill>
                  <a:schemeClr val="tx1"/>
                </a:solidFill>
                <a:effectLst/>
                <a:latin typeface="Arial" panose="020B0604020202020204" pitchFamily="34" charset="0"/>
              </a:rPr>
              <a:t>, 2025.</a:t>
            </a:r>
          </a:p>
          <a:p>
            <a:pPr marR="0" lvl="0" algn="l" defTabSz="914400" rtl="0" eaLnBrk="0" fontAlgn="base" latinLnBrk="0" hangingPunct="0">
              <a:lnSpc>
                <a:spcPct val="200000"/>
              </a:lnSpc>
              <a:spcBef>
                <a:spcPct val="0"/>
              </a:spcBef>
              <a:spcAft>
                <a:spcPct val="0"/>
              </a:spcAft>
              <a:buClrTx/>
              <a:buSzTx/>
              <a:tabLst/>
            </a:pPr>
            <a:r>
              <a:rPr lang="en-US" altLang="en-US" sz="2000" dirty="0">
                <a:latin typeface="Arial" panose="020B0604020202020204" pitchFamily="34" charset="0"/>
                <a:hlinkClick r:id="rId6"/>
              </a:rPr>
              <a:t>https://www.researchgate.net/publication/389687628_Enhancing_Image_Classification_Performance_through_Transfer_Learning_and_Adaptive_Augmentation_A_MobileNetV2_Approach</a:t>
            </a:r>
            <a:endParaRPr lang="en-US" altLang="en-US" sz="2000" dirty="0">
              <a:latin typeface="Arial" panose="020B0604020202020204" pitchFamily="34" charset="0"/>
            </a:endParaRPr>
          </a:p>
          <a:p>
            <a:pPr marR="0" lvl="0" algn="l" defTabSz="914400" rtl="0" eaLnBrk="0" fontAlgn="base" latinLnBrk="0" hangingPunct="0">
              <a:lnSpc>
                <a:spcPct val="200000"/>
              </a:lnSpc>
              <a:spcBef>
                <a:spcPct val="0"/>
              </a:spcBef>
              <a:spcAft>
                <a:spcPct val="0"/>
              </a:spcAft>
              <a:buClrTx/>
              <a:buSzTx/>
              <a:tabLst/>
            </a:pPr>
            <a:endParaRPr lang="en-US" altLang="en-US" sz="3200" dirty="0">
              <a:latin typeface="Arial" panose="020B0604020202020204" pitchFamily="34" charset="0"/>
            </a:endParaRPr>
          </a:p>
        </p:txBody>
      </p:sp>
    </p:spTree>
    <p:extLst>
      <p:ext uri="{BB962C8B-B14F-4D97-AF65-F5344CB8AC3E}">
        <p14:creationId xmlns:p14="http://schemas.microsoft.com/office/powerpoint/2010/main" val="2231647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9CBDE-7507-EA0D-9E94-2CE3DB2E14B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1ECFF47-4595-2373-68F4-7B285D50BF6F}"/>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E757445C-F0CB-934A-4C9F-211239C00794}"/>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4" name="Freeform 4">
            <a:extLst>
              <a:ext uri="{FF2B5EF4-FFF2-40B4-BE49-F238E27FC236}">
                <a16:creationId xmlns:a16="http://schemas.microsoft.com/office/drawing/2014/main" id="{F868DB9E-279D-6587-73CB-F747684046B9}"/>
              </a:ext>
            </a:extLst>
          </p:cNvPr>
          <p:cNvSpPr/>
          <p:nvPr/>
        </p:nvSpPr>
        <p:spPr>
          <a:xfrm>
            <a:off x="11871741" y="2090053"/>
            <a:ext cx="5367312" cy="5367312"/>
          </a:xfrm>
          <a:custGeom>
            <a:avLst/>
            <a:gdLst/>
            <a:ahLst/>
            <a:cxnLst/>
            <a:rect l="l" t="t" r="r" b="b"/>
            <a:pathLst>
              <a:path w="5367312" h="5367312">
                <a:moveTo>
                  <a:pt x="0" y="0"/>
                </a:moveTo>
                <a:lnTo>
                  <a:pt x="5367312" y="0"/>
                </a:lnTo>
                <a:lnTo>
                  <a:pt x="5367312" y="5367311"/>
                </a:lnTo>
                <a:lnTo>
                  <a:pt x="0" y="53673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F478F024-D2F4-559A-C98F-DC5D0520CDDE}"/>
              </a:ext>
            </a:extLst>
          </p:cNvPr>
          <p:cNvSpPr/>
          <p:nvPr/>
        </p:nvSpPr>
        <p:spPr>
          <a:xfrm>
            <a:off x="12106671" y="2324983"/>
            <a:ext cx="4897452" cy="4897452"/>
          </a:xfrm>
          <a:custGeom>
            <a:avLst/>
            <a:gdLst/>
            <a:ahLst/>
            <a:cxnLst/>
            <a:rect l="l" t="t" r="r" b="b"/>
            <a:pathLst>
              <a:path w="4897452" h="4897452">
                <a:moveTo>
                  <a:pt x="0" y="0"/>
                </a:moveTo>
                <a:lnTo>
                  <a:pt x="4897452" y="0"/>
                </a:lnTo>
                <a:lnTo>
                  <a:pt x="4897452" y="4897451"/>
                </a:lnTo>
                <a:lnTo>
                  <a:pt x="0" y="48974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a:extLst>
              <a:ext uri="{FF2B5EF4-FFF2-40B4-BE49-F238E27FC236}">
                <a16:creationId xmlns:a16="http://schemas.microsoft.com/office/drawing/2014/main" id="{E630AF0D-5ED2-949E-DECF-C096FB4DB6CD}"/>
              </a:ext>
            </a:extLst>
          </p:cNvPr>
          <p:cNvSpPr/>
          <p:nvPr/>
        </p:nvSpPr>
        <p:spPr>
          <a:xfrm>
            <a:off x="12244300" y="2389937"/>
            <a:ext cx="4767543" cy="4767543"/>
          </a:xfrm>
          <a:custGeom>
            <a:avLst/>
            <a:gdLst/>
            <a:ahLst/>
            <a:cxnLst/>
            <a:rect l="l" t="t" r="r" b="b"/>
            <a:pathLst>
              <a:path w="4767543" h="4767543">
                <a:moveTo>
                  <a:pt x="0" y="0"/>
                </a:moveTo>
                <a:lnTo>
                  <a:pt x="4767544" y="0"/>
                </a:lnTo>
                <a:lnTo>
                  <a:pt x="4767544" y="4767543"/>
                </a:lnTo>
                <a:lnTo>
                  <a:pt x="0" y="47675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07EFB8B5-D4C0-7F20-E8FC-F1B33B7A7A08}"/>
              </a:ext>
            </a:extLst>
          </p:cNvPr>
          <p:cNvSpPr/>
          <p:nvPr/>
        </p:nvSpPr>
        <p:spPr>
          <a:xfrm>
            <a:off x="12289757" y="2595654"/>
            <a:ext cx="4571091" cy="4356111"/>
          </a:xfrm>
          <a:custGeom>
            <a:avLst/>
            <a:gdLst/>
            <a:ahLst/>
            <a:cxnLst/>
            <a:rect l="l" t="t" r="r" b="b"/>
            <a:pathLst>
              <a:path w="4571091" h="4356111">
                <a:moveTo>
                  <a:pt x="0" y="0"/>
                </a:moveTo>
                <a:lnTo>
                  <a:pt x="4571091" y="0"/>
                </a:lnTo>
                <a:lnTo>
                  <a:pt x="4571091" y="4356111"/>
                </a:lnTo>
                <a:lnTo>
                  <a:pt x="0" y="435611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8A278358-AD62-F0CC-9169-2F589C4DB4A4}"/>
              </a:ext>
            </a:extLst>
          </p:cNvPr>
          <p:cNvSpPr/>
          <p:nvPr/>
        </p:nvSpPr>
        <p:spPr>
          <a:xfrm rot="-10800000">
            <a:off x="14555397" y="1297517"/>
            <a:ext cx="3458417" cy="6916834"/>
          </a:xfrm>
          <a:custGeom>
            <a:avLst/>
            <a:gdLst/>
            <a:ahLst/>
            <a:cxnLst/>
            <a:rect l="l" t="t" r="r" b="b"/>
            <a:pathLst>
              <a:path w="3458417" h="6916834">
                <a:moveTo>
                  <a:pt x="0" y="0"/>
                </a:moveTo>
                <a:lnTo>
                  <a:pt x="3458417" y="0"/>
                </a:lnTo>
                <a:lnTo>
                  <a:pt x="3458417" y="6916834"/>
                </a:lnTo>
                <a:lnTo>
                  <a:pt x="0" y="6916834"/>
                </a:lnTo>
                <a:lnTo>
                  <a:pt x="0" y="0"/>
                </a:lnTo>
                <a:close/>
              </a:path>
            </a:pathLst>
          </a:custGeom>
          <a:blipFill>
            <a:blip>
              <a:extLst>
                <a:ext uri="{96DAC541-7B7A-43D3-8B79-37D633B846F1}">
                  <asvg:svgBlip xmlns:asvg="http://schemas.microsoft.com/office/drawing/2016/SVG/main" r:embed="rId6"/>
                </a:ext>
              </a:extLst>
            </a:blip>
            <a:stretch>
              <a:fillRect l="-68" r="-68"/>
            </a:stretch>
          </a:blipFill>
        </p:spPr>
        <p:txBody>
          <a:bodyPr/>
          <a:lstStyle/>
          <a:p>
            <a:endParaRPr lang="en-US"/>
          </a:p>
        </p:txBody>
      </p:sp>
      <p:grpSp>
        <p:nvGrpSpPr>
          <p:cNvPr id="11" name="Group 11">
            <a:extLst>
              <a:ext uri="{FF2B5EF4-FFF2-40B4-BE49-F238E27FC236}">
                <a16:creationId xmlns:a16="http://schemas.microsoft.com/office/drawing/2014/main" id="{C651F934-5696-3505-01EF-CA9A214A7AEE}"/>
              </a:ext>
            </a:extLst>
          </p:cNvPr>
          <p:cNvGrpSpPr/>
          <p:nvPr/>
        </p:nvGrpSpPr>
        <p:grpSpPr>
          <a:xfrm>
            <a:off x="0" y="9583016"/>
            <a:ext cx="3917169" cy="703984"/>
            <a:chOff x="0" y="0"/>
            <a:chExt cx="5222892" cy="938645"/>
          </a:xfrm>
        </p:grpSpPr>
        <p:sp>
          <p:nvSpPr>
            <p:cNvPr id="12" name="Freeform 12">
              <a:extLst>
                <a:ext uri="{FF2B5EF4-FFF2-40B4-BE49-F238E27FC236}">
                  <a16:creationId xmlns:a16="http://schemas.microsoft.com/office/drawing/2014/main" id="{56F401AD-F419-117A-47E1-500D3723EE6B}"/>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7"/>
              <a:stretch>
                <a:fillRect l="-64" r="-64" b="1"/>
              </a:stretch>
            </a:blipFill>
          </p:spPr>
          <p:txBody>
            <a:bodyPr/>
            <a:lstStyle/>
            <a:p>
              <a:endParaRPr lang="en-US"/>
            </a:p>
          </p:txBody>
        </p:sp>
      </p:grpSp>
      <p:sp>
        <p:nvSpPr>
          <p:cNvPr id="14" name="TextBox 14">
            <a:extLst>
              <a:ext uri="{FF2B5EF4-FFF2-40B4-BE49-F238E27FC236}">
                <a16:creationId xmlns:a16="http://schemas.microsoft.com/office/drawing/2014/main" id="{9A773062-1A61-3800-2B8D-6D2111D2AA40}"/>
              </a:ext>
            </a:extLst>
          </p:cNvPr>
          <p:cNvSpPr txBox="1"/>
          <p:nvPr/>
        </p:nvSpPr>
        <p:spPr>
          <a:xfrm>
            <a:off x="667728" y="2816256"/>
            <a:ext cx="6913505" cy="1282065"/>
          </a:xfrm>
          <a:prstGeom prst="rect">
            <a:avLst/>
          </a:prstGeom>
        </p:spPr>
        <p:txBody>
          <a:bodyPr lIns="0" tIns="0" rIns="0" bIns="0" rtlCol="0" anchor="t">
            <a:spAutoFit/>
          </a:bodyPr>
          <a:lstStyle/>
          <a:p>
            <a:pPr algn="l">
              <a:lnSpc>
                <a:spcPts val="9360"/>
              </a:lnSpc>
            </a:pPr>
            <a:r>
              <a:rPr lang="en-US" sz="10400" spc="208">
                <a:solidFill>
                  <a:srgbClr val="50616C"/>
                </a:solidFill>
                <a:latin typeface="League Gothic"/>
                <a:ea typeface="League Gothic"/>
                <a:cs typeface="League Gothic"/>
                <a:sym typeface="League Gothic"/>
              </a:rPr>
              <a:t>IT22215338</a:t>
            </a:r>
          </a:p>
        </p:txBody>
      </p:sp>
      <p:sp>
        <p:nvSpPr>
          <p:cNvPr id="15" name="TextBox 15">
            <a:extLst>
              <a:ext uri="{FF2B5EF4-FFF2-40B4-BE49-F238E27FC236}">
                <a16:creationId xmlns:a16="http://schemas.microsoft.com/office/drawing/2014/main" id="{B88D1E25-492F-23B9-71A4-8787609C80E0}"/>
              </a:ext>
            </a:extLst>
          </p:cNvPr>
          <p:cNvSpPr txBox="1"/>
          <p:nvPr/>
        </p:nvSpPr>
        <p:spPr>
          <a:xfrm>
            <a:off x="667728" y="4321362"/>
            <a:ext cx="6440871" cy="432435"/>
          </a:xfrm>
          <a:prstGeom prst="rect">
            <a:avLst/>
          </a:prstGeom>
        </p:spPr>
        <p:txBody>
          <a:bodyPr lIns="0" tIns="0" rIns="0" bIns="0" rtlCol="0" anchor="t">
            <a:spAutoFit/>
          </a:bodyPr>
          <a:lstStyle/>
          <a:p>
            <a:pPr algn="l">
              <a:lnSpc>
                <a:spcPts val="3600"/>
              </a:lnSpc>
            </a:pPr>
            <a:r>
              <a:rPr lang="en-US" sz="2400" b="1">
                <a:solidFill>
                  <a:srgbClr val="50616C"/>
                </a:solidFill>
                <a:latin typeface="Open Sans Bold"/>
                <a:ea typeface="Open Sans Bold"/>
                <a:cs typeface="Open Sans Bold"/>
                <a:sym typeface="Open Sans Bold"/>
              </a:rPr>
              <a:t>Specialization - Information Technology</a:t>
            </a:r>
          </a:p>
        </p:txBody>
      </p:sp>
      <p:sp>
        <p:nvSpPr>
          <p:cNvPr id="16" name="TextBox 16">
            <a:extLst>
              <a:ext uri="{FF2B5EF4-FFF2-40B4-BE49-F238E27FC236}">
                <a16:creationId xmlns:a16="http://schemas.microsoft.com/office/drawing/2014/main" id="{A1C86409-4FA2-161C-9A53-22E2EF83A3CD}"/>
              </a:ext>
            </a:extLst>
          </p:cNvPr>
          <p:cNvSpPr txBox="1"/>
          <p:nvPr/>
        </p:nvSpPr>
        <p:spPr>
          <a:xfrm>
            <a:off x="667728" y="1359487"/>
            <a:ext cx="11211835" cy="1458927"/>
          </a:xfrm>
          <a:prstGeom prst="rect">
            <a:avLst/>
          </a:prstGeom>
        </p:spPr>
        <p:txBody>
          <a:bodyPr lIns="0" tIns="0" rIns="0" bIns="0" rtlCol="0" anchor="t">
            <a:spAutoFit/>
          </a:bodyPr>
          <a:lstStyle/>
          <a:p>
            <a:pPr algn="just">
              <a:lnSpc>
                <a:spcPts val="10612"/>
              </a:lnSpc>
            </a:pPr>
            <a:r>
              <a:rPr lang="en-US" sz="11791" spc="235">
                <a:solidFill>
                  <a:srgbClr val="009B0B"/>
                </a:solidFill>
                <a:latin typeface="League Gothic"/>
                <a:ea typeface="League Gothic"/>
                <a:cs typeface="League Gothic"/>
                <a:sym typeface="League Gothic"/>
              </a:rPr>
              <a:t>SIRIWARDHANA N.S.T.N</a:t>
            </a:r>
          </a:p>
        </p:txBody>
      </p:sp>
      <p:sp>
        <p:nvSpPr>
          <p:cNvPr id="17" name="TextBox 17">
            <a:extLst>
              <a:ext uri="{FF2B5EF4-FFF2-40B4-BE49-F238E27FC236}">
                <a16:creationId xmlns:a16="http://schemas.microsoft.com/office/drawing/2014/main" id="{9D323C3F-0464-AE83-ABD3-0582C765B945}"/>
              </a:ext>
            </a:extLst>
          </p:cNvPr>
          <p:cNvSpPr txBox="1"/>
          <p:nvPr/>
        </p:nvSpPr>
        <p:spPr>
          <a:xfrm>
            <a:off x="583614" y="5141297"/>
            <a:ext cx="13234451" cy="3956596"/>
          </a:xfrm>
          <a:prstGeom prst="rect">
            <a:avLst/>
          </a:prstGeom>
        </p:spPr>
        <p:txBody>
          <a:bodyPr wrap="square" lIns="0" tIns="0" rIns="0" bIns="0" rtlCol="0" anchor="t">
            <a:spAutoFit/>
          </a:bodyPr>
          <a:lstStyle/>
          <a:p>
            <a:pPr>
              <a:lnSpc>
                <a:spcPts val="5114"/>
              </a:lnSpc>
            </a:pPr>
            <a:r>
              <a:rPr lang="en-US" sz="5450">
                <a:solidFill>
                  <a:srgbClr val="009B0B">
                    <a:alpha val="69804"/>
                  </a:srgbClr>
                </a:solidFill>
                <a:latin typeface="Archivo Black"/>
                <a:ea typeface="Archivo Black"/>
                <a:cs typeface="Archivo Black"/>
                <a:sym typeface="Archivo Black"/>
              </a:rPr>
              <a:t>Sustainability decision intelligence</a:t>
            </a:r>
            <a:endParaRPr lang="en-US" sz="5450">
              <a:sym typeface="Archivo Black"/>
            </a:endParaRPr>
          </a:p>
          <a:p>
            <a:pPr>
              <a:lnSpc>
                <a:spcPts val="5114"/>
              </a:lnSpc>
            </a:pPr>
            <a:r>
              <a:rPr lang="en-US" sz="5450">
                <a:solidFill>
                  <a:srgbClr val="009B0B">
                    <a:alpha val="69804"/>
                  </a:srgbClr>
                </a:solidFill>
                <a:latin typeface="Archivo Black"/>
                <a:ea typeface="Archivo Black"/>
                <a:cs typeface="Archivo Black"/>
                <a:sym typeface="Archivo Black"/>
              </a:rPr>
              <a:t> for textile waste routing, ML preparation, and marketplace integration.</a:t>
            </a:r>
            <a:endParaRPr lang="en-US" sz="5450">
              <a:ea typeface="Calibri"/>
              <a:cs typeface="Calibri"/>
            </a:endParaRPr>
          </a:p>
          <a:p>
            <a:pPr algn="l">
              <a:lnSpc>
                <a:spcPts val="5114"/>
              </a:lnSpc>
            </a:pPr>
            <a:endParaRPr lang="en-US" sz="5498">
              <a:solidFill>
                <a:srgbClr val="009B0B">
                  <a:alpha val="69804"/>
                </a:srgbClr>
              </a:solidFill>
              <a:latin typeface="Archivo Black"/>
              <a:ea typeface="Archivo Black"/>
              <a:cs typeface="Archivo Black"/>
              <a:sym typeface="Archivo Black"/>
            </a:endParaRPr>
          </a:p>
        </p:txBody>
      </p:sp>
      <p:sp>
        <p:nvSpPr>
          <p:cNvPr id="18" name="TextBox 18">
            <a:extLst>
              <a:ext uri="{FF2B5EF4-FFF2-40B4-BE49-F238E27FC236}">
                <a16:creationId xmlns:a16="http://schemas.microsoft.com/office/drawing/2014/main" id="{41835F54-C41A-C903-F58E-6811D5210409}"/>
              </a:ext>
            </a:extLst>
          </p:cNvPr>
          <p:cNvSpPr txBox="1"/>
          <p:nvPr/>
        </p:nvSpPr>
        <p:spPr>
          <a:xfrm>
            <a:off x="4544080" y="9614703"/>
            <a:ext cx="9267378" cy="794320"/>
          </a:xfrm>
          <a:prstGeom prst="rect">
            <a:avLst/>
          </a:prstGeom>
        </p:spPr>
        <p:txBody>
          <a:bodyPr wrap="square"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IT22215338| SIRIWARDHAANA N.S.T.N | </a:t>
            </a:r>
            <a:r>
              <a:rPr lang="en-US" sz="2300">
                <a:solidFill>
                  <a:srgbClr val="000000"/>
                </a:solidFill>
                <a:latin typeface="Canva Sans"/>
                <a:ea typeface="Canva Sans"/>
                <a:cs typeface="Poppins"/>
                <a:sym typeface="Canva Sans"/>
              </a:rPr>
              <a:t>Project ID: R26-IT-081</a:t>
            </a:r>
            <a:endParaRPr lang="en-US" sz="2300">
              <a:solidFill>
                <a:srgbClr val="000000"/>
              </a:solidFill>
              <a:latin typeface="Canva Sans"/>
              <a:ea typeface="Canva Sans"/>
              <a:cs typeface="Poppins"/>
            </a:endParaRPr>
          </a:p>
          <a:p>
            <a:pPr algn="ctr">
              <a:lnSpc>
                <a:spcPts val="3220"/>
              </a:lnSpc>
            </a:pPr>
            <a:endParaRPr lang="en-US" sz="2300">
              <a:latin typeface="Canva Sans"/>
            </a:endParaRPr>
          </a:p>
        </p:txBody>
      </p:sp>
      <p:sp>
        <p:nvSpPr>
          <p:cNvPr id="19" name="TextBox 19">
            <a:extLst>
              <a:ext uri="{FF2B5EF4-FFF2-40B4-BE49-F238E27FC236}">
                <a16:creationId xmlns:a16="http://schemas.microsoft.com/office/drawing/2014/main" id="{95C2C72C-78EA-5483-84F2-365A58BD981A}"/>
              </a:ext>
            </a:extLst>
          </p:cNvPr>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09</a:t>
            </a:r>
          </a:p>
        </p:txBody>
      </p:sp>
      <p:pic>
        <p:nvPicPr>
          <p:cNvPr id="8" name="Picture 7" descr="A person in a suit with his arms crossed&#10;&#10;AI-generated content may be incorrect.">
            <a:extLst>
              <a:ext uri="{FF2B5EF4-FFF2-40B4-BE49-F238E27FC236}">
                <a16:creationId xmlns:a16="http://schemas.microsoft.com/office/drawing/2014/main" id="{957E159F-A278-B527-E651-4F0A003BB9D3}"/>
              </a:ext>
            </a:extLst>
          </p:cNvPr>
          <p:cNvPicPr>
            <a:picLocks noChangeAspect="1"/>
          </p:cNvPicPr>
          <p:nvPr/>
        </p:nvPicPr>
        <p:blipFill>
          <a:blip r:embed="rId8"/>
          <a:stretch>
            <a:fillRect/>
          </a:stretch>
        </p:blipFill>
        <p:spPr>
          <a:xfrm>
            <a:off x="11868743" y="2093026"/>
            <a:ext cx="5334795" cy="583375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22113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F44CD-23CE-7BA3-C2D7-9DC03A4CB5C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92E1A7-71F7-2C54-B0C9-964C8D10A78B}"/>
              </a:ext>
            </a:extLst>
          </p:cNvPr>
          <p:cNvGrpSpPr/>
          <p:nvPr/>
        </p:nvGrpSpPr>
        <p:grpSpPr>
          <a:xfrm>
            <a:off x="20999" y="-5419"/>
            <a:ext cx="18288000" cy="10287000"/>
            <a:chOff x="0" y="-749145"/>
            <a:chExt cx="24384000" cy="13716000"/>
          </a:xfrm>
        </p:grpSpPr>
        <p:sp>
          <p:nvSpPr>
            <p:cNvPr id="3" name="Freeform 3">
              <a:extLst>
                <a:ext uri="{FF2B5EF4-FFF2-40B4-BE49-F238E27FC236}">
                  <a16:creationId xmlns:a16="http://schemas.microsoft.com/office/drawing/2014/main" id="{179DBC14-A6CE-3387-EC1B-26ED789A6928}"/>
                </a:ext>
              </a:extLst>
            </p:cNvPr>
            <p:cNvSpPr/>
            <p:nvPr/>
          </p:nvSpPr>
          <p:spPr>
            <a:xfrm>
              <a:off x="0" y="-749145"/>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4" name="Group 4">
            <a:extLst>
              <a:ext uri="{FF2B5EF4-FFF2-40B4-BE49-F238E27FC236}">
                <a16:creationId xmlns:a16="http://schemas.microsoft.com/office/drawing/2014/main" id="{4A2BE75D-943C-1C54-9ADF-F11C9B85B3EC}"/>
              </a:ext>
            </a:extLst>
          </p:cNvPr>
          <p:cNvGrpSpPr/>
          <p:nvPr/>
        </p:nvGrpSpPr>
        <p:grpSpPr>
          <a:xfrm>
            <a:off x="20999" y="9533010"/>
            <a:ext cx="3917169" cy="703984"/>
            <a:chOff x="0" y="0"/>
            <a:chExt cx="5222892" cy="938645"/>
          </a:xfrm>
        </p:grpSpPr>
        <p:sp>
          <p:nvSpPr>
            <p:cNvPr id="5" name="Freeform 5">
              <a:extLst>
                <a:ext uri="{FF2B5EF4-FFF2-40B4-BE49-F238E27FC236}">
                  <a16:creationId xmlns:a16="http://schemas.microsoft.com/office/drawing/2014/main" id="{90F33BE9-7FD7-3B9E-EB04-BE4971C96450}"/>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Freeform 7">
            <a:extLst>
              <a:ext uri="{FF2B5EF4-FFF2-40B4-BE49-F238E27FC236}">
                <a16:creationId xmlns:a16="http://schemas.microsoft.com/office/drawing/2014/main" id="{0397E1EA-AF92-4186-5F40-4481EA0690F7}"/>
              </a:ext>
            </a:extLst>
          </p:cNvPr>
          <p:cNvSpPr/>
          <p:nvPr/>
        </p:nvSpPr>
        <p:spPr>
          <a:xfrm rot="2478992">
            <a:off x="1216499" y="2044731"/>
            <a:ext cx="4043219" cy="3954064"/>
          </a:xfrm>
          <a:custGeom>
            <a:avLst/>
            <a:gdLst/>
            <a:ahLst/>
            <a:cxnLst/>
            <a:rect l="l" t="t" r="r" b="b"/>
            <a:pathLst>
              <a:path w="4043219" h="3954064">
                <a:moveTo>
                  <a:pt x="0" y="0"/>
                </a:moveTo>
                <a:lnTo>
                  <a:pt x="4043219" y="0"/>
                </a:lnTo>
                <a:lnTo>
                  <a:pt x="4043219" y="3954064"/>
                </a:lnTo>
                <a:lnTo>
                  <a:pt x="0" y="39540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2DC4B6EC-5AE9-CA7E-6FA3-5F963F3AA97E}"/>
              </a:ext>
            </a:extLst>
          </p:cNvPr>
          <p:cNvSpPr/>
          <p:nvPr/>
        </p:nvSpPr>
        <p:spPr>
          <a:xfrm rot="2700000">
            <a:off x="1321932" y="6149915"/>
            <a:ext cx="3832353" cy="3747848"/>
          </a:xfrm>
          <a:custGeom>
            <a:avLst/>
            <a:gdLst/>
            <a:ahLst/>
            <a:cxnLst/>
            <a:rect l="l" t="t" r="r" b="b"/>
            <a:pathLst>
              <a:path w="3832353" h="3747848">
                <a:moveTo>
                  <a:pt x="0" y="0"/>
                </a:moveTo>
                <a:lnTo>
                  <a:pt x="3832353" y="0"/>
                </a:lnTo>
                <a:lnTo>
                  <a:pt x="3832353" y="3747847"/>
                </a:lnTo>
                <a:lnTo>
                  <a:pt x="0" y="37478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85DD886C-B830-8D5A-E8ED-61672C364E07}"/>
              </a:ext>
            </a:extLst>
          </p:cNvPr>
          <p:cNvSpPr/>
          <p:nvPr/>
        </p:nvSpPr>
        <p:spPr>
          <a:xfrm rot="2478992">
            <a:off x="13170596" y="2280913"/>
            <a:ext cx="3411897" cy="3336663"/>
          </a:xfrm>
          <a:custGeom>
            <a:avLst/>
            <a:gdLst/>
            <a:ahLst/>
            <a:cxnLst/>
            <a:rect l="l" t="t" r="r" b="b"/>
            <a:pathLst>
              <a:path w="3411897" h="3336663">
                <a:moveTo>
                  <a:pt x="0" y="0"/>
                </a:moveTo>
                <a:lnTo>
                  <a:pt x="3411896" y="0"/>
                </a:lnTo>
                <a:lnTo>
                  <a:pt x="3411896" y="3336662"/>
                </a:lnTo>
                <a:lnTo>
                  <a:pt x="0" y="33366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7DF0F829-0095-A2F2-174F-A20DE54D7F35}"/>
              </a:ext>
            </a:extLst>
          </p:cNvPr>
          <p:cNvSpPr/>
          <p:nvPr/>
        </p:nvSpPr>
        <p:spPr>
          <a:xfrm rot="2478992">
            <a:off x="13036931" y="6046807"/>
            <a:ext cx="4043219" cy="3954064"/>
          </a:xfrm>
          <a:custGeom>
            <a:avLst/>
            <a:gdLst/>
            <a:ahLst/>
            <a:cxnLst/>
            <a:rect l="l" t="t" r="r" b="b"/>
            <a:pathLst>
              <a:path w="4043219" h="3954064">
                <a:moveTo>
                  <a:pt x="0" y="0"/>
                </a:moveTo>
                <a:lnTo>
                  <a:pt x="4043219" y="0"/>
                </a:lnTo>
                <a:lnTo>
                  <a:pt x="4043219" y="3954063"/>
                </a:lnTo>
                <a:lnTo>
                  <a:pt x="0" y="395406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TextBox 17">
            <a:extLst>
              <a:ext uri="{FF2B5EF4-FFF2-40B4-BE49-F238E27FC236}">
                <a16:creationId xmlns:a16="http://schemas.microsoft.com/office/drawing/2014/main" id="{97BDBE04-FD5C-2EEE-5D42-AB143A637ECA}"/>
              </a:ext>
            </a:extLst>
          </p:cNvPr>
          <p:cNvSpPr txBox="1"/>
          <p:nvPr/>
        </p:nvSpPr>
        <p:spPr>
          <a:xfrm>
            <a:off x="1542146" y="3587956"/>
            <a:ext cx="13354891" cy="4266874"/>
          </a:xfrm>
          <a:prstGeom prst="rect">
            <a:avLst/>
          </a:prstGeom>
        </p:spPr>
        <p:txBody>
          <a:bodyPr wrap="square" lIns="0" tIns="0" rIns="0" bIns="0" rtlCol="0" anchor="t">
            <a:spAutoFit/>
          </a:bodyPr>
          <a:lstStyle/>
          <a:p>
            <a:pPr marL="457200" indent="-457200">
              <a:lnSpc>
                <a:spcPts val="4199"/>
              </a:lnSpc>
              <a:buFont typeface="Wingdings" pitchFamily="2" charset="2"/>
              <a:buChar char="v"/>
            </a:pPr>
            <a:r>
              <a:rPr lang="en-GB" sz="2799" spc="-72">
                <a:solidFill>
                  <a:srgbClr val="000000"/>
                </a:solidFill>
                <a:latin typeface="Canva Sans"/>
                <a:ea typeface="Canva Sans"/>
                <a:cs typeface="Canva Sans"/>
                <a:sym typeface="Canva Sans"/>
              </a:rPr>
              <a:t>Textile waste is increasing rapidly.</a:t>
            </a:r>
          </a:p>
          <a:p>
            <a:pPr marL="457200" indent="-457200">
              <a:lnSpc>
                <a:spcPts val="4199"/>
              </a:lnSpc>
              <a:buFont typeface="Wingdings" pitchFamily="2" charset="2"/>
              <a:buChar char="v"/>
            </a:pPr>
            <a:r>
              <a:rPr lang="en-US" sz="2800"/>
              <a:t>Difficult to decide whether items should be reused, repaired, recycled, or discarded.</a:t>
            </a:r>
          </a:p>
          <a:p>
            <a:pPr marL="457200" indent="-457200">
              <a:lnSpc>
                <a:spcPts val="4199"/>
              </a:lnSpc>
              <a:buFont typeface="Wingdings" pitchFamily="2" charset="2"/>
              <a:buChar char="v"/>
            </a:pPr>
            <a:r>
              <a:rPr lang="en-US" sz="2800"/>
              <a:t>Manual decisions are inefficient and inaccurate.</a:t>
            </a:r>
          </a:p>
          <a:p>
            <a:pPr marL="457200" indent="-457200">
              <a:lnSpc>
                <a:spcPts val="4199"/>
              </a:lnSpc>
              <a:buFont typeface="Wingdings" pitchFamily="2" charset="2"/>
              <a:buChar char="v"/>
            </a:pPr>
            <a:r>
              <a:rPr lang="en-US" sz="2800"/>
              <a:t>Poor waste management causes environmental pollution.</a:t>
            </a:r>
          </a:p>
          <a:p>
            <a:pPr marL="457200" indent="-457200">
              <a:lnSpc>
                <a:spcPts val="4199"/>
              </a:lnSpc>
              <a:buFont typeface="Wingdings" pitchFamily="2" charset="2"/>
              <a:buChar char="v"/>
            </a:pPr>
            <a:r>
              <a:rPr lang="en-US" sz="2800"/>
              <a:t>Need for an AI-powered sustainability decision system.</a:t>
            </a:r>
            <a:br>
              <a:rPr lang="en-US" sz="2800"/>
            </a:br>
            <a:br>
              <a:rPr lang="en-US" sz="2800"/>
            </a:br>
            <a:br>
              <a:rPr lang="en-US" sz="2800"/>
            </a:br>
            <a:endParaRPr lang="en-GB" sz="2799" spc="-72">
              <a:solidFill>
                <a:srgbClr val="000000"/>
              </a:solidFill>
              <a:latin typeface="Canva Sans"/>
              <a:ea typeface="Canva Sans"/>
              <a:cs typeface="Canva Sans"/>
              <a:sym typeface="Canva Sans"/>
            </a:endParaRPr>
          </a:p>
        </p:txBody>
      </p:sp>
      <p:sp>
        <p:nvSpPr>
          <p:cNvPr id="18" name="TextBox 18">
            <a:extLst>
              <a:ext uri="{FF2B5EF4-FFF2-40B4-BE49-F238E27FC236}">
                <a16:creationId xmlns:a16="http://schemas.microsoft.com/office/drawing/2014/main" id="{1A12902A-5566-EC12-6169-58043B3A9944}"/>
              </a:ext>
            </a:extLst>
          </p:cNvPr>
          <p:cNvSpPr txBox="1"/>
          <p:nvPr/>
        </p:nvSpPr>
        <p:spPr>
          <a:xfrm>
            <a:off x="992433" y="2163677"/>
            <a:ext cx="5544079" cy="1215461"/>
          </a:xfrm>
          <a:prstGeom prst="rect">
            <a:avLst/>
          </a:prstGeom>
        </p:spPr>
        <p:txBody>
          <a:bodyPr wrap="square" lIns="0" tIns="0" rIns="0" bIns="0" rtlCol="0" anchor="t">
            <a:spAutoFit/>
          </a:bodyPr>
          <a:lstStyle/>
          <a:p>
            <a:pPr algn="ctr">
              <a:lnSpc>
                <a:spcPts val="4899"/>
              </a:lnSpc>
            </a:pPr>
            <a:r>
              <a:rPr lang="en-US" sz="3499" dirty="0">
                <a:solidFill>
                  <a:srgbClr val="009B0B"/>
                </a:solidFill>
                <a:latin typeface="Canva Sans"/>
                <a:ea typeface="Canva Sans"/>
                <a:cs typeface="Canva Sans"/>
                <a:sym typeface="Canva Sans"/>
              </a:rPr>
              <a:t> What is the problem ? </a:t>
            </a:r>
          </a:p>
          <a:p>
            <a:pPr algn="ctr">
              <a:lnSpc>
                <a:spcPts val="4899"/>
              </a:lnSpc>
            </a:pPr>
            <a:endParaRPr lang="en-US" sz="3499" dirty="0">
              <a:solidFill>
                <a:srgbClr val="009B0B"/>
              </a:solidFill>
              <a:latin typeface="Canva Sans"/>
              <a:ea typeface="Canva Sans"/>
              <a:cs typeface="Canva Sans"/>
              <a:sym typeface="Canva Sans"/>
            </a:endParaRPr>
          </a:p>
        </p:txBody>
      </p:sp>
      <p:sp>
        <p:nvSpPr>
          <p:cNvPr id="19" name="TextBox 19">
            <a:extLst>
              <a:ext uri="{FF2B5EF4-FFF2-40B4-BE49-F238E27FC236}">
                <a16:creationId xmlns:a16="http://schemas.microsoft.com/office/drawing/2014/main" id="{7D04AAB9-9106-C767-94D0-391234A25853}"/>
              </a:ext>
            </a:extLst>
          </p:cNvPr>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10</a:t>
            </a:r>
          </a:p>
        </p:txBody>
      </p:sp>
      <p:sp>
        <p:nvSpPr>
          <p:cNvPr id="23" name="TextBox 23">
            <a:extLst>
              <a:ext uri="{FF2B5EF4-FFF2-40B4-BE49-F238E27FC236}">
                <a16:creationId xmlns:a16="http://schemas.microsoft.com/office/drawing/2014/main" id="{E3DDD0E8-FD85-712A-C21B-79DECF34512B}"/>
              </a:ext>
            </a:extLst>
          </p:cNvPr>
          <p:cNvSpPr txBox="1"/>
          <p:nvPr/>
        </p:nvSpPr>
        <p:spPr>
          <a:xfrm>
            <a:off x="1373701" y="960961"/>
            <a:ext cx="16213047" cy="1210524"/>
          </a:xfrm>
          <a:prstGeom prst="rect">
            <a:avLst/>
          </a:prstGeom>
        </p:spPr>
        <p:txBody>
          <a:bodyPr wrap="square" lIns="0" tIns="0" rIns="0" bIns="0" rtlCol="0" anchor="t">
            <a:spAutoFit/>
          </a:bodyPr>
          <a:lstStyle/>
          <a:p>
            <a:pPr algn="l">
              <a:lnSpc>
                <a:spcPts val="4649"/>
              </a:lnSpc>
            </a:pPr>
            <a:r>
              <a:rPr lang="en-GB" sz="4999">
                <a:solidFill>
                  <a:srgbClr val="009B0B">
                    <a:alpha val="69804"/>
                  </a:srgbClr>
                </a:solidFill>
                <a:latin typeface="Archivo Black"/>
                <a:ea typeface="Archivo Black"/>
                <a:cs typeface="Archivo Black"/>
                <a:sym typeface="Archivo Black"/>
              </a:rPr>
              <a:t>INTRODUCTION &amp; PROBLEM</a:t>
            </a:r>
          </a:p>
          <a:p>
            <a:pPr algn="l">
              <a:lnSpc>
                <a:spcPts val="4649"/>
              </a:lnSpc>
            </a:pPr>
            <a:endParaRPr lang="en-GB" sz="4999">
              <a:solidFill>
                <a:srgbClr val="009B0B">
                  <a:alpha val="69804"/>
                </a:srgbClr>
              </a:solidFill>
              <a:latin typeface="Archivo Black"/>
              <a:ea typeface="Archivo Black"/>
              <a:cs typeface="Archivo Black"/>
              <a:sym typeface="Archivo Black"/>
            </a:endParaRPr>
          </a:p>
        </p:txBody>
      </p:sp>
    </p:spTree>
    <p:extLst>
      <p:ext uri="{BB962C8B-B14F-4D97-AF65-F5344CB8AC3E}">
        <p14:creationId xmlns:p14="http://schemas.microsoft.com/office/powerpoint/2010/main" val="3664215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999" y="1905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10" name="TextBox 10"/>
          <p:cNvSpPr txBox="1"/>
          <p:nvPr/>
        </p:nvSpPr>
        <p:spPr>
          <a:xfrm>
            <a:off x="10626119" y="4864135"/>
            <a:ext cx="7345744" cy="425694"/>
          </a:xfrm>
          <a:prstGeom prst="rect">
            <a:avLst/>
          </a:prstGeom>
        </p:spPr>
        <p:txBody>
          <a:bodyPr lIns="0" tIns="0" rIns="0" bIns="0" rtlCol="0" anchor="t">
            <a:spAutoFit/>
          </a:bodyPr>
          <a:lstStyle/>
          <a:p>
            <a:pPr algn="just">
              <a:lnSpc>
                <a:spcPts val="3600"/>
              </a:lnSpc>
            </a:pPr>
            <a:endParaRPr lang="en-US" sz="2400">
              <a:solidFill>
                <a:srgbClr val="073064"/>
              </a:solidFill>
              <a:latin typeface="Open Sans"/>
              <a:ea typeface="Open Sans"/>
              <a:cs typeface="Open Sans"/>
              <a:sym typeface="Open Sans"/>
            </a:endParaRPr>
          </a:p>
        </p:txBody>
      </p:sp>
      <p:grpSp>
        <p:nvGrpSpPr>
          <p:cNvPr id="22" name="Group 22"/>
          <p:cNvGrpSpPr/>
          <p:nvPr/>
        </p:nvGrpSpPr>
        <p:grpSpPr>
          <a:xfrm>
            <a:off x="20999" y="9533010"/>
            <a:ext cx="3917169" cy="703984"/>
            <a:chOff x="0" y="0"/>
            <a:chExt cx="5222892" cy="938645"/>
          </a:xfrm>
        </p:grpSpPr>
        <p:sp>
          <p:nvSpPr>
            <p:cNvPr id="23" name="Freeform 23"/>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34" name="TextBox 34"/>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11</a:t>
            </a:r>
          </a:p>
        </p:txBody>
      </p:sp>
      <p:sp>
        <p:nvSpPr>
          <p:cNvPr id="39" name="TextBox 39"/>
          <p:cNvSpPr txBox="1"/>
          <p:nvPr/>
        </p:nvSpPr>
        <p:spPr>
          <a:xfrm>
            <a:off x="556313" y="774800"/>
            <a:ext cx="5969521" cy="423642"/>
          </a:xfrm>
          <a:prstGeom prst="rect">
            <a:avLst/>
          </a:prstGeom>
        </p:spPr>
        <p:txBody>
          <a:bodyPr wrap="square" lIns="0" tIns="0" rIns="0" bIns="0" rtlCol="0" anchor="t">
            <a:spAutoFit/>
          </a:bodyPr>
          <a:lstStyle/>
          <a:p>
            <a:pPr>
              <a:lnSpc>
                <a:spcPts val="3150"/>
              </a:lnSpc>
            </a:pPr>
            <a:r>
              <a:rPr lang="en-US" sz="3500">
                <a:solidFill>
                  <a:srgbClr val="009B0B"/>
                </a:solidFill>
                <a:latin typeface="Canva Sans"/>
                <a:ea typeface="Canva Sans"/>
                <a:cs typeface="Canva Sans"/>
              </a:rPr>
              <a:t>Key Features</a:t>
            </a:r>
          </a:p>
        </p:txBody>
      </p:sp>
      <p:sp>
        <p:nvSpPr>
          <p:cNvPr id="41" name="TextBox 40">
            <a:extLst>
              <a:ext uri="{FF2B5EF4-FFF2-40B4-BE49-F238E27FC236}">
                <a16:creationId xmlns:a16="http://schemas.microsoft.com/office/drawing/2014/main" id="{FB97DA25-7E03-2DE0-613B-47DE2F0129BE}"/>
              </a:ext>
            </a:extLst>
          </p:cNvPr>
          <p:cNvSpPr txBox="1"/>
          <p:nvPr/>
        </p:nvSpPr>
        <p:spPr>
          <a:xfrm>
            <a:off x="914400" y="3930811"/>
            <a:ext cx="12934335" cy="369332"/>
          </a:xfrm>
          <a:prstGeom prst="rect">
            <a:avLst/>
          </a:prstGeom>
          <a:noFill/>
        </p:spPr>
        <p:txBody>
          <a:bodyPr wrap="square">
            <a:spAutoFit/>
          </a:bodyPr>
          <a:lstStyle/>
          <a:p>
            <a:pPr algn="l"/>
            <a:r>
              <a:rPr lang="en-GB" b="0" i="0">
                <a:effectLst/>
                <a:latin typeface="fkGroteskNeue"/>
              </a:rPr>
              <a:t>.</a:t>
            </a:r>
          </a:p>
        </p:txBody>
      </p:sp>
      <p:sp>
        <p:nvSpPr>
          <p:cNvPr id="43" name="TextBox 42">
            <a:extLst>
              <a:ext uri="{FF2B5EF4-FFF2-40B4-BE49-F238E27FC236}">
                <a16:creationId xmlns:a16="http://schemas.microsoft.com/office/drawing/2014/main" id="{1974F814-9D94-79F0-DA97-1BFCBF402A52}"/>
              </a:ext>
            </a:extLst>
          </p:cNvPr>
          <p:cNvSpPr txBox="1"/>
          <p:nvPr/>
        </p:nvSpPr>
        <p:spPr>
          <a:xfrm>
            <a:off x="797144" y="3412471"/>
            <a:ext cx="15981001" cy="2126864"/>
          </a:xfrm>
          <a:prstGeom prst="rect">
            <a:avLst/>
          </a:prstGeom>
          <a:noFill/>
        </p:spPr>
        <p:txBody>
          <a:bodyPr wrap="square" lIns="91440" tIns="45720" rIns="91440" bIns="45720" anchor="t">
            <a:spAutoFit/>
          </a:bodyPr>
          <a:lstStyle/>
          <a:p>
            <a:endParaRPr lang="en-US"/>
          </a:p>
          <a:p>
            <a:br>
              <a:rPr lang="en-US"/>
            </a:br>
            <a:endParaRPr lang="en-US"/>
          </a:p>
          <a:p>
            <a:pPr>
              <a:lnSpc>
                <a:spcPct val="150000"/>
              </a:lnSpc>
            </a:pPr>
            <a:br>
              <a:rPr lang="en-US"/>
            </a:br>
            <a:endParaRPr lang="en-US"/>
          </a:p>
          <a:p>
            <a:pPr>
              <a:lnSpc>
                <a:spcPct val="150000"/>
              </a:lnSpc>
            </a:pPr>
            <a:endParaRPr lang="en-US"/>
          </a:p>
        </p:txBody>
      </p:sp>
      <p:sp>
        <p:nvSpPr>
          <p:cNvPr id="5" name="TextBox 4">
            <a:extLst>
              <a:ext uri="{FF2B5EF4-FFF2-40B4-BE49-F238E27FC236}">
                <a16:creationId xmlns:a16="http://schemas.microsoft.com/office/drawing/2014/main" id="{072A650C-AF2F-A0A9-B55B-BA8F06D1437E}"/>
              </a:ext>
            </a:extLst>
          </p:cNvPr>
          <p:cNvSpPr txBox="1"/>
          <p:nvPr/>
        </p:nvSpPr>
        <p:spPr>
          <a:xfrm>
            <a:off x="559638" y="1527263"/>
            <a:ext cx="15981001" cy="8544006"/>
          </a:xfrm>
          <a:prstGeom prst="rect">
            <a:avLst/>
          </a:prstGeom>
          <a:noFill/>
        </p:spPr>
        <p:txBody>
          <a:bodyPr wrap="square" lIns="91440" tIns="45720" rIns="91440" bIns="45720" anchor="t">
            <a:spAutoFit/>
          </a:bodyPr>
          <a:lstStyle/>
          <a:p>
            <a:pPr marL="457200" indent="-457200">
              <a:lnSpc>
                <a:spcPct val="150000"/>
              </a:lnSpc>
              <a:buFont typeface="Wingdings" pitchFamily="2" charset="2"/>
              <a:buChar char="v"/>
            </a:pPr>
            <a:r>
              <a:rPr lang="en-US" sz="2800">
                <a:solidFill>
                  <a:srgbClr val="000000"/>
                </a:solidFill>
                <a:latin typeface="Canva Sans"/>
                <a:ea typeface="+mn-lt"/>
                <a:cs typeface="+mn-lt"/>
              </a:rPr>
              <a:t>Sustainability Assessment</a:t>
            </a:r>
          </a:p>
          <a:p>
            <a:pPr marL="457200" indent="-457200">
              <a:lnSpc>
                <a:spcPct val="150000"/>
              </a:lnSpc>
              <a:buFont typeface="Wingdings" pitchFamily="2" charset="2"/>
              <a:buChar char="v"/>
            </a:pPr>
            <a:r>
              <a:rPr lang="en-US" sz="2800">
                <a:solidFill>
                  <a:srgbClr val="000000"/>
                </a:solidFill>
                <a:latin typeface="Canva Sans"/>
                <a:ea typeface="Calibri"/>
                <a:cs typeface="Calibri"/>
              </a:rPr>
              <a:t>Scenario Simulation</a:t>
            </a:r>
          </a:p>
          <a:p>
            <a:pPr marL="457200" indent="-457200">
              <a:lnSpc>
                <a:spcPct val="150000"/>
              </a:lnSpc>
              <a:buFont typeface="Wingdings" pitchFamily="2" charset="2"/>
              <a:buChar char="v"/>
            </a:pPr>
            <a:r>
              <a:rPr lang="en-US" sz="2800">
                <a:solidFill>
                  <a:srgbClr val="000000"/>
                </a:solidFill>
                <a:latin typeface="Canva Sans"/>
                <a:ea typeface="+mn-lt"/>
                <a:cs typeface="+mn-lt"/>
              </a:rPr>
              <a:t>AI-Based Recommendation System</a:t>
            </a:r>
            <a:endParaRPr lang="en-US" sz="2800">
              <a:solidFill>
                <a:srgbClr val="000000"/>
              </a:solidFill>
              <a:latin typeface="Canva Sans"/>
              <a:ea typeface="Calibri"/>
              <a:cs typeface="Calibri"/>
            </a:endParaRPr>
          </a:p>
          <a:p>
            <a:pPr marL="457200" indent="-457200">
              <a:lnSpc>
                <a:spcPct val="150000"/>
              </a:lnSpc>
              <a:buFont typeface="Wingdings" pitchFamily="2" charset="2"/>
              <a:buChar char="v"/>
            </a:pPr>
            <a:r>
              <a:rPr lang="en-US" sz="2800">
                <a:latin typeface="Canva Sans"/>
                <a:ea typeface="Calibri"/>
                <a:cs typeface="Calibri"/>
              </a:rPr>
              <a:t>Risk Assessment &amp; Data Quality Analys</a:t>
            </a:r>
            <a:endParaRPr lang="en-US">
              <a:latin typeface="Calibri"/>
              <a:ea typeface="Calibri"/>
              <a:cs typeface="Calibri"/>
            </a:endParaRPr>
          </a:p>
          <a:p>
            <a:pPr marL="457200" indent="-457200">
              <a:lnSpc>
                <a:spcPct val="150000"/>
              </a:lnSpc>
              <a:buFont typeface="Wingdings" pitchFamily="2" charset="2"/>
              <a:buChar char="v"/>
            </a:pPr>
            <a:r>
              <a:rPr lang="en-US" sz="2800"/>
              <a:t>Dashboard Analytics</a:t>
            </a:r>
            <a:endParaRPr lang="en-US" sz="2800">
              <a:ea typeface="Calibri"/>
              <a:cs typeface="Calibri"/>
            </a:endParaRPr>
          </a:p>
          <a:p>
            <a:pPr marL="457200" indent="-457200">
              <a:lnSpc>
                <a:spcPct val="150000"/>
              </a:lnSpc>
              <a:buFont typeface="Wingdings" pitchFamily="2" charset="2"/>
              <a:buChar char="v"/>
            </a:pPr>
            <a:r>
              <a:rPr lang="en-US" sz="2800">
                <a:solidFill>
                  <a:srgbClr val="000000"/>
                </a:solidFill>
                <a:ea typeface="+mn-lt"/>
                <a:cs typeface="+mn-lt"/>
              </a:rPr>
              <a:t>Explainable Recommendation Output</a:t>
            </a:r>
            <a:endParaRPr lang="en-US" sz="2800">
              <a:solidFill>
                <a:srgbClr val="000000"/>
              </a:solidFill>
              <a:ea typeface="Calibri"/>
              <a:cs typeface="Calibri"/>
            </a:endParaRPr>
          </a:p>
          <a:p>
            <a:pPr marL="457200" indent="-457200">
              <a:lnSpc>
                <a:spcPct val="150000"/>
              </a:lnSpc>
              <a:buFont typeface="Wingdings" pitchFamily="2" charset="2"/>
              <a:buChar char="v"/>
            </a:pPr>
            <a:r>
              <a:rPr lang="en-US" sz="2800">
                <a:solidFill>
                  <a:srgbClr val="000000"/>
                </a:solidFill>
                <a:ea typeface="+mn-lt"/>
                <a:cs typeface="+mn-lt"/>
              </a:rPr>
              <a:t>Environmental Impact Prediction</a:t>
            </a:r>
            <a:endParaRPr lang="en-US">
              <a:solidFill>
                <a:srgbClr val="000000"/>
              </a:solidFill>
              <a:ea typeface="+mn-lt"/>
              <a:cs typeface="+mn-lt"/>
            </a:endParaRPr>
          </a:p>
          <a:p>
            <a:pPr marL="457200" indent="-457200">
              <a:lnSpc>
                <a:spcPct val="150000"/>
              </a:lnSpc>
              <a:buFont typeface="Wingdings" pitchFamily="2" charset="2"/>
              <a:buChar char="v"/>
            </a:pPr>
            <a:r>
              <a:rPr lang="en-US" sz="2800"/>
              <a:t>Integration Support for Pricing &amp; Marketplace Modules</a:t>
            </a:r>
          </a:p>
          <a:p>
            <a:pPr marL="457200" indent="-457200">
              <a:lnSpc>
                <a:spcPct val="150000"/>
              </a:lnSpc>
              <a:buFont typeface="Wingdings" pitchFamily="2" charset="2"/>
              <a:buChar char="v"/>
            </a:pPr>
            <a:endParaRPr lang="en-US">
              <a:ea typeface="Calibri"/>
              <a:cs typeface="Calibri"/>
            </a:endParaRPr>
          </a:p>
          <a:p>
            <a:pPr>
              <a:lnSpc>
                <a:spcPct val="150000"/>
              </a:lnSpc>
            </a:pPr>
            <a:br>
              <a:rPr lang="en-US"/>
            </a:br>
            <a:br>
              <a:rPr lang="en-US"/>
            </a:br>
            <a:endParaRPr lang="en-US">
              <a:ea typeface="Calibri"/>
              <a:cs typeface="Calibri"/>
            </a:endParaRPr>
          </a:p>
          <a:p>
            <a:pPr>
              <a:lnSpc>
                <a:spcPct val="150000"/>
              </a:lnSpc>
            </a:pPr>
            <a:br>
              <a:rPr lang="en-US"/>
            </a:br>
            <a:endParaRPr lang="en-US">
              <a:ea typeface="Calibri"/>
              <a:cs typeface="Calibri"/>
            </a:endParaRPr>
          </a:p>
          <a:p>
            <a:pPr>
              <a:lnSpc>
                <a:spcPct val="150000"/>
              </a:lnSpc>
            </a:pPr>
            <a:br>
              <a:rPr lang="en-US"/>
            </a:br>
            <a:endParaRPr lang="en-US">
              <a:ea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95202-CF28-3462-8D0D-F34E100C8C5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7041DB7-670A-62CF-F4E1-B09C974B8327}"/>
              </a:ext>
            </a:extLst>
          </p:cNvPr>
          <p:cNvGrpSpPr/>
          <p:nvPr/>
        </p:nvGrpSpPr>
        <p:grpSpPr>
          <a:xfrm>
            <a:off x="20999" y="19050"/>
            <a:ext cx="18288000" cy="10287000"/>
            <a:chOff x="0" y="0"/>
            <a:chExt cx="24384000" cy="13716000"/>
          </a:xfrm>
        </p:grpSpPr>
        <p:sp>
          <p:nvSpPr>
            <p:cNvPr id="3" name="Freeform 3">
              <a:extLst>
                <a:ext uri="{FF2B5EF4-FFF2-40B4-BE49-F238E27FC236}">
                  <a16:creationId xmlns:a16="http://schemas.microsoft.com/office/drawing/2014/main" id="{C30D7E43-8C97-0451-2FAB-C406DD2C529A}"/>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10" name="TextBox 10">
            <a:extLst>
              <a:ext uri="{FF2B5EF4-FFF2-40B4-BE49-F238E27FC236}">
                <a16:creationId xmlns:a16="http://schemas.microsoft.com/office/drawing/2014/main" id="{EBD582BF-4BC6-8F69-2464-FCC965E20EB8}"/>
              </a:ext>
            </a:extLst>
          </p:cNvPr>
          <p:cNvSpPr txBox="1"/>
          <p:nvPr/>
        </p:nvSpPr>
        <p:spPr>
          <a:xfrm>
            <a:off x="10626119" y="4864135"/>
            <a:ext cx="7345744" cy="425694"/>
          </a:xfrm>
          <a:prstGeom prst="rect">
            <a:avLst/>
          </a:prstGeom>
        </p:spPr>
        <p:txBody>
          <a:bodyPr lIns="0" tIns="0" rIns="0" bIns="0" rtlCol="0" anchor="t">
            <a:spAutoFit/>
          </a:bodyPr>
          <a:lstStyle/>
          <a:p>
            <a:pPr algn="just">
              <a:lnSpc>
                <a:spcPts val="3600"/>
              </a:lnSpc>
            </a:pPr>
            <a:endParaRPr lang="en-US" sz="2400">
              <a:solidFill>
                <a:srgbClr val="073064"/>
              </a:solidFill>
              <a:latin typeface="Open Sans"/>
              <a:ea typeface="Open Sans"/>
              <a:cs typeface="Open Sans"/>
              <a:sym typeface="Open Sans"/>
            </a:endParaRPr>
          </a:p>
        </p:txBody>
      </p:sp>
      <p:grpSp>
        <p:nvGrpSpPr>
          <p:cNvPr id="22" name="Group 22">
            <a:extLst>
              <a:ext uri="{FF2B5EF4-FFF2-40B4-BE49-F238E27FC236}">
                <a16:creationId xmlns:a16="http://schemas.microsoft.com/office/drawing/2014/main" id="{05D9C21C-3A90-679C-1698-5A15EA7E4E61}"/>
              </a:ext>
            </a:extLst>
          </p:cNvPr>
          <p:cNvGrpSpPr/>
          <p:nvPr/>
        </p:nvGrpSpPr>
        <p:grpSpPr>
          <a:xfrm>
            <a:off x="20999" y="9533010"/>
            <a:ext cx="3917169" cy="703984"/>
            <a:chOff x="0" y="0"/>
            <a:chExt cx="5222892" cy="938645"/>
          </a:xfrm>
        </p:grpSpPr>
        <p:sp>
          <p:nvSpPr>
            <p:cNvPr id="23" name="Freeform 23">
              <a:extLst>
                <a:ext uri="{FF2B5EF4-FFF2-40B4-BE49-F238E27FC236}">
                  <a16:creationId xmlns:a16="http://schemas.microsoft.com/office/drawing/2014/main" id="{181D2031-85DE-D115-F295-FC2485F3E6D4}"/>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34" name="TextBox 34">
            <a:extLst>
              <a:ext uri="{FF2B5EF4-FFF2-40B4-BE49-F238E27FC236}">
                <a16:creationId xmlns:a16="http://schemas.microsoft.com/office/drawing/2014/main" id="{DEEC3D47-D7C1-BBAE-1603-B4986CC8D7C3}"/>
              </a:ext>
            </a:extLst>
          </p:cNvPr>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a:t>
            </a:r>
          </a:p>
        </p:txBody>
      </p:sp>
      <p:sp>
        <p:nvSpPr>
          <p:cNvPr id="39" name="TextBox 39">
            <a:extLst>
              <a:ext uri="{FF2B5EF4-FFF2-40B4-BE49-F238E27FC236}">
                <a16:creationId xmlns:a16="http://schemas.microsoft.com/office/drawing/2014/main" id="{5282C46D-B837-D3BB-21E5-646513D60F01}"/>
              </a:ext>
            </a:extLst>
          </p:cNvPr>
          <p:cNvSpPr txBox="1"/>
          <p:nvPr/>
        </p:nvSpPr>
        <p:spPr>
          <a:xfrm>
            <a:off x="964527" y="2377969"/>
            <a:ext cx="5947255" cy="428643"/>
          </a:xfrm>
          <a:prstGeom prst="rect">
            <a:avLst/>
          </a:prstGeom>
        </p:spPr>
        <p:txBody>
          <a:bodyPr lIns="0" tIns="0" rIns="0" bIns="0" rtlCol="0" anchor="t">
            <a:spAutoFit/>
          </a:bodyPr>
          <a:lstStyle/>
          <a:p>
            <a:pPr algn="l">
              <a:lnSpc>
                <a:spcPts val="3150"/>
              </a:lnSpc>
            </a:pPr>
            <a:r>
              <a:rPr lang="en-US" sz="3500">
                <a:solidFill>
                  <a:srgbClr val="009B0B"/>
                </a:solidFill>
                <a:latin typeface="Canva Sans"/>
                <a:ea typeface="Canva Sans"/>
                <a:cs typeface="Canva Sans"/>
                <a:sym typeface="Canva Sans"/>
              </a:rPr>
              <a:t>Research Gap</a:t>
            </a:r>
          </a:p>
        </p:txBody>
      </p:sp>
      <p:sp>
        <p:nvSpPr>
          <p:cNvPr id="41" name="TextBox 40">
            <a:extLst>
              <a:ext uri="{FF2B5EF4-FFF2-40B4-BE49-F238E27FC236}">
                <a16:creationId xmlns:a16="http://schemas.microsoft.com/office/drawing/2014/main" id="{742C223B-6ADA-C850-A182-79D7F47ED105}"/>
              </a:ext>
            </a:extLst>
          </p:cNvPr>
          <p:cNvSpPr txBox="1"/>
          <p:nvPr/>
        </p:nvSpPr>
        <p:spPr>
          <a:xfrm>
            <a:off x="914400" y="3930811"/>
            <a:ext cx="12934335" cy="369332"/>
          </a:xfrm>
          <a:prstGeom prst="rect">
            <a:avLst/>
          </a:prstGeom>
          <a:noFill/>
        </p:spPr>
        <p:txBody>
          <a:bodyPr wrap="square">
            <a:spAutoFit/>
          </a:bodyPr>
          <a:lstStyle/>
          <a:p>
            <a:pPr algn="l"/>
            <a:r>
              <a:rPr lang="en-GB" b="0" i="0">
                <a:effectLst/>
                <a:latin typeface="fkGroteskNeue"/>
              </a:rPr>
              <a:t>.</a:t>
            </a:r>
          </a:p>
        </p:txBody>
      </p:sp>
      <p:sp>
        <p:nvSpPr>
          <p:cNvPr id="43" name="TextBox 42">
            <a:extLst>
              <a:ext uri="{FF2B5EF4-FFF2-40B4-BE49-F238E27FC236}">
                <a16:creationId xmlns:a16="http://schemas.microsoft.com/office/drawing/2014/main" id="{5716DFCA-586C-12FD-126F-5C80AEE4B92A}"/>
              </a:ext>
            </a:extLst>
          </p:cNvPr>
          <p:cNvSpPr txBox="1"/>
          <p:nvPr/>
        </p:nvSpPr>
        <p:spPr>
          <a:xfrm>
            <a:off x="797144" y="3412471"/>
            <a:ext cx="15981001" cy="4342856"/>
          </a:xfrm>
          <a:prstGeom prst="rect">
            <a:avLst/>
          </a:prstGeom>
          <a:noFill/>
        </p:spPr>
        <p:txBody>
          <a:bodyPr wrap="square">
            <a:spAutoFit/>
          </a:bodyPr>
          <a:lstStyle/>
          <a:p>
            <a:pPr marL="457200" indent="-457200">
              <a:lnSpc>
                <a:spcPct val="150000"/>
              </a:lnSpc>
              <a:buFont typeface="Wingdings" pitchFamily="2" charset="2"/>
              <a:buChar char="v"/>
            </a:pPr>
            <a:r>
              <a:rPr lang="en-US" sz="2800">
                <a:latin typeface="Canva Sans" panose="020B0604020202020204" charset="0"/>
              </a:rPr>
              <a:t>Existing systems mainly focus on waste collection, not sustainability intelligence.</a:t>
            </a:r>
          </a:p>
          <a:p>
            <a:pPr marL="457200" indent="-457200">
              <a:lnSpc>
                <a:spcPct val="150000"/>
              </a:lnSpc>
              <a:buFont typeface="Wingdings" pitchFamily="2" charset="2"/>
              <a:buChar char="v"/>
            </a:pPr>
            <a:r>
              <a:rPr lang="en-US" sz="2800"/>
              <a:t>Lack of AI-based decision support for textile waste management.</a:t>
            </a:r>
          </a:p>
          <a:p>
            <a:pPr marL="457200" indent="-457200">
              <a:lnSpc>
                <a:spcPct val="150000"/>
              </a:lnSpc>
              <a:buFont typeface="Wingdings" pitchFamily="2" charset="2"/>
              <a:buChar char="v"/>
            </a:pPr>
            <a:r>
              <a:rPr lang="en-US" sz="2800"/>
              <a:t>Most platforms do not provide explainable recommendations or risk analysis.</a:t>
            </a:r>
          </a:p>
          <a:p>
            <a:pPr marL="457200" indent="-457200">
              <a:lnSpc>
                <a:spcPct val="150000"/>
              </a:lnSpc>
              <a:buFont typeface="Wingdings" pitchFamily="2" charset="2"/>
              <a:buChar char="v"/>
            </a:pPr>
            <a:r>
              <a:rPr lang="en-US" sz="2800"/>
              <a:t>No integrated system for sustainability prediction and scenario comparison.</a:t>
            </a:r>
          </a:p>
          <a:p>
            <a:pPr marL="457200" indent="-457200">
              <a:lnSpc>
                <a:spcPct val="150000"/>
              </a:lnSpc>
              <a:buFont typeface="Wingdings" pitchFamily="2" charset="2"/>
              <a:buChar char="v"/>
            </a:pPr>
            <a:r>
              <a:rPr lang="en-US" sz="2800"/>
              <a:t>Limited use of ML models for textile reuse and environmental impact evaluation.</a:t>
            </a:r>
            <a:br>
              <a:rPr lang="en-US" sz="2800"/>
            </a:br>
            <a:endParaRPr lang="en-US" sz="2800">
              <a:latin typeface="Canva Sans" panose="020B0604020202020204" charset="0"/>
            </a:endParaRPr>
          </a:p>
          <a:p>
            <a:pPr>
              <a:lnSpc>
                <a:spcPct val="150000"/>
              </a:lnSpc>
            </a:pPr>
            <a:endParaRPr lang="en-US"/>
          </a:p>
        </p:txBody>
      </p:sp>
    </p:spTree>
    <p:extLst>
      <p:ext uri="{BB962C8B-B14F-4D97-AF65-F5344CB8AC3E}">
        <p14:creationId xmlns:p14="http://schemas.microsoft.com/office/powerpoint/2010/main" val="3702182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5E34F-89B3-38DF-D3C3-E724D3D77E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C8861C-E665-E633-4DC7-89BD21008D8A}"/>
              </a:ext>
            </a:extLst>
          </p:cNvPr>
          <p:cNvGrpSpPr/>
          <p:nvPr/>
        </p:nvGrpSpPr>
        <p:grpSpPr>
          <a:xfrm>
            <a:off x="20999" y="19050"/>
            <a:ext cx="18288000" cy="10287000"/>
            <a:chOff x="0" y="0"/>
            <a:chExt cx="24384000" cy="13716000"/>
          </a:xfrm>
        </p:grpSpPr>
        <p:sp>
          <p:nvSpPr>
            <p:cNvPr id="3" name="Freeform 3">
              <a:extLst>
                <a:ext uri="{FF2B5EF4-FFF2-40B4-BE49-F238E27FC236}">
                  <a16:creationId xmlns:a16="http://schemas.microsoft.com/office/drawing/2014/main" id="{2A101C7E-61D8-617D-C9FC-51A6FFDD7B17}"/>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10" name="TextBox 10">
            <a:extLst>
              <a:ext uri="{FF2B5EF4-FFF2-40B4-BE49-F238E27FC236}">
                <a16:creationId xmlns:a16="http://schemas.microsoft.com/office/drawing/2014/main" id="{DB176CCE-2235-7716-7D69-6852BF06692D}"/>
              </a:ext>
            </a:extLst>
          </p:cNvPr>
          <p:cNvSpPr txBox="1"/>
          <p:nvPr/>
        </p:nvSpPr>
        <p:spPr>
          <a:xfrm>
            <a:off x="10626119" y="4864135"/>
            <a:ext cx="7345744" cy="425694"/>
          </a:xfrm>
          <a:prstGeom prst="rect">
            <a:avLst/>
          </a:prstGeom>
        </p:spPr>
        <p:txBody>
          <a:bodyPr lIns="0" tIns="0" rIns="0" bIns="0" rtlCol="0" anchor="t">
            <a:spAutoFit/>
          </a:bodyPr>
          <a:lstStyle/>
          <a:p>
            <a:pPr algn="just">
              <a:lnSpc>
                <a:spcPts val="3600"/>
              </a:lnSpc>
            </a:pPr>
            <a:endParaRPr lang="en-US" sz="2400">
              <a:solidFill>
                <a:srgbClr val="073064"/>
              </a:solidFill>
              <a:latin typeface="Open Sans"/>
              <a:ea typeface="Open Sans"/>
              <a:cs typeface="Open Sans"/>
              <a:sym typeface="Open Sans"/>
            </a:endParaRPr>
          </a:p>
        </p:txBody>
      </p:sp>
      <p:grpSp>
        <p:nvGrpSpPr>
          <p:cNvPr id="22" name="Group 22">
            <a:extLst>
              <a:ext uri="{FF2B5EF4-FFF2-40B4-BE49-F238E27FC236}">
                <a16:creationId xmlns:a16="http://schemas.microsoft.com/office/drawing/2014/main" id="{C5587CD5-8C2A-2E41-136E-FBE2943E3A60}"/>
              </a:ext>
            </a:extLst>
          </p:cNvPr>
          <p:cNvGrpSpPr/>
          <p:nvPr/>
        </p:nvGrpSpPr>
        <p:grpSpPr>
          <a:xfrm>
            <a:off x="20999" y="9533010"/>
            <a:ext cx="3917169" cy="703984"/>
            <a:chOff x="0" y="0"/>
            <a:chExt cx="5222892" cy="938645"/>
          </a:xfrm>
        </p:grpSpPr>
        <p:sp>
          <p:nvSpPr>
            <p:cNvPr id="23" name="Freeform 23">
              <a:extLst>
                <a:ext uri="{FF2B5EF4-FFF2-40B4-BE49-F238E27FC236}">
                  <a16:creationId xmlns:a16="http://schemas.microsoft.com/office/drawing/2014/main" id="{1859126A-26BE-DA3A-BECD-2AFAC0692F1A}"/>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34" name="TextBox 34">
            <a:extLst>
              <a:ext uri="{FF2B5EF4-FFF2-40B4-BE49-F238E27FC236}">
                <a16:creationId xmlns:a16="http://schemas.microsoft.com/office/drawing/2014/main" id="{E38349E8-E3DD-797E-7A24-BA881B171115}"/>
              </a:ext>
            </a:extLst>
          </p:cNvPr>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11</a:t>
            </a:r>
          </a:p>
        </p:txBody>
      </p:sp>
      <p:sp>
        <p:nvSpPr>
          <p:cNvPr id="39" name="TextBox 39">
            <a:extLst>
              <a:ext uri="{FF2B5EF4-FFF2-40B4-BE49-F238E27FC236}">
                <a16:creationId xmlns:a16="http://schemas.microsoft.com/office/drawing/2014/main" id="{9A709A22-348A-E42A-A946-5A904A646166}"/>
              </a:ext>
            </a:extLst>
          </p:cNvPr>
          <p:cNvSpPr txBox="1"/>
          <p:nvPr/>
        </p:nvSpPr>
        <p:spPr>
          <a:xfrm>
            <a:off x="796085" y="717611"/>
            <a:ext cx="5947255" cy="428643"/>
          </a:xfrm>
          <a:prstGeom prst="rect">
            <a:avLst/>
          </a:prstGeom>
        </p:spPr>
        <p:txBody>
          <a:bodyPr lIns="0" tIns="0" rIns="0" bIns="0" rtlCol="0" anchor="t">
            <a:spAutoFit/>
          </a:bodyPr>
          <a:lstStyle/>
          <a:p>
            <a:pPr>
              <a:lnSpc>
                <a:spcPts val="3150"/>
              </a:lnSpc>
            </a:pPr>
            <a:r>
              <a:rPr lang="en-US" sz="3500">
                <a:solidFill>
                  <a:srgbClr val="009B0B"/>
                </a:solidFill>
                <a:latin typeface="Canva Sans"/>
                <a:ea typeface="Canva Sans"/>
                <a:cs typeface="Canva Sans"/>
              </a:rPr>
              <a:t>Novelty Features</a:t>
            </a:r>
          </a:p>
        </p:txBody>
      </p:sp>
      <p:sp>
        <p:nvSpPr>
          <p:cNvPr id="41" name="TextBox 40">
            <a:extLst>
              <a:ext uri="{FF2B5EF4-FFF2-40B4-BE49-F238E27FC236}">
                <a16:creationId xmlns:a16="http://schemas.microsoft.com/office/drawing/2014/main" id="{E4EBB6AF-E427-E2AB-4C2F-0A889D404E6D}"/>
              </a:ext>
            </a:extLst>
          </p:cNvPr>
          <p:cNvSpPr txBox="1"/>
          <p:nvPr/>
        </p:nvSpPr>
        <p:spPr>
          <a:xfrm>
            <a:off x="914400" y="3930811"/>
            <a:ext cx="12934335" cy="369332"/>
          </a:xfrm>
          <a:prstGeom prst="rect">
            <a:avLst/>
          </a:prstGeom>
          <a:noFill/>
        </p:spPr>
        <p:txBody>
          <a:bodyPr wrap="square">
            <a:spAutoFit/>
          </a:bodyPr>
          <a:lstStyle/>
          <a:p>
            <a:pPr algn="l"/>
            <a:r>
              <a:rPr lang="en-GB" b="0" i="0">
                <a:effectLst/>
                <a:latin typeface="fkGroteskNeue"/>
              </a:rPr>
              <a:t>.</a:t>
            </a:r>
          </a:p>
        </p:txBody>
      </p:sp>
      <p:sp>
        <p:nvSpPr>
          <p:cNvPr id="43" name="TextBox 42">
            <a:extLst>
              <a:ext uri="{FF2B5EF4-FFF2-40B4-BE49-F238E27FC236}">
                <a16:creationId xmlns:a16="http://schemas.microsoft.com/office/drawing/2014/main" id="{08F52DAF-5A80-447D-840A-30B81245C172}"/>
              </a:ext>
            </a:extLst>
          </p:cNvPr>
          <p:cNvSpPr txBox="1"/>
          <p:nvPr/>
        </p:nvSpPr>
        <p:spPr>
          <a:xfrm>
            <a:off x="688860" y="1667892"/>
            <a:ext cx="15981001" cy="5262979"/>
          </a:xfrm>
          <a:prstGeom prst="rect">
            <a:avLst/>
          </a:prstGeom>
          <a:noFill/>
        </p:spPr>
        <p:txBody>
          <a:bodyPr wrap="square" lIns="91440" tIns="45720" rIns="91440" bIns="45720" anchor="t">
            <a:spAutoFit/>
          </a:bodyPr>
          <a:lstStyle/>
          <a:p>
            <a:pPr marL="457200" indent="-457200">
              <a:buFont typeface="Wingdings"/>
              <a:buChar char="v"/>
            </a:pPr>
            <a:r>
              <a:rPr lang="en-US" sz="2800">
                <a:solidFill>
                  <a:srgbClr val="0F172A"/>
                </a:solidFill>
                <a:latin typeface="Calibri"/>
                <a:ea typeface="Calibri"/>
                <a:cs typeface="Calibri"/>
              </a:rPr>
              <a:t> Environmental impact prediction</a:t>
            </a:r>
            <a:endParaRPr lang="en-US" sz="2800">
              <a:solidFill>
                <a:srgbClr val="000000"/>
              </a:solidFill>
              <a:latin typeface="Calibri"/>
              <a:ea typeface="Calibri"/>
              <a:cs typeface="Calibri"/>
            </a:endParaRPr>
          </a:p>
          <a:p>
            <a:endParaRPr lang="en-US" sz="2800">
              <a:solidFill>
                <a:srgbClr val="0F172A"/>
              </a:solidFill>
              <a:ea typeface="Calibri"/>
              <a:cs typeface="Calibri"/>
            </a:endParaRPr>
          </a:p>
          <a:p>
            <a:pPr marL="457200" indent="-457200">
              <a:buFont typeface="Wingdings"/>
              <a:buChar char="v"/>
            </a:pPr>
            <a:r>
              <a:rPr lang="en-US" sz="2800">
                <a:solidFill>
                  <a:srgbClr val="0F172A"/>
                </a:solidFill>
                <a:ea typeface="Calibri"/>
                <a:cs typeface="Calibri"/>
              </a:rPr>
              <a:t> Scenario comparison across multiple disposal or recovery paths</a:t>
            </a:r>
          </a:p>
          <a:p>
            <a:endParaRPr lang="en-US" sz="2800">
              <a:solidFill>
                <a:srgbClr val="0F172A"/>
              </a:solidFill>
              <a:ea typeface="Calibri"/>
              <a:cs typeface="Calibri"/>
            </a:endParaRPr>
          </a:p>
          <a:p>
            <a:pPr marL="457200" indent="-457200">
              <a:buFont typeface="Wingdings"/>
              <a:buChar char="v"/>
            </a:pPr>
            <a:r>
              <a:rPr lang="en-US" sz="2800">
                <a:solidFill>
                  <a:srgbClr val="0F172A"/>
                </a:solidFill>
                <a:ea typeface="Calibri"/>
                <a:cs typeface="Calibri"/>
              </a:rPr>
              <a:t>Explainable recommendation output</a:t>
            </a:r>
          </a:p>
          <a:p>
            <a:endParaRPr lang="en-US" sz="2800">
              <a:solidFill>
                <a:srgbClr val="0F172A"/>
              </a:solidFill>
              <a:ea typeface="Calibri"/>
              <a:cs typeface="Calibri"/>
            </a:endParaRPr>
          </a:p>
          <a:p>
            <a:pPr marL="457200" indent="-457200">
              <a:buFont typeface="Wingdings"/>
              <a:buChar char="v"/>
            </a:pPr>
            <a:r>
              <a:rPr lang="en-US" sz="2800">
                <a:solidFill>
                  <a:srgbClr val="0F172A"/>
                </a:solidFill>
                <a:ea typeface="Calibri"/>
                <a:cs typeface="Calibri"/>
              </a:rPr>
              <a:t>Risk and data-quality assessment</a:t>
            </a:r>
          </a:p>
          <a:p>
            <a:endParaRPr lang="en-US" sz="2800">
              <a:solidFill>
                <a:srgbClr val="0F172A"/>
              </a:solidFill>
              <a:ea typeface="Calibri"/>
              <a:cs typeface="Calibri"/>
            </a:endParaRPr>
          </a:p>
          <a:p>
            <a:pPr marL="457200" indent="-457200">
              <a:buFont typeface="Wingdings"/>
              <a:buChar char="v"/>
            </a:pPr>
            <a:r>
              <a:rPr lang="en-US" sz="2800">
                <a:solidFill>
                  <a:srgbClr val="0F172A"/>
                </a:solidFill>
                <a:ea typeface="Calibri"/>
                <a:cs typeface="Calibri"/>
              </a:rPr>
              <a:t>Integration payloads for pricing and marketplace matching components</a:t>
            </a:r>
          </a:p>
          <a:p>
            <a:pPr marL="457200" indent="-457200">
              <a:buFont typeface="Wingdings"/>
              <a:buChar char="v"/>
            </a:pPr>
            <a:endParaRPr lang="en-US" sz="2800">
              <a:solidFill>
                <a:srgbClr val="0F172A"/>
              </a:solidFill>
              <a:ea typeface="Calibri"/>
              <a:cs typeface="Calibri"/>
            </a:endParaRPr>
          </a:p>
          <a:p>
            <a:pPr marL="457200" indent="-457200">
              <a:buFont typeface="Wingdings"/>
              <a:buChar char="v"/>
            </a:pPr>
            <a:endParaRPr lang="en-US" sz="2800">
              <a:solidFill>
                <a:srgbClr val="0F172A"/>
              </a:solidFill>
              <a:ea typeface="Calibri"/>
              <a:cs typeface="Calibri"/>
            </a:endParaRPr>
          </a:p>
          <a:p>
            <a:pPr marL="457200" indent="-457200">
              <a:buFont typeface="Wingdings"/>
              <a:buChar char="v"/>
            </a:pPr>
            <a:endParaRPr lang="en-US" sz="2800">
              <a:solidFill>
                <a:srgbClr val="0F172A"/>
              </a:solidFill>
              <a:ea typeface="Calibri"/>
              <a:cs typeface="Calibri"/>
            </a:endParaRPr>
          </a:p>
        </p:txBody>
      </p:sp>
    </p:spTree>
    <p:extLst>
      <p:ext uri="{BB962C8B-B14F-4D97-AF65-F5344CB8AC3E}">
        <p14:creationId xmlns:p14="http://schemas.microsoft.com/office/powerpoint/2010/main" val="45997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42CA2-2E52-6C35-9B65-8139B623880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1C49860-693E-2CCE-D4AA-22B198EC64AC}"/>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89100650-8219-E650-41CB-466B44C05BF0}"/>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5" name="Group 5">
            <a:extLst>
              <a:ext uri="{FF2B5EF4-FFF2-40B4-BE49-F238E27FC236}">
                <a16:creationId xmlns:a16="http://schemas.microsoft.com/office/drawing/2014/main" id="{0D62C0B8-1115-B950-C3C2-D9A2653D3284}"/>
              </a:ext>
            </a:extLst>
          </p:cNvPr>
          <p:cNvGrpSpPr/>
          <p:nvPr/>
        </p:nvGrpSpPr>
        <p:grpSpPr>
          <a:xfrm>
            <a:off x="20999" y="9533010"/>
            <a:ext cx="3917169" cy="703984"/>
            <a:chOff x="0" y="0"/>
            <a:chExt cx="5222892" cy="938645"/>
          </a:xfrm>
        </p:grpSpPr>
        <p:sp>
          <p:nvSpPr>
            <p:cNvPr id="6" name="Freeform 6">
              <a:extLst>
                <a:ext uri="{FF2B5EF4-FFF2-40B4-BE49-F238E27FC236}">
                  <a16:creationId xmlns:a16="http://schemas.microsoft.com/office/drawing/2014/main" id="{A4A8DCF3-F309-0004-5098-993E87AFD67B}"/>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Freeform 7">
            <a:extLst>
              <a:ext uri="{FF2B5EF4-FFF2-40B4-BE49-F238E27FC236}">
                <a16:creationId xmlns:a16="http://schemas.microsoft.com/office/drawing/2014/main" id="{DE72FB65-A4FF-6591-FFF0-C7A61F640708}"/>
              </a:ext>
            </a:extLst>
          </p:cNvPr>
          <p:cNvSpPr/>
          <p:nvPr/>
        </p:nvSpPr>
        <p:spPr>
          <a:xfrm>
            <a:off x="16462700" y="11772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455A8A6E-7D7B-6E95-664B-6A3ACD0704AA}"/>
              </a:ext>
            </a:extLst>
          </p:cNvPr>
          <p:cNvSpPr/>
          <p:nvPr/>
        </p:nvSpPr>
        <p:spPr>
          <a:xfrm>
            <a:off x="12032262" y="1450832"/>
            <a:ext cx="5197220" cy="5829417"/>
          </a:xfrm>
          <a:custGeom>
            <a:avLst/>
            <a:gdLst/>
            <a:ahLst/>
            <a:cxnLst/>
            <a:rect l="l" t="t" r="r" b="b"/>
            <a:pathLst>
              <a:path w="5197220" h="5829417">
                <a:moveTo>
                  <a:pt x="0" y="0"/>
                </a:moveTo>
                <a:lnTo>
                  <a:pt x="5197220" y="0"/>
                </a:lnTo>
                <a:lnTo>
                  <a:pt x="5197220" y="5829417"/>
                </a:lnTo>
                <a:lnTo>
                  <a:pt x="0" y="58294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a:extLst>
              <a:ext uri="{FF2B5EF4-FFF2-40B4-BE49-F238E27FC236}">
                <a16:creationId xmlns:a16="http://schemas.microsoft.com/office/drawing/2014/main" id="{FAA71A3F-A912-25B4-B587-496BAD33EFF9}"/>
              </a:ext>
            </a:extLst>
          </p:cNvPr>
          <p:cNvSpPr/>
          <p:nvPr/>
        </p:nvSpPr>
        <p:spPr>
          <a:xfrm>
            <a:off x="16615100" y="13296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a:extLst>
              <a:ext uri="{FF2B5EF4-FFF2-40B4-BE49-F238E27FC236}">
                <a16:creationId xmlns:a16="http://schemas.microsoft.com/office/drawing/2014/main" id="{7E8C9605-9F31-1BAD-CAE6-4CD7383CD61C}"/>
              </a:ext>
            </a:extLst>
          </p:cNvPr>
          <p:cNvSpPr/>
          <p:nvPr/>
        </p:nvSpPr>
        <p:spPr>
          <a:xfrm>
            <a:off x="16603908" y="1311526"/>
            <a:ext cx="424674" cy="1481092"/>
          </a:xfrm>
          <a:custGeom>
            <a:avLst/>
            <a:gdLst/>
            <a:ahLst/>
            <a:cxnLst/>
            <a:rect l="l" t="t" r="r" b="b"/>
            <a:pathLst>
              <a:path w="424674" h="1481092">
                <a:moveTo>
                  <a:pt x="0" y="0"/>
                </a:moveTo>
                <a:lnTo>
                  <a:pt x="424674" y="0"/>
                </a:lnTo>
                <a:lnTo>
                  <a:pt x="424674" y="1481092"/>
                </a:lnTo>
                <a:lnTo>
                  <a:pt x="0" y="14810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TextBox 14">
            <a:extLst>
              <a:ext uri="{FF2B5EF4-FFF2-40B4-BE49-F238E27FC236}">
                <a16:creationId xmlns:a16="http://schemas.microsoft.com/office/drawing/2014/main" id="{6B80539D-B906-4FBF-5CC2-FF457C26E713}"/>
              </a:ext>
            </a:extLst>
          </p:cNvPr>
          <p:cNvSpPr txBox="1"/>
          <p:nvPr/>
        </p:nvSpPr>
        <p:spPr>
          <a:xfrm>
            <a:off x="316354" y="1274970"/>
            <a:ext cx="8827082" cy="428598"/>
          </a:xfrm>
          <a:prstGeom prst="rect">
            <a:avLst/>
          </a:prstGeom>
        </p:spPr>
        <p:txBody>
          <a:bodyPr lIns="0" tIns="0" rIns="0" bIns="0" rtlCol="0" anchor="t">
            <a:spAutoFit/>
          </a:bodyPr>
          <a:lstStyle/>
          <a:p>
            <a:pPr algn="l">
              <a:lnSpc>
                <a:spcPts val="3150"/>
              </a:lnSpc>
            </a:pPr>
            <a:r>
              <a:rPr lang="en-US" sz="3500">
                <a:solidFill>
                  <a:srgbClr val="009B0B"/>
                </a:solidFill>
                <a:latin typeface="Canva Sans"/>
                <a:ea typeface="Canva Sans"/>
                <a:cs typeface="Canva Sans"/>
                <a:sym typeface="Canva Sans"/>
              </a:rPr>
              <a:t>Evaluation and Validation</a:t>
            </a:r>
          </a:p>
        </p:txBody>
      </p:sp>
      <p:sp>
        <p:nvSpPr>
          <p:cNvPr id="16" name="TextBox 16">
            <a:extLst>
              <a:ext uri="{FF2B5EF4-FFF2-40B4-BE49-F238E27FC236}">
                <a16:creationId xmlns:a16="http://schemas.microsoft.com/office/drawing/2014/main" id="{CC58128E-4ECA-CAAB-9D52-210074E39798}"/>
              </a:ext>
            </a:extLst>
          </p:cNvPr>
          <p:cNvSpPr txBox="1"/>
          <p:nvPr/>
        </p:nvSpPr>
        <p:spPr>
          <a:xfrm>
            <a:off x="-140596" y="2560271"/>
            <a:ext cx="12240161" cy="7448193"/>
          </a:xfrm>
          <a:prstGeom prst="rect">
            <a:avLst/>
          </a:prstGeom>
        </p:spPr>
        <p:txBody>
          <a:bodyPr wrap="square" lIns="0" tIns="0" rIns="0" bIns="0" rtlCol="0" anchor="t">
            <a:spAutoFit/>
          </a:bodyPr>
          <a:lstStyle/>
          <a:p>
            <a:pPr marL="603885" indent="-301625">
              <a:buFont typeface="Arial"/>
              <a:buChar char="•"/>
            </a:pPr>
            <a:r>
              <a:rPr lang="en-US" sz="2800">
                <a:solidFill>
                  <a:srgbClr val="000000"/>
                </a:solidFill>
                <a:latin typeface="Canva Sans"/>
                <a:ea typeface="+mn-lt"/>
                <a:cs typeface="+mn-lt"/>
              </a:rPr>
              <a:t>Regression model evaluated using MAE, RMSE, and R² Score.</a:t>
            </a:r>
            <a:endParaRPr lang="en-US" sz="2800">
              <a:solidFill>
                <a:srgbClr val="000000"/>
              </a:solidFill>
              <a:latin typeface="Canva Sans"/>
            </a:endParaRPr>
          </a:p>
          <a:p>
            <a:pPr marL="302260"/>
            <a:endParaRPr lang="en-US" sz="2800">
              <a:latin typeface="Canva Sans"/>
            </a:endParaRPr>
          </a:p>
          <a:p>
            <a:pPr marL="603885" lvl="1" indent="-301625">
              <a:buFont typeface="Arial"/>
              <a:buChar char="•"/>
            </a:pPr>
            <a:r>
              <a:rPr lang="en-US" sz="2800"/>
              <a:t>Classification model evaluated using Accuracy, Precision, Recall, F1-Score, and Confusion Matrix</a:t>
            </a:r>
          </a:p>
          <a:p>
            <a:pPr marL="603885" lvl="1" indent="-301625">
              <a:buFont typeface="Arial"/>
              <a:buChar char="•"/>
            </a:pPr>
            <a:endParaRPr lang="en-US" sz="2800"/>
          </a:p>
          <a:p>
            <a:pPr marL="603885" indent="-301625">
              <a:buFont typeface="Arial"/>
              <a:buChar char="•"/>
            </a:pPr>
            <a:r>
              <a:rPr lang="en-US" sz="2800"/>
              <a:t>API smoke testing used to verify backend functionality.</a:t>
            </a:r>
          </a:p>
          <a:p>
            <a:pPr marL="603885" indent="-301625">
              <a:buFont typeface="Arial"/>
              <a:buChar char="•"/>
            </a:pPr>
            <a:endParaRPr lang="en-US" sz="2800">
              <a:ea typeface="Calibri"/>
              <a:cs typeface="Calibri"/>
            </a:endParaRPr>
          </a:p>
          <a:p>
            <a:pPr marL="603885" indent="-301625">
              <a:buFont typeface="Arial"/>
              <a:buChar char="•"/>
            </a:pPr>
            <a:r>
              <a:rPr lang="en-US" sz="2800">
                <a:solidFill>
                  <a:srgbClr val="000000"/>
                </a:solidFill>
                <a:ea typeface="+mn-lt"/>
                <a:cs typeface="+mn-lt"/>
              </a:rPr>
              <a:t>Frontend and backend build verification completed successfully.</a:t>
            </a:r>
            <a:endParaRPr lang="en-US" sz="2800">
              <a:solidFill>
                <a:srgbClr val="000000"/>
              </a:solidFill>
              <a:ea typeface="Calibri"/>
              <a:cs typeface="Calibri"/>
            </a:endParaRPr>
          </a:p>
          <a:p>
            <a:pPr marL="603885" indent="-301625">
              <a:buFont typeface="Arial"/>
              <a:buChar char="•"/>
            </a:pPr>
            <a:endParaRPr lang="en-US" sz="2800">
              <a:ea typeface="Calibri"/>
              <a:cs typeface="Calibri"/>
            </a:endParaRPr>
          </a:p>
          <a:p>
            <a:pPr marL="603885" indent="-301625">
              <a:buFont typeface="Arial"/>
              <a:buChar char="•"/>
            </a:pPr>
            <a:r>
              <a:rPr lang="en-US" sz="2800">
                <a:solidFill>
                  <a:srgbClr val="000000"/>
                </a:solidFill>
                <a:ea typeface="+mn-lt"/>
                <a:cs typeface="+mn-lt"/>
              </a:rPr>
              <a:t>Manual testing performed for prediction, scenario simulation, dashboard analytics, and ML workflow validation.</a:t>
            </a:r>
            <a:endParaRPr lang="en-US" sz="2800">
              <a:solidFill>
                <a:srgbClr val="000000"/>
              </a:solidFill>
              <a:ea typeface="Calibri"/>
              <a:cs typeface="Calibri"/>
            </a:endParaRPr>
          </a:p>
          <a:p>
            <a:pPr marL="603885" indent="-301625">
              <a:buFont typeface="Arial"/>
              <a:buChar char="•"/>
            </a:pPr>
            <a:endParaRPr lang="en-US" sz="2800">
              <a:ea typeface="Calibri"/>
              <a:cs typeface="Calibri"/>
            </a:endParaRPr>
          </a:p>
          <a:p>
            <a:pPr marL="759460" indent="-457200">
              <a:buFont typeface="Arial"/>
              <a:buChar char="•"/>
            </a:pPr>
            <a:r>
              <a:rPr lang="en-US" sz="2800">
                <a:solidFill>
                  <a:srgbClr val="000000"/>
                </a:solidFill>
                <a:ea typeface="+mn-lt"/>
                <a:cs typeface="+mn-lt"/>
              </a:rPr>
              <a:t>System reliability validated through service and integration testing. </a:t>
            </a:r>
            <a:endParaRPr lang="en-US" sz="2800">
              <a:solidFill>
                <a:srgbClr val="000000"/>
              </a:solidFill>
              <a:ea typeface="Calibri"/>
              <a:cs typeface="Calibri"/>
            </a:endParaRPr>
          </a:p>
          <a:p>
            <a:pPr marL="302260"/>
            <a:endParaRPr lang="en-US" sz="2800">
              <a:ea typeface="Calibri"/>
              <a:cs typeface="Calibri"/>
            </a:endParaRPr>
          </a:p>
          <a:p>
            <a:pPr marL="603885" indent="-301625">
              <a:buFont typeface="Arial"/>
              <a:buChar char="•"/>
            </a:pPr>
            <a:endParaRPr lang="en-US" sz="2800">
              <a:ea typeface="Calibri"/>
              <a:cs typeface="Calibri"/>
            </a:endParaRPr>
          </a:p>
          <a:p>
            <a:pPr marL="302260"/>
            <a:br>
              <a:rPr lang="en-US"/>
            </a:br>
            <a:endParaRPr lang="en-US">
              <a:ea typeface="Calibri"/>
              <a:cs typeface="Calibri"/>
            </a:endParaRPr>
          </a:p>
          <a:p>
            <a:pPr marL="603885" lvl="1" indent="-301625">
              <a:buFont typeface="Arial"/>
              <a:buChar char="•"/>
            </a:pPr>
            <a:endParaRPr lang="en-US" sz="2800">
              <a:ea typeface="Calibri"/>
              <a:cs typeface="Calibri"/>
            </a:endParaRPr>
          </a:p>
        </p:txBody>
      </p:sp>
      <p:sp>
        <p:nvSpPr>
          <p:cNvPr id="17" name="TextBox 17">
            <a:extLst>
              <a:ext uri="{FF2B5EF4-FFF2-40B4-BE49-F238E27FC236}">
                <a16:creationId xmlns:a16="http://schemas.microsoft.com/office/drawing/2014/main" id="{F175DD11-7210-9C50-C954-2BBB052E2EA1}"/>
              </a:ext>
            </a:extLst>
          </p:cNvPr>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13</a:t>
            </a:r>
          </a:p>
        </p:txBody>
      </p:sp>
      <p:sp>
        <p:nvSpPr>
          <p:cNvPr id="21" name="TextBox 24">
            <a:extLst>
              <a:ext uri="{FF2B5EF4-FFF2-40B4-BE49-F238E27FC236}">
                <a16:creationId xmlns:a16="http://schemas.microsoft.com/office/drawing/2014/main" id="{09187F66-7951-B134-3561-DAAF00F7D085}"/>
              </a:ext>
            </a:extLst>
          </p:cNvPr>
          <p:cNvSpPr txBox="1"/>
          <p:nvPr/>
        </p:nvSpPr>
        <p:spPr>
          <a:xfrm>
            <a:off x="4460191" y="9719564"/>
            <a:ext cx="7524018" cy="386259"/>
          </a:xfrm>
          <a:prstGeom prst="rect">
            <a:avLst/>
          </a:prstGeom>
        </p:spPr>
        <p:txBody>
          <a:bodyPr wrap="square"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IT22629876 | GUNAWARDHANA.D.M.N.P | 25-26J-196</a:t>
            </a:r>
          </a:p>
        </p:txBody>
      </p:sp>
      <p:pic>
        <p:nvPicPr>
          <p:cNvPr id="4" name="Picture 3" descr="A person sitting in a chair in front of a large machine&#10;&#10;AI-generated content may be incorrect.">
            <a:extLst>
              <a:ext uri="{FF2B5EF4-FFF2-40B4-BE49-F238E27FC236}">
                <a16:creationId xmlns:a16="http://schemas.microsoft.com/office/drawing/2014/main" id="{C32E651B-3E7B-1C7C-E030-5655F0E2C2F8}"/>
              </a:ext>
            </a:extLst>
          </p:cNvPr>
          <p:cNvPicPr>
            <a:picLocks noChangeAspect="1"/>
          </p:cNvPicPr>
          <p:nvPr/>
        </p:nvPicPr>
        <p:blipFill>
          <a:blip r:embed="rId7"/>
          <a:stretch>
            <a:fillRect/>
          </a:stretch>
        </p:blipFill>
        <p:spPr>
          <a:xfrm>
            <a:off x="12516927" y="2121169"/>
            <a:ext cx="4323351" cy="3958391"/>
          </a:xfrm>
          <a:prstGeom prst="rect">
            <a:avLst/>
          </a:prstGeom>
        </p:spPr>
      </p:pic>
    </p:spTree>
    <p:extLst>
      <p:ext uri="{BB962C8B-B14F-4D97-AF65-F5344CB8AC3E}">
        <p14:creationId xmlns:p14="http://schemas.microsoft.com/office/powerpoint/2010/main" val="3590963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8A188-7630-8E8B-AC3A-1442C105FA1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8F8978B-F417-3464-088E-FD0F1049B436}"/>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89433072-6108-EE3C-092D-F3BEDA20D85A}"/>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5" name="Group 5">
            <a:extLst>
              <a:ext uri="{FF2B5EF4-FFF2-40B4-BE49-F238E27FC236}">
                <a16:creationId xmlns:a16="http://schemas.microsoft.com/office/drawing/2014/main" id="{146651D1-812E-0968-3315-60799005E54A}"/>
              </a:ext>
            </a:extLst>
          </p:cNvPr>
          <p:cNvGrpSpPr/>
          <p:nvPr/>
        </p:nvGrpSpPr>
        <p:grpSpPr>
          <a:xfrm>
            <a:off x="20999" y="9533010"/>
            <a:ext cx="3917169" cy="703984"/>
            <a:chOff x="0" y="0"/>
            <a:chExt cx="5222892" cy="938645"/>
          </a:xfrm>
        </p:grpSpPr>
        <p:sp>
          <p:nvSpPr>
            <p:cNvPr id="6" name="Freeform 6">
              <a:extLst>
                <a:ext uri="{FF2B5EF4-FFF2-40B4-BE49-F238E27FC236}">
                  <a16:creationId xmlns:a16="http://schemas.microsoft.com/office/drawing/2014/main" id="{EFCCA643-ABAD-DD31-5C14-7DDC1A602B28}"/>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Freeform 7">
            <a:extLst>
              <a:ext uri="{FF2B5EF4-FFF2-40B4-BE49-F238E27FC236}">
                <a16:creationId xmlns:a16="http://schemas.microsoft.com/office/drawing/2014/main" id="{84F65D3A-922A-C0BC-01B5-97EA192BDFDD}"/>
              </a:ext>
            </a:extLst>
          </p:cNvPr>
          <p:cNvSpPr/>
          <p:nvPr/>
        </p:nvSpPr>
        <p:spPr>
          <a:xfrm>
            <a:off x="16462700" y="11772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754D2715-430E-C6ED-22CE-FC906273127B}"/>
              </a:ext>
            </a:extLst>
          </p:cNvPr>
          <p:cNvSpPr/>
          <p:nvPr/>
        </p:nvSpPr>
        <p:spPr>
          <a:xfrm>
            <a:off x="12032262" y="1450832"/>
            <a:ext cx="5197220" cy="5829417"/>
          </a:xfrm>
          <a:custGeom>
            <a:avLst/>
            <a:gdLst/>
            <a:ahLst/>
            <a:cxnLst/>
            <a:rect l="l" t="t" r="r" b="b"/>
            <a:pathLst>
              <a:path w="5197220" h="5829417">
                <a:moveTo>
                  <a:pt x="0" y="0"/>
                </a:moveTo>
                <a:lnTo>
                  <a:pt x="5197220" y="0"/>
                </a:lnTo>
                <a:lnTo>
                  <a:pt x="5197220" y="5829417"/>
                </a:lnTo>
                <a:lnTo>
                  <a:pt x="0" y="58294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a:extLst>
              <a:ext uri="{FF2B5EF4-FFF2-40B4-BE49-F238E27FC236}">
                <a16:creationId xmlns:a16="http://schemas.microsoft.com/office/drawing/2014/main" id="{0215ED48-F5AA-A091-E7EE-357B388E8DAD}"/>
              </a:ext>
            </a:extLst>
          </p:cNvPr>
          <p:cNvSpPr/>
          <p:nvPr/>
        </p:nvSpPr>
        <p:spPr>
          <a:xfrm>
            <a:off x="16615100" y="13296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Freeform 12">
            <a:extLst>
              <a:ext uri="{FF2B5EF4-FFF2-40B4-BE49-F238E27FC236}">
                <a16:creationId xmlns:a16="http://schemas.microsoft.com/office/drawing/2014/main" id="{3624B25C-35DD-E173-30B5-A8E2519670E7}"/>
              </a:ext>
            </a:extLst>
          </p:cNvPr>
          <p:cNvSpPr/>
          <p:nvPr/>
        </p:nvSpPr>
        <p:spPr>
          <a:xfrm>
            <a:off x="16603908" y="1311526"/>
            <a:ext cx="424674" cy="1481092"/>
          </a:xfrm>
          <a:custGeom>
            <a:avLst/>
            <a:gdLst/>
            <a:ahLst/>
            <a:cxnLst/>
            <a:rect l="l" t="t" r="r" b="b"/>
            <a:pathLst>
              <a:path w="424674" h="1481092">
                <a:moveTo>
                  <a:pt x="0" y="0"/>
                </a:moveTo>
                <a:lnTo>
                  <a:pt x="424674" y="0"/>
                </a:lnTo>
                <a:lnTo>
                  <a:pt x="424674" y="1481092"/>
                </a:lnTo>
                <a:lnTo>
                  <a:pt x="0" y="148109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TextBox 14">
            <a:extLst>
              <a:ext uri="{FF2B5EF4-FFF2-40B4-BE49-F238E27FC236}">
                <a16:creationId xmlns:a16="http://schemas.microsoft.com/office/drawing/2014/main" id="{265D66CC-4B39-B8FB-DBAA-926F5CB02F38}"/>
              </a:ext>
            </a:extLst>
          </p:cNvPr>
          <p:cNvSpPr txBox="1"/>
          <p:nvPr/>
        </p:nvSpPr>
        <p:spPr>
          <a:xfrm>
            <a:off x="316354" y="1274970"/>
            <a:ext cx="8827082" cy="1594667"/>
          </a:xfrm>
          <a:prstGeom prst="rect">
            <a:avLst/>
          </a:prstGeom>
        </p:spPr>
        <p:txBody>
          <a:bodyPr lIns="0" tIns="0" rIns="0" bIns="0" rtlCol="0" anchor="t">
            <a:spAutoFit/>
          </a:bodyPr>
          <a:lstStyle/>
          <a:p>
            <a:r>
              <a:rPr lang="en-US" sz="3500">
                <a:solidFill>
                  <a:srgbClr val="009B0B"/>
                </a:solidFill>
                <a:latin typeface="Canva Sans"/>
              </a:rPr>
              <a:t>Data Availability &amp; Ethical Clearance</a:t>
            </a:r>
            <a:endParaRPr lang="en-US"/>
          </a:p>
          <a:p>
            <a:endParaRPr lang="en-US"/>
          </a:p>
          <a:p>
            <a:pPr>
              <a:lnSpc>
                <a:spcPts val="3150"/>
              </a:lnSpc>
            </a:pPr>
            <a:br>
              <a:rPr lang="en-US"/>
            </a:br>
            <a:endParaRPr lang="en-US"/>
          </a:p>
        </p:txBody>
      </p:sp>
      <p:sp>
        <p:nvSpPr>
          <p:cNvPr id="16" name="TextBox 16">
            <a:extLst>
              <a:ext uri="{FF2B5EF4-FFF2-40B4-BE49-F238E27FC236}">
                <a16:creationId xmlns:a16="http://schemas.microsoft.com/office/drawing/2014/main" id="{02B7A71A-9658-74BD-1024-E421D6D5AC61}"/>
              </a:ext>
            </a:extLst>
          </p:cNvPr>
          <p:cNvSpPr txBox="1"/>
          <p:nvPr/>
        </p:nvSpPr>
        <p:spPr>
          <a:xfrm>
            <a:off x="-140596" y="2560271"/>
            <a:ext cx="12240161" cy="8248412"/>
          </a:xfrm>
          <a:prstGeom prst="rect">
            <a:avLst/>
          </a:prstGeom>
        </p:spPr>
        <p:txBody>
          <a:bodyPr wrap="square" lIns="0" tIns="0" rIns="0" bIns="0" rtlCol="0" anchor="t">
            <a:spAutoFit/>
          </a:bodyPr>
          <a:lstStyle/>
          <a:p>
            <a:pPr marL="603885" indent="-301625">
              <a:buFont typeface="Arial"/>
              <a:buChar char="•"/>
            </a:pPr>
            <a:r>
              <a:rPr lang="en-US" sz="2800">
                <a:solidFill>
                  <a:srgbClr val="000000"/>
                </a:solidFill>
                <a:latin typeface="Canva Sans"/>
                <a:ea typeface="+mn-lt"/>
                <a:cs typeface="+mn-lt"/>
              </a:rPr>
              <a:t>The current dataset is synthetic and generated for development and testing purposes.</a:t>
            </a:r>
            <a:endParaRPr lang="en-US">
              <a:solidFill>
                <a:srgbClr val="000000"/>
              </a:solidFill>
              <a:latin typeface="Calibri"/>
              <a:ea typeface="+mn-lt"/>
              <a:cs typeface="+mn-lt"/>
            </a:endParaRPr>
          </a:p>
          <a:p>
            <a:pPr marL="603885" indent="-301625">
              <a:buFont typeface="Arial"/>
              <a:buChar char="•"/>
            </a:pPr>
            <a:endParaRPr lang="en-US"/>
          </a:p>
          <a:p>
            <a:pPr marL="603885" indent="-301625">
              <a:buFont typeface="Arial"/>
              <a:buChar char="•"/>
            </a:pPr>
            <a:r>
              <a:rPr lang="en-US" sz="2800"/>
              <a:t>No personal or sensitive user data was collected.</a:t>
            </a:r>
            <a:endParaRPr lang="en-US" sz="2800">
              <a:ea typeface="Calibri"/>
              <a:cs typeface="Calibri"/>
            </a:endParaRPr>
          </a:p>
          <a:p>
            <a:pPr marL="603885" indent="-301625">
              <a:buFont typeface="Arial"/>
              <a:buChar char="•"/>
            </a:pPr>
            <a:endParaRPr lang="en-US" sz="2800">
              <a:ea typeface="Calibri"/>
              <a:cs typeface="Calibri"/>
            </a:endParaRPr>
          </a:p>
          <a:p>
            <a:pPr marL="603885" indent="-301625">
              <a:buFont typeface="Arial"/>
              <a:buChar char="•"/>
            </a:pPr>
            <a:r>
              <a:rPr lang="en-US" sz="2800">
                <a:solidFill>
                  <a:srgbClr val="000000"/>
                </a:solidFill>
                <a:ea typeface="+mn-lt"/>
                <a:cs typeface="+mn-lt"/>
              </a:rPr>
              <a:t>Data is used only for research and educational purposes.</a:t>
            </a:r>
            <a:endParaRPr lang="en-US" sz="2800">
              <a:solidFill>
                <a:srgbClr val="000000"/>
              </a:solidFill>
              <a:ea typeface="Calibri"/>
              <a:cs typeface="Calibri"/>
            </a:endParaRPr>
          </a:p>
          <a:p>
            <a:pPr marL="603885" indent="-301625">
              <a:buFont typeface="Arial"/>
              <a:buChar char="•"/>
            </a:pPr>
            <a:endParaRPr lang="en-US" sz="2800">
              <a:ea typeface="Calibri"/>
              <a:cs typeface="Calibri"/>
            </a:endParaRPr>
          </a:p>
          <a:p>
            <a:pPr marL="603885" indent="-301625">
              <a:buFont typeface="Arial"/>
              <a:buChar char="•"/>
            </a:pPr>
            <a:r>
              <a:rPr lang="en-US" sz="2800">
                <a:ea typeface="Calibri"/>
                <a:cs typeface="Calibri"/>
              </a:rPr>
              <a:t>The system follows responsible AI and sustainability-focused practices.</a:t>
            </a:r>
          </a:p>
          <a:p>
            <a:pPr marL="603885" indent="-301625">
              <a:buFont typeface="Arial"/>
              <a:buChar char="•"/>
            </a:pPr>
            <a:endParaRPr lang="en-US" sz="2800">
              <a:ea typeface="Calibri"/>
              <a:cs typeface="Calibri"/>
            </a:endParaRPr>
          </a:p>
          <a:p>
            <a:pPr marL="603885" indent="-301625">
              <a:buFont typeface="Arial"/>
              <a:buChar char="•"/>
            </a:pPr>
            <a:r>
              <a:rPr lang="en-US" sz="2800"/>
              <a:t>Future improvements will include real textile waste datasets with proper authorization and validation.</a:t>
            </a:r>
            <a:br>
              <a:rPr lang="en-US" sz="2800"/>
            </a:br>
            <a:endParaRPr lang="en-US" sz="2800">
              <a:ea typeface="Calibri"/>
              <a:cs typeface="Calibri"/>
            </a:endParaRPr>
          </a:p>
          <a:p>
            <a:pPr marL="603885" indent="-301625">
              <a:buFont typeface="Arial"/>
              <a:buChar char="•"/>
            </a:pPr>
            <a:endParaRPr lang="en-US" sz="2800">
              <a:ea typeface="Calibri"/>
              <a:cs typeface="Calibri"/>
            </a:endParaRPr>
          </a:p>
          <a:p>
            <a:pPr marL="302260"/>
            <a:endParaRPr lang="en-US">
              <a:ea typeface="Calibri"/>
              <a:cs typeface="Calibri"/>
            </a:endParaRPr>
          </a:p>
          <a:p>
            <a:pPr marL="603885" indent="-301625">
              <a:buFont typeface="Arial"/>
              <a:buChar char="•"/>
            </a:pPr>
            <a:endParaRPr lang="en-US" sz="2800">
              <a:ea typeface="Calibri"/>
              <a:cs typeface="Calibri"/>
            </a:endParaRPr>
          </a:p>
          <a:p>
            <a:pPr marL="302260"/>
            <a:endParaRPr lang="en-US">
              <a:ea typeface="Calibri"/>
              <a:cs typeface="Calibri"/>
            </a:endParaRPr>
          </a:p>
          <a:p>
            <a:pPr marL="302260"/>
            <a:br>
              <a:rPr lang="en-US"/>
            </a:br>
            <a:br>
              <a:rPr lang="en-US"/>
            </a:br>
            <a:endParaRPr lang="en-US">
              <a:ea typeface="Calibri"/>
              <a:cs typeface="Calibri"/>
            </a:endParaRPr>
          </a:p>
          <a:p>
            <a:pPr marL="302260"/>
            <a:br>
              <a:rPr lang="en-US"/>
            </a:br>
            <a:endParaRPr lang="en-US">
              <a:ea typeface="Calibri"/>
              <a:cs typeface="Calibri"/>
            </a:endParaRPr>
          </a:p>
          <a:p>
            <a:pPr marL="603885" lvl="1" indent="-301625">
              <a:buFont typeface="Arial"/>
              <a:buChar char="•"/>
            </a:pPr>
            <a:endParaRPr lang="en-US" sz="2800">
              <a:ea typeface="Calibri"/>
              <a:cs typeface="Calibri"/>
            </a:endParaRPr>
          </a:p>
        </p:txBody>
      </p:sp>
      <p:sp>
        <p:nvSpPr>
          <p:cNvPr id="17" name="TextBox 17">
            <a:extLst>
              <a:ext uri="{FF2B5EF4-FFF2-40B4-BE49-F238E27FC236}">
                <a16:creationId xmlns:a16="http://schemas.microsoft.com/office/drawing/2014/main" id="{2ACB0BA6-B2F2-231E-8498-6FA51E61BC43}"/>
              </a:ext>
            </a:extLst>
          </p:cNvPr>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13</a:t>
            </a:r>
          </a:p>
        </p:txBody>
      </p:sp>
      <p:pic>
        <p:nvPicPr>
          <p:cNvPr id="4" name="Picture 3" descr="A close-up of a computer screen&#10;&#10;AI-generated content may be incorrect.">
            <a:extLst>
              <a:ext uri="{FF2B5EF4-FFF2-40B4-BE49-F238E27FC236}">
                <a16:creationId xmlns:a16="http://schemas.microsoft.com/office/drawing/2014/main" id="{46A71385-7BD6-1084-59EB-A4DB9DD1620D}"/>
              </a:ext>
            </a:extLst>
          </p:cNvPr>
          <p:cNvPicPr>
            <a:picLocks noChangeAspect="1"/>
          </p:cNvPicPr>
          <p:nvPr/>
        </p:nvPicPr>
        <p:blipFill>
          <a:blip r:embed="rId8"/>
          <a:stretch>
            <a:fillRect/>
          </a:stretch>
        </p:blipFill>
        <p:spPr>
          <a:xfrm>
            <a:off x="12553115" y="2420256"/>
            <a:ext cx="3905752" cy="3114175"/>
          </a:xfrm>
          <a:prstGeom prst="rect">
            <a:avLst/>
          </a:prstGeom>
        </p:spPr>
      </p:pic>
    </p:spTree>
    <p:extLst>
      <p:ext uri="{BB962C8B-B14F-4D97-AF65-F5344CB8AC3E}">
        <p14:creationId xmlns:p14="http://schemas.microsoft.com/office/powerpoint/2010/main" val="6667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45E01-2BB3-CE93-F260-FE1E2DA9C35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57DF98A-5C72-4175-C8B6-EF6DE7DC5DFF}"/>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5D34B1A9-30FC-6EFB-69F3-0E49E53BC630}"/>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5" name="Group 5">
            <a:extLst>
              <a:ext uri="{FF2B5EF4-FFF2-40B4-BE49-F238E27FC236}">
                <a16:creationId xmlns:a16="http://schemas.microsoft.com/office/drawing/2014/main" id="{7F0859A1-B10A-2C7A-DC73-DB248964EF29}"/>
              </a:ext>
            </a:extLst>
          </p:cNvPr>
          <p:cNvGrpSpPr/>
          <p:nvPr/>
        </p:nvGrpSpPr>
        <p:grpSpPr>
          <a:xfrm>
            <a:off x="20999" y="9533010"/>
            <a:ext cx="3917169" cy="703984"/>
            <a:chOff x="0" y="0"/>
            <a:chExt cx="5222892" cy="938645"/>
          </a:xfrm>
        </p:grpSpPr>
        <p:sp>
          <p:nvSpPr>
            <p:cNvPr id="6" name="Freeform 6">
              <a:extLst>
                <a:ext uri="{FF2B5EF4-FFF2-40B4-BE49-F238E27FC236}">
                  <a16:creationId xmlns:a16="http://schemas.microsoft.com/office/drawing/2014/main" id="{DD5D05B2-016C-0518-A681-691316650C4A}"/>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Freeform 7">
            <a:extLst>
              <a:ext uri="{FF2B5EF4-FFF2-40B4-BE49-F238E27FC236}">
                <a16:creationId xmlns:a16="http://schemas.microsoft.com/office/drawing/2014/main" id="{056B8804-3262-ABAE-1D08-81FB8DCB7D62}"/>
              </a:ext>
            </a:extLst>
          </p:cNvPr>
          <p:cNvSpPr/>
          <p:nvPr/>
        </p:nvSpPr>
        <p:spPr>
          <a:xfrm>
            <a:off x="16462700" y="11772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D64CAF09-232D-D8ED-1175-030135F28C13}"/>
              </a:ext>
            </a:extLst>
          </p:cNvPr>
          <p:cNvSpPr/>
          <p:nvPr/>
        </p:nvSpPr>
        <p:spPr>
          <a:xfrm>
            <a:off x="12032262" y="1450832"/>
            <a:ext cx="5197220" cy="5829417"/>
          </a:xfrm>
          <a:custGeom>
            <a:avLst/>
            <a:gdLst/>
            <a:ahLst/>
            <a:cxnLst/>
            <a:rect l="l" t="t" r="r" b="b"/>
            <a:pathLst>
              <a:path w="5197220" h="5829417">
                <a:moveTo>
                  <a:pt x="0" y="0"/>
                </a:moveTo>
                <a:lnTo>
                  <a:pt x="5197220" y="0"/>
                </a:lnTo>
                <a:lnTo>
                  <a:pt x="5197220" y="5829417"/>
                </a:lnTo>
                <a:lnTo>
                  <a:pt x="0" y="58294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a:extLst>
              <a:ext uri="{FF2B5EF4-FFF2-40B4-BE49-F238E27FC236}">
                <a16:creationId xmlns:a16="http://schemas.microsoft.com/office/drawing/2014/main" id="{E09DE938-AB08-50D5-F049-A3C24E27FD81}"/>
              </a:ext>
            </a:extLst>
          </p:cNvPr>
          <p:cNvSpPr/>
          <p:nvPr/>
        </p:nvSpPr>
        <p:spPr>
          <a:xfrm>
            <a:off x="16615100" y="13296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Freeform 12">
            <a:extLst>
              <a:ext uri="{FF2B5EF4-FFF2-40B4-BE49-F238E27FC236}">
                <a16:creationId xmlns:a16="http://schemas.microsoft.com/office/drawing/2014/main" id="{188AC60A-841A-6276-9CD6-373B385B6E1F}"/>
              </a:ext>
            </a:extLst>
          </p:cNvPr>
          <p:cNvSpPr/>
          <p:nvPr/>
        </p:nvSpPr>
        <p:spPr>
          <a:xfrm>
            <a:off x="16603908" y="1311526"/>
            <a:ext cx="424674" cy="1481092"/>
          </a:xfrm>
          <a:custGeom>
            <a:avLst/>
            <a:gdLst/>
            <a:ahLst/>
            <a:cxnLst/>
            <a:rect l="l" t="t" r="r" b="b"/>
            <a:pathLst>
              <a:path w="424674" h="1481092">
                <a:moveTo>
                  <a:pt x="0" y="0"/>
                </a:moveTo>
                <a:lnTo>
                  <a:pt x="424674" y="0"/>
                </a:lnTo>
                <a:lnTo>
                  <a:pt x="424674" y="1481092"/>
                </a:lnTo>
                <a:lnTo>
                  <a:pt x="0" y="148109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TextBox 14">
            <a:extLst>
              <a:ext uri="{FF2B5EF4-FFF2-40B4-BE49-F238E27FC236}">
                <a16:creationId xmlns:a16="http://schemas.microsoft.com/office/drawing/2014/main" id="{39FA2110-8CB9-5B99-CF2B-D33021B634CE}"/>
              </a:ext>
            </a:extLst>
          </p:cNvPr>
          <p:cNvSpPr txBox="1"/>
          <p:nvPr/>
        </p:nvSpPr>
        <p:spPr>
          <a:xfrm>
            <a:off x="316354" y="1274970"/>
            <a:ext cx="8827082" cy="1594667"/>
          </a:xfrm>
          <a:prstGeom prst="rect">
            <a:avLst/>
          </a:prstGeom>
        </p:spPr>
        <p:txBody>
          <a:bodyPr lIns="0" tIns="0" rIns="0" bIns="0" rtlCol="0" anchor="t">
            <a:spAutoFit/>
          </a:bodyPr>
          <a:lstStyle/>
          <a:p>
            <a:r>
              <a:rPr lang="en-US" sz="3500">
                <a:solidFill>
                  <a:srgbClr val="009B0B"/>
                </a:solidFill>
                <a:latin typeface="Canva Sans"/>
              </a:rPr>
              <a:t>Current Progress 50 %</a:t>
            </a:r>
          </a:p>
          <a:p>
            <a:endParaRPr lang="en-US"/>
          </a:p>
          <a:p>
            <a:pPr>
              <a:lnSpc>
                <a:spcPts val="3150"/>
              </a:lnSpc>
            </a:pPr>
            <a:br>
              <a:rPr lang="en-US"/>
            </a:br>
            <a:endParaRPr lang="en-US"/>
          </a:p>
        </p:txBody>
      </p:sp>
      <p:sp>
        <p:nvSpPr>
          <p:cNvPr id="16" name="TextBox 16">
            <a:extLst>
              <a:ext uri="{FF2B5EF4-FFF2-40B4-BE49-F238E27FC236}">
                <a16:creationId xmlns:a16="http://schemas.microsoft.com/office/drawing/2014/main" id="{5DA0C011-B3CE-8024-0888-23C9D5F2EE77}"/>
              </a:ext>
            </a:extLst>
          </p:cNvPr>
          <p:cNvSpPr txBox="1"/>
          <p:nvPr/>
        </p:nvSpPr>
        <p:spPr>
          <a:xfrm>
            <a:off x="-140596" y="2560271"/>
            <a:ext cx="12240161" cy="10679847"/>
          </a:xfrm>
          <a:prstGeom prst="rect">
            <a:avLst/>
          </a:prstGeom>
        </p:spPr>
        <p:txBody>
          <a:bodyPr wrap="square" lIns="0" tIns="0" rIns="0" bIns="0" rtlCol="0" anchor="t">
            <a:spAutoFit/>
          </a:bodyPr>
          <a:lstStyle/>
          <a:p>
            <a:pPr marL="603885" indent="-301625">
              <a:buFont typeface="Arial"/>
              <a:buChar char="•"/>
            </a:pPr>
            <a:r>
              <a:rPr lang="en-US" sz="2800"/>
              <a:t>Completed full-stack implementation using React.js, </a:t>
            </a:r>
            <a:r>
              <a:rPr lang="en-US" sz="2800" err="1"/>
              <a:t>FastAPI</a:t>
            </a:r>
            <a:r>
              <a:rPr lang="en-US" sz="2800"/>
              <a:t>, and MongoDB Atlas.</a:t>
            </a:r>
          </a:p>
          <a:p>
            <a:pPr marL="603885" indent="-301625">
              <a:buFont typeface="Arial"/>
              <a:buChar char="•"/>
            </a:pPr>
            <a:endParaRPr lang="en-US" sz="2800"/>
          </a:p>
          <a:p>
            <a:pPr marL="603885" indent="-301625">
              <a:buFont typeface="Arial"/>
              <a:buChar char="•"/>
            </a:pPr>
            <a:r>
              <a:rPr lang="en-US" sz="2800"/>
              <a:t>Implemented sustainability prediction and scenario simulation features.</a:t>
            </a:r>
          </a:p>
          <a:p>
            <a:pPr marL="603885" indent="-301625">
              <a:buFont typeface="Arial"/>
              <a:buChar char="•"/>
            </a:pPr>
            <a:endParaRPr lang="en-US" sz="2800">
              <a:ea typeface="Calibri"/>
              <a:cs typeface="Calibri"/>
            </a:endParaRPr>
          </a:p>
          <a:p>
            <a:pPr marL="603885" indent="-301625">
              <a:buFont typeface="Arial"/>
              <a:buChar char="•"/>
            </a:pPr>
            <a:r>
              <a:rPr lang="en-US" sz="2800">
                <a:solidFill>
                  <a:srgbClr val="000000"/>
                </a:solidFill>
                <a:ea typeface="+mn-lt"/>
                <a:cs typeface="+mn-lt"/>
              </a:rPr>
              <a:t>Added risk assessment and explainable recommendation system.</a:t>
            </a:r>
            <a:endParaRPr lang="en-US" sz="2800">
              <a:solidFill>
                <a:srgbClr val="000000"/>
              </a:solidFill>
              <a:ea typeface="Calibri"/>
              <a:cs typeface="Calibri"/>
            </a:endParaRPr>
          </a:p>
          <a:p>
            <a:pPr marL="603885" indent="-301625">
              <a:buFont typeface="Arial"/>
              <a:buChar char="•"/>
            </a:pPr>
            <a:endParaRPr lang="en-US" sz="2800">
              <a:ea typeface="Calibri"/>
              <a:cs typeface="Calibri"/>
            </a:endParaRPr>
          </a:p>
          <a:p>
            <a:pPr marL="603885" indent="-301625">
              <a:buFont typeface="Arial"/>
              <a:buChar char="•"/>
            </a:pPr>
            <a:r>
              <a:rPr lang="en-US" sz="2800">
                <a:solidFill>
                  <a:srgbClr val="000000"/>
                </a:solidFill>
                <a:ea typeface="+mn-lt"/>
                <a:cs typeface="+mn-lt"/>
              </a:rPr>
              <a:t>Developed dashboard analytics and prediction history modules.</a:t>
            </a:r>
            <a:endParaRPr lang="en-US" sz="2800">
              <a:solidFill>
                <a:srgbClr val="000000"/>
              </a:solidFill>
              <a:ea typeface="Calibri"/>
              <a:cs typeface="Calibri"/>
            </a:endParaRPr>
          </a:p>
          <a:p>
            <a:pPr marL="603885" indent="-301625">
              <a:buFont typeface="Arial"/>
              <a:buChar char="•"/>
            </a:pPr>
            <a:endParaRPr lang="en-US" sz="2800">
              <a:ea typeface="Calibri"/>
              <a:cs typeface="Calibri"/>
            </a:endParaRPr>
          </a:p>
          <a:p>
            <a:pPr marL="759460" indent="-457200">
              <a:buFont typeface="Arial"/>
              <a:buChar char="•"/>
            </a:pPr>
            <a:r>
              <a:rPr lang="en-US" sz="2800">
                <a:solidFill>
                  <a:srgbClr val="000000"/>
                </a:solidFill>
                <a:ea typeface="+mn-lt"/>
                <a:cs typeface="+mn-lt"/>
              </a:rPr>
              <a:t>Completed frontend-backend integration and testing processes. </a:t>
            </a:r>
            <a:endParaRPr lang="en-US" sz="2800">
              <a:solidFill>
                <a:srgbClr val="000000"/>
              </a:solidFill>
              <a:ea typeface="Calibri"/>
              <a:cs typeface="Calibri"/>
            </a:endParaRPr>
          </a:p>
          <a:p>
            <a:pPr marL="759460" indent="-457200">
              <a:buFont typeface="Arial"/>
              <a:buChar char="•"/>
            </a:pPr>
            <a:endParaRPr lang="en-US" sz="2800">
              <a:ea typeface="Calibri"/>
              <a:cs typeface="Calibri"/>
            </a:endParaRPr>
          </a:p>
          <a:p>
            <a:pPr marL="759460" indent="-457200">
              <a:buFont typeface="Arial"/>
              <a:buChar char="•"/>
            </a:pPr>
            <a:r>
              <a:rPr lang="en-US" sz="2800">
                <a:solidFill>
                  <a:srgbClr val="000000"/>
                </a:solidFill>
                <a:ea typeface="+mn-lt"/>
                <a:cs typeface="+mn-lt"/>
              </a:rPr>
              <a:t>Completed frontend-backend integration and testing processes. </a:t>
            </a:r>
            <a:endParaRPr lang="en-US" sz="2800">
              <a:solidFill>
                <a:srgbClr val="000000"/>
              </a:solidFill>
              <a:ea typeface="Calibri"/>
              <a:cs typeface="Calibri"/>
            </a:endParaRPr>
          </a:p>
          <a:p>
            <a:pPr marL="302260"/>
            <a:endParaRPr lang="en-US" sz="2800">
              <a:ea typeface="Calibri"/>
              <a:cs typeface="Calibri"/>
            </a:endParaRPr>
          </a:p>
          <a:p>
            <a:pPr marL="302260"/>
            <a:endParaRPr lang="en-US" sz="2800">
              <a:ea typeface="Calibri"/>
              <a:cs typeface="Calibri"/>
            </a:endParaRPr>
          </a:p>
          <a:p>
            <a:pPr marL="302260"/>
            <a:endParaRPr lang="en-US">
              <a:ea typeface="Calibri"/>
              <a:cs typeface="Calibri"/>
            </a:endParaRPr>
          </a:p>
          <a:p>
            <a:pPr marL="302260"/>
            <a:br>
              <a:rPr lang="en-US"/>
            </a:br>
            <a:br>
              <a:rPr lang="en-US" sz="2800"/>
            </a:br>
            <a:endParaRPr lang="en-US" sz="2800">
              <a:ea typeface="Calibri"/>
              <a:cs typeface="Calibri"/>
            </a:endParaRPr>
          </a:p>
          <a:p>
            <a:pPr marL="603885" indent="-301625">
              <a:buFont typeface="Arial"/>
              <a:buChar char="•"/>
            </a:pPr>
            <a:endParaRPr lang="en-US" sz="2800">
              <a:ea typeface="Calibri"/>
              <a:cs typeface="Calibri"/>
            </a:endParaRPr>
          </a:p>
          <a:p>
            <a:pPr marL="302260"/>
            <a:endParaRPr lang="en-US">
              <a:ea typeface="Calibri"/>
              <a:cs typeface="Calibri"/>
            </a:endParaRPr>
          </a:p>
          <a:p>
            <a:pPr marL="603885" indent="-301625">
              <a:buFont typeface="Arial"/>
              <a:buChar char="•"/>
            </a:pPr>
            <a:endParaRPr lang="en-US" sz="2800">
              <a:ea typeface="Calibri"/>
              <a:cs typeface="Calibri"/>
            </a:endParaRPr>
          </a:p>
          <a:p>
            <a:pPr marL="302260"/>
            <a:endParaRPr lang="en-US">
              <a:ea typeface="Calibri"/>
              <a:cs typeface="Calibri"/>
            </a:endParaRPr>
          </a:p>
          <a:p>
            <a:pPr marL="302260"/>
            <a:br>
              <a:rPr lang="en-US"/>
            </a:br>
            <a:br>
              <a:rPr lang="en-US"/>
            </a:br>
            <a:endParaRPr lang="en-US">
              <a:ea typeface="Calibri"/>
              <a:cs typeface="Calibri"/>
            </a:endParaRPr>
          </a:p>
          <a:p>
            <a:pPr marL="302260"/>
            <a:br>
              <a:rPr lang="en-US"/>
            </a:br>
            <a:endParaRPr lang="en-US">
              <a:ea typeface="Calibri"/>
              <a:cs typeface="Calibri"/>
            </a:endParaRPr>
          </a:p>
          <a:p>
            <a:pPr marL="603885" lvl="1" indent="-301625">
              <a:buFont typeface="Arial"/>
              <a:buChar char="•"/>
            </a:pPr>
            <a:endParaRPr lang="en-US" sz="2800">
              <a:ea typeface="Calibri"/>
              <a:cs typeface="Calibri"/>
            </a:endParaRPr>
          </a:p>
        </p:txBody>
      </p:sp>
      <p:sp>
        <p:nvSpPr>
          <p:cNvPr id="17" name="TextBox 17">
            <a:extLst>
              <a:ext uri="{FF2B5EF4-FFF2-40B4-BE49-F238E27FC236}">
                <a16:creationId xmlns:a16="http://schemas.microsoft.com/office/drawing/2014/main" id="{83924909-12DE-E59A-5461-7BE840AEE5D4}"/>
              </a:ext>
            </a:extLst>
          </p:cNvPr>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13</a:t>
            </a:r>
          </a:p>
        </p:txBody>
      </p:sp>
      <p:pic>
        <p:nvPicPr>
          <p:cNvPr id="4" name="Picture 3" descr="A blue and white circle with text&#10;&#10;AI-generated content may be incorrect.">
            <a:extLst>
              <a:ext uri="{FF2B5EF4-FFF2-40B4-BE49-F238E27FC236}">
                <a16:creationId xmlns:a16="http://schemas.microsoft.com/office/drawing/2014/main" id="{757141E9-9391-9B59-8934-F213FE9DB04A}"/>
              </a:ext>
            </a:extLst>
          </p:cNvPr>
          <p:cNvPicPr>
            <a:picLocks noChangeAspect="1"/>
          </p:cNvPicPr>
          <p:nvPr/>
        </p:nvPicPr>
        <p:blipFill>
          <a:blip r:embed="rId8"/>
          <a:stretch>
            <a:fillRect/>
          </a:stretch>
        </p:blipFill>
        <p:spPr>
          <a:xfrm>
            <a:off x="12092738" y="1751597"/>
            <a:ext cx="4702344" cy="4786564"/>
          </a:xfrm>
          <a:prstGeom prst="rect">
            <a:avLst/>
          </a:prstGeom>
        </p:spPr>
      </p:pic>
    </p:spTree>
    <p:extLst>
      <p:ext uri="{BB962C8B-B14F-4D97-AF65-F5344CB8AC3E}">
        <p14:creationId xmlns:p14="http://schemas.microsoft.com/office/powerpoint/2010/main" val="155072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BEBB7-3D50-83AA-4A4B-C16C62CCC00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C360499-E8B5-534F-6790-A75A766CE538}"/>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E055C55A-607B-B296-4BD0-A8FAC0E46344}"/>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5" name="Group 5">
            <a:extLst>
              <a:ext uri="{FF2B5EF4-FFF2-40B4-BE49-F238E27FC236}">
                <a16:creationId xmlns:a16="http://schemas.microsoft.com/office/drawing/2014/main" id="{7B7C18DB-C1CE-DAD9-85BD-2FAD2C6287D9}"/>
              </a:ext>
            </a:extLst>
          </p:cNvPr>
          <p:cNvGrpSpPr/>
          <p:nvPr/>
        </p:nvGrpSpPr>
        <p:grpSpPr>
          <a:xfrm>
            <a:off x="20999" y="9533010"/>
            <a:ext cx="3917169" cy="703984"/>
            <a:chOff x="0" y="0"/>
            <a:chExt cx="5222892" cy="938645"/>
          </a:xfrm>
        </p:grpSpPr>
        <p:sp>
          <p:nvSpPr>
            <p:cNvPr id="6" name="Freeform 6">
              <a:extLst>
                <a:ext uri="{FF2B5EF4-FFF2-40B4-BE49-F238E27FC236}">
                  <a16:creationId xmlns:a16="http://schemas.microsoft.com/office/drawing/2014/main" id="{6635D5D6-62D0-1913-7DBB-67D3F6AB897E}"/>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Freeform 7">
            <a:extLst>
              <a:ext uri="{FF2B5EF4-FFF2-40B4-BE49-F238E27FC236}">
                <a16:creationId xmlns:a16="http://schemas.microsoft.com/office/drawing/2014/main" id="{1E81BD9A-D4FF-99C2-B2C4-AE86808FA717}"/>
              </a:ext>
            </a:extLst>
          </p:cNvPr>
          <p:cNvSpPr/>
          <p:nvPr/>
        </p:nvSpPr>
        <p:spPr>
          <a:xfrm>
            <a:off x="16462700" y="11772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3E92EEEA-6A45-369A-EBD3-5A1CEF09A279}"/>
              </a:ext>
            </a:extLst>
          </p:cNvPr>
          <p:cNvSpPr/>
          <p:nvPr/>
        </p:nvSpPr>
        <p:spPr>
          <a:xfrm>
            <a:off x="12032262" y="1450832"/>
            <a:ext cx="5197220" cy="5829417"/>
          </a:xfrm>
          <a:custGeom>
            <a:avLst/>
            <a:gdLst/>
            <a:ahLst/>
            <a:cxnLst/>
            <a:rect l="l" t="t" r="r" b="b"/>
            <a:pathLst>
              <a:path w="5197220" h="5829417">
                <a:moveTo>
                  <a:pt x="0" y="0"/>
                </a:moveTo>
                <a:lnTo>
                  <a:pt x="5197220" y="0"/>
                </a:lnTo>
                <a:lnTo>
                  <a:pt x="5197220" y="5829417"/>
                </a:lnTo>
                <a:lnTo>
                  <a:pt x="0" y="58294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a:extLst>
              <a:ext uri="{FF2B5EF4-FFF2-40B4-BE49-F238E27FC236}">
                <a16:creationId xmlns:a16="http://schemas.microsoft.com/office/drawing/2014/main" id="{4C42FCFA-2606-C2BC-4AB9-0DC9C7B9DAE8}"/>
              </a:ext>
            </a:extLst>
          </p:cNvPr>
          <p:cNvSpPr/>
          <p:nvPr/>
        </p:nvSpPr>
        <p:spPr>
          <a:xfrm>
            <a:off x="16615100" y="13296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Freeform 12">
            <a:extLst>
              <a:ext uri="{FF2B5EF4-FFF2-40B4-BE49-F238E27FC236}">
                <a16:creationId xmlns:a16="http://schemas.microsoft.com/office/drawing/2014/main" id="{F786221D-4C3C-9E02-3D13-F3848AF7CD23}"/>
              </a:ext>
            </a:extLst>
          </p:cNvPr>
          <p:cNvSpPr/>
          <p:nvPr/>
        </p:nvSpPr>
        <p:spPr>
          <a:xfrm>
            <a:off x="16603908" y="1311526"/>
            <a:ext cx="424674" cy="1481092"/>
          </a:xfrm>
          <a:custGeom>
            <a:avLst/>
            <a:gdLst/>
            <a:ahLst/>
            <a:cxnLst/>
            <a:rect l="l" t="t" r="r" b="b"/>
            <a:pathLst>
              <a:path w="424674" h="1481092">
                <a:moveTo>
                  <a:pt x="0" y="0"/>
                </a:moveTo>
                <a:lnTo>
                  <a:pt x="424674" y="0"/>
                </a:lnTo>
                <a:lnTo>
                  <a:pt x="424674" y="1481092"/>
                </a:lnTo>
                <a:lnTo>
                  <a:pt x="0" y="148109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TextBox 14">
            <a:extLst>
              <a:ext uri="{FF2B5EF4-FFF2-40B4-BE49-F238E27FC236}">
                <a16:creationId xmlns:a16="http://schemas.microsoft.com/office/drawing/2014/main" id="{261A6F43-2C8D-052F-3705-9BD0AE24C98D}"/>
              </a:ext>
            </a:extLst>
          </p:cNvPr>
          <p:cNvSpPr txBox="1"/>
          <p:nvPr/>
        </p:nvSpPr>
        <p:spPr>
          <a:xfrm>
            <a:off x="316354" y="1274970"/>
            <a:ext cx="8827082" cy="1594667"/>
          </a:xfrm>
          <a:prstGeom prst="rect">
            <a:avLst/>
          </a:prstGeom>
        </p:spPr>
        <p:txBody>
          <a:bodyPr lIns="0" tIns="0" rIns="0" bIns="0" rtlCol="0" anchor="t">
            <a:spAutoFit/>
          </a:bodyPr>
          <a:lstStyle/>
          <a:p>
            <a:r>
              <a:rPr lang="en-US" sz="3500">
                <a:solidFill>
                  <a:srgbClr val="009B0B"/>
                </a:solidFill>
                <a:latin typeface="Canva Sans"/>
              </a:rPr>
              <a:t>Next Step</a:t>
            </a:r>
          </a:p>
          <a:p>
            <a:endParaRPr lang="en-US"/>
          </a:p>
          <a:p>
            <a:pPr>
              <a:lnSpc>
                <a:spcPts val="3150"/>
              </a:lnSpc>
            </a:pPr>
            <a:br>
              <a:rPr lang="en-US"/>
            </a:br>
            <a:endParaRPr lang="en-US"/>
          </a:p>
        </p:txBody>
      </p:sp>
      <p:sp>
        <p:nvSpPr>
          <p:cNvPr id="16" name="TextBox 16">
            <a:extLst>
              <a:ext uri="{FF2B5EF4-FFF2-40B4-BE49-F238E27FC236}">
                <a16:creationId xmlns:a16="http://schemas.microsoft.com/office/drawing/2014/main" id="{994A6BC1-BA92-3294-C912-79C53CBFEDF1}"/>
              </a:ext>
            </a:extLst>
          </p:cNvPr>
          <p:cNvSpPr txBox="1"/>
          <p:nvPr/>
        </p:nvSpPr>
        <p:spPr>
          <a:xfrm>
            <a:off x="-92470" y="2560271"/>
            <a:ext cx="12167972" cy="7663636"/>
          </a:xfrm>
          <a:prstGeom prst="rect">
            <a:avLst/>
          </a:prstGeom>
        </p:spPr>
        <p:txBody>
          <a:bodyPr wrap="square" lIns="0" tIns="0" rIns="0" bIns="0" rtlCol="0" anchor="t">
            <a:spAutoFit/>
          </a:bodyPr>
          <a:lstStyle/>
          <a:p>
            <a:pPr marL="603885" indent="-301625">
              <a:buFont typeface="Arial"/>
              <a:buChar char="•"/>
            </a:pPr>
            <a:r>
              <a:rPr lang="en-US" sz="2800">
                <a:solidFill>
                  <a:srgbClr val="000000"/>
                </a:solidFill>
                <a:ea typeface="+mn-lt"/>
                <a:cs typeface="+mn-lt"/>
              </a:rPr>
              <a:t>Collect and integrate real textile waste datasets.</a:t>
            </a:r>
          </a:p>
          <a:p>
            <a:pPr marL="603885" indent="-301625">
              <a:buFont typeface="Arial"/>
              <a:buChar char="•"/>
            </a:pPr>
            <a:endParaRPr lang="en-US"/>
          </a:p>
          <a:p>
            <a:pPr marL="603885" indent="-301625">
              <a:buFont typeface="Arial"/>
              <a:buChar char="•"/>
            </a:pPr>
            <a:r>
              <a:rPr lang="en-US" sz="2800"/>
              <a:t>Improve ML model accuracy and perform advanced error analysis.</a:t>
            </a:r>
            <a:endParaRPr lang="en-US"/>
          </a:p>
          <a:p>
            <a:pPr marL="603885" indent="-301625">
              <a:buFont typeface="Arial"/>
              <a:buChar char="•"/>
            </a:pPr>
            <a:endParaRPr lang="en-US"/>
          </a:p>
          <a:p>
            <a:pPr marL="603885" indent="-301625">
              <a:buFont typeface="Arial"/>
              <a:buChar char="•"/>
            </a:pPr>
            <a:r>
              <a:rPr lang="en-US" sz="2800"/>
              <a:t>Add authentication and admin authorization.</a:t>
            </a:r>
            <a:endParaRPr lang="en-US" sz="2800">
              <a:ea typeface="Calibri"/>
              <a:cs typeface="Calibri"/>
            </a:endParaRPr>
          </a:p>
          <a:p>
            <a:pPr marL="603885" indent="-301625">
              <a:buFont typeface="Arial"/>
              <a:buChar char="•"/>
            </a:pPr>
            <a:endParaRPr lang="en-US" sz="2800">
              <a:ea typeface="Calibri"/>
              <a:cs typeface="Calibri"/>
            </a:endParaRPr>
          </a:p>
          <a:p>
            <a:pPr marL="603885" indent="-301625">
              <a:buFont typeface="Arial"/>
              <a:buChar char="•"/>
            </a:pPr>
            <a:r>
              <a:rPr lang="en-US" sz="2800">
                <a:solidFill>
                  <a:srgbClr val="000000"/>
                </a:solidFill>
                <a:ea typeface="+mn-lt"/>
                <a:cs typeface="+mn-lt"/>
              </a:rPr>
              <a:t>Integrate Member 01 image analysis outputs into assessment inputs.</a:t>
            </a:r>
            <a:endParaRPr lang="en-US" sz="2800">
              <a:solidFill>
                <a:srgbClr val="000000"/>
              </a:solidFill>
              <a:ea typeface="Calibri"/>
              <a:cs typeface="Calibri"/>
            </a:endParaRPr>
          </a:p>
          <a:p>
            <a:pPr marL="603885" indent="-301625">
              <a:buFont typeface="Arial"/>
              <a:buChar char="•"/>
            </a:pPr>
            <a:endParaRPr lang="en-US" sz="2800">
              <a:ea typeface="Calibri"/>
              <a:cs typeface="Calibri"/>
            </a:endParaRPr>
          </a:p>
          <a:p>
            <a:pPr marL="759460" indent="-457200">
              <a:buFont typeface="Arial"/>
              <a:buChar char="•"/>
            </a:pPr>
            <a:r>
              <a:rPr lang="en-US" sz="2800">
                <a:solidFill>
                  <a:srgbClr val="000000"/>
                </a:solidFill>
                <a:ea typeface="+mn-lt"/>
                <a:cs typeface="+mn-lt"/>
              </a:rPr>
              <a:t>Add production deployment configuration and monitoring support. </a:t>
            </a:r>
            <a:endParaRPr lang="en-US" sz="2800">
              <a:solidFill>
                <a:srgbClr val="000000"/>
              </a:solidFill>
              <a:ea typeface="Calibri"/>
              <a:cs typeface="Calibri"/>
            </a:endParaRPr>
          </a:p>
          <a:p>
            <a:pPr marL="759460" indent="-457200">
              <a:buFont typeface="Arial"/>
              <a:buChar char="•"/>
            </a:pPr>
            <a:endParaRPr lang="en-US" sz="2800">
              <a:ea typeface="Calibri"/>
              <a:cs typeface="Calibri"/>
            </a:endParaRPr>
          </a:p>
          <a:p>
            <a:pPr marL="759460" indent="-457200">
              <a:buFont typeface="Arial"/>
              <a:buChar char="•"/>
            </a:pPr>
            <a:r>
              <a:rPr lang="en-US" sz="2800">
                <a:solidFill>
                  <a:srgbClr val="000000"/>
                </a:solidFill>
                <a:ea typeface="+mn-lt"/>
                <a:cs typeface="+mn-lt"/>
              </a:rPr>
              <a:t>Connect Member 03 pricing and Member 04 marketplace modules.</a:t>
            </a:r>
          </a:p>
          <a:p>
            <a:pPr marL="759460" indent="-457200">
              <a:buFont typeface="Arial"/>
              <a:buChar char="•"/>
            </a:pPr>
            <a:endParaRPr lang="en-US" sz="2800">
              <a:ea typeface="Calibri"/>
              <a:cs typeface="Calibri"/>
            </a:endParaRPr>
          </a:p>
          <a:p>
            <a:pPr marL="302260"/>
            <a:endParaRPr lang="en-US">
              <a:ea typeface="Calibri"/>
              <a:cs typeface="Calibri"/>
            </a:endParaRPr>
          </a:p>
          <a:p>
            <a:pPr marL="302260"/>
            <a:endParaRPr lang="en-US" sz="2800">
              <a:ea typeface="Calibri"/>
              <a:cs typeface="Calibri"/>
            </a:endParaRPr>
          </a:p>
          <a:p>
            <a:pPr marL="603885" indent="-301625">
              <a:buFont typeface="Arial"/>
              <a:buChar char="•"/>
            </a:pPr>
            <a:endParaRPr lang="en-US" sz="2800">
              <a:ea typeface="Calibri"/>
              <a:cs typeface="Calibri"/>
            </a:endParaRPr>
          </a:p>
          <a:p>
            <a:pPr marL="302260"/>
            <a:endParaRPr lang="en-US">
              <a:ea typeface="Calibri"/>
              <a:cs typeface="Calibri"/>
            </a:endParaRPr>
          </a:p>
          <a:p>
            <a:pPr marL="302260"/>
            <a:br>
              <a:rPr lang="en-US"/>
            </a:br>
            <a:br>
              <a:rPr lang="en-US"/>
            </a:br>
            <a:br>
              <a:rPr lang="en-US"/>
            </a:br>
            <a:br>
              <a:rPr lang="en-US"/>
            </a:br>
            <a:endParaRPr lang="en-US">
              <a:ea typeface="Calibri"/>
              <a:cs typeface="Calibri"/>
            </a:endParaRPr>
          </a:p>
        </p:txBody>
      </p:sp>
      <p:sp>
        <p:nvSpPr>
          <p:cNvPr id="17" name="TextBox 17">
            <a:extLst>
              <a:ext uri="{FF2B5EF4-FFF2-40B4-BE49-F238E27FC236}">
                <a16:creationId xmlns:a16="http://schemas.microsoft.com/office/drawing/2014/main" id="{AAB594F0-7F04-8206-A6D1-00B25F1A73F2}"/>
              </a:ext>
            </a:extLst>
          </p:cNvPr>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13</a:t>
            </a:r>
          </a:p>
        </p:txBody>
      </p:sp>
      <p:pic>
        <p:nvPicPr>
          <p:cNvPr id="9" name="Picture 8" descr="A blue and white circle with text&#10;&#10;AI-generated content may be incorrect.">
            <a:extLst>
              <a:ext uri="{FF2B5EF4-FFF2-40B4-BE49-F238E27FC236}">
                <a16:creationId xmlns:a16="http://schemas.microsoft.com/office/drawing/2014/main" id="{91DCED96-848E-9F71-209C-1795FB724CBB}"/>
              </a:ext>
            </a:extLst>
          </p:cNvPr>
          <p:cNvPicPr>
            <a:picLocks noChangeAspect="1"/>
          </p:cNvPicPr>
          <p:nvPr/>
        </p:nvPicPr>
        <p:blipFill>
          <a:blip r:embed="rId8"/>
          <a:stretch>
            <a:fillRect/>
          </a:stretch>
        </p:blipFill>
        <p:spPr>
          <a:xfrm>
            <a:off x="12249150" y="1908008"/>
            <a:ext cx="4209048" cy="4269206"/>
          </a:xfrm>
          <a:prstGeom prst="rect">
            <a:avLst/>
          </a:prstGeom>
        </p:spPr>
      </p:pic>
    </p:spTree>
    <p:extLst>
      <p:ext uri="{BB962C8B-B14F-4D97-AF65-F5344CB8AC3E}">
        <p14:creationId xmlns:p14="http://schemas.microsoft.com/office/powerpoint/2010/main" val="2242102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2">
            <a:extLst>
              <a:ext uri="{FF2B5EF4-FFF2-40B4-BE49-F238E27FC236}">
                <a16:creationId xmlns:a16="http://schemas.microsoft.com/office/drawing/2014/main" id="{DD9EE5BD-0DC7-8EBC-60D2-4E54AD99FD67}"/>
              </a:ext>
            </a:extLst>
          </p:cNvPr>
          <p:cNvGrpSpPr/>
          <p:nvPr/>
        </p:nvGrpSpPr>
        <p:grpSpPr>
          <a:xfrm>
            <a:off x="0" y="0"/>
            <a:ext cx="18288000" cy="10287000"/>
            <a:chOff x="0" y="0"/>
            <a:chExt cx="24384000" cy="13716000"/>
          </a:xfrm>
        </p:grpSpPr>
        <p:sp>
          <p:nvSpPr>
            <p:cNvPr id="16" name="Freeform 3">
              <a:extLst>
                <a:ext uri="{FF2B5EF4-FFF2-40B4-BE49-F238E27FC236}">
                  <a16:creationId xmlns:a16="http://schemas.microsoft.com/office/drawing/2014/main" id="{FDA8886B-B0F0-8608-714D-2F7C25AF9698}"/>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4" name="Group 4"/>
          <p:cNvGrpSpPr/>
          <p:nvPr/>
        </p:nvGrpSpPr>
        <p:grpSpPr>
          <a:xfrm>
            <a:off x="-9525" y="9554441"/>
            <a:ext cx="3917169" cy="703984"/>
            <a:chOff x="0" y="0"/>
            <a:chExt cx="5222892" cy="938645"/>
          </a:xfrm>
        </p:grpSpPr>
        <p:sp>
          <p:nvSpPr>
            <p:cNvPr id="5" name="Freeform 5"/>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9" name="TextBox 9"/>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14</a:t>
            </a:r>
          </a:p>
        </p:txBody>
      </p:sp>
      <p:sp>
        <p:nvSpPr>
          <p:cNvPr id="11" name="TextBox 11"/>
          <p:cNvSpPr txBox="1"/>
          <p:nvPr/>
        </p:nvSpPr>
        <p:spPr>
          <a:xfrm>
            <a:off x="1941237" y="398629"/>
            <a:ext cx="15494953" cy="618887"/>
          </a:xfrm>
          <a:prstGeom prst="rect">
            <a:avLst/>
          </a:prstGeom>
        </p:spPr>
        <p:txBody>
          <a:bodyPr lIns="0" tIns="0" rIns="0" bIns="0" rtlCol="0" anchor="t">
            <a:spAutoFit/>
          </a:bodyPr>
          <a:lstStyle/>
          <a:p>
            <a:pPr>
              <a:lnSpc>
                <a:spcPts val="4649"/>
              </a:lnSpc>
            </a:pPr>
            <a:r>
              <a:rPr lang="en-GB" sz="4950">
                <a:solidFill>
                  <a:srgbClr val="009B0B">
                    <a:alpha val="69804"/>
                  </a:srgbClr>
                </a:solidFill>
                <a:latin typeface="Archivo Black"/>
                <a:ea typeface="Archivo Black"/>
                <a:cs typeface="Archivo Black"/>
              </a:rPr>
              <a:t>System Overview Diagram</a:t>
            </a:r>
            <a:endParaRPr lang="en-GB" sz="4999">
              <a:solidFill>
                <a:srgbClr val="009B0B">
                  <a:alpha val="69804"/>
                </a:srgbClr>
              </a:solidFill>
              <a:latin typeface="Archivo Black"/>
              <a:ea typeface="Archivo Black"/>
              <a:cs typeface="Archivo Black"/>
              <a:sym typeface="Archivo Black"/>
            </a:endParaRPr>
          </a:p>
        </p:txBody>
      </p:sp>
      <p:sp>
        <p:nvSpPr>
          <p:cNvPr id="13" name="TextBox 13"/>
          <p:cNvSpPr txBox="1"/>
          <p:nvPr/>
        </p:nvSpPr>
        <p:spPr>
          <a:xfrm>
            <a:off x="0" y="2973900"/>
            <a:ext cx="6133621" cy="893963"/>
          </a:xfrm>
          <a:prstGeom prst="rect">
            <a:avLst/>
          </a:prstGeom>
        </p:spPr>
        <p:txBody>
          <a:bodyPr lIns="0" tIns="0" rIns="0" bIns="0" rtlCol="0" anchor="t">
            <a:spAutoFit/>
          </a:bodyPr>
          <a:lstStyle/>
          <a:p>
            <a:pPr marL="561340" lvl="1" indent="-280670" algn="l">
              <a:lnSpc>
                <a:spcPts val="3640"/>
              </a:lnSpc>
              <a:buFont typeface="Arial"/>
              <a:buChar char="•"/>
            </a:pPr>
            <a:endParaRPr lang="en-US" sz="2600">
              <a:solidFill>
                <a:srgbClr val="000000"/>
              </a:solidFill>
              <a:latin typeface="Canva Sans"/>
              <a:ea typeface="Canva Sans"/>
              <a:cs typeface="Canva Sans"/>
            </a:endParaRPr>
          </a:p>
          <a:p>
            <a:pPr algn="l">
              <a:lnSpc>
                <a:spcPts val="3640"/>
              </a:lnSpc>
            </a:pPr>
            <a:endParaRPr lang="en-US" sz="2600">
              <a:solidFill>
                <a:srgbClr val="000000"/>
              </a:solidFill>
              <a:latin typeface="Canva Sans"/>
              <a:ea typeface="Canva Sans"/>
              <a:cs typeface="Canva Sans"/>
              <a:sym typeface="Canva Sans"/>
            </a:endParaRPr>
          </a:p>
        </p:txBody>
      </p:sp>
      <p:pic>
        <p:nvPicPr>
          <p:cNvPr id="2" name="Picture 1" descr="A diagram of a system overview&#10;&#10;AI-generated content may be incorrect.">
            <a:extLst>
              <a:ext uri="{FF2B5EF4-FFF2-40B4-BE49-F238E27FC236}">
                <a16:creationId xmlns:a16="http://schemas.microsoft.com/office/drawing/2014/main" id="{E419DC91-FFBF-85F9-3BBC-A7359F5149B2}"/>
              </a:ext>
            </a:extLst>
          </p:cNvPr>
          <p:cNvPicPr>
            <a:picLocks noChangeAspect="1"/>
          </p:cNvPicPr>
          <p:nvPr/>
        </p:nvPicPr>
        <p:blipFill>
          <a:blip r:embed="rId4"/>
          <a:stretch>
            <a:fillRect/>
          </a:stretch>
        </p:blipFill>
        <p:spPr>
          <a:xfrm>
            <a:off x="3443288" y="1409700"/>
            <a:ext cx="10529888" cy="702468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4" name="Freeform 4"/>
          <p:cNvSpPr/>
          <p:nvPr/>
        </p:nvSpPr>
        <p:spPr>
          <a:xfrm>
            <a:off x="11871741" y="2090053"/>
            <a:ext cx="5367312" cy="5367312"/>
          </a:xfrm>
          <a:custGeom>
            <a:avLst/>
            <a:gdLst/>
            <a:ahLst/>
            <a:cxnLst/>
            <a:rect l="l" t="t" r="r" b="b"/>
            <a:pathLst>
              <a:path w="5367312" h="5367312">
                <a:moveTo>
                  <a:pt x="0" y="0"/>
                </a:moveTo>
                <a:lnTo>
                  <a:pt x="5367312" y="0"/>
                </a:lnTo>
                <a:lnTo>
                  <a:pt x="5367312" y="5367311"/>
                </a:lnTo>
                <a:lnTo>
                  <a:pt x="0" y="53673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2106671" y="2324983"/>
            <a:ext cx="4897452" cy="4897452"/>
          </a:xfrm>
          <a:custGeom>
            <a:avLst/>
            <a:gdLst/>
            <a:ahLst/>
            <a:cxnLst/>
            <a:rect l="l" t="t" r="r" b="b"/>
            <a:pathLst>
              <a:path w="4897452" h="4897452">
                <a:moveTo>
                  <a:pt x="0" y="0"/>
                </a:moveTo>
                <a:lnTo>
                  <a:pt x="4897452" y="0"/>
                </a:lnTo>
                <a:lnTo>
                  <a:pt x="4897452" y="4897451"/>
                </a:lnTo>
                <a:lnTo>
                  <a:pt x="0" y="48974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2244300" y="2389937"/>
            <a:ext cx="4767543" cy="4767543"/>
          </a:xfrm>
          <a:custGeom>
            <a:avLst/>
            <a:gdLst/>
            <a:ahLst/>
            <a:cxnLst/>
            <a:rect l="l" t="t" r="r" b="b"/>
            <a:pathLst>
              <a:path w="4767543" h="4767543">
                <a:moveTo>
                  <a:pt x="0" y="0"/>
                </a:moveTo>
                <a:lnTo>
                  <a:pt x="4767544" y="0"/>
                </a:lnTo>
                <a:lnTo>
                  <a:pt x="4767544" y="4767543"/>
                </a:lnTo>
                <a:lnTo>
                  <a:pt x="0" y="47675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2332187" y="2628102"/>
            <a:ext cx="4571091" cy="4356111"/>
          </a:xfrm>
          <a:custGeom>
            <a:avLst/>
            <a:gdLst/>
            <a:ahLst/>
            <a:cxnLst/>
            <a:rect l="l" t="t" r="r" b="b"/>
            <a:pathLst>
              <a:path w="4571091" h="4356111">
                <a:moveTo>
                  <a:pt x="0" y="0"/>
                </a:moveTo>
                <a:lnTo>
                  <a:pt x="4571091" y="0"/>
                </a:lnTo>
                <a:lnTo>
                  <a:pt x="4571091" y="4356111"/>
                </a:lnTo>
                <a:lnTo>
                  <a:pt x="0" y="435611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rot="-10800000">
            <a:off x="14555397" y="1297517"/>
            <a:ext cx="3458417" cy="6916834"/>
          </a:xfrm>
          <a:custGeom>
            <a:avLst/>
            <a:gdLst/>
            <a:ahLst/>
            <a:cxnLst/>
            <a:rect l="l" t="t" r="r" b="b"/>
            <a:pathLst>
              <a:path w="3458417" h="6916834">
                <a:moveTo>
                  <a:pt x="0" y="0"/>
                </a:moveTo>
                <a:lnTo>
                  <a:pt x="3458417" y="0"/>
                </a:lnTo>
                <a:lnTo>
                  <a:pt x="3458417" y="6916834"/>
                </a:lnTo>
                <a:lnTo>
                  <a:pt x="0" y="6916834"/>
                </a:lnTo>
                <a:lnTo>
                  <a:pt x="0" y="0"/>
                </a:lnTo>
                <a:close/>
              </a:path>
            </a:pathLst>
          </a:custGeom>
          <a:blipFill>
            <a:blip>
              <a:extLst>
                <a:ext uri="{96DAC541-7B7A-43D3-8B79-37D633B846F1}">
                  <asvg:svgBlip xmlns:asvg="http://schemas.microsoft.com/office/drawing/2016/SVG/main" r:embed="rId6"/>
                </a:ext>
              </a:extLst>
            </a:blip>
            <a:stretch>
              <a:fillRect l="-68" r="-68"/>
            </a:stretch>
          </a:blipFill>
        </p:spPr>
        <p:txBody>
          <a:bodyPr/>
          <a:lstStyle/>
          <a:p>
            <a:endParaRPr lang="en-US"/>
          </a:p>
        </p:txBody>
      </p:sp>
      <p:grpSp>
        <p:nvGrpSpPr>
          <p:cNvPr id="11" name="Group 11"/>
          <p:cNvGrpSpPr/>
          <p:nvPr/>
        </p:nvGrpSpPr>
        <p:grpSpPr>
          <a:xfrm>
            <a:off x="20999" y="9533010"/>
            <a:ext cx="3917169" cy="703984"/>
            <a:chOff x="0" y="0"/>
            <a:chExt cx="5222892" cy="938645"/>
          </a:xfrm>
        </p:grpSpPr>
        <p:sp>
          <p:nvSpPr>
            <p:cNvPr id="12" name="Freeform 12"/>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7"/>
              <a:stretch>
                <a:fillRect l="-64" r="-64" b="1"/>
              </a:stretch>
            </a:blipFill>
          </p:spPr>
          <p:txBody>
            <a:bodyPr/>
            <a:lstStyle/>
            <a:p>
              <a:endParaRPr lang="en-US"/>
            </a:p>
          </p:txBody>
        </p:sp>
      </p:grpSp>
      <p:sp>
        <p:nvSpPr>
          <p:cNvPr id="13" name="TextBox 13"/>
          <p:cNvSpPr txBox="1"/>
          <p:nvPr/>
        </p:nvSpPr>
        <p:spPr>
          <a:xfrm>
            <a:off x="572478" y="4129192"/>
            <a:ext cx="6913505" cy="1889760"/>
          </a:xfrm>
          <a:prstGeom prst="rect">
            <a:avLst/>
          </a:prstGeom>
        </p:spPr>
        <p:txBody>
          <a:bodyPr lIns="0" tIns="0" rIns="0" bIns="0" rtlCol="0" anchor="t">
            <a:spAutoFit/>
          </a:bodyPr>
          <a:lstStyle/>
          <a:p>
            <a:pPr algn="l">
              <a:lnSpc>
                <a:spcPts val="15600"/>
              </a:lnSpc>
            </a:pPr>
            <a:r>
              <a:rPr lang="en-US" sz="10400" spc="208">
                <a:solidFill>
                  <a:srgbClr val="50616C"/>
                </a:solidFill>
                <a:latin typeface="League Gothic"/>
                <a:ea typeface="League Gothic"/>
                <a:cs typeface="League Gothic"/>
                <a:sym typeface="League Gothic"/>
              </a:rPr>
              <a:t>IT22221278</a:t>
            </a:r>
          </a:p>
        </p:txBody>
      </p:sp>
      <p:sp>
        <p:nvSpPr>
          <p:cNvPr id="14" name="TextBox 14"/>
          <p:cNvSpPr txBox="1"/>
          <p:nvPr/>
        </p:nvSpPr>
        <p:spPr>
          <a:xfrm>
            <a:off x="534378" y="1921731"/>
            <a:ext cx="11702202" cy="2673745"/>
          </a:xfrm>
          <a:prstGeom prst="rect">
            <a:avLst/>
          </a:prstGeom>
        </p:spPr>
        <p:txBody>
          <a:bodyPr wrap="square" lIns="0" tIns="0" rIns="0" bIns="0" rtlCol="0" anchor="t">
            <a:spAutoFit/>
          </a:bodyPr>
          <a:lstStyle/>
          <a:p>
            <a:pPr algn="just">
              <a:lnSpc>
                <a:spcPts val="22498"/>
              </a:lnSpc>
            </a:pPr>
            <a:r>
              <a:rPr lang="en-US" sz="14999" spc="299" err="1">
                <a:solidFill>
                  <a:srgbClr val="009B0B"/>
                </a:solidFill>
                <a:latin typeface="League Gothic"/>
                <a:ea typeface="League Gothic"/>
                <a:cs typeface="League Gothic"/>
                <a:sym typeface="League Gothic"/>
              </a:rPr>
              <a:t>H.M.T.G.Madushanka</a:t>
            </a:r>
            <a:endParaRPr lang="en-US" sz="14999" spc="299">
              <a:solidFill>
                <a:srgbClr val="009B0B"/>
              </a:solidFill>
              <a:latin typeface="League Gothic"/>
              <a:ea typeface="League Gothic"/>
              <a:cs typeface="League Gothic"/>
              <a:sym typeface="League Gothic"/>
            </a:endParaRPr>
          </a:p>
        </p:txBody>
      </p:sp>
      <p:sp>
        <p:nvSpPr>
          <p:cNvPr id="15" name="TextBox 15"/>
          <p:cNvSpPr txBox="1"/>
          <p:nvPr/>
        </p:nvSpPr>
        <p:spPr>
          <a:xfrm>
            <a:off x="572478" y="5935132"/>
            <a:ext cx="7334801" cy="493395"/>
          </a:xfrm>
          <a:prstGeom prst="rect">
            <a:avLst/>
          </a:prstGeom>
        </p:spPr>
        <p:txBody>
          <a:bodyPr lIns="0" tIns="0" rIns="0" bIns="0" rtlCol="0" anchor="t">
            <a:spAutoFit/>
          </a:bodyPr>
          <a:lstStyle/>
          <a:p>
            <a:pPr algn="l">
              <a:lnSpc>
                <a:spcPts val="4199"/>
              </a:lnSpc>
            </a:pPr>
            <a:r>
              <a:rPr lang="en-US" sz="2799" b="1">
                <a:solidFill>
                  <a:srgbClr val="50616C"/>
                </a:solidFill>
                <a:latin typeface="Open Sans Bold"/>
                <a:ea typeface="Open Sans Bold"/>
                <a:cs typeface="Open Sans Bold"/>
                <a:sym typeface="Open Sans Bold"/>
              </a:rPr>
              <a:t>Specialization - Information Technology</a:t>
            </a:r>
          </a:p>
        </p:txBody>
      </p:sp>
      <p:sp>
        <p:nvSpPr>
          <p:cNvPr id="16" name="TextBox 16"/>
          <p:cNvSpPr txBox="1"/>
          <p:nvPr/>
        </p:nvSpPr>
        <p:spPr>
          <a:xfrm>
            <a:off x="534378" y="7199852"/>
            <a:ext cx="12648222" cy="1846659"/>
          </a:xfrm>
          <a:prstGeom prst="rect">
            <a:avLst/>
          </a:prstGeom>
        </p:spPr>
        <p:txBody>
          <a:bodyPr wrap="square" lIns="0" tIns="0" rIns="0" bIns="0" rtlCol="0" anchor="t">
            <a:spAutoFit/>
          </a:bodyPr>
          <a:lstStyle/>
          <a:p>
            <a:r>
              <a:rPr lang="en-US" sz="6000" b="1">
                <a:solidFill>
                  <a:schemeClr val="tx1">
                    <a:lumMod val="95000"/>
                    <a:lumOff val="5000"/>
                  </a:schemeClr>
                </a:solidFill>
              </a:rPr>
              <a:t>Traceability, Recommendation &amp; AI Pricing Module</a:t>
            </a:r>
            <a:endParaRPr lang="en-US" sz="6000" b="1">
              <a:solidFill>
                <a:schemeClr val="tx1">
                  <a:lumMod val="95000"/>
                  <a:lumOff val="5000"/>
                </a:schemeClr>
              </a:solidFill>
              <a:latin typeface="Archivo Black" panose="020B0604020202020204" charset="0"/>
              <a:cs typeface="Arial" panose="020B0604020202020204" pitchFamily="34" charset="0"/>
            </a:endParaRPr>
          </a:p>
        </p:txBody>
      </p:sp>
      <p:sp>
        <p:nvSpPr>
          <p:cNvPr id="17" name="TextBox 17"/>
          <p:cNvSpPr txBox="1"/>
          <p:nvPr/>
        </p:nvSpPr>
        <p:spPr>
          <a:xfrm>
            <a:off x="3917169" y="9716568"/>
            <a:ext cx="7070379" cy="383951"/>
          </a:xfrm>
          <a:prstGeom prst="rect">
            <a:avLst/>
          </a:prstGeom>
        </p:spPr>
        <p:txBody>
          <a:bodyPr wrap="square"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IT22221278 |  </a:t>
            </a:r>
            <a:r>
              <a:rPr lang="en-US" sz="2300" err="1">
                <a:solidFill>
                  <a:srgbClr val="000000"/>
                </a:solidFill>
                <a:latin typeface="Canva Sans"/>
                <a:ea typeface="Canva Sans"/>
                <a:cs typeface="Canva Sans"/>
                <a:sym typeface="Canva Sans"/>
              </a:rPr>
              <a:t>H.M.T.G.Madushanka</a:t>
            </a:r>
            <a:r>
              <a:rPr lang="en-US" sz="2300">
                <a:solidFill>
                  <a:srgbClr val="000000"/>
                </a:solidFill>
                <a:latin typeface="Canva Sans"/>
                <a:ea typeface="Canva Sans"/>
                <a:cs typeface="Canva Sans"/>
                <a:sym typeface="Canva Sans"/>
              </a:rPr>
              <a:t>|</a:t>
            </a:r>
          </a:p>
        </p:txBody>
      </p:sp>
      <p:sp>
        <p:nvSpPr>
          <p:cNvPr id="18" name="TextBox 18"/>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15</a:t>
            </a:r>
          </a:p>
        </p:txBody>
      </p:sp>
      <p:pic>
        <p:nvPicPr>
          <p:cNvPr id="2050" name="Picture 2" descr="A person in a suit and glasses&#10;&#10;Description automatically generated">
            <a:extLst>
              <a:ext uri="{FF2B5EF4-FFF2-40B4-BE49-F238E27FC236}">
                <a16:creationId xmlns:a16="http://schemas.microsoft.com/office/drawing/2014/main" id="{0A15F297-5941-C816-051D-42C5EFA788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07453" y="2324982"/>
            <a:ext cx="4695825" cy="4693751"/>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EF1A0-9115-7731-3E73-FC8A61C91E9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83AF4A-BA64-7774-6450-D72E830D44E7}"/>
              </a:ext>
            </a:extLst>
          </p:cNvPr>
          <p:cNvGrpSpPr/>
          <p:nvPr/>
        </p:nvGrpSpPr>
        <p:grpSpPr>
          <a:xfrm>
            <a:off x="-20999" y="-60738"/>
            <a:ext cx="18288000" cy="10287000"/>
            <a:chOff x="-27999" y="-749145"/>
            <a:chExt cx="24384000" cy="13716000"/>
          </a:xfrm>
        </p:grpSpPr>
        <p:sp>
          <p:nvSpPr>
            <p:cNvPr id="3" name="Freeform 3">
              <a:extLst>
                <a:ext uri="{FF2B5EF4-FFF2-40B4-BE49-F238E27FC236}">
                  <a16:creationId xmlns:a16="http://schemas.microsoft.com/office/drawing/2014/main" id="{7D8FD697-704E-9D82-3F42-DDB178AF5C1B}"/>
                </a:ext>
              </a:extLst>
            </p:cNvPr>
            <p:cNvSpPr/>
            <p:nvPr/>
          </p:nvSpPr>
          <p:spPr>
            <a:xfrm>
              <a:off x="-27999" y="-749145"/>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t="-70741" b="-7074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 name="Group 4">
            <a:extLst>
              <a:ext uri="{FF2B5EF4-FFF2-40B4-BE49-F238E27FC236}">
                <a16:creationId xmlns:a16="http://schemas.microsoft.com/office/drawing/2014/main" id="{8D28BDBD-3F0F-E48E-95B8-6E2785AB91A6}"/>
              </a:ext>
            </a:extLst>
          </p:cNvPr>
          <p:cNvGrpSpPr/>
          <p:nvPr/>
        </p:nvGrpSpPr>
        <p:grpSpPr>
          <a:xfrm>
            <a:off x="20999" y="9533010"/>
            <a:ext cx="3917169" cy="703984"/>
            <a:chOff x="0" y="0"/>
            <a:chExt cx="5222892" cy="938645"/>
          </a:xfrm>
        </p:grpSpPr>
        <p:sp>
          <p:nvSpPr>
            <p:cNvPr id="5" name="Freeform 5">
              <a:extLst>
                <a:ext uri="{FF2B5EF4-FFF2-40B4-BE49-F238E27FC236}">
                  <a16:creationId xmlns:a16="http://schemas.microsoft.com/office/drawing/2014/main" id="{846740DF-A572-F13C-19D8-9F354FEEBFF1}"/>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4"/>
              <a:stretch>
                <a:fillRect l="-64" r="-64" b="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a:extLst>
              <a:ext uri="{FF2B5EF4-FFF2-40B4-BE49-F238E27FC236}">
                <a16:creationId xmlns:a16="http://schemas.microsoft.com/office/drawing/2014/main" id="{19E1079F-C8C7-7DB8-6802-C192F61BA34D}"/>
              </a:ext>
            </a:extLst>
          </p:cNvPr>
          <p:cNvSpPr/>
          <p:nvPr/>
        </p:nvSpPr>
        <p:spPr>
          <a:xfrm rot="2478992">
            <a:off x="331444" y="3166466"/>
            <a:ext cx="4043219" cy="3954064"/>
          </a:xfrm>
          <a:custGeom>
            <a:avLst/>
            <a:gdLst/>
            <a:ahLst/>
            <a:cxnLst/>
            <a:rect l="l" t="t" r="r" b="b"/>
            <a:pathLst>
              <a:path w="4043219" h="3954064">
                <a:moveTo>
                  <a:pt x="0" y="0"/>
                </a:moveTo>
                <a:lnTo>
                  <a:pt x="4043219" y="0"/>
                </a:lnTo>
                <a:lnTo>
                  <a:pt x="4043219" y="3954064"/>
                </a:lnTo>
                <a:lnTo>
                  <a:pt x="0" y="395406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0DF2D540-E8F2-CD27-FB18-39139707C2D9}"/>
              </a:ext>
            </a:extLst>
          </p:cNvPr>
          <p:cNvSpPr/>
          <p:nvPr/>
        </p:nvSpPr>
        <p:spPr>
          <a:xfrm rot="2700000">
            <a:off x="4653553" y="6694032"/>
            <a:ext cx="3832353" cy="3747848"/>
          </a:xfrm>
          <a:custGeom>
            <a:avLst/>
            <a:gdLst/>
            <a:ahLst/>
            <a:cxnLst/>
            <a:rect l="l" t="t" r="r" b="b"/>
            <a:pathLst>
              <a:path w="3832353" h="3747848">
                <a:moveTo>
                  <a:pt x="0" y="0"/>
                </a:moveTo>
                <a:lnTo>
                  <a:pt x="3832353" y="0"/>
                </a:lnTo>
                <a:lnTo>
                  <a:pt x="3832353" y="3747847"/>
                </a:lnTo>
                <a:lnTo>
                  <a:pt x="0" y="374784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8E083182-115F-96B2-2DDB-9A0A7AC7A56E}"/>
              </a:ext>
            </a:extLst>
          </p:cNvPr>
          <p:cNvSpPr/>
          <p:nvPr/>
        </p:nvSpPr>
        <p:spPr>
          <a:xfrm rot="2478992">
            <a:off x="13170596" y="2280913"/>
            <a:ext cx="3411897" cy="3336663"/>
          </a:xfrm>
          <a:custGeom>
            <a:avLst/>
            <a:gdLst/>
            <a:ahLst/>
            <a:cxnLst/>
            <a:rect l="l" t="t" r="r" b="b"/>
            <a:pathLst>
              <a:path w="3411897" h="3336663">
                <a:moveTo>
                  <a:pt x="0" y="0"/>
                </a:moveTo>
                <a:lnTo>
                  <a:pt x="3411896" y="0"/>
                </a:lnTo>
                <a:lnTo>
                  <a:pt x="3411896" y="3336662"/>
                </a:lnTo>
                <a:lnTo>
                  <a:pt x="0" y="33366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10">
            <a:extLst>
              <a:ext uri="{FF2B5EF4-FFF2-40B4-BE49-F238E27FC236}">
                <a16:creationId xmlns:a16="http://schemas.microsoft.com/office/drawing/2014/main" id="{2B945C8F-01FF-F85C-20F9-841589B0B45A}"/>
              </a:ext>
            </a:extLst>
          </p:cNvPr>
          <p:cNvSpPr/>
          <p:nvPr/>
        </p:nvSpPr>
        <p:spPr>
          <a:xfrm rot="2478992">
            <a:off x="13036931" y="6046807"/>
            <a:ext cx="4043219" cy="3954064"/>
          </a:xfrm>
          <a:custGeom>
            <a:avLst/>
            <a:gdLst/>
            <a:ahLst/>
            <a:cxnLst/>
            <a:rect l="l" t="t" r="r" b="b"/>
            <a:pathLst>
              <a:path w="4043219" h="3954064">
                <a:moveTo>
                  <a:pt x="0" y="0"/>
                </a:moveTo>
                <a:lnTo>
                  <a:pt x="4043219" y="0"/>
                </a:lnTo>
                <a:lnTo>
                  <a:pt x="4043219" y="3954063"/>
                </a:lnTo>
                <a:lnTo>
                  <a:pt x="0" y="395406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Box 17">
            <a:extLst>
              <a:ext uri="{FF2B5EF4-FFF2-40B4-BE49-F238E27FC236}">
                <a16:creationId xmlns:a16="http://schemas.microsoft.com/office/drawing/2014/main" id="{0617F40C-7AF2-2965-E399-C56C718561BB}"/>
              </a:ext>
            </a:extLst>
          </p:cNvPr>
          <p:cNvSpPr txBox="1"/>
          <p:nvPr/>
        </p:nvSpPr>
        <p:spPr>
          <a:xfrm>
            <a:off x="1542146" y="3587956"/>
            <a:ext cx="13354891" cy="3189656"/>
          </a:xfrm>
          <a:prstGeom prst="rect">
            <a:avLst/>
          </a:prstGeom>
        </p:spPr>
        <p:txBody>
          <a:bodyPr wrap="square" lIns="0" tIns="0" rIns="0" bIns="0" rtlCol="0" anchor="t">
            <a:spAutoFit/>
          </a:bodyPr>
          <a:lstStyle/>
          <a:p>
            <a:pPr marL="457200" lvl="0" indent="-457200" eaLnBrk="0" fontAlgn="base" hangingPunct="0">
              <a:spcBef>
                <a:spcPct val="0"/>
              </a:spcBef>
              <a:spcAft>
                <a:spcPct val="0"/>
              </a:spcAft>
              <a:buFont typeface="Wingdings" panose="05000000000000000000" pitchFamily="2" charset="2"/>
              <a:buChar char="v"/>
            </a:pPr>
            <a:r>
              <a:rPr lang="en-US" altLang="en-US" sz="2800">
                <a:latin typeface="Arial" panose="020B0604020202020204" pitchFamily="34" charset="0"/>
              </a:rPr>
              <a:t>No standard pricing system for textile waste </a:t>
            </a:r>
          </a:p>
          <a:p>
            <a:pPr marL="457200" lvl="0" indent="-457200" eaLnBrk="0" fontAlgn="base" hangingPunct="0">
              <a:spcBef>
                <a:spcPct val="0"/>
              </a:spcBef>
              <a:spcAft>
                <a:spcPct val="0"/>
              </a:spcAft>
              <a:buFont typeface="Wingdings" panose="05000000000000000000" pitchFamily="2" charset="2"/>
              <a:buChar char="v"/>
            </a:pPr>
            <a:r>
              <a:rPr lang="en-US" altLang="en-US" sz="2800">
                <a:latin typeface="Arial" panose="020B0604020202020204" pitchFamily="34" charset="0"/>
              </a:rPr>
              <a:t>Difficult to track material transactions </a:t>
            </a:r>
          </a:p>
          <a:p>
            <a:pPr marL="457200" lvl="0" indent="-457200" eaLnBrk="0" fontAlgn="base" hangingPunct="0">
              <a:spcBef>
                <a:spcPct val="0"/>
              </a:spcBef>
              <a:spcAft>
                <a:spcPct val="0"/>
              </a:spcAft>
              <a:buFont typeface="Wingdings" panose="05000000000000000000" pitchFamily="2" charset="2"/>
              <a:buChar char="v"/>
            </a:pPr>
            <a:r>
              <a:rPr lang="en-US" altLang="en-US" sz="2800">
                <a:latin typeface="Arial" panose="020B0604020202020204" pitchFamily="34" charset="0"/>
              </a:rPr>
              <a:t>Limited reuse and recycling recommendations </a:t>
            </a:r>
          </a:p>
          <a:p>
            <a:pPr marL="457200" lvl="0" indent="-457200" eaLnBrk="0" fontAlgn="base" hangingPunct="0">
              <a:spcBef>
                <a:spcPct val="0"/>
              </a:spcBef>
              <a:spcAft>
                <a:spcPct val="0"/>
              </a:spcAft>
              <a:buFont typeface="Wingdings" panose="05000000000000000000" pitchFamily="2" charset="2"/>
              <a:buChar char="v"/>
            </a:pPr>
            <a:r>
              <a:rPr lang="en-US" altLang="en-US" sz="2800">
                <a:latin typeface="Arial" panose="020B0604020202020204" pitchFamily="34" charset="0"/>
              </a:rPr>
              <a:t>Lack of transparency in textile waste trading </a:t>
            </a:r>
          </a:p>
          <a:p>
            <a:pPr marL="457200" lvl="0" indent="-457200" eaLnBrk="0" fontAlgn="base" hangingPunct="0">
              <a:spcBef>
                <a:spcPct val="0"/>
              </a:spcBef>
              <a:spcAft>
                <a:spcPct val="0"/>
              </a:spcAft>
              <a:buFont typeface="Wingdings" panose="05000000000000000000" pitchFamily="2" charset="2"/>
              <a:buChar char="v"/>
            </a:pPr>
            <a:r>
              <a:rPr lang="en-US" altLang="en-US" sz="2800">
                <a:latin typeface="Arial" panose="020B0604020202020204" pitchFamily="34" charset="0"/>
              </a:rPr>
              <a:t>Market demand changes are not considered </a:t>
            </a:r>
          </a:p>
          <a:p>
            <a:pPr marR="0" lvl="0" algn="l" defTabSz="914400" rtl="0" eaLnBrk="1" fontAlgn="auto" latinLnBrk="0" hangingPunct="1">
              <a:lnSpc>
                <a:spcPts val="4199"/>
              </a:lnSpc>
              <a:spcBef>
                <a:spcPts val="0"/>
              </a:spcBef>
              <a:spcAft>
                <a:spcPts val="0"/>
              </a:spcAft>
              <a:buClrTx/>
              <a:buSzTx/>
              <a:tabLst/>
              <a:defRPr/>
            </a:pPr>
            <a:br>
              <a:rPr kumimoji="0" lang="en-US" sz="2800" b="0" i="0" u="none" strike="noStrike" kern="1200" cap="none" spc="0" normalizeH="0" baseline="0" noProof="0">
                <a:ln>
                  <a:noFill/>
                </a:ln>
                <a:solidFill>
                  <a:prstClr val="black"/>
                </a:solidFill>
                <a:effectLst/>
                <a:uLnTx/>
                <a:uFillTx/>
                <a:latin typeface="Calibri"/>
                <a:ea typeface="+mn-ea"/>
                <a:cs typeface="+mn-cs"/>
              </a:rPr>
            </a:br>
            <a:endParaRPr kumimoji="0" lang="en-GB" sz="2799" b="0" i="0" u="none" strike="noStrike" kern="1200" cap="none" spc="-72" normalizeH="0" baseline="0" noProof="0">
              <a:ln>
                <a:noFill/>
              </a:ln>
              <a:solidFill>
                <a:srgbClr val="000000"/>
              </a:solidFill>
              <a:effectLst/>
              <a:uLnTx/>
              <a:uFillTx/>
              <a:latin typeface="Canva Sans"/>
              <a:ea typeface="Canva Sans"/>
              <a:cs typeface="Canva Sans"/>
              <a:sym typeface="Canva Sans"/>
            </a:endParaRPr>
          </a:p>
        </p:txBody>
      </p:sp>
      <p:sp>
        <p:nvSpPr>
          <p:cNvPr id="18" name="TextBox 18">
            <a:extLst>
              <a:ext uri="{FF2B5EF4-FFF2-40B4-BE49-F238E27FC236}">
                <a16:creationId xmlns:a16="http://schemas.microsoft.com/office/drawing/2014/main" id="{A1D1B0D3-ACD3-DFE6-36F6-5D0AFD9D7E77}"/>
              </a:ext>
            </a:extLst>
          </p:cNvPr>
          <p:cNvSpPr txBox="1"/>
          <p:nvPr/>
        </p:nvSpPr>
        <p:spPr>
          <a:xfrm>
            <a:off x="813759" y="2732493"/>
            <a:ext cx="3817236" cy="1141146"/>
          </a:xfrm>
          <a:prstGeom prst="rect">
            <a:avLst/>
          </a:prstGeom>
        </p:spPr>
        <p:txBody>
          <a:bodyPr wrap="square" lIns="0" tIns="0" rIns="0" bIns="0" rtlCol="0" anchor="t">
            <a:spAutoFit/>
          </a:bodyPr>
          <a:lstStyle/>
          <a:p>
            <a:pPr lvl="0" eaLnBrk="0" fontAlgn="base" hangingPunct="0">
              <a:spcBef>
                <a:spcPct val="0"/>
              </a:spcBef>
              <a:spcAft>
                <a:spcPct val="0"/>
              </a:spcAft>
              <a:buFontTx/>
              <a:buChar char="•"/>
            </a:pPr>
            <a:r>
              <a:rPr kumimoji="0" lang="en-US" sz="3500" b="1" i="0" u="none" strike="noStrike" kern="1200" cap="none" spc="0" normalizeH="0" baseline="0" noProof="0">
                <a:ln>
                  <a:noFill/>
                </a:ln>
                <a:solidFill>
                  <a:srgbClr val="00B050"/>
                </a:solidFill>
                <a:effectLst/>
                <a:uLnTx/>
                <a:uFillTx/>
                <a:latin typeface="Canva Sans"/>
                <a:ea typeface="Canva Sans"/>
                <a:cs typeface="Canva Sans"/>
                <a:sym typeface="Canva Sans"/>
              </a:rPr>
              <a:t> </a:t>
            </a:r>
            <a:r>
              <a:rPr lang="en-US" sz="3500" b="1">
                <a:solidFill>
                  <a:srgbClr val="00B050"/>
                </a:solidFill>
              </a:rPr>
              <a:t>Existing Problems</a:t>
            </a:r>
            <a:endParaRPr lang="en-US" sz="3500" b="1">
              <a:solidFill>
                <a:srgbClr val="00B050"/>
              </a:solidFill>
              <a:latin typeface="Canva Sans"/>
              <a:ea typeface="Canva Sans"/>
              <a:cs typeface="Canva Sans"/>
              <a:sym typeface="Canva Sans"/>
            </a:endParaRPr>
          </a:p>
          <a:p>
            <a:pPr marL="0" marR="0" lvl="0" indent="0" algn="ctr" defTabSz="914400" rtl="0" eaLnBrk="1" fontAlgn="auto" latinLnBrk="0" hangingPunct="1">
              <a:lnSpc>
                <a:spcPts val="4899"/>
              </a:lnSpc>
              <a:spcBef>
                <a:spcPts val="0"/>
              </a:spcBef>
              <a:spcAft>
                <a:spcPts val="0"/>
              </a:spcAft>
              <a:buClrTx/>
              <a:buSzTx/>
              <a:buFontTx/>
              <a:buNone/>
              <a:tabLst/>
              <a:defRPr/>
            </a:pPr>
            <a:endParaRPr kumimoji="0" lang="en-US" sz="3500" b="1" i="0" u="none" strike="noStrike" kern="1200" cap="none" spc="0" normalizeH="0" baseline="0" noProof="0">
              <a:ln>
                <a:noFill/>
              </a:ln>
              <a:solidFill>
                <a:srgbClr val="00B050"/>
              </a:solidFill>
              <a:effectLst/>
              <a:uLnTx/>
              <a:uFillTx/>
              <a:latin typeface="Canva Sans"/>
              <a:ea typeface="Canva Sans"/>
              <a:cs typeface="Canva Sans"/>
              <a:sym typeface="Canva Sans"/>
            </a:endParaRPr>
          </a:p>
        </p:txBody>
      </p:sp>
      <p:sp>
        <p:nvSpPr>
          <p:cNvPr id="19" name="TextBox 19">
            <a:extLst>
              <a:ext uri="{FF2B5EF4-FFF2-40B4-BE49-F238E27FC236}">
                <a16:creationId xmlns:a16="http://schemas.microsoft.com/office/drawing/2014/main" id="{EDFB4D2E-9A3B-1500-D6FF-F6ACBF3452FE}"/>
              </a:ext>
            </a:extLst>
          </p:cNvPr>
          <p:cNvSpPr txBox="1"/>
          <p:nvPr/>
        </p:nvSpPr>
        <p:spPr>
          <a:xfrm>
            <a:off x="17031490" y="9716626"/>
            <a:ext cx="851161" cy="389197"/>
          </a:xfrm>
          <a:prstGeom prst="rect">
            <a:avLst/>
          </a:prstGeom>
        </p:spPr>
        <p:txBody>
          <a:bodyPr lIns="0" tIns="0" rIns="0" bIns="0" rtlCol="0" anchor="t">
            <a:spAutoFit/>
          </a:bodyPr>
          <a:lstStyle/>
          <a:p>
            <a:pPr marL="0" marR="0" lvl="0" indent="0" algn="ctr" defTabSz="914400" rtl="0" eaLnBrk="1" fontAlgn="auto" latinLnBrk="0" hangingPunct="1">
              <a:lnSpc>
                <a:spcPts val="3220"/>
              </a:lnSpc>
              <a:spcBef>
                <a:spcPts val="0"/>
              </a:spcBef>
              <a:spcAft>
                <a:spcPts val="0"/>
              </a:spcAft>
              <a:buClrTx/>
              <a:buSzTx/>
              <a:buFontTx/>
              <a:buNone/>
              <a:tabLst/>
              <a:defRPr/>
            </a:pPr>
            <a:r>
              <a:rPr kumimoji="0" lang="en-US" sz="2300" b="1" i="0" u="none" strike="noStrike" kern="1200" cap="none" spc="0" normalizeH="0" baseline="0" noProof="0">
                <a:ln>
                  <a:noFill/>
                </a:ln>
                <a:solidFill>
                  <a:srgbClr val="000000"/>
                </a:solidFill>
                <a:effectLst/>
                <a:uLnTx/>
                <a:uFillTx/>
                <a:latin typeface="Canva Sans Bold"/>
                <a:ea typeface="Canva Sans Bold"/>
                <a:cs typeface="Canva Sans Bold"/>
                <a:sym typeface="Canva Sans Bold"/>
              </a:rPr>
              <a:t>10</a:t>
            </a:r>
          </a:p>
        </p:txBody>
      </p:sp>
      <p:sp>
        <p:nvSpPr>
          <p:cNvPr id="23" name="TextBox 23">
            <a:extLst>
              <a:ext uri="{FF2B5EF4-FFF2-40B4-BE49-F238E27FC236}">
                <a16:creationId xmlns:a16="http://schemas.microsoft.com/office/drawing/2014/main" id="{81806F6B-C34A-5C45-A56F-D7BA22227071}"/>
              </a:ext>
            </a:extLst>
          </p:cNvPr>
          <p:cNvSpPr txBox="1"/>
          <p:nvPr/>
        </p:nvSpPr>
        <p:spPr>
          <a:xfrm>
            <a:off x="1373701" y="960961"/>
            <a:ext cx="16213047" cy="1210524"/>
          </a:xfrm>
          <a:prstGeom prst="rect">
            <a:avLst/>
          </a:prstGeom>
        </p:spPr>
        <p:txBody>
          <a:bodyPr wrap="square" lIns="0" tIns="0" rIns="0" bIns="0" rtlCol="0" anchor="t">
            <a:spAutoFit/>
          </a:bodyPr>
          <a:lstStyle/>
          <a:p>
            <a:pPr marL="0" marR="0" lvl="0" indent="0" algn="l" defTabSz="914400" rtl="0" eaLnBrk="1" fontAlgn="auto" latinLnBrk="0" hangingPunct="1">
              <a:lnSpc>
                <a:spcPts val="4649"/>
              </a:lnSpc>
              <a:spcBef>
                <a:spcPts val="0"/>
              </a:spcBef>
              <a:spcAft>
                <a:spcPts val="0"/>
              </a:spcAft>
              <a:buClrTx/>
              <a:buSzTx/>
              <a:buFontTx/>
              <a:buNone/>
              <a:tabLst/>
              <a:defRPr/>
            </a:pPr>
            <a:r>
              <a:rPr kumimoji="0" lang="en-GB" sz="4999" b="0" i="0" u="none" strike="noStrike" kern="1200" cap="none" spc="0" normalizeH="0" baseline="0" noProof="0">
                <a:ln>
                  <a:noFill/>
                </a:ln>
                <a:solidFill>
                  <a:srgbClr val="009B0B">
                    <a:alpha val="69804"/>
                  </a:srgbClr>
                </a:solidFill>
                <a:effectLst/>
                <a:uLnTx/>
                <a:uFillTx/>
                <a:latin typeface="Archivo Black"/>
                <a:ea typeface="Archivo Black"/>
                <a:cs typeface="Archivo Black"/>
                <a:sym typeface="Archivo Black"/>
              </a:rPr>
              <a:t>INTRODUCTION &amp; PROBLEM</a:t>
            </a:r>
          </a:p>
          <a:p>
            <a:pPr marL="0" marR="0" lvl="0" indent="0" algn="l" defTabSz="914400" rtl="0" eaLnBrk="1" fontAlgn="auto" latinLnBrk="0" hangingPunct="1">
              <a:lnSpc>
                <a:spcPts val="4649"/>
              </a:lnSpc>
              <a:spcBef>
                <a:spcPts val="0"/>
              </a:spcBef>
              <a:spcAft>
                <a:spcPts val="0"/>
              </a:spcAft>
              <a:buClrTx/>
              <a:buSzTx/>
              <a:buFontTx/>
              <a:buNone/>
              <a:tabLst/>
              <a:defRPr/>
            </a:pPr>
            <a:endParaRPr kumimoji="0" lang="en-GB" sz="4999" b="0" i="0" u="none" strike="noStrike" kern="1200" cap="none" spc="0" normalizeH="0" baseline="0" noProof="0">
              <a:ln>
                <a:noFill/>
              </a:ln>
              <a:solidFill>
                <a:srgbClr val="009B0B">
                  <a:alpha val="69804"/>
                </a:srgbClr>
              </a:solidFill>
              <a:effectLst/>
              <a:uLnTx/>
              <a:uFillTx/>
              <a:latin typeface="Archivo Black"/>
              <a:ea typeface="Archivo Black"/>
              <a:cs typeface="Archivo Black"/>
              <a:sym typeface="Archivo Black"/>
            </a:endParaRPr>
          </a:p>
        </p:txBody>
      </p:sp>
      <p:sp>
        <p:nvSpPr>
          <p:cNvPr id="13" name="TextBox 12">
            <a:extLst>
              <a:ext uri="{FF2B5EF4-FFF2-40B4-BE49-F238E27FC236}">
                <a16:creationId xmlns:a16="http://schemas.microsoft.com/office/drawing/2014/main" id="{73202FF9-BA41-2C13-88AF-045445C7E0B7}"/>
              </a:ext>
            </a:extLst>
          </p:cNvPr>
          <p:cNvSpPr txBox="1"/>
          <p:nvPr/>
        </p:nvSpPr>
        <p:spPr>
          <a:xfrm>
            <a:off x="-2022916" y="6258274"/>
            <a:ext cx="9490586" cy="684931"/>
          </a:xfrm>
          <a:prstGeom prst="rect">
            <a:avLst/>
          </a:prstGeom>
          <a:noFill/>
        </p:spPr>
        <p:txBody>
          <a:bodyPr wrap="square">
            <a:spAutoFit/>
          </a:bodyPr>
          <a:lstStyle/>
          <a:p>
            <a:pPr marL="457200" indent="-457200" algn="ctr">
              <a:lnSpc>
                <a:spcPts val="4899"/>
              </a:lnSpc>
              <a:buFont typeface="Arial" panose="020B0604020202020204" pitchFamily="34" charset="0"/>
              <a:buChar char="•"/>
            </a:pPr>
            <a:r>
              <a:rPr lang="en-US" sz="3500" b="1">
                <a:solidFill>
                  <a:srgbClr val="00B050"/>
                </a:solidFill>
              </a:rPr>
              <a:t>Proposed AI Solution</a:t>
            </a:r>
            <a:endParaRPr lang="en-US" sz="3500" b="1">
              <a:solidFill>
                <a:srgbClr val="00B050"/>
              </a:solidFill>
              <a:latin typeface="Canva Sans"/>
              <a:ea typeface="Canva Sans"/>
              <a:cs typeface="Canva Sans"/>
              <a:sym typeface="Canva Sans"/>
            </a:endParaRPr>
          </a:p>
        </p:txBody>
      </p:sp>
      <p:sp>
        <p:nvSpPr>
          <p:cNvPr id="15" name="TextBox 14">
            <a:extLst>
              <a:ext uri="{FF2B5EF4-FFF2-40B4-BE49-F238E27FC236}">
                <a16:creationId xmlns:a16="http://schemas.microsoft.com/office/drawing/2014/main" id="{4BAA7410-0D60-77F2-3F2D-79E7DBDDACCE}"/>
              </a:ext>
            </a:extLst>
          </p:cNvPr>
          <p:cNvSpPr txBox="1"/>
          <p:nvPr/>
        </p:nvSpPr>
        <p:spPr>
          <a:xfrm>
            <a:off x="1542146" y="6996430"/>
            <a:ext cx="10264876" cy="2246769"/>
          </a:xfrm>
          <a:prstGeom prst="rect">
            <a:avLst/>
          </a:prstGeom>
          <a:noFill/>
        </p:spPr>
        <p:txBody>
          <a:bodyPr wrap="square">
            <a:spAutoFit/>
          </a:bodyPr>
          <a:lstStyle/>
          <a:p>
            <a:r>
              <a:rPr lang="en-US" sz="2800"/>
              <a:t>An AI-powered Smart Value &amp; Traceability Engine that provides:</a:t>
            </a:r>
          </a:p>
          <a:p>
            <a:pPr marL="457200" indent="-457200">
              <a:buFont typeface="Wingdings" panose="05000000000000000000" pitchFamily="2" charset="2"/>
              <a:buChar char="v"/>
            </a:pPr>
            <a:r>
              <a:rPr lang="en-US" sz="2800"/>
              <a:t>Intelligent price prediction </a:t>
            </a:r>
          </a:p>
          <a:p>
            <a:pPr marL="457200" indent="-457200">
              <a:buFont typeface="Wingdings" panose="05000000000000000000" pitchFamily="2" charset="2"/>
              <a:buChar char="v"/>
            </a:pPr>
            <a:r>
              <a:rPr lang="en-US" sz="2800"/>
              <a:t>Smart buyer/reuse recommendations </a:t>
            </a:r>
          </a:p>
          <a:p>
            <a:pPr marL="457200" indent="-457200">
              <a:buFont typeface="Wingdings" panose="05000000000000000000" pitchFamily="2" charset="2"/>
              <a:buChar char="v"/>
            </a:pPr>
            <a:r>
              <a:rPr lang="en-US" sz="2800"/>
              <a:t>Transaction tracking </a:t>
            </a:r>
          </a:p>
          <a:p>
            <a:pPr marL="457200" indent="-457200">
              <a:buFont typeface="Wingdings" panose="05000000000000000000" pitchFamily="2" charset="2"/>
              <a:buChar char="v"/>
            </a:pPr>
            <a:r>
              <a:rPr lang="en-US" sz="2800"/>
              <a:t>Digital material records</a:t>
            </a:r>
          </a:p>
        </p:txBody>
      </p:sp>
    </p:spTree>
    <p:extLst>
      <p:ext uri="{BB962C8B-B14F-4D97-AF65-F5344CB8AC3E}">
        <p14:creationId xmlns:p14="http://schemas.microsoft.com/office/powerpoint/2010/main" val="1743727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671FE-2928-5872-A124-2E46693536E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D3A3664-90F3-A4ED-E02A-F6A45AC19BEC}"/>
              </a:ext>
            </a:extLst>
          </p:cNvPr>
          <p:cNvGrpSpPr/>
          <p:nvPr/>
        </p:nvGrpSpPr>
        <p:grpSpPr>
          <a:xfrm>
            <a:off x="20999" y="19050"/>
            <a:ext cx="18288000" cy="10287000"/>
            <a:chOff x="0" y="0"/>
            <a:chExt cx="24384000" cy="13716000"/>
          </a:xfrm>
        </p:grpSpPr>
        <p:sp>
          <p:nvSpPr>
            <p:cNvPr id="3" name="Freeform 3">
              <a:extLst>
                <a:ext uri="{FF2B5EF4-FFF2-40B4-BE49-F238E27FC236}">
                  <a16:creationId xmlns:a16="http://schemas.microsoft.com/office/drawing/2014/main" id="{BFB6FA5C-4D30-FFDD-B80C-4710A5F2DF39}"/>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TextBox 10">
            <a:extLst>
              <a:ext uri="{FF2B5EF4-FFF2-40B4-BE49-F238E27FC236}">
                <a16:creationId xmlns:a16="http://schemas.microsoft.com/office/drawing/2014/main" id="{5238EAE0-D874-FC28-3BC4-EDDCA6524BF4}"/>
              </a:ext>
            </a:extLst>
          </p:cNvPr>
          <p:cNvSpPr txBox="1"/>
          <p:nvPr/>
        </p:nvSpPr>
        <p:spPr>
          <a:xfrm>
            <a:off x="10626119" y="4864135"/>
            <a:ext cx="7345744" cy="425694"/>
          </a:xfrm>
          <a:prstGeom prst="rect">
            <a:avLst/>
          </a:prstGeom>
        </p:spPr>
        <p:txBody>
          <a:bodyPr lIns="0" tIns="0" rIns="0" bIns="0" rtlCol="0" anchor="t">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73064"/>
              </a:solidFill>
              <a:effectLst/>
              <a:uLnTx/>
              <a:uFillTx/>
              <a:latin typeface="Open Sans"/>
              <a:ea typeface="Open Sans"/>
              <a:cs typeface="Open Sans"/>
              <a:sym typeface="Open Sans"/>
            </a:endParaRPr>
          </a:p>
        </p:txBody>
      </p:sp>
      <p:grpSp>
        <p:nvGrpSpPr>
          <p:cNvPr id="22" name="Group 22">
            <a:extLst>
              <a:ext uri="{FF2B5EF4-FFF2-40B4-BE49-F238E27FC236}">
                <a16:creationId xmlns:a16="http://schemas.microsoft.com/office/drawing/2014/main" id="{BAC4FBEC-B06C-615C-275A-938825C9E49A}"/>
              </a:ext>
            </a:extLst>
          </p:cNvPr>
          <p:cNvGrpSpPr/>
          <p:nvPr/>
        </p:nvGrpSpPr>
        <p:grpSpPr>
          <a:xfrm>
            <a:off x="20999" y="9533010"/>
            <a:ext cx="3917169" cy="703984"/>
            <a:chOff x="0" y="0"/>
            <a:chExt cx="5222892" cy="938645"/>
          </a:xfrm>
        </p:grpSpPr>
        <p:sp>
          <p:nvSpPr>
            <p:cNvPr id="23" name="Freeform 23">
              <a:extLst>
                <a:ext uri="{FF2B5EF4-FFF2-40B4-BE49-F238E27FC236}">
                  <a16:creationId xmlns:a16="http://schemas.microsoft.com/office/drawing/2014/main" id="{0996AA83-5470-06B0-CFE3-3E102AF61580}"/>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TextBox 34">
            <a:extLst>
              <a:ext uri="{FF2B5EF4-FFF2-40B4-BE49-F238E27FC236}">
                <a16:creationId xmlns:a16="http://schemas.microsoft.com/office/drawing/2014/main" id="{1BF6C995-B007-B39F-D7FE-4F296BA2CF93}"/>
              </a:ext>
            </a:extLst>
          </p:cNvPr>
          <p:cNvSpPr txBox="1"/>
          <p:nvPr/>
        </p:nvSpPr>
        <p:spPr>
          <a:xfrm>
            <a:off x="17031490" y="9716626"/>
            <a:ext cx="851161" cy="389197"/>
          </a:xfrm>
          <a:prstGeom prst="rect">
            <a:avLst/>
          </a:prstGeom>
        </p:spPr>
        <p:txBody>
          <a:bodyPr lIns="0" tIns="0" rIns="0" bIns="0" rtlCol="0" anchor="t">
            <a:spAutoFit/>
          </a:bodyPr>
          <a:lstStyle/>
          <a:p>
            <a:pPr marL="0" marR="0" lvl="0" indent="0" algn="ctr" defTabSz="914400" rtl="0" eaLnBrk="1" fontAlgn="auto" latinLnBrk="0" hangingPunct="1">
              <a:lnSpc>
                <a:spcPts val="3220"/>
              </a:lnSpc>
              <a:spcBef>
                <a:spcPts val="0"/>
              </a:spcBef>
              <a:spcAft>
                <a:spcPts val="0"/>
              </a:spcAft>
              <a:buClrTx/>
              <a:buSzTx/>
              <a:buFontTx/>
              <a:buNone/>
              <a:tabLst/>
              <a:defRPr/>
            </a:pPr>
            <a:r>
              <a:rPr kumimoji="0" lang="en-US" sz="2300" b="1" i="0" u="none" strike="noStrike" kern="1200" cap="none" spc="0" normalizeH="0" baseline="0" noProof="0">
                <a:ln>
                  <a:noFill/>
                </a:ln>
                <a:solidFill>
                  <a:srgbClr val="000000"/>
                </a:solidFill>
                <a:effectLst/>
                <a:uLnTx/>
                <a:uFillTx/>
                <a:latin typeface="Canva Sans Bold"/>
                <a:ea typeface="Canva Sans Bold"/>
                <a:cs typeface="Canva Sans Bold"/>
                <a:sym typeface="Canva Sans Bold"/>
              </a:rPr>
              <a:t>11</a:t>
            </a:r>
          </a:p>
        </p:txBody>
      </p:sp>
      <p:sp>
        <p:nvSpPr>
          <p:cNvPr id="39" name="TextBox 39">
            <a:extLst>
              <a:ext uri="{FF2B5EF4-FFF2-40B4-BE49-F238E27FC236}">
                <a16:creationId xmlns:a16="http://schemas.microsoft.com/office/drawing/2014/main" id="{4BA83AF5-7489-62BE-D0CF-7460EBB1E45B}"/>
              </a:ext>
            </a:extLst>
          </p:cNvPr>
          <p:cNvSpPr txBox="1"/>
          <p:nvPr/>
        </p:nvSpPr>
        <p:spPr>
          <a:xfrm>
            <a:off x="796085" y="717611"/>
            <a:ext cx="5947255" cy="428643"/>
          </a:xfrm>
          <a:prstGeom prst="rect">
            <a:avLst/>
          </a:prstGeom>
        </p:spPr>
        <p:txBody>
          <a:bodyPr lIns="0" tIns="0" rIns="0" bIns="0" rtlCol="0" anchor="t">
            <a:spAutoFit/>
          </a:bodyPr>
          <a:lstStyle/>
          <a:p>
            <a:pPr marL="0" marR="0" lvl="0" indent="0" algn="l" defTabSz="914400" rtl="0" eaLnBrk="1" fontAlgn="auto" latinLnBrk="0" hangingPunct="1">
              <a:lnSpc>
                <a:spcPts val="3150"/>
              </a:lnSpc>
              <a:spcBef>
                <a:spcPts val="0"/>
              </a:spcBef>
              <a:spcAft>
                <a:spcPts val="0"/>
              </a:spcAft>
              <a:buClrTx/>
              <a:buSzTx/>
              <a:buFontTx/>
              <a:buNone/>
              <a:tabLst/>
              <a:defRPr/>
            </a:pPr>
            <a:r>
              <a:rPr kumimoji="0" lang="en-US" sz="3500" b="0" i="0" u="none" strike="noStrike" kern="1200" cap="none" spc="0" normalizeH="0" baseline="0" noProof="0">
                <a:ln>
                  <a:noFill/>
                </a:ln>
                <a:solidFill>
                  <a:srgbClr val="009B0B"/>
                </a:solidFill>
                <a:effectLst/>
                <a:uLnTx/>
                <a:uFillTx/>
                <a:latin typeface="Canva Sans"/>
                <a:ea typeface="Canva Sans"/>
                <a:cs typeface="Canva Sans"/>
              </a:rPr>
              <a:t>Novelty Features</a:t>
            </a:r>
          </a:p>
        </p:txBody>
      </p:sp>
      <p:sp>
        <p:nvSpPr>
          <p:cNvPr id="41" name="TextBox 40">
            <a:extLst>
              <a:ext uri="{FF2B5EF4-FFF2-40B4-BE49-F238E27FC236}">
                <a16:creationId xmlns:a16="http://schemas.microsoft.com/office/drawing/2014/main" id="{CBAAF623-6E8A-3AF9-509B-907C1ABB772A}"/>
              </a:ext>
            </a:extLst>
          </p:cNvPr>
          <p:cNvSpPr txBox="1"/>
          <p:nvPr/>
        </p:nvSpPr>
        <p:spPr>
          <a:xfrm>
            <a:off x="914400" y="3930811"/>
            <a:ext cx="1293433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fkGroteskNeue"/>
                <a:ea typeface="+mn-ea"/>
                <a:cs typeface="+mn-cs"/>
              </a:rPr>
              <a:t>.</a:t>
            </a:r>
          </a:p>
        </p:txBody>
      </p:sp>
      <p:sp>
        <p:nvSpPr>
          <p:cNvPr id="43" name="TextBox 42">
            <a:extLst>
              <a:ext uri="{FF2B5EF4-FFF2-40B4-BE49-F238E27FC236}">
                <a16:creationId xmlns:a16="http://schemas.microsoft.com/office/drawing/2014/main" id="{BCFE32B8-AC6F-43BD-A6B6-C2705A8794A3}"/>
              </a:ext>
            </a:extLst>
          </p:cNvPr>
          <p:cNvSpPr txBox="1"/>
          <p:nvPr/>
        </p:nvSpPr>
        <p:spPr>
          <a:xfrm>
            <a:off x="688860" y="1667892"/>
            <a:ext cx="15981001" cy="7848302"/>
          </a:xfrm>
          <a:prstGeom prst="rect">
            <a:avLst/>
          </a:prstGeom>
          <a:noFill/>
        </p:spPr>
        <p:txBody>
          <a:bodyPr wrap="square" lIns="91440" tIns="45720" rIns="91440" bIns="45720" anchor="t">
            <a:spAutoFit/>
          </a:bodyPr>
          <a:lstStyle/>
          <a:p>
            <a:pPr marL="457200" indent="-457200">
              <a:lnSpc>
                <a:spcPct val="200000"/>
              </a:lnSpc>
              <a:buFont typeface="Wingdings" panose="05000000000000000000" pitchFamily="2" charset="2"/>
              <a:buChar char="v"/>
            </a:pPr>
            <a:r>
              <a:rPr kumimoji="0" lang="en-US" sz="2800" b="0" i="0" u="none" strike="noStrike" kern="1200" cap="none" spc="0" normalizeH="0" baseline="0" noProof="0">
                <a:ln>
                  <a:noFill/>
                </a:ln>
                <a:solidFill>
                  <a:srgbClr val="0F172A"/>
                </a:solidFill>
                <a:effectLst/>
                <a:uLnTx/>
                <a:uFillTx/>
                <a:latin typeface="Calibri"/>
                <a:ea typeface="Calibri"/>
                <a:cs typeface="Calibri"/>
              </a:rPr>
              <a:t> </a:t>
            </a:r>
            <a:r>
              <a:rPr lang="en-US" sz="2800"/>
              <a:t>AI-powered textile waste pricing system </a:t>
            </a:r>
          </a:p>
          <a:p>
            <a:pPr marL="457200" indent="-457200">
              <a:lnSpc>
                <a:spcPct val="200000"/>
              </a:lnSpc>
              <a:buFont typeface="Wingdings" panose="05000000000000000000" pitchFamily="2" charset="2"/>
              <a:buChar char="v"/>
            </a:pPr>
            <a:r>
              <a:rPr lang="en-US" sz="2800"/>
              <a:t>Demand-aware dynamic price prediction </a:t>
            </a:r>
          </a:p>
          <a:p>
            <a:pPr marL="457200" indent="-457200">
              <a:lnSpc>
                <a:spcPct val="200000"/>
              </a:lnSpc>
              <a:buFont typeface="Wingdings" panose="05000000000000000000" pitchFamily="2" charset="2"/>
              <a:buChar char="v"/>
            </a:pPr>
            <a:r>
              <a:rPr lang="en-US" sz="2800"/>
              <a:t>Smart recommendation engine for reuse and recycling </a:t>
            </a:r>
          </a:p>
          <a:p>
            <a:pPr marL="457200" indent="-457200">
              <a:lnSpc>
                <a:spcPct val="200000"/>
              </a:lnSpc>
              <a:buFont typeface="Wingdings" panose="05000000000000000000" pitchFamily="2" charset="2"/>
              <a:buChar char="v"/>
            </a:pPr>
            <a:r>
              <a:rPr lang="en-US" sz="2800"/>
              <a:t>Digital Material Passport for lifecycle tracking </a:t>
            </a:r>
          </a:p>
          <a:p>
            <a:pPr marL="457200" indent="-457200">
              <a:lnSpc>
                <a:spcPct val="200000"/>
              </a:lnSpc>
              <a:buFont typeface="Wingdings" panose="05000000000000000000" pitchFamily="2" charset="2"/>
              <a:buChar char="v"/>
            </a:pPr>
            <a:r>
              <a:rPr lang="en-US" sz="2800"/>
              <a:t>End-to-end transaction traceability </a:t>
            </a:r>
          </a:p>
          <a:p>
            <a:pPr marL="457200" indent="-457200">
              <a:lnSpc>
                <a:spcPct val="200000"/>
              </a:lnSpc>
              <a:buFont typeface="Wingdings" panose="05000000000000000000" pitchFamily="2" charset="2"/>
              <a:buChar char="v"/>
            </a:pPr>
            <a:r>
              <a:rPr lang="en-US" sz="2800"/>
              <a:t>Context-aware buyer and reuse recommendations </a:t>
            </a:r>
          </a:p>
          <a:p>
            <a:pPr marL="457200" indent="-457200">
              <a:lnSpc>
                <a:spcPct val="200000"/>
              </a:lnSpc>
              <a:buFont typeface="Wingdings" panose="05000000000000000000" pitchFamily="2" charset="2"/>
              <a:buChar char="v"/>
            </a:pPr>
            <a:r>
              <a:rPr lang="en-US" sz="2800"/>
              <a:t>Sustainable textile waste management approach </a:t>
            </a:r>
          </a:p>
          <a:p>
            <a:pPr marL="457200" indent="-457200">
              <a:lnSpc>
                <a:spcPct val="200000"/>
              </a:lnSpc>
              <a:buFont typeface="Wingdings" panose="05000000000000000000" pitchFamily="2" charset="2"/>
              <a:buChar char="v"/>
            </a:pPr>
            <a:r>
              <a:rPr lang="en-US" sz="2800"/>
              <a:t>Data-driven decision support system</a:t>
            </a:r>
          </a:p>
          <a:p>
            <a:pPr marR="0" lvl="0" algn="l" defTabSz="914400" rtl="0" eaLnBrk="1" fontAlgn="auto" latinLnBrk="0" hangingPunct="1">
              <a:lnSpc>
                <a:spcPct val="100000"/>
              </a:lnSpc>
              <a:spcBef>
                <a:spcPts val="0"/>
              </a:spcBef>
              <a:spcAft>
                <a:spcPts val="0"/>
              </a:spcAft>
              <a:buClrTx/>
              <a:buSzTx/>
              <a:tabLst/>
              <a:defRPr/>
            </a:pPr>
            <a:endParaRPr kumimoji="0" lang="en-US" sz="2800" b="0" i="0" u="none" strike="noStrike" kern="1200" cap="none" spc="0" normalizeH="0" baseline="0" noProof="0">
              <a:ln>
                <a:noFill/>
              </a:ln>
              <a:solidFill>
                <a:srgbClr val="0F172A"/>
              </a:solidFill>
              <a:effectLst/>
              <a:uLnTx/>
              <a:uFillTx/>
              <a:latin typeface="Calibri"/>
              <a:ea typeface="Calibri"/>
              <a:cs typeface="Calibri"/>
            </a:endParaRPr>
          </a:p>
          <a:p>
            <a:pPr marL="457200" marR="0" lvl="0" indent="-457200" algn="l" defTabSz="914400" rtl="0" eaLnBrk="1" fontAlgn="auto" latinLnBrk="0" hangingPunct="1">
              <a:lnSpc>
                <a:spcPct val="100000"/>
              </a:lnSpc>
              <a:spcBef>
                <a:spcPts val="0"/>
              </a:spcBef>
              <a:spcAft>
                <a:spcPts val="0"/>
              </a:spcAft>
              <a:buClrTx/>
              <a:buSzTx/>
              <a:buFont typeface="Wingdings"/>
              <a:buChar char="v"/>
              <a:tabLst/>
              <a:defRPr/>
            </a:pPr>
            <a:endParaRPr kumimoji="0" lang="en-US" sz="2800" b="0" i="0" u="none" strike="noStrike" kern="1200" cap="none" spc="0" normalizeH="0" baseline="0" noProof="0">
              <a:ln>
                <a:noFill/>
              </a:ln>
              <a:solidFill>
                <a:srgbClr val="0F172A"/>
              </a:solidFill>
              <a:effectLst/>
              <a:uLnTx/>
              <a:uFillTx/>
              <a:latin typeface="Calibri"/>
              <a:ea typeface="Calibri"/>
              <a:cs typeface="Calibri"/>
            </a:endParaRPr>
          </a:p>
        </p:txBody>
      </p:sp>
    </p:spTree>
    <p:extLst>
      <p:ext uri="{BB962C8B-B14F-4D97-AF65-F5344CB8AC3E}">
        <p14:creationId xmlns:p14="http://schemas.microsoft.com/office/powerpoint/2010/main" val="2258827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7CDAF-4F25-6173-744C-EB46CFF869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4CE7A68-C692-C2E2-E271-3E5366ED732E}"/>
              </a:ext>
            </a:extLst>
          </p:cNvPr>
          <p:cNvGrpSpPr/>
          <p:nvPr/>
        </p:nvGrpSpPr>
        <p:grpSpPr>
          <a:xfrm>
            <a:off x="20999" y="19050"/>
            <a:ext cx="18288000" cy="10287000"/>
            <a:chOff x="0" y="0"/>
            <a:chExt cx="24384000" cy="13716000"/>
          </a:xfrm>
        </p:grpSpPr>
        <p:sp>
          <p:nvSpPr>
            <p:cNvPr id="3" name="Freeform 3">
              <a:extLst>
                <a:ext uri="{FF2B5EF4-FFF2-40B4-BE49-F238E27FC236}">
                  <a16:creationId xmlns:a16="http://schemas.microsoft.com/office/drawing/2014/main" id="{203A7814-D097-DF24-4FEF-BE88F928E151}"/>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TextBox 10">
            <a:extLst>
              <a:ext uri="{FF2B5EF4-FFF2-40B4-BE49-F238E27FC236}">
                <a16:creationId xmlns:a16="http://schemas.microsoft.com/office/drawing/2014/main" id="{57FC8286-E7D1-33FA-F282-355263A37C5C}"/>
              </a:ext>
            </a:extLst>
          </p:cNvPr>
          <p:cNvSpPr txBox="1"/>
          <p:nvPr/>
        </p:nvSpPr>
        <p:spPr>
          <a:xfrm>
            <a:off x="10626119" y="4864135"/>
            <a:ext cx="7345744" cy="425694"/>
          </a:xfrm>
          <a:prstGeom prst="rect">
            <a:avLst/>
          </a:prstGeom>
        </p:spPr>
        <p:txBody>
          <a:bodyPr lIns="0" tIns="0" rIns="0" bIns="0" rtlCol="0" anchor="t">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73064"/>
              </a:solidFill>
              <a:effectLst/>
              <a:uLnTx/>
              <a:uFillTx/>
              <a:latin typeface="Open Sans"/>
              <a:ea typeface="Open Sans"/>
              <a:cs typeface="Open Sans"/>
              <a:sym typeface="Open Sans"/>
            </a:endParaRPr>
          </a:p>
        </p:txBody>
      </p:sp>
      <p:grpSp>
        <p:nvGrpSpPr>
          <p:cNvPr id="22" name="Group 22">
            <a:extLst>
              <a:ext uri="{FF2B5EF4-FFF2-40B4-BE49-F238E27FC236}">
                <a16:creationId xmlns:a16="http://schemas.microsoft.com/office/drawing/2014/main" id="{9E9D8BC4-CF72-F892-4580-ABAC69F053DC}"/>
              </a:ext>
            </a:extLst>
          </p:cNvPr>
          <p:cNvGrpSpPr/>
          <p:nvPr/>
        </p:nvGrpSpPr>
        <p:grpSpPr>
          <a:xfrm>
            <a:off x="20999" y="9533010"/>
            <a:ext cx="3917169" cy="703984"/>
            <a:chOff x="0" y="0"/>
            <a:chExt cx="5222892" cy="938645"/>
          </a:xfrm>
        </p:grpSpPr>
        <p:sp>
          <p:nvSpPr>
            <p:cNvPr id="23" name="Freeform 23">
              <a:extLst>
                <a:ext uri="{FF2B5EF4-FFF2-40B4-BE49-F238E27FC236}">
                  <a16:creationId xmlns:a16="http://schemas.microsoft.com/office/drawing/2014/main" id="{A14CF7FF-99C1-9EE3-9311-33F2E7282C0C}"/>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TextBox 34">
            <a:extLst>
              <a:ext uri="{FF2B5EF4-FFF2-40B4-BE49-F238E27FC236}">
                <a16:creationId xmlns:a16="http://schemas.microsoft.com/office/drawing/2014/main" id="{2C78B8B8-B31C-BC32-7191-D7D0F8A76DAE}"/>
              </a:ext>
            </a:extLst>
          </p:cNvPr>
          <p:cNvSpPr txBox="1"/>
          <p:nvPr/>
        </p:nvSpPr>
        <p:spPr>
          <a:xfrm>
            <a:off x="17031490" y="9716626"/>
            <a:ext cx="851161" cy="389197"/>
          </a:xfrm>
          <a:prstGeom prst="rect">
            <a:avLst/>
          </a:prstGeom>
        </p:spPr>
        <p:txBody>
          <a:bodyPr lIns="0" tIns="0" rIns="0" bIns="0" rtlCol="0" anchor="t">
            <a:spAutoFit/>
          </a:bodyPr>
          <a:lstStyle/>
          <a:p>
            <a:pPr marL="0" marR="0" lvl="0" indent="0" algn="ctr" defTabSz="914400" rtl="0" eaLnBrk="1" fontAlgn="auto" latinLnBrk="0" hangingPunct="1">
              <a:lnSpc>
                <a:spcPts val="3220"/>
              </a:lnSpc>
              <a:spcBef>
                <a:spcPts val="0"/>
              </a:spcBef>
              <a:spcAft>
                <a:spcPts val="0"/>
              </a:spcAft>
              <a:buClrTx/>
              <a:buSzTx/>
              <a:buFontTx/>
              <a:buNone/>
              <a:tabLst/>
              <a:defRPr/>
            </a:pPr>
            <a:r>
              <a:rPr kumimoji="0" lang="en-US" sz="2300" b="1" i="0" u="none" strike="noStrike" kern="1200" cap="none" spc="0" normalizeH="0" baseline="0" noProof="0">
                <a:ln>
                  <a:noFill/>
                </a:ln>
                <a:solidFill>
                  <a:srgbClr val="000000"/>
                </a:solidFill>
                <a:effectLst/>
                <a:uLnTx/>
                <a:uFillTx/>
                <a:latin typeface="Canva Sans Bold"/>
                <a:ea typeface="Canva Sans Bold"/>
                <a:cs typeface="Canva Sans Bold"/>
                <a:sym typeface="Canva Sans Bold"/>
              </a:rPr>
              <a:t>11</a:t>
            </a:r>
          </a:p>
        </p:txBody>
      </p:sp>
      <p:sp>
        <p:nvSpPr>
          <p:cNvPr id="39" name="TextBox 39">
            <a:extLst>
              <a:ext uri="{FF2B5EF4-FFF2-40B4-BE49-F238E27FC236}">
                <a16:creationId xmlns:a16="http://schemas.microsoft.com/office/drawing/2014/main" id="{35712A1C-F1BF-CEC3-5BDF-DFE08E65D67E}"/>
              </a:ext>
            </a:extLst>
          </p:cNvPr>
          <p:cNvSpPr txBox="1"/>
          <p:nvPr/>
        </p:nvSpPr>
        <p:spPr>
          <a:xfrm>
            <a:off x="796085" y="717611"/>
            <a:ext cx="5947255" cy="428643"/>
          </a:xfrm>
          <a:prstGeom prst="rect">
            <a:avLst/>
          </a:prstGeom>
        </p:spPr>
        <p:txBody>
          <a:bodyPr lIns="0" tIns="0" rIns="0" bIns="0" rtlCol="0" anchor="t">
            <a:spAutoFit/>
          </a:bodyPr>
          <a:lstStyle/>
          <a:p>
            <a:pPr marL="0" marR="0" lvl="0" indent="0" algn="l" defTabSz="914400" rtl="0" eaLnBrk="1" fontAlgn="auto" latinLnBrk="0" hangingPunct="1">
              <a:lnSpc>
                <a:spcPts val="3150"/>
              </a:lnSpc>
              <a:spcBef>
                <a:spcPts val="0"/>
              </a:spcBef>
              <a:spcAft>
                <a:spcPts val="0"/>
              </a:spcAft>
              <a:buClrTx/>
              <a:buSzTx/>
              <a:buFontTx/>
              <a:buNone/>
              <a:tabLst/>
              <a:defRPr/>
            </a:pPr>
            <a:r>
              <a:rPr lang="en-US" sz="3500">
                <a:solidFill>
                  <a:srgbClr val="009B0B"/>
                </a:solidFill>
                <a:latin typeface="Canva Sans"/>
                <a:ea typeface="Canva Sans"/>
                <a:cs typeface="Canva Sans"/>
              </a:rPr>
              <a:t>Key</a:t>
            </a:r>
            <a:r>
              <a:rPr kumimoji="0" lang="en-US" sz="3500" b="0" i="0" u="none" strike="noStrike" kern="1200" cap="none" spc="0" normalizeH="0" baseline="0" noProof="0">
                <a:ln>
                  <a:noFill/>
                </a:ln>
                <a:solidFill>
                  <a:srgbClr val="009B0B"/>
                </a:solidFill>
                <a:effectLst/>
                <a:uLnTx/>
                <a:uFillTx/>
                <a:latin typeface="Canva Sans"/>
                <a:ea typeface="Canva Sans"/>
                <a:cs typeface="Canva Sans"/>
              </a:rPr>
              <a:t> Features</a:t>
            </a:r>
          </a:p>
        </p:txBody>
      </p:sp>
      <p:sp>
        <p:nvSpPr>
          <p:cNvPr id="41" name="TextBox 40">
            <a:extLst>
              <a:ext uri="{FF2B5EF4-FFF2-40B4-BE49-F238E27FC236}">
                <a16:creationId xmlns:a16="http://schemas.microsoft.com/office/drawing/2014/main" id="{FBFAD014-B6B0-A4A0-29BC-B3AE3D80F8E6}"/>
              </a:ext>
            </a:extLst>
          </p:cNvPr>
          <p:cNvSpPr txBox="1"/>
          <p:nvPr/>
        </p:nvSpPr>
        <p:spPr>
          <a:xfrm>
            <a:off x="914400" y="3930811"/>
            <a:ext cx="1293433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fkGroteskNeue"/>
                <a:ea typeface="+mn-ea"/>
                <a:cs typeface="+mn-cs"/>
              </a:rPr>
              <a:t>.</a:t>
            </a:r>
          </a:p>
        </p:txBody>
      </p:sp>
      <p:sp>
        <p:nvSpPr>
          <p:cNvPr id="43" name="TextBox 42">
            <a:extLst>
              <a:ext uri="{FF2B5EF4-FFF2-40B4-BE49-F238E27FC236}">
                <a16:creationId xmlns:a16="http://schemas.microsoft.com/office/drawing/2014/main" id="{B8C53410-6461-4185-7B36-CB09CEA51495}"/>
              </a:ext>
            </a:extLst>
          </p:cNvPr>
          <p:cNvSpPr txBox="1"/>
          <p:nvPr/>
        </p:nvSpPr>
        <p:spPr>
          <a:xfrm>
            <a:off x="917727" y="442837"/>
            <a:ext cx="15981001" cy="7714612"/>
          </a:xfrm>
          <a:prstGeom prst="rect">
            <a:avLst/>
          </a:prstGeom>
          <a:noFill/>
        </p:spPr>
        <p:txBody>
          <a:bodyPr wrap="square" lIns="91440" tIns="45720" rIns="91440" bIns="45720" anchor="t">
            <a:spAutoFit/>
          </a:bodyPr>
          <a:lstStyle/>
          <a:p>
            <a:pPr marL="457200" lvl="0" indent="-457200" eaLnBrk="0" fontAlgn="base" hangingPunct="0">
              <a:lnSpc>
                <a:spcPct val="200000"/>
              </a:lnSpc>
              <a:spcBef>
                <a:spcPct val="0"/>
              </a:spcBef>
              <a:spcAft>
                <a:spcPct val="0"/>
              </a:spcAft>
              <a:buFont typeface="Wingdings" panose="05000000000000000000" pitchFamily="2" charset="2"/>
              <a:buChar char="v"/>
            </a:pPr>
            <a:endParaRPr lang="en-US" altLang="en-US" sz="2800">
              <a:latin typeface="Arial" panose="020B0604020202020204" pitchFamily="34" charset="0"/>
            </a:endParaRPr>
          </a:p>
          <a:p>
            <a:pPr marL="457200" lvl="0" indent="-457200" eaLnBrk="0" fontAlgn="base" hangingPunct="0">
              <a:lnSpc>
                <a:spcPct val="200000"/>
              </a:lnSpc>
              <a:spcBef>
                <a:spcPct val="0"/>
              </a:spcBef>
              <a:spcAft>
                <a:spcPct val="0"/>
              </a:spcAft>
              <a:buFont typeface="Wingdings" panose="05000000000000000000" pitchFamily="2" charset="2"/>
              <a:buChar char="v"/>
            </a:pPr>
            <a:r>
              <a:rPr lang="en-US" altLang="en-US" sz="2800">
                <a:latin typeface="Arial" panose="020B0604020202020204" pitchFamily="34" charset="0"/>
              </a:rPr>
              <a:t>AI Pricing Model </a:t>
            </a:r>
          </a:p>
          <a:p>
            <a:pPr marL="457200" lvl="0" indent="-457200" eaLnBrk="0" fontAlgn="base" hangingPunct="0">
              <a:lnSpc>
                <a:spcPct val="200000"/>
              </a:lnSpc>
              <a:spcBef>
                <a:spcPct val="0"/>
              </a:spcBef>
              <a:spcAft>
                <a:spcPct val="0"/>
              </a:spcAft>
              <a:buFont typeface="Wingdings" panose="05000000000000000000" pitchFamily="2" charset="2"/>
              <a:buChar char="v"/>
            </a:pPr>
            <a:r>
              <a:rPr lang="en-US" altLang="en-US" sz="2800">
                <a:latin typeface="Arial" panose="020B0604020202020204" pitchFamily="34" charset="0"/>
              </a:rPr>
              <a:t>Recommendation System </a:t>
            </a:r>
          </a:p>
          <a:p>
            <a:pPr marL="457200" lvl="0" indent="-457200" eaLnBrk="0" fontAlgn="base" hangingPunct="0">
              <a:lnSpc>
                <a:spcPct val="200000"/>
              </a:lnSpc>
              <a:spcBef>
                <a:spcPct val="0"/>
              </a:spcBef>
              <a:spcAft>
                <a:spcPct val="0"/>
              </a:spcAft>
              <a:buFont typeface="Wingdings" panose="05000000000000000000" pitchFamily="2" charset="2"/>
              <a:buChar char="v"/>
            </a:pPr>
            <a:r>
              <a:rPr lang="en-US" altLang="en-US" sz="2800">
                <a:latin typeface="Arial" panose="020B0604020202020204" pitchFamily="34" charset="0"/>
              </a:rPr>
              <a:t>Digital Material Passport </a:t>
            </a:r>
          </a:p>
          <a:p>
            <a:pPr marL="457200" lvl="0" indent="-457200" eaLnBrk="0" fontAlgn="base" hangingPunct="0">
              <a:lnSpc>
                <a:spcPct val="200000"/>
              </a:lnSpc>
              <a:spcBef>
                <a:spcPct val="0"/>
              </a:spcBef>
              <a:spcAft>
                <a:spcPct val="0"/>
              </a:spcAft>
              <a:buFont typeface="Wingdings" panose="05000000000000000000" pitchFamily="2" charset="2"/>
              <a:buChar char="v"/>
            </a:pPr>
            <a:r>
              <a:rPr lang="en-US" altLang="en-US" sz="2800">
                <a:latin typeface="Arial" panose="020B0604020202020204" pitchFamily="34" charset="0"/>
              </a:rPr>
              <a:t>Transaction Traceability </a:t>
            </a:r>
          </a:p>
          <a:p>
            <a:pPr marL="457200" lvl="0" indent="-457200" eaLnBrk="0" fontAlgn="base" hangingPunct="0">
              <a:lnSpc>
                <a:spcPct val="200000"/>
              </a:lnSpc>
              <a:spcBef>
                <a:spcPct val="0"/>
              </a:spcBef>
              <a:spcAft>
                <a:spcPct val="0"/>
              </a:spcAft>
              <a:buFont typeface="Wingdings" panose="05000000000000000000" pitchFamily="2" charset="2"/>
              <a:buChar char="v"/>
            </a:pPr>
            <a:r>
              <a:rPr lang="en-US" altLang="en-US" sz="2800">
                <a:latin typeface="Arial" panose="020B0604020202020204" pitchFamily="34" charset="0"/>
              </a:rPr>
              <a:t>Demand-aware Pricing </a:t>
            </a:r>
          </a:p>
          <a:p>
            <a:pPr marL="457200" lvl="0" indent="-457200" eaLnBrk="0" fontAlgn="base" hangingPunct="0">
              <a:lnSpc>
                <a:spcPct val="200000"/>
              </a:lnSpc>
              <a:spcBef>
                <a:spcPct val="0"/>
              </a:spcBef>
              <a:spcAft>
                <a:spcPct val="0"/>
              </a:spcAft>
              <a:buFont typeface="Wingdings" panose="05000000000000000000" pitchFamily="2" charset="2"/>
              <a:buChar char="v"/>
            </a:pPr>
            <a:r>
              <a:rPr lang="en-US" altLang="en-US" sz="2800">
                <a:latin typeface="Arial" panose="020B0604020202020204" pitchFamily="34" charset="0"/>
              </a:rPr>
              <a:t>Context-aware Recommendations </a:t>
            </a:r>
          </a:p>
          <a:p>
            <a:pPr marL="457200" lvl="0" indent="-457200" eaLnBrk="0" fontAlgn="base" hangingPunct="0">
              <a:lnSpc>
                <a:spcPct val="200000"/>
              </a:lnSpc>
              <a:spcBef>
                <a:spcPct val="0"/>
              </a:spcBef>
              <a:spcAft>
                <a:spcPct val="0"/>
              </a:spcAft>
              <a:buFont typeface="Wingdings" panose="05000000000000000000" pitchFamily="2" charset="2"/>
              <a:buChar char="v"/>
            </a:pPr>
            <a:r>
              <a:rPr lang="en-US" altLang="en-US" sz="2800">
                <a:latin typeface="Arial" panose="020B0604020202020204" pitchFamily="34" charset="0"/>
              </a:rPr>
              <a:t>Buyer &amp; Recycling Suggestions </a:t>
            </a:r>
          </a:p>
          <a:p>
            <a:pPr marL="457200" lvl="0" indent="-457200" eaLnBrk="0" fontAlgn="base" hangingPunct="0">
              <a:lnSpc>
                <a:spcPct val="200000"/>
              </a:lnSpc>
              <a:spcBef>
                <a:spcPct val="0"/>
              </a:spcBef>
              <a:spcAft>
                <a:spcPct val="0"/>
              </a:spcAft>
              <a:buFont typeface="Wingdings" panose="05000000000000000000" pitchFamily="2" charset="2"/>
              <a:buChar char="v"/>
            </a:pPr>
            <a:r>
              <a:rPr lang="en-US" altLang="en-US" sz="2800">
                <a:latin typeface="Arial" panose="020B0604020202020204" pitchFamily="34" charset="0"/>
              </a:rPr>
              <a:t>Material Lifecycle Tracking </a:t>
            </a:r>
          </a:p>
        </p:txBody>
      </p:sp>
    </p:spTree>
    <p:extLst>
      <p:ext uri="{BB962C8B-B14F-4D97-AF65-F5344CB8AC3E}">
        <p14:creationId xmlns:p14="http://schemas.microsoft.com/office/powerpoint/2010/main" val="2046984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26497"/>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4" name="Group 4"/>
          <p:cNvGrpSpPr/>
          <p:nvPr/>
        </p:nvGrpSpPr>
        <p:grpSpPr>
          <a:xfrm>
            <a:off x="20999" y="9533010"/>
            <a:ext cx="3917169" cy="703984"/>
            <a:chOff x="0" y="0"/>
            <a:chExt cx="5222892" cy="938645"/>
          </a:xfrm>
        </p:grpSpPr>
        <p:sp>
          <p:nvSpPr>
            <p:cNvPr id="5" name="Freeform 5"/>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11" name="TextBox 11"/>
          <p:cNvSpPr txBox="1"/>
          <p:nvPr/>
        </p:nvSpPr>
        <p:spPr>
          <a:xfrm>
            <a:off x="585051" y="1769994"/>
            <a:ext cx="6199208" cy="621452"/>
          </a:xfrm>
          <a:prstGeom prst="rect">
            <a:avLst/>
          </a:prstGeom>
        </p:spPr>
        <p:txBody>
          <a:bodyPr wrap="square" lIns="0" tIns="0" rIns="0" bIns="0" rtlCol="0" anchor="t">
            <a:spAutoFit/>
          </a:bodyPr>
          <a:lstStyle/>
          <a:p>
            <a:pPr algn="ctr">
              <a:lnSpc>
                <a:spcPts val="5249"/>
              </a:lnSpc>
            </a:pPr>
            <a:r>
              <a:rPr lang="en-US" sz="3600" b="1"/>
              <a:t>System Workflow / Architecture</a:t>
            </a:r>
            <a:endParaRPr lang="en-US" sz="3499" b="1">
              <a:solidFill>
                <a:srgbClr val="009B0B"/>
              </a:solidFill>
              <a:latin typeface="Canva Sans"/>
              <a:ea typeface="Canva Sans"/>
              <a:cs typeface="Canva Sans"/>
              <a:sym typeface="Canva Sans"/>
            </a:endParaRPr>
          </a:p>
        </p:txBody>
      </p:sp>
      <p:sp>
        <p:nvSpPr>
          <p:cNvPr id="14" name="TextBox 14"/>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18</a:t>
            </a:r>
          </a:p>
        </p:txBody>
      </p:sp>
      <p:sp>
        <p:nvSpPr>
          <p:cNvPr id="15" name="TextBox 15"/>
          <p:cNvSpPr txBox="1"/>
          <p:nvPr/>
        </p:nvSpPr>
        <p:spPr>
          <a:xfrm>
            <a:off x="15201076" y="9716626"/>
            <a:ext cx="1615169" cy="389254"/>
          </a:xfrm>
          <a:prstGeom prst="rect">
            <a:avLst/>
          </a:prstGeom>
        </p:spPr>
        <p:txBody>
          <a:bodyPr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9//2025</a:t>
            </a:r>
          </a:p>
        </p:txBody>
      </p:sp>
      <p:sp>
        <p:nvSpPr>
          <p:cNvPr id="23" name="TextBox 16">
            <a:extLst>
              <a:ext uri="{FF2B5EF4-FFF2-40B4-BE49-F238E27FC236}">
                <a16:creationId xmlns:a16="http://schemas.microsoft.com/office/drawing/2014/main" id="{BC80EA5A-14FA-FA82-0B16-D1D7A87DED3B}"/>
              </a:ext>
            </a:extLst>
          </p:cNvPr>
          <p:cNvSpPr txBox="1"/>
          <p:nvPr/>
        </p:nvSpPr>
        <p:spPr>
          <a:xfrm>
            <a:off x="1163034" y="285910"/>
            <a:ext cx="15893966" cy="553998"/>
          </a:xfrm>
          <a:prstGeom prst="rect">
            <a:avLst/>
          </a:prstGeom>
        </p:spPr>
        <p:txBody>
          <a:bodyPr wrap="square" lIns="0" tIns="0" rIns="0" bIns="0" rtlCol="0" anchor="t">
            <a:spAutoFit/>
          </a:bodyPr>
          <a:lstStyle/>
          <a:p>
            <a:pPr algn="ctr"/>
            <a:r>
              <a:rPr lang="en-US" sz="3600" b="1">
                <a:solidFill>
                  <a:schemeClr val="tx1">
                    <a:lumMod val="95000"/>
                    <a:lumOff val="5000"/>
                  </a:schemeClr>
                </a:solidFill>
              </a:rPr>
              <a:t>Traceability, Recommendation &amp; AI Pricing Module</a:t>
            </a:r>
            <a:endParaRPr lang="en-US" sz="3600" b="1">
              <a:solidFill>
                <a:schemeClr val="tx1">
                  <a:lumMod val="95000"/>
                  <a:lumOff val="5000"/>
                </a:schemeClr>
              </a:solidFill>
              <a:latin typeface="Archivo Black" panose="020B0604020202020204" charset="0"/>
              <a:cs typeface="Arial" panose="020B0604020202020204" pitchFamily="34" charset="0"/>
            </a:endParaRPr>
          </a:p>
        </p:txBody>
      </p:sp>
      <p:pic>
        <p:nvPicPr>
          <p:cNvPr id="9" name="Picture 8">
            <a:extLst>
              <a:ext uri="{FF2B5EF4-FFF2-40B4-BE49-F238E27FC236}">
                <a16:creationId xmlns:a16="http://schemas.microsoft.com/office/drawing/2014/main" id="{B989E8EF-7FBF-565F-D6F6-1F88B62172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2484" y="2522856"/>
            <a:ext cx="6591606" cy="712739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90FE4-3343-9674-BB92-54CB9583FB6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FB69FF1-FAB8-3FFE-96FA-1B48BA0610A4}"/>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7DE8CE60-CC0D-32FA-CF69-BEB1F6FD2E32}"/>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B7C6934C-6AA9-314C-D4C1-08C9174C2614}"/>
              </a:ext>
            </a:extLst>
          </p:cNvPr>
          <p:cNvGrpSpPr/>
          <p:nvPr/>
        </p:nvGrpSpPr>
        <p:grpSpPr>
          <a:xfrm>
            <a:off x="20999" y="9533010"/>
            <a:ext cx="3917169" cy="703984"/>
            <a:chOff x="0" y="0"/>
            <a:chExt cx="5222892" cy="938645"/>
          </a:xfrm>
        </p:grpSpPr>
        <p:sp>
          <p:nvSpPr>
            <p:cNvPr id="6" name="Freeform 6">
              <a:extLst>
                <a:ext uri="{FF2B5EF4-FFF2-40B4-BE49-F238E27FC236}">
                  <a16:creationId xmlns:a16="http://schemas.microsoft.com/office/drawing/2014/main" id="{655CB3B8-6D03-8904-FDD3-C3375FFA27F8}"/>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a:extLst>
              <a:ext uri="{FF2B5EF4-FFF2-40B4-BE49-F238E27FC236}">
                <a16:creationId xmlns:a16="http://schemas.microsoft.com/office/drawing/2014/main" id="{C20284FA-1D5A-4466-D49E-FDE16A68D467}"/>
              </a:ext>
            </a:extLst>
          </p:cNvPr>
          <p:cNvSpPr/>
          <p:nvPr/>
        </p:nvSpPr>
        <p:spPr>
          <a:xfrm>
            <a:off x="16462700" y="11772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245F6BEA-8769-45FB-6510-06A3B8E64A53}"/>
              </a:ext>
            </a:extLst>
          </p:cNvPr>
          <p:cNvSpPr/>
          <p:nvPr/>
        </p:nvSpPr>
        <p:spPr>
          <a:xfrm>
            <a:off x="12032262" y="1450832"/>
            <a:ext cx="5197220" cy="5829417"/>
          </a:xfrm>
          <a:custGeom>
            <a:avLst/>
            <a:gdLst/>
            <a:ahLst/>
            <a:cxnLst/>
            <a:rect l="l" t="t" r="r" b="b"/>
            <a:pathLst>
              <a:path w="5197220" h="5829417">
                <a:moveTo>
                  <a:pt x="0" y="0"/>
                </a:moveTo>
                <a:lnTo>
                  <a:pt x="5197220" y="0"/>
                </a:lnTo>
                <a:lnTo>
                  <a:pt x="5197220" y="5829417"/>
                </a:lnTo>
                <a:lnTo>
                  <a:pt x="0" y="58294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Freeform 11">
            <a:extLst>
              <a:ext uri="{FF2B5EF4-FFF2-40B4-BE49-F238E27FC236}">
                <a16:creationId xmlns:a16="http://schemas.microsoft.com/office/drawing/2014/main" id="{A627D8E0-07EA-7C54-ABE2-291B2F5A37F3}"/>
              </a:ext>
            </a:extLst>
          </p:cNvPr>
          <p:cNvSpPr/>
          <p:nvPr/>
        </p:nvSpPr>
        <p:spPr>
          <a:xfrm>
            <a:off x="16615100" y="13296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Freeform 12">
            <a:extLst>
              <a:ext uri="{FF2B5EF4-FFF2-40B4-BE49-F238E27FC236}">
                <a16:creationId xmlns:a16="http://schemas.microsoft.com/office/drawing/2014/main" id="{834001CF-AE01-6240-414B-C99D46FD96ED}"/>
              </a:ext>
            </a:extLst>
          </p:cNvPr>
          <p:cNvSpPr/>
          <p:nvPr/>
        </p:nvSpPr>
        <p:spPr>
          <a:xfrm>
            <a:off x="16603908" y="1311526"/>
            <a:ext cx="424674" cy="1481092"/>
          </a:xfrm>
          <a:custGeom>
            <a:avLst/>
            <a:gdLst/>
            <a:ahLst/>
            <a:cxnLst/>
            <a:rect l="l" t="t" r="r" b="b"/>
            <a:pathLst>
              <a:path w="424674" h="1481092">
                <a:moveTo>
                  <a:pt x="0" y="0"/>
                </a:moveTo>
                <a:lnTo>
                  <a:pt x="424674" y="0"/>
                </a:lnTo>
                <a:lnTo>
                  <a:pt x="424674" y="1481092"/>
                </a:lnTo>
                <a:lnTo>
                  <a:pt x="0" y="148109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958DB6CF-9750-E92E-3902-85767381D58D}"/>
              </a:ext>
            </a:extLst>
          </p:cNvPr>
          <p:cNvSpPr txBox="1"/>
          <p:nvPr/>
        </p:nvSpPr>
        <p:spPr>
          <a:xfrm>
            <a:off x="316354" y="1274970"/>
            <a:ext cx="8827082" cy="1594667"/>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a:ln>
                  <a:noFill/>
                </a:ln>
                <a:solidFill>
                  <a:srgbClr val="009B0B"/>
                </a:solidFill>
                <a:effectLst/>
                <a:uLnTx/>
                <a:uFillTx/>
                <a:latin typeface="Canva Sans"/>
                <a:ea typeface="+mn-ea"/>
                <a:cs typeface="+mn-cs"/>
              </a:rPr>
              <a:t>Current Progress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3150"/>
              </a:lnSpc>
              <a:spcBef>
                <a:spcPts val="0"/>
              </a:spcBef>
              <a:spcAft>
                <a:spcPts val="0"/>
              </a:spcAft>
              <a:buClrTx/>
              <a:buSzTx/>
              <a:buFontTx/>
              <a:buNone/>
              <a:tabLst/>
              <a:defRPr/>
            </a:pPr>
            <a:br>
              <a:rPr kumimoji="0" lang="en-US" sz="1800" b="0" i="0" u="none" strike="noStrike" kern="1200" cap="none" spc="0" normalizeH="0" baseline="0" noProof="0">
                <a:ln>
                  <a:noFill/>
                </a:ln>
                <a:solidFill>
                  <a:prstClr val="black"/>
                </a:solidFill>
                <a:effectLst/>
                <a:uLnTx/>
                <a:uFillTx/>
                <a:latin typeface="Calibri"/>
                <a:ea typeface="+mn-ea"/>
                <a:cs typeface="+mn-cs"/>
              </a:rPr>
            </a:b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58561F95-A840-F420-F593-170852BBEBA0}"/>
              </a:ext>
            </a:extLst>
          </p:cNvPr>
          <p:cNvSpPr txBox="1"/>
          <p:nvPr/>
        </p:nvSpPr>
        <p:spPr>
          <a:xfrm>
            <a:off x="1058518" y="2500347"/>
            <a:ext cx="12240161" cy="6404189"/>
          </a:xfrm>
          <a:prstGeom prst="rect">
            <a:avLst/>
          </a:prstGeom>
        </p:spPr>
        <p:txBody>
          <a:bodyPr wrap="square" lIns="0" tIns="0" rIns="0" bIns="0" rtlCol="0" anchor="t">
            <a:spAutoFit/>
          </a:bodyPr>
          <a:lstStyle/>
          <a:p>
            <a:pPr marL="457200" indent="-457200">
              <a:lnSpc>
                <a:spcPct val="200000"/>
              </a:lnSpc>
              <a:buFont typeface="Wingdings" panose="05000000000000000000" pitchFamily="2" charset="2"/>
              <a:buChar char="v"/>
            </a:pPr>
            <a:r>
              <a:rPr lang="en-US" sz="3200"/>
              <a:t>Dataset collection </a:t>
            </a:r>
          </a:p>
          <a:p>
            <a:pPr marL="457200" indent="-457200">
              <a:lnSpc>
                <a:spcPct val="200000"/>
              </a:lnSpc>
              <a:buFont typeface="Wingdings" panose="05000000000000000000" pitchFamily="2" charset="2"/>
              <a:buChar char="v"/>
            </a:pPr>
            <a:r>
              <a:rPr lang="en-US" sz="3200"/>
              <a:t>Data preprocessing </a:t>
            </a:r>
          </a:p>
          <a:p>
            <a:pPr marL="457200" indent="-457200">
              <a:lnSpc>
                <a:spcPct val="200000"/>
              </a:lnSpc>
              <a:buFont typeface="Wingdings" panose="05000000000000000000" pitchFamily="2" charset="2"/>
              <a:buChar char="v"/>
            </a:pPr>
            <a:r>
              <a:rPr lang="en-US" sz="3200"/>
              <a:t>Initial AI model development </a:t>
            </a:r>
          </a:p>
          <a:p>
            <a:pPr marL="457200" indent="-457200">
              <a:lnSpc>
                <a:spcPct val="200000"/>
              </a:lnSpc>
              <a:buFont typeface="Wingdings" panose="05000000000000000000" pitchFamily="2" charset="2"/>
              <a:buChar char="v"/>
            </a:pPr>
            <a:r>
              <a:rPr lang="en-US" sz="3200"/>
              <a:t>Model training and testing </a:t>
            </a:r>
          </a:p>
          <a:p>
            <a:pPr>
              <a:lnSpc>
                <a:spcPct val="200000"/>
              </a:lnSpc>
            </a:pPr>
            <a:r>
              <a:rPr lang="en-US" sz="2800"/>
              <a:t> </a:t>
            </a:r>
          </a:p>
          <a:p>
            <a:pPr marL="759460" marR="0" lvl="0" indent="-457200" algn="l" defTabSz="914400" rtl="0" eaLnBrk="1" fontAlgn="auto" latinLnBrk="0" hangingPunct="1">
              <a:lnSpc>
                <a:spcPct val="200000"/>
              </a:lnSpc>
              <a:spcBef>
                <a:spcPts val="0"/>
              </a:spcBef>
              <a:spcAft>
                <a:spcPts val="0"/>
              </a:spcAft>
              <a:buClrTx/>
              <a:buSzTx/>
              <a:buFont typeface="Wingdings" panose="05000000000000000000" pitchFamily="2" charset="2"/>
              <a:buChar char="v"/>
              <a:tabLst/>
              <a:defRPr/>
            </a:pPr>
            <a:endParaRPr kumimoji="0" lang="en-US" sz="2800" b="0" i="0" u="none" strike="noStrike" kern="1200" cap="none" spc="0" normalizeH="0" baseline="0" noProof="0">
              <a:ln>
                <a:noFill/>
              </a:ln>
              <a:solidFill>
                <a:prstClr val="black"/>
              </a:solidFill>
              <a:effectLst/>
              <a:uLnTx/>
              <a:uFillTx/>
              <a:latin typeface="Calibri"/>
              <a:ea typeface="Calibri"/>
              <a:cs typeface="Calibri"/>
            </a:endParaRPr>
          </a:p>
          <a:p>
            <a:pPr marL="302260" marR="0" lvl="1" algn="l" defTabSz="914400" rtl="0" eaLnBrk="1" fontAlgn="auto" latinLnBrk="0" hangingPunct="1">
              <a:lnSpc>
                <a:spcPct val="200000"/>
              </a:lnSpc>
              <a:spcBef>
                <a:spcPts val="0"/>
              </a:spcBef>
              <a:spcAft>
                <a:spcPts val="0"/>
              </a:spcAft>
              <a:buClrTx/>
              <a:buSzTx/>
              <a:tabLst/>
              <a:defRPr/>
            </a:pPr>
            <a:endParaRPr kumimoji="0" lang="en-US" sz="2800" b="0" i="0" u="none" strike="noStrike" kern="1200" cap="none" spc="0" normalizeH="0" baseline="0" noProof="0">
              <a:ln>
                <a:noFill/>
              </a:ln>
              <a:solidFill>
                <a:prstClr val="black"/>
              </a:solidFill>
              <a:effectLst/>
              <a:uLnTx/>
              <a:uFillTx/>
              <a:latin typeface="Calibri"/>
              <a:ea typeface="Calibri"/>
              <a:cs typeface="Calibri"/>
            </a:endParaRPr>
          </a:p>
        </p:txBody>
      </p:sp>
      <p:sp>
        <p:nvSpPr>
          <p:cNvPr id="17" name="TextBox 17">
            <a:extLst>
              <a:ext uri="{FF2B5EF4-FFF2-40B4-BE49-F238E27FC236}">
                <a16:creationId xmlns:a16="http://schemas.microsoft.com/office/drawing/2014/main" id="{B87DD05D-2B02-9BB4-BBA8-50A7F71EA3D5}"/>
              </a:ext>
            </a:extLst>
          </p:cNvPr>
          <p:cNvSpPr txBox="1"/>
          <p:nvPr/>
        </p:nvSpPr>
        <p:spPr>
          <a:xfrm>
            <a:off x="17031490" y="9716626"/>
            <a:ext cx="851161" cy="389197"/>
          </a:xfrm>
          <a:prstGeom prst="rect">
            <a:avLst/>
          </a:prstGeom>
        </p:spPr>
        <p:txBody>
          <a:bodyPr lIns="0" tIns="0" rIns="0" bIns="0" rtlCol="0" anchor="t">
            <a:spAutoFit/>
          </a:bodyPr>
          <a:lstStyle/>
          <a:p>
            <a:pPr marL="0" marR="0" lvl="0" indent="0" algn="ctr" defTabSz="914400" rtl="0" eaLnBrk="1" fontAlgn="auto" latinLnBrk="0" hangingPunct="1">
              <a:lnSpc>
                <a:spcPts val="3220"/>
              </a:lnSpc>
              <a:spcBef>
                <a:spcPts val="0"/>
              </a:spcBef>
              <a:spcAft>
                <a:spcPts val="0"/>
              </a:spcAft>
              <a:buClrTx/>
              <a:buSzTx/>
              <a:buFontTx/>
              <a:buNone/>
              <a:tabLst/>
              <a:defRPr/>
            </a:pPr>
            <a:r>
              <a:rPr kumimoji="0" lang="en-US" sz="2300" b="1" i="0" u="none" strike="noStrike" kern="1200" cap="none" spc="0" normalizeH="0" baseline="0" noProof="0">
                <a:ln>
                  <a:noFill/>
                </a:ln>
                <a:solidFill>
                  <a:srgbClr val="000000"/>
                </a:solidFill>
                <a:effectLst/>
                <a:uLnTx/>
                <a:uFillTx/>
                <a:latin typeface="Canva Sans Bold"/>
                <a:ea typeface="Canva Sans Bold"/>
                <a:cs typeface="Canva Sans Bold"/>
                <a:sym typeface="Canva Sans Bold"/>
              </a:rPr>
              <a:t>13</a:t>
            </a:r>
          </a:p>
        </p:txBody>
      </p:sp>
      <p:pic>
        <p:nvPicPr>
          <p:cNvPr id="4" name="Picture 3" descr="A blue and white circle with text&#10;&#10;AI-generated content may be incorrect.">
            <a:extLst>
              <a:ext uri="{FF2B5EF4-FFF2-40B4-BE49-F238E27FC236}">
                <a16:creationId xmlns:a16="http://schemas.microsoft.com/office/drawing/2014/main" id="{B65A554E-F9A8-9D4A-F178-EBF8BE6CD06F}"/>
              </a:ext>
            </a:extLst>
          </p:cNvPr>
          <p:cNvPicPr>
            <a:picLocks noChangeAspect="1"/>
          </p:cNvPicPr>
          <p:nvPr/>
        </p:nvPicPr>
        <p:blipFill>
          <a:blip r:embed="rId8"/>
          <a:stretch>
            <a:fillRect/>
          </a:stretch>
        </p:blipFill>
        <p:spPr>
          <a:xfrm>
            <a:off x="12092738" y="1751597"/>
            <a:ext cx="4702344" cy="4786564"/>
          </a:xfrm>
          <a:prstGeom prst="rect">
            <a:avLst/>
          </a:prstGeom>
        </p:spPr>
      </p:pic>
    </p:spTree>
    <p:extLst>
      <p:ext uri="{BB962C8B-B14F-4D97-AF65-F5344CB8AC3E}">
        <p14:creationId xmlns:p14="http://schemas.microsoft.com/office/powerpoint/2010/main" val="7278394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7D902-D0AB-B33C-5B9C-1EF080B109E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A4FACE9-526D-32E4-348D-B3E0CE76E232}"/>
              </a:ext>
            </a:extLst>
          </p:cNvPr>
          <p:cNvGrpSpPr/>
          <p:nvPr/>
        </p:nvGrpSpPr>
        <p:grpSpPr>
          <a:xfrm>
            <a:off x="-92470" y="-49997"/>
            <a:ext cx="18288000" cy="10287000"/>
            <a:chOff x="0" y="0"/>
            <a:chExt cx="24384000" cy="13716000"/>
          </a:xfrm>
        </p:grpSpPr>
        <p:sp>
          <p:nvSpPr>
            <p:cNvPr id="3" name="Freeform 3">
              <a:extLst>
                <a:ext uri="{FF2B5EF4-FFF2-40B4-BE49-F238E27FC236}">
                  <a16:creationId xmlns:a16="http://schemas.microsoft.com/office/drawing/2014/main" id="{0520C360-CF2C-6FBE-7EEA-D935E55B911E}"/>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4D6C0240-5C31-3D4A-1716-37E7D01787C0}"/>
              </a:ext>
            </a:extLst>
          </p:cNvPr>
          <p:cNvGrpSpPr/>
          <p:nvPr/>
        </p:nvGrpSpPr>
        <p:grpSpPr>
          <a:xfrm>
            <a:off x="20999" y="9533010"/>
            <a:ext cx="3917169" cy="703984"/>
            <a:chOff x="0" y="0"/>
            <a:chExt cx="5222892" cy="938645"/>
          </a:xfrm>
        </p:grpSpPr>
        <p:sp>
          <p:nvSpPr>
            <p:cNvPr id="6" name="Freeform 6">
              <a:extLst>
                <a:ext uri="{FF2B5EF4-FFF2-40B4-BE49-F238E27FC236}">
                  <a16:creationId xmlns:a16="http://schemas.microsoft.com/office/drawing/2014/main" id="{897543DE-BCB4-BC85-3077-9CEBB507F84F}"/>
                </a:ext>
              </a:extLst>
            </p:cNvPr>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a:extLst>
              <a:ext uri="{FF2B5EF4-FFF2-40B4-BE49-F238E27FC236}">
                <a16:creationId xmlns:a16="http://schemas.microsoft.com/office/drawing/2014/main" id="{B8040AA8-126E-B288-23ED-EF782A3C28F7}"/>
              </a:ext>
            </a:extLst>
          </p:cNvPr>
          <p:cNvSpPr/>
          <p:nvPr/>
        </p:nvSpPr>
        <p:spPr>
          <a:xfrm>
            <a:off x="16462700" y="11772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3998970E-A896-D4B2-920F-899AA420350A}"/>
              </a:ext>
            </a:extLst>
          </p:cNvPr>
          <p:cNvSpPr/>
          <p:nvPr/>
        </p:nvSpPr>
        <p:spPr>
          <a:xfrm>
            <a:off x="12032262" y="1450832"/>
            <a:ext cx="5197220" cy="5829417"/>
          </a:xfrm>
          <a:custGeom>
            <a:avLst/>
            <a:gdLst/>
            <a:ahLst/>
            <a:cxnLst/>
            <a:rect l="l" t="t" r="r" b="b"/>
            <a:pathLst>
              <a:path w="5197220" h="5829417">
                <a:moveTo>
                  <a:pt x="0" y="0"/>
                </a:moveTo>
                <a:lnTo>
                  <a:pt x="5197220" y="0"/>
                </a:lnTo>
                <a:lnTo>
                  <a:pt x="5197220" y="5829417"/>
                </a:lnTo>
                <a:lnTo>
                  <a:pt x="0" y="58294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Freeform 11">
            <a:extLst>
              <a:ext uri="{FF2B5EF4-FFF2-40B4-BE49-F238E27FC236}">
                <a16:creationId xmlns:a16="http://schemas.microsoft.com/office/drawing/2014/main" id="{5AB58A6D-A211-EAA2-3C2E-CE5FAB019430}"/>
              </a:ext>
            </a:extLst>
          </p:cNvPr>
          <p:cNvSpPr/>
          <p:nvPr/>
        </p:nvSpPr>
        <p:spPr>
          <a:xfrm>
            <a:off x="16615100" y="13296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Freeform 12">
            <a:extLst>
              <a:ext uri="{FF2B5EF4-FFF2-40B4-BE49-F238E27FC236}">
                <a16:creationId xmlns:a16="http://schemas.microsoft.com/office/drawing/2014/main" id="{D5051B41-8401-57FC-7C29-F0B08ADA1D5E}"/>
              </a:ext>
            </a:extLst>
          </p:cNvPr>
          <p:cNvSpPr/>
          <p:nvPr/>
        </p:nvSpPr>
        <p:spPr>
          <a:xfrm>
            <a:off x="16603908" y="1311526"/>
            <a:ext cx="424674" cy="1481092"/>
          </a:xfrm>
          <a:custGeom>
            <a:avLst/>
            <a:gdLst/>
            <a:ahLst/>
            <a:cxnLst/>
            <a:rect l="l" t="t" r="r" b="b"/>
            <a:pathLst>
              <a:path w="424674" h="1481092">
                <a:moveTo>
                  <a:pt x="0" y="0"/>
                </a:moveTo>
                <a:lnTo>
                  <a:pt x="424674" y="0"/>
                </a:lnTo>
                <a:lnTo>
                  <a:pt x="424674" y="1481092"/>
                </a:lnTo>
                <a:lnTo>
                  <a:pt x="0" y="148109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4F5F3BEA-E400-7642-0C80-66983213E139}"/>
              </a:ext>
            </a:extLst>
          </p:cNvPr>
          <p:cNvSpPr txBox="1"/>
          <p:nvPr/>
        </p:nvSpPr>
        <p:spPr>
          <a:xfrm>
            <a:off x="316354" y="1274970"/>
            <a:ext cx="8827082" cy="1594667"/>
          </a:xfrm>
          <a:prstGeom prst="rect">
            <a:avLst/>
          </a:prstGeom>
        </p:spPr>
        <p:txBody>
          <a:bodyPr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a:ln>
                  <a:noFill/>
                </a:ln>
                <a:solidFill>
                  <a:srgbClr val="009B0B"/>
                </a:solidFill>
                <a:effectLst/>
                <a:uLnTx/>
                <a:uFillTx/>
                <a:latin typeface="Canva Sans"/>
                <a:ea typeface="+mn-ea"/>
                <a:cs typeface="+mn-cs"/>
              </a:rPr>
              <a:t>Next Step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ts val="3150"/>
              </a:lnSpc>
              <a:spcBef>
                <a:spcPts val="0"/>
              </a:spcBef>
              <a:spcAft>
                <a:spcPts val="0"/>
              </a:spcAft>
              <a:buClrTx/>
              <a:buSzTx/>
              <a:buFontTx/>
              <a:buNone/>
              <a:tabLst/>
              <a:defRPr/>
            </a:pPr>
            <a:br>
              <a:rPr kumimoji="0" lang="en-US" sz="1800" b="0" i="0" u="none" strike="noStrike" kern="1200" cap="none" spc="0" normalizeH="0" baseline="0" noProof="0">
                <a:ln>
                  <a:noFill/>
                </a:ln>
                <a:solidFill>
                  <a:prstClr val="black"/>
                </a:solidFill>
                <a:effectLst/>
                <a:uLnTx/>
                <a:uFillTx/>
                <a:latin typeface="Calibri"/>
                <a:ea typeface="+mn-ea"/>
                <a:cs typeface="+mn-cs"/>
              </a:rPr>
            </a:b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D491F751-8133-55D2-591B-94D0C1B129DC}"/>
              </a:ext>
            </a:extLst>
          </p:cNvPr>
          <p:cNvSpPr txBox="1"/>
          <p:nvPr/>
        </p:nvSpPr>
        <p:spPr>
          <a:xfrm>
            <a:off x="527046" y="2383588"/>
            <a:ext cx="12167972" cy="4169731"/>
          </a:xfrm>
          <a:prstGeom prst="rect">
            <a:avLst/>
          </a:prstGeom>
        </p:spPr>
        <p:txBody>
          <a:bodyPr wrap="square" lIns="0" tIns="0" rIns="0" bIns="0" rtlCol="0" anchor="t">
            <a:spAutoFit/>
          </a:bodyPr>
          <a:lstStyle/>
          <a:p>
            <a:pPr marL="457200" indent="-457200">
              <a:lnSpc>
                <a:spcPct val="200000"/>
              </a:lnSpc>
              <a:buFont typeface="Wingdings" panose="05000000000000000000" pitchFamily="2" charset="2"/>
              <a:buChar char="v"/>
            </a:pPr>
            <a:r>
              <a:rPr lang="en-US" sz="3000"/>
              <a:t>Recommendation logic design</a:t>
            </a:r>
            <a:endParaRPr lang="en-US" sz="3000" b="1"/>
          </a:p>
          <a:p>
            <a:pPr marL="457200" indent="-457200">
              <a:lnSpc>
                <a:spcPct val="200000"/>
              </a:lnSpc>
              <a:buFont typeface="Wingdings" panose="05000000000000000000" pitchFamily="2" charset="2"/>
              <a:buChar char="v"/>
            </a:pPr>
            <a:r>
              <a:rPr lang="en-US" sz="3000"/>
              <a:t>UI development </a:t>
            </a:r>
          </a:p>
          <a:p>
            <a:pPr marL="457200" indent="-457200">
              <a:lnSpc>
                <a:spcPct val="200000"/>
              </a:lnSpc>
              <a:buFont typeface="Wingdings" panose="05000000000000000000" pitchFamily="2" charset="2"/>
              <a:buChar char="v"/>
            </a:pPr>
            <a:r>
              <a:rPr lang="en-US" sz="3000"/>
              <a:t>Backend integration </a:t>
            </a:r>
          </a:p>
          <a:p>
            <a:pPr marL="457200" indent="-457200">
              <a:lnSpc>
                <a:spcPct val="200000"/>
              </a:lnSpc>
              <a:buFont typeface="Wingdings" panose="05000000000000000000" pitchFamily="2" charset="2"/>
              <a:buChar char="v"/>
            </a:pPr>
            <a:r>
              <a:rPr lang="en-US" sz="3000"/>
              <a:t>Transaction tracking implementation</a:t>
            </a:r>
            <a:br>
              <a:rPr kumimoji="0" lang="en-US" sz="1800" b="0" i="0" u="none" strike="noStrike" kern="1200" cap="none" spc="0" normalizeH="0" baseline="0" noProof="0">
                <a:ln>
                  <a:noFill/>
                </a:ln>
                <a:solidFill>
                  <a:prstClr val="black"/>
                </a:solidFill>
                <a:effectLst/>
                <a:uLnTx/>
                <a:uFillTx/>
                <a:latin typeface="Calibri"/>
                <a:ea typeface="+mn-ea"/>
                <a:cs typeface="+mn-cs"/>
              </a:rPr>
            </a:b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p:txBody>
      </p:sp>
      <p:sp>
        <p:nvSpPr>
          <p:cNvPr id="17" name="TextBox 17">
            <a:extLst>
              <a:ext uri="{FF2B5EF4-FFF2-40B4-BE49-F238E27FC236}">
                <a16:creationId xmlns:a16="http://schemas.microsoft.com/office/drawing/2014/main" id="{71DEFF9C-47CF-BC69-EA8C-9AB2403F9138}"/>
              </a:ext>
            </a:extLst>
          </p:cNvPr>
          <p:cNvSpPr txBox="1"/>
          <p:nvPr/>
        </p:nvSpPr>
        <p:spPr>
          <a:xfrm>
            <a:off x="17031490" y="9716626"/>
            <a:ext cx="851161" cy="389197"/>
          </a:xfrm>
          <a:prstGeom prst="rect">
            <a:avLst/>
          </a:prstGeom>
        </p:spPr>
        <p:txBody>
          <a:bodyPr lIns="0" tIns="0" rIns="0" bIns="0" rtlCol="0" anchor="t">
            <a:spAutoFit/>
          </a:bodyPr>
          <a:lstStyle/>
          <a:p>
            <a:pPr marL="0" marR="0" lvl="0" indent="0" algn="ctr" defTabSz="914400" rtl="0" eaLnBrk="1" fontAlgn="auto" latinLnBrk="0" hangingPunct="1">
              <a:lnSpc>
                <a:spcPts val="3220"/>
              </a:lnSpc>
              <a:spcBef>
                <a:spcPts val="0"/>
              </a:spcBef>
              <a:spcAft>
                <a:spcPts val="0"/>
              </a:spcAft>
              <a:buClrTx/>
              <a:buSzTx/>
              <a:buFontTx/>
              <a:buNone/>
              <a:tabLst/>
              <a:defRPr/>
            </a:pPr>
            <a:r>
              <a:rPr kumimoji="0" lang="en-US" sz="2300" b="1" i="0" u="none" strike="noStrike" kern="1200" cap="none" spc="0" normalizeH="0" baseline="0" noProof="0">
                <a:ln>
                  <a:noFill/>
                </a:ln>
                <a:solidFill>
                  <a:srgbClr val="000000"/>
                </a:solidFill>
                <a:effectLst/>
                <a:uLnTx/>
                <a:uFillTx/>
                <a:latin typeface="Canva Sans Bold"/>
                <a:ea typeface="Canva Sans Bold"/>
                <a:cs typeface="Canva Sans Bold"/>
                <a:sym typeface="Canva Sans Bold"/>
              </a:rPr>
              <a:t>13</a:t>
            </a:r>
          </a:p>
        </p:txBody>
      </p:sp>
      <p:pic>
        <p:nvPicPr>
          <p:cNvPr id="9" name="Picture 8" descr="A blue and white circle with text&#10;&#10;AI-generated content may be incorrect.">
            <a:extLst>
              <a:ext uri="{FF2B5EF4-FFF2-40B4-BE49-F238E27FC236}">
                <a16:creationId xmlns:a16="http://schemas.microsoft.com/office/drawing/2014/main" id="{0812C4E2-2BD8-3A53-7C78-CF9303052754}"/>
              </a:ext>
            </a:extLst>
          </p:cNvPr>
          <p:cNvPicPr>
            <a:picLocks noChangeAspect="1"/>
          </p:cNvPicPr>
          <p:nvPr/>
        </p:nvPicPr>
        <p:blipFill>
          <a:blip r:embed="rId8"/>
          <a:stretch>
            <a:fillRect/>
          </a:stretch>
        </p:blipFill>
        <p:spPr>
          <a:xfrm>
            <a:off x="12249150" y="1908008"/>
            <a:ext cx="4209048" cy="4269206"/>
          </a:xfrm>
          <a:prstGeom prst="rect">
            <a:avLst/>
          </a:prstGeom>
        </p:spPr>
      </p:pic>
    </p:spTree>
    <p:extLst>
      <p:ext uri="{BB962C8B-B14F-4D97-AF65-F5344CB8AC3E}">
        <p14:creationId xmlns:p14="http://schemas.microsoft.com/office/powerpoint/2010/main" val="2682933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4" name="Freeform 4"/>
          <p:cNvSpPr/>
          <p:nvPr/>
        </p:nvSpPr>
        <p:spPr>
          <a:xfrm>
            <a:off x="11871741" y="2090053"/>
            <a:ext cx="5367312" cy="5367312"/>
          </a:xfrm>
          <a:custGeom>
            <a:avLst/>
            <a:gdLst/>
            <a:ahLst/>
            <a:cxnLst/>
            <a:rect l="l" t="t" r="r" b="b"/>
            <a:pathLst>
              <a:path w="5367312" h="5367312">
                <a:moveTo>
                  <a:pt x="0" y="0"/>
                </a:moveTo>
                <a:lnTo>
                  <a:pt x="5367312" y="0"/>
                </a:lnTo>
                <a:lnTo>
                  <a:pt x="5367312" y="5367311"/>
                </a:lnTo>
                <a:lnTo>
                  <a:pt x="0" y="53673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2106671" y="2324983"/>
            <a:ext cx="4897452" cy="4897452"/>
          </a:xfrm>
          <a:custGeom>
            <a:avLst/>
            <a:gdLst/>
            <a:ahLst/>
            <a:cxnLst/>
            <a:rect l="l" t="t" r="r" b="b"/>
            <a:pathLst>
              <a:path w="4897452" h="4897452">
                <a:moveTo>
                  <a:pt x="0" y="0"/>
                </a:moveTo>
                <a:lnTo>
                  <a:pt x="4897452" y="0"/>
                </a:lnTo>
                <a:lnTo>
                  <a:pt x="4897452" y="4897451"/>
                </a:lnTo>
                <a:lnTo>
                  <a:pt x="0" y="48974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2244300" y="2389937"/>
            <a:ext cx="4767543" cy="4767543"/>
          </a:xfrm>
          <a:custGeom>
            <a:avLst/>
            <a:gdLst/>
            <a:ahLst/>
            <a:cxnLst/>
            <a:rect l="l" t="t" r="r" b="b"/>
            <a:pathLst>
              <a:path w="4767543" h="4767543">
                <a:moveTo>
                  <a:pt x="0" y="0"/>
                </a:moveTo>
                <a:lnTo>
                  <a:pt x="4767544" y="0"/>
                </a:lnTo>
                <a:lnTo>
                  <a:pt x="4767544" y="4767543"/>
                </a:lnTo>
                <a:lnTo>
                  <a:pt x="0" y="47675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2289757" y="2595654"/>
            <a:ext cx="4571091" cy="4356111"/>
          </a:xfrm>
          <a:custGeom>
            <a:avLst/>
            <a:gdLst/>
            <a:ahLst/>
            <a:cxnLst/>
            <a:rect l="l" t="t" r="r" b="b"/>
            <a:pathLst>
              <a:path w="4571091" h="4356111">
                <a:moveTo>
                  <a:pt x="0" y="0"/>
                </a:moveTo>
                <a:lnTo>
                  <a:pt x="4571091" y="0"/>
                </a:lnTo>
                <a:lnTo>
                  <a:pt x="4571091" y="4356111"/>
                </a:lnTo>
                <a:lnTo>
                  <a:pt x="0" y="435611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rot="-10800000">
            <a:off x="14555397" y="1297517"/>
            <a:ext cx="3458417" cy="6916834"/>
          </a:xfrm>
          <a:custGeom>
            <a:avLst/>
            <a:gdLst/>
            <a:ahLst/>
            <a:cxnLst/>
            <a:rect l="l" t="t" r="r" b="b"/>
            <a:pathLst>
              <a:path w="3458417" h="6916834">
                <a:moveTo>
                  <a:pt x="0" y="0"/>
                </a:moveTo>
                <a:lnTo>
                  <a:pt x="3458417" y="0"/>
                </a:lnTo>
                <a:lnTo>
                  <a:pt x="3458417" y="6916834"/>
                </a:lnTo>
                <a:lnTo>
                  <a:pt x="0" y="6916834"/>
                </a:lnTo>
                <a:lnTo>
                  <a:pt x="0" y="0"/>
                </a:lnTo>
                <a:close/>
              </a:path>
            </a:pathLst>
          </a:custGeom>
          <a:blipFill>
            <a:blip>
              <a:extLst>
                <a:ext uri="{96DAC541-7B7A-43D3-8B79-37D633B846F1}">
                  <asvg:svgBlip xmlns:asvg="http://schemas.microsoft.com/office/drawing/2016/SVG/main" r:embed="rId6"/>
                </a:ext>
              </a:extLst>
            </a:blip>
            <a:stretch>
              <a:fillRect l="-68" r="-68"/>
            </a:stretch>
          </a:blipFill>
        </p:spPr>
        <p:txBody>
          <a:bodyPr/>
          <a:lstStyle/>
          <a:p>
            <a:endParaRPr lang="en-US"/>
          </a:p>
        </p:txBody>
      </p:sp>
      <p:grpSp>
        <p:nvGrpSpPr>
          <p:cNvPr id="11" name="Group 11"/>
          <p:cNvGrpSpPr/>
          <p:nvPr/>
        </p:nvGrpSpPr>
        <p:grpSpPr>
          <a:xfrm>
            <a:off x="20999" y="9533010"/>
            <a:ext cx="3917169" cy="703984"/>
            <a:chOff x="0" y="0"/>
            <a:chExt cx="5222892" cy="938645"/>
          </a:xfrm>
        </p:grpSpPr>
        <p:sp>
          <p:nvSpPr>
            <p:cNvPr id="12" name="Freeform 12"/>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7"/>
              <a:stretch>
                <a:fillRect l="-64" r="-64" b="1"/>
              </a:stretch>
            </a:blipFill>
          </p:spPr>
          <p:txBody>
            <a:bodyPr/>
            <a:lstStyle/>
            <a:p>
              <a:endParaRPr lang="en-US"/>
            </a:p>
          </p:txBody>
        </p:sp>
      </p:grpSp>
      <p:sp>
        <p:nvSpPr>
          <p:cNvPr id="13" name="TextBox 13"/>
          <p:cNvSpPr txBox="1"/>
          <p:nvPr/>
        </p:nvSpPr>
        <p:spPr>
          <a:xfrm>
            <a:off x="667728" y="4046220"/>
            <a:ext cx="6913505" cy="1889760"/>
          </a:xfrm>
          <a:prstGeom prst="rect">
            <a:avLst/>
          </a:prstGeom>
        </p:spPr>
        <p:txBody>
          <a:bodyPr lIns="0" tIns="0" rIns="0" bIns="0" rtlCol="0" anchor="t">
            <a:spAutoFit/>
          </a:bodyPr>
          <a:lstStyle/>
          <a:p>
            <a:pPr algn="l">
              <a:lnSpc>
                <a:spcPts val="15600"/>
              </a:lnSpc>
            </a:pPr>
            <a:r>
              <a:rPr lang="en-US" sz="10400" spc="208">
                <a:solidFill>
                  <a:srgbClr val="50616C"/>
                </a:solidFill>
                <a:latin typeface="League Gothic"/>
                <a:ea typeface="League Gothic"/>
                <a:cs typeface="League Gothic"/>
                <a:sym typeface="League Gothic"/>
              </a:rPr>
              <a:t>IT22281678</a:t>
            </a:r>
          </a:p>
        </p:txBody>
      </p:sp>
      <p:sp>
        <p:nvSpPr>
          <p:cNvPr id="14" name="TextBox 14"/>
          <p:cNvSpPr txBox="1"/>
          <p:nvPr/>
        </p:nvSpPr>
        <p:spPr>
          <a:xfrm>
            <a:off x="667728" y="1821286"/>
            <a:ext cx="10358765" cy="2484146"/>
          </a:xfrm>
          <a:prstGeom prst="rect">
            <a:avLst/>
          </a:prstGeom>
        </p:spPr>
        <p:txBody>
          <a:bodyPr lIns="0" tIns="0" rIns="0" bIns="0" rtlCol="0" anchor="t">
            <a:spAutoFit/>
          </a:bodyPr>
          <a:lstStyle/>
          <a:p>
            <a:pPr algn="just">
              <a:lnSpc>
                <a:spcPts val="20698"/>
              </a:lnSpc>
            </a:pPr>
            <a:r>
              <a:rPr lang="en-US" sz="13750" spc="275">
                <a:solidFill>
                  <a:srgbClr val="009B0B"/>
                </a:solidFill>
                <a:latin typeface="League Gothic"/>
                <a:ea typeface="League Gothic"/>
                <a:cs typeface="League Gothic"/>
                <a:sym typeface="League Gothic"/>
              </a:rPr>
              <a:t>  </a:t>
            </a:r>
            <a:r>
              <a:rPr lang="en-US" sz="13750" spc="275" err="1">
                <a:solidFill>
                  <a:srgbClr val="009B0B"/>
                </a:solidFill>
                <a:latin typeface="League Gothic"/>
                <a:ea typeface="League Gothic"/>
                <a:cs typeface="League Gothic"/>
                <a:sym typeface="League Gothic"/>
              </a:rPr>
              <a:t>Thalagala</a:t>
            </a:r>
            <a:r>
              <a:rPr lang="en-US" sz="13750" spc="275">
                <a:solidFill>
                  <a:srgbClr val="009B0B"/>
                </a:solidFill>
                <a:latin typeface="League Gothic"/>
                <a:ea typeface="League Gothic"/>
                <a:cs typeface="League Gothic"/>
                <a:sym typeface="League Gothic"/>
              </a:rPr>
              <a:t> T.A.D.V.</a:t>
            </a:r>
            <a:endParaRPr lang="en-US" sz="13750" spc="275">
              <a:solidFill>
                <a:srgbClr val="009B0B"/>
              </a:solidFill>
              <a:latin typeface="League Gothic"/>
              <a:ea typeface="League Gothic"/>
              <a:cs typeface="League Gothic"/>
            </a:endParaRPr>
          </a:p>
        </p:txBody>
      </p:sp>
      <p:sp>
        <p:nvSpPr>
          <p:cNvPr id="15" name="TextBox 15"/>
          <p:cNvSpPr txBox="1"/>
          <p:nvPr/>
        </p:nvSpPr>
        <p:spPr>
          <a:xfrm>
            <a:off x="708102" y="6068494"/>
            <a:ext cx="7474855" cy="493395"/>
          </a:xfrm>
          <a:prstGeom prst="rect">
            <a:avLst/>
          </a:prstGeom>
        </p:spPr>
        <p:txBody>
          <a:bodyPr lIns="0" tIns="0" rIns="0" bIns="0" rtlCol="0" anchor="t">
            <a:spAutoFit/>
          </a:bodyPr>
          <a:lstStyle/>
          <a:p>
            <a:pPr algn="l">
              <a:lnSpc>
                <a:spcPts val="4199"/>
              </a:lnSpc>
            </a:pPr>
            <a:r>
              <a:rPr lang="en-US" sz="2799" b="1">
                <a:solidFill>
                  <a:srgbClr val="50616C"/>
                </a:solidFill>
                <a:latin typeface="Open Sans Bold"/>
                <a:ea typeface="Open Sans Bold"/>
                <a:cs typeface="Open Sans Bold"/>
                <a:sym typeface="Open Sans Bold"/>
              </a:rPr>
              <a:t>Specialization - Information Technology</a:t>
            </a:r>
          </a:p>
        </p:txBody>
      </p:sp>
      <p:sp>
        <p:nvSpPr>
          <p:cNvPr id="16" name="TextBox 16"/>
          <p:cNvSpPr txBox="1"/>
          <p:nvPr/>
        </p:nvSpPr>
        <p:spPr>
          <a:xfrm>
            <a:off x="667728" y="7361302"/>
            <a:ext cx="13734072" cy="631455"/>
          </a:xfrm>
          <a:prstGeom prst="rect">
            <a:avLst/>
          </a:prstGeom>
        </p:spPr>
        <p:txBody>
          <a:bodyPr wrap="square" lIns="0" tIns="0" rIns="0" bIns="0" rtlCol="0" anchor="t">
            <a:spAutoFit/>
          </a:bodyPr>
          <a:lstStyle/>
          <a:p>
            <a:pPr>
              <a:lnSpc>
                <a:spcPts val="5114"/>
              </a:lnSpc>
            </a:pPr>
            <a:r>
              <a:rPr lang="en-US" sz="4000" err="1">
                <a:solidFill>
                  <a:srgbClr val="00B050"/>
                </a:solidFill>
                <a:latin typeface="Archivo Black"/>
                <a:ea typeface="Archivo Black"/>
                <a:cs typeface="Archivo Black"/>
              </a:rPr>
              <a:t>Maraketplace</a:t>
            </a:r>
            <a:r>
              <a:rPr lang="en-US" sz="4000">
                <a:solidFill>
                  <a:srgbClr val="00B050"/>
                </a:solidFill>
                <a:latin typeface="Archivo Black"/>
                <a:ea typeface="Archivo Black"/>
                <a:cs typeface="Archivo Black"/>
              </a:rPr>
              <a:t>  &amp; Optimization  </a:t>
            </a:r>
            <a:endParaRPr lang="en-US"/>
          </a:p>
        </p:txBody>
      </p:sp>
      <p:sp>
        <p:nvSpPr>
          <p:cNvPr id="17" name="TextBox 17"/>
          <p:cNvSpPr txBox="1"/>
          <p:nvPr/>
        </p:nvSpPr>
        <p:spPr>
          <a:xfrm>
            <a:off x="4124481" y="9747941"/>
            <a:ext cx="6681454" cy="389254"/>
          </a:xfrm>
          <a:prstGeom prst="rect">
            <a:avLst/>
          </a:prstGeom>
        </p:spPr>
        <p:txBody>
          <a:bodyPr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IT22281678  |  </a:t>
            </a:r>
            <a:r>
              <a:rPr lang="en-US" sz="2300" err="1">
                <a:solidFill>
                  <a:srgbClr val="000000"/>
                </a:solidFill>
                <a:latin typeface="Canva Sans"/>
                <a:ea typeface="Canva Sans"/>
                <a:cs typeface="Canva Sans"/>
                <a:sym typeface="Canva Sans"/>
              </a:rPr>
              <a:t>Thalagala</a:t>
            </a:r>
            <a:r>
              <a:rPr lang="en-US" sz="2300">
                <a:solidFill>
                  <a:srgbClr val="000000"/>
                </a:solidFill>
                <a:latin typeface="Canva Sans"/>
                <a:ea typeface="Canva Sans"/>
                <a:cs typeface="Canva Sans"/>
                <a:sym typeface="Canva Sans"/>
              </a:rPr>
              <a:t> T.A.D.V.  | R26-081</a:t>
            </a:r>
            <a:endParaRPr lang="en-US" sz="2300">
              <a:solidFill>
                <a:srgbClr val="000000"/>
              </a:solidFill>
              <a:latin typeface="Canva Sans"/>
              <a:ea typeface="Canva Sans"/>
              <a:cs typeface="Canva Sans"/>
            </a:endParaRPr>
          </a:p>
        </p:txBody>
      </p:sp>
      <p:sp>
        <p:nvSpPr>
          <p:cNvPr id="18" name="TextBox 18"/>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27</a:t>
            </a:r>
          </a:p>
        </p:txBody>
      </p:sp>
      <p:sp>
        <p:nvSpPr>
          <p:cNvPr id="19" name="TextBox 19"/>
          <p:cNvSpPr txBox="1"/>
          <p:nvPr/>
        </p:nvSpPr>
        <p:spPr>
          <a:xfrm>
            <a:off x="15201076" y="9716626"/>
            <a:ext cx="1615169" cy="389254"/>
          </a:xfrm>
          <a:prstGeom prst="rect">
            <a:avLst/>
          </a:prstGeom>
        </p:spPr>
        <p:txBody>
          <a:bodyPr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9/11/2025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20999" y="9533010"/>
            <a:ext cx="3917169" cy="703984"/>
            <a:chOff x="0" y="0"/>
            <a:chExt cx="5222892" cy="938645"/>
          </a:xfrm>
        </p:grpSpPr>
        <p:sp>
          <p:nvSpPr>
            <p:cNvPr id="6" name="Freeform 6"/>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2"/>
              <a:stretch>
                <a:fillRect l="-64" r="-64" b="1"/>
              </a:stretch>
            </a:blipFill>
          </p:spPr>
          <p:txBody>
            <a:bodyPr/>
            <a:lstStyle/>
            <a:p>
              <a:endParaRPr lang="en-US"/>
            </a:p>
          </p:txBody>
        </p:sp>
      </p:grpSp>
      <p:sp>
        <p:nvSpPr>
          <p:cNvPr id="14" name="TextBox 14"/>
          <p:cNvSpPr txBox="1"/>
          <p:nvPr/>
        </p:nvSpPr>
        <p:spPr>
          <a:xfrm>
            <a:off x="3952114" y="1618727"/>
            <a:ext cx="6433734" cy="514350"/>
          </a:xfrm>
          <a:prstGeom prst="rect">
            <a:avLst/>
          </a:prstGeom>
        </p:spPr>
        <p:txBody>
          <a:bodyPr lIns="0" tIns="0" rIns="0" bIns="0" rtlCol="0" anchor="t">
            <a:spAutoFit/>
          </a:bodyPr>
          <a:lstStyle/>
          <a:p>
            <a:pPr algn="ctr">
              <a:lnSpc>
                <a:spcPts val="4200"/>
              </a:lnSpc>
            </a:pPr>
            <a:r>
              <a:rPr lang="en-US" sz="3000">
                <a:solidFill>
                  <a:srgbClr val="009B0B"/>
                </a:solidFill>
                <a:latin typeface="Canva Sans"/>
                <a:ea typeface="Canva Sans"/>
                <a:cs typeface="Canva Sans"/>
                <a:sym typeface="Canva Sans"/>
              </a:rPr>
              <a:t> What's the problem</a:t>
            </a:r>
          </a:p>
        </p:txBody>
      </p:sp>
      <p:sp>
        <p:nvSpPr>
          <p:cNvPr id="17" name="TextBox 17"/>
          <p:cNvSpPr txBox="1"/>
          <p:nvPr/>
        </p:nvSpPr>
        <p:spPr>
          <a:xfrm>
            <a:off x="414458" y="2886203"/>
            <a:ext cx="5929866" cy="454548"/>
          </a:xfrm>
          <a:prstGeom prst="rect">
            <a:avLst/>
          </a:prstGeom>
        </p:spPr>
        <p:txBody>
          <a:bodyPr lIns="0" tIns="0" rIns="0" bIns="0" rtlCol="0" anchor="t">
            <a:spAutoFit/>
          </a:bodyPr>
          <a:lstStyle/>
          <a:p>
            <a:pPr algn="ctr">
              <a:lnSpc>
                <a:spcPts val="3900"/>
              </a:lnSpc>
            </a:pPr>
            <a:r>
              <a:rPr lang="en-US" sz="2400">
                <a:latin typeface="Canva Sans"/>
              </a:rPr>
              <a:t> </a:t>
            </a:r>
            <a:endParaRPr lang="en-US" sz="2400">
              <a:solidFill>
                <a:srgbClr val="000000"/>
              </a:solidFill>
              <a:latin typeface="Canva Sans"/>
              <a:ea typeface="Canva Sans"/>
              <a:cs typeface="Canva Sans"/>
            </a:endParaRPr>
          </a:p>
        </p:txBody>
      </p:sp>
      <p:sp>
        <p:nvSpPr>
          <p:cNvPr id="21" name="TextBox 21"/>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28</a:t>
            </a:r>
          </a:p>
        </p:txBody>
      </p:sp>
      <p:sp>
        <p:nvSpPr>
          <p:cNvPr id="28" name="TextBox 4">
            <a:extLst>
              <a:ext uri="{FF2B5EF4-FFF2-40B4-BE49-F238E27FC236}">
                <a16:creationId xmlns:a16="http://schemas.microsoft.com/office/drawing/2014/main" id="{BAD6F80D-93AC-061F-8683-30E9C05B1178}"/>
              </a:ext>
            </a:extLst>
          </p:cNvPr>
          <p:cNvSpPr txBox="1"/>
          <p:nvPr/>
        </p:nvSpPr>
        <p:spPr>
          <a:xfrm>
            <a:off x="3917169" y="9716568"/>
            <a:ext cx="7409644" cy="389254"/>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220"/>
              </a:lnSpc>
            </a:pPr>
            <a:r>
              <a:rPr lang="en-US" sz="2300">
                <a:solidFill>
                  <a:srgbClr val="000000"/>
                </a:solidFill>
                <a:latin typeface="Canva Sans"/>
                <a:ea typeface="Canva Sans"/>
                <a:cs typeface="Canva Sans"/>
                <a:sym typeface="Canva Sans"/>
              </a:rPr>
              <a:t>IT22281678 |  </a:t>
            </a:r>
            <a:r>
              <a:rPr lang="en-US" sz="2300" err="1">
                <a:solidFill>
                  <a:srgbClr val="000000"/>
                </a:solidFill>
                <a:latin typeface="Canva Sans"/>
                <a:ea typeface="Canva Sans"/>
                <a:cs typeface="Canva Sans"/>
                <a:sym typeface="Canva Sans"/>
              </a:rPr>
              <a:t>Thalagala</a:t>
            </a:r>
            <a:r>
              <a:rPr lang="en-US" sz="2300">
                <a:solidFill>
                  <a:srgbClr val="000000"/>
                </a:solidFill>
                <a:latin typeface="Canva Sans"/>
                <a:ea typeface="Canva Sans"/>
                <a:cs typeface="Canva Sans"/>
                <a:sym typeface="Canva Sans"/>
              </a:rPr>
              <a:t> T.A.D.V.. |   R26-081</a:t>
            </a:r>
          </a:p>
        </p:txBody>
      </p:sp>
      <p:sp>
        <p:nvSpPr>
          <p:cNvPr id="7" name="TextBox 6">
            <a:extLst>
              <a:ext uri="{FF2B5EF4-FFF2-40B4-BE49-F238E27FC236}">
                <a16:creationId xmlns:a16="http://schemas.microsoft.com/office/drawing/2014/main" id="{B1F3242F-1035-3122-9112-A5087FE652A0}"/>
              </a:ext>
            </a:extLst>
          </p:cNvPr>
          <p:cNvSpPr txBox="1"/>
          <p:nvPr/>
        </p:nvSpPr>
        <p:spPr>
          <a:xfrm>
            <a:off x="3945699" y="211377"/>
            <a:ext cx="9144000"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rgbClr val="00B050"/>
                </a:solidFill>
                <a:latin typeface="Archivo Black"/>
              </a:rPr>
              <a:t>   </a:t>
            </a:r>
            <a:r>
              <a:rPr lang="en-US" sz="4400">
                <a:solidFill>
                  <a:srgbClr val="00B050"/>
                </a:solidFill>
                <a:latin typeface="Archivo Black"/>
              </a:rPr>
              <a:t>Introduction &amp; Problem</a:t>
            </a:r>
          </a:p>
          <a:p>
            <a:endParaRPr lang="en-US" sz="4000">
              <a:solidFill>
                <a:srgbClr val="00B050"/>
              </a:solidFill>
              <a:latin typeface="Archivo Black"/>
            </a:endParaRPr>
          </a:p>
          <a:p>
            <a:pPr algn="ctr"/>
            <a:endParaRPr lang="en-US">
              <a:ea typeface="Calibri"/>
              <a:cs typeface="Calibri"/>
            </a:endParaRPr>
          </a:p>
        </p:txBody>
      </p:sp>
      <p:sp>
        <p:nvSpPr>
          <p:cNvPr id="23" name="TextBox 22">
            <a:extLst>
              <a:ext uri="{FF2B5EF4-FFF2-40B4-BE49-F238E27FC236}">
                <a16:creationId xmlns:a16="http://schemas.microsoft.com/office/drawing/2014/main" id="{ED069FBA-AD08-84E0-5A96-4D3C2A5119DD}"/>
              </a:ext>
            </a:extLst>
          </p:cNvPr>
          <p:cNvSpPr txBox="1"/>
          <p:nvPr/>
        </p:nvSpPr>
        <p:spPr>
          <a:xfrm>
            <a:off x="4431082" y="2560007"/>
            <a:ext cx="91440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t>Currently, waste management decisions are mostly manual, which leads to:</a:t>
            </a:r>
            <a:endParaRPr lang="en-US" sz="3000">
              <a:ea typeface="Calibri"/>
              <a:cs typeface="Calibri"/>
            </a:endParaRPr>
          </a:p>
          <a:p>
            <a:pPr>
              <a:buFont typeface=""/>
              <a:buChar char="•"/>
            </a:pPr>
            <a:r>
              <a:rPr lang="en-US" sz="3000"/>
              <a:t>inaccurate forecasting, </a:t>
            </a:r>
            <a:endParaRPr lang="en-US" sz="3000">
              <a:ea typeface="Calibri"/>
              <a:cs typeface="Calibri"/>
            </a:endParaRPr>
          </a:p>
          <a:p>
            <a:pPr>
              <a:buFont typeface=""/>
              <a:buChar char="•"/>
            </a:pPr>
            <a:r>
              <a:rPr lang="en-US" sz="3000"/>
              <a:t>inefficient waste handling, </a:t>
            </a:r>
            <a:endParaRPr lang="en-US" sz="3000">
              <a:ea typeface="Calibri"/>
              <a:cs typeface="Calibri"/>
            </a:endParaRPr>
          </a:p>
          <a:p>
            <a:pPr>
              <a:buFont typeface=""/>
              <a:buChar char="•"/>
            </a:pPr>
            <a:r>
              <a:rPr lang="en-US" sz="3000"/>
              <a:t>poor sustainability planning, </a:t>
            </a:r>
            <a:endParaRPr lang="en-US" sz="3000">
              <a:ea typeface="Calibri"/>
              <a:cs typeface="Calibri"/>
            </a:endParaRPr>
          </a:p>
          <a:p>
            <a:pPr>
              <a:buFont typeface=""/>
              <a:buChar char="•"/>
            </a:pPr>
            <a:r>
              <a:rPr lang="en-US" sz="3000"/>
              <a:t>and increased environmental pollution.</a:t>
            </a:r>
            <a:endParaRPr lang="en-US" sz="3000">
              <a:ea typeface="Calibri"/>
              <a:cs typeface="Calibri"/>
            </a:endParaRPr>
          </a:p>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24" name="Group 24"/>
          <p:cNvGrpSpPr/>
          <p:nvPr/>
        </p:nvGrpSpPr>
        <p:grpSpPr>
          <a:xfrm>
            <a:off x="20999" y="9533010"/>
            <a:ext cx="3917169" cy="703984"/>
            <a:chOff x="0" y="0"/>
            <a:chExt cx="5222892" cy="938645"/>
          </a:xfrm>
        </p:grpSpPr>
        <p:sp>
          <p:nvSpPr>
            <p:cNvPr id="25" name="Freeform 25"/>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26" name="TextBox 26"/>
          <p:cNvSpPr txBox="1"/>
          <p:nvPr/>
        </p:nvSpPr>
        <p:spPr>
          <a:xfrm>
            <a:off x="3917169" y="9716568"/>
            <a:ext cx="6670850" cy="389254"/>
          </a:xfrm>
          <a:prstGeom prst="rect">
            <a:avLst/>
          </a:prstGeom>
        </p:spPr>
        <p:txBody>
          <a:bodyPr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IT22281678 |  </a:t>
            </a:r>
            <a:r>
              <a:rPr lang="en-US" sz="2300" err="1">
                <a:solidFill>
                  <a:srgbClr val="000000"/>
                </a:solidFill>
                <a:latin typeface="Canva Sans"/>
                <a:ea typeface="Canva Sans"/>
                <a:cs typeface="Canva Sans"/>
                <a:sym typeface="Canva Sans"/>
              </a:rPr>
              <a:t>Thalagala</a:t>
            </a:r>
            <a:r>
              <a:rPr lang="en-US" sz="2300">
                <a:solidFill>
                  <a:srgbClr val="000000"/>
                </a:solidFill>
                <a:latin typeface="Canva Sans"/>
                <a:ea typeface="Canva Sans"/>
                <a:cs typeface="Canva Sans"/>
                <a:sym typeface="Canva Sans"/>
              </a:rPr>
              <a:t> T.A.D.V..|  R26-081</a:t>
            </a:r>
          </a:p>
        </p:txBody>
      </p:sp>
      <p:sp>
        <p:nvSpPr>
          <p:cNvPr id="35" name="TextBox 35"/>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29</a:t>
            </a:r>
          </a:p>
        </p:txBody>
      </p:sp>
      <p:sp>
        <p:nvSpPr>
          <p:cNvPr id="37" name="TextBox 37"/>
          <p:cNvSpPr txBox="1"/>
          <p:nvPr/>
        </p:nvSpPr>
        <p:spPr>
          <a:xfrm>
            <a:off x="914400" y="2342246"/>
            <a:ext cx="5947255" cy="428643"/>
          </a:xfrm>
          <a:prstGeom prst="rect">
            <a:avLst/>
          </a:prstGeom>
        </p:spPr>
        <p:txBody>
          <a:bodyPr lIns="0" tIns="0" rIns="0" bIns="0" rtlCol="0" anchor="t">
            <a:spAutoFit/>
          </a:bodyPr>
          <a:lstStyle/>
          <a:p>
            <a:pPr algn="l">
              <a:lnSpc>
                <a:spcPts val="3150"/>
              </a:lnSpc>
            </a:pPr>
            <a:r>
              <a:rPr lang="en-US" sz="3500">
                <a:solidFill>
                  <a:srgbClr val="009B0B"/>
                </a:solidFill>
                <a:latin typeface="Canva Sans"/>
                <a:ea typeface="Canva Sans"/>
                <a:cs typeface="Canva Sans"/>
                <a:sym typeface="Canva Sans"/>
              </a:rPr>
              <a:t>Research Gap</a:t>
            </a:r>
          </a:p>
        </p:txBody>
      </p:sp>
      <p:sp>
        <p:nvSpPr>
          <p:cNvPr id="38" name="TextBox 10">
            <a:extLst>
              <a:ext uri="{FF2B5EF4-FFF2-40B4-BE49-F238E27FC236}">
                <a16:creationId xmlns:a16="http://schemas.microsoft.com/office/drawing/2014/main" id="{85F0BA9C-012D-1E6F-5490-44DE160529D2}"/>
              </a:ext>
            </a:extLst>
          </p:cNvPr>
          <p:cNvSpPr txBox="1"/>
          <p:nvPr/>
        </p:nvSpPr>
        <p:spPr>
          <a:xfrm>
            <a:off x="2518056" y="388935"/>
            <a:ext cx="14513434" cy="631455"/>
          </a:xfrm>
          <a:prstGeom prst="rect">
            <a:avLst/>
          </a:prstGeom>
        </p:spPr>
        <p:txBody>
          <a:bodyPr lIns="0" tIns="0" rIns="0" bIns="0" rtlCol="0" anchor="t">
            <a:spAutoFit/>
          </a:bodyPr>
          <a:lstStyle/>
          <a:p>
            <a:pPr>
              <a:lnSpc>
                <a:spcPts val="5114"/>
              </a:lnSpc>
            </a:pPr>
            <a:r>
              <a:rPr lang="en-US" sz="4000">
                <a:solidFill>
                  <a:srgbClr val="00B050"/>
                </a:solidFill>
                <a:ea typeface="+mn-lt"/>
                <a:cs typeface="+mn-lt"/>
              </a:rPr>
              <a:t>AI-Powered Textile Waste Forecasting and Analytics System</a:t>
            </a:r>
            <a:r>
              <a:rPr lang="en-US" sz="4000">
                <a:solidFill>
                  <a:srgbClr val="00B050"/>
                </a:solidFill>
                <a:latin typeface="Archivo Black"/>
              </a:rPr>
              <a:t> </a:t>
            </a:r>
            <a:r>
              <a:rPr lang="en-US" sz="4000">
                <a:solidFill>
                  <a:srgbClr val="00B050"/>
                </a:solidFill>
                <a:latin typeface="Archivo Black"/>
                <a:ea typeface="Archivo Black"/>
                <a:cs typeface="Archivo Black"/>
                <a:sym typeface="Archivo Black"/>
              </a:rPr>
              <a:t> </a:t>
            </a:r>
            <a:endParaRPr lang="en-US">
              <a:latin typeface="Archivo Black"/>
            </a:endParaRPr>
          </a:p>
        </p:txBody>
      </p:sp>
      <p:sp>
        <p:nvSpPr>
          <p:cNvPr id="36" name="TextBox 9">
            <a:extLst>
              <a:ext uri="{FF2B5EF4-FFF2-40B4-BE49-F238E27FC236}">
                <a16:creationId xmlns:a16="http://schemas.microsoft.com/office/drawing/2014/main" id="{360BECAA-916E-FACD-73DF-52F5416F5876}"/>
              </a:ext>
            </a:extLst>
          </p:cNvPr>
          <p:cNvSpPr txBox="1"/>
          <p:nvPr/>
        </p:nvSpPr>
        <p:spPr>
          <a:xfrm>
            <a:off x="1010630" y="3005575"/>
            <a:ext cx="16446440" cy="3593676"/>
          </a:xfrm>
          <a:prstGeom prst="rect">
            <a:avLst/>
          </a:prstGeom>
        </p:spPr>
        <p:txBody>
          <a:bodyPr wrap="square" lIns="0" tIns="0" rIns="0" bIns="0" rtlCol="0" anchor="t">
            <a:spAutoFit/>
          </a:bodyPr>
          <a:lstStyle/>
          <a:p>
            <a:pPr marL="285750" indent="-285750">
              <a:buFont typeface="Arial"/>
              <a:buChar char="•"/>
            </a:pPr>
            <a:r>
              <a:rPr lang="en-US" sz="2800">
                <a:ea typeface="+mn-lt"/>
                <a:cs typeface="+mn-lt"/>
              </a:rPr>
              <a:t>Limited AI-based textile waste forecasting systems </a:t>
            </a:r>
            <a:endParaRPr lang="en-US">
              <a:ea typeface="+mn-lt"/>
              <a:cs typeface="+mn-lt"/>
            </a:endParaRPr>
          </a:p>
          <a:p>
            <a:pPr marL="285750" indent="-285750">
              <a:buFont typeface="Arial"/>
              <a:buChar char="•"/>
            </a:pPr>
            <a:r>
              <a:rPr lang="en-US" sz="2800">
                <a:ea typeface="+mn-lt"/>
                <a:cs typeface="+mn-lt"/>
              </a:rPr>
              <a:t>Lack of material-wise waste prediction </a:t>
            </a:r>
            <a:endParaRPr lang="en-US"/>
          </a:p>
          <a:p>
            <a:pPr marL="285750" indent="-285750">
              <a:buFont typeface="Arial"/>
              <a:buChar char="•"/>
            </a:pPr>
            <a:r>
              <a:rPr lang="en-US" sz="2800">
                <a:ea typeface="+mn-lt"/>
                <a:cs typeface="+mn-lt"/>
              </a:rPr>
              <a:t>Absence of real-time analytics dashboards </a:t>
            </a:r>
            <a:endParaRPr lang="en-US"/>
          </a:p>
          <a:p>
            <a:pPr marL="285750" indent="-285750">
              <a:buFont typeface="Arial"/>
              <a:buChar char="•"/>
            </a:pPr>
            <a:r>
              <a:rPr lang="en-US" sz="2800">
                <a:ea typeface="+mn-lt"/>
                <a:cs typeface="+mn-lt"/>
              </a:rPr>
              <a:t>Limited integration of AI with waste management </a:t>
            </a:r>
            <a:endParaRPr lang="en-US"/>
          </a:p>
          <a:p>
            <a:pPr marL="285750" indent="-285750">
              <a:buFont typeface="Arial"/>
              <a:buChar char="•"/>
            </a:pPr>
            <a:r>
              <a:rPr lang="en-US" sz="2800">
                <a:ea typeface="+mn-lt"/>
                <a:cs typeface="+mn-lt"/>
              </a:rPr>
              <a:t>Poor sustainability decision support </a:t>
            </a:r>
            <a:endParaRPr lang="en-US"/>
          </a:p>
          <a:p>
            <a:pPr marL="285750" indent="-285750">
              <a:buFont typeface="Arial"/>
              <a:buChar char="•"/>
            </a:pPr>
            <a:r>
              <a:rPr lang="en-US" sz="2800">
                <a:ea typeface="+mn-lt"/>
                <a:cs typeface="+mn-lt"/>
              </a:rPr>
              <a:t>Limited research focused on Sri Lankan textile waste </a:t>
            </a:r>
            <a:endParaRPr lang="en-US"/>
          </a:p>
          <a:p>
            <a:pPr marL="285750" indent="-285750">
              <a:buFont typeface="Arial"/>
              <a:buChar char="•"/>
            </a:pPr>
            <a:r>
              <a:rPr lang="en-US" sz="2800">
                <a:ea typeface="+mn-lt"/>
                <a:cs typeface="+mn-lt"/>
              </a:rPr>
              <a:t>Existing systems focus mainly on historical reporting instead of future forecasting</a:t>
            </a:r>
            <a:endParaRPr lang="en-US"/>
          </a:p>
          <a:p>
            <a:pPr>
              <a:lnSpc>
                <a:spcPct val="150000"/>
              </a:lnSpc>
            </a:pPr>
            <a:endParaRPr lang="en-US" sz="2800">
              <a:latin typeface="Canva Sans" panose="020B060402020202020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grpSp>
        <p:nvGrpSpPr>
          <p:cNvPr id="5" name="Group 5"/>
          <p:cNvGrpSpPr/>
          <p:nvPr/>
        </p:nvGrpSpPr>
        <p:grpSpPr>
          <a:xfrm>
            <a:off x="20999" y="9533010"/>
            <a:ext cx="3917169" cy="703984"/>
            <a:chOff x="0" y="0"/>
            <a:chExt cx="5222892" cy="938645"/>
          </a:xfrm>
        </p:grpSpPr>
        <p:sp>
          <p:nvSpPr>
            <p:cNvPr id="6" name="Freeform 6"/>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Freeform 7"/>
          <p:cNvSpPr/>
          <p:nvPr/>
        </p:nvSpPr>
        <p:spPr>
          <a:xfrm>
            <a:off x="16462700" y="11772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16615100" y="1329680"/>
            <a:ext cx="413482" cy="1462938"/>
          </a:xfrm>
          <a:custGeom>
            <a:avLst/>
            <a:gdLst/>
            <a:ahLst/>
            <a:cxnLst/>
            <a:rect l="l" t="t" r="r" b="b"/>
            <a:pathLst>
              <a:path w="413482" h="1462938">
                <a:moveTo>
                  <a:pt x="0" y="0"/>
                </a:moveTo>
                <a:lnTo>
                  <a:pt x="413482" y="0"/>
                </a:lnTo>
                <a:lnTo>
                  <a:pt x="413482" y="1462938"/>
                </a:lnTo>
                <a:lnTo>
                  <a:pt x="0" y="14629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TextBox 13"/>
          <p:cNvSpPr txBox="1"/>
          <p:nvPr/>
        </p:nvSpPr>
        <p:spPr>
          <a:xfrm>
            <a:off x="316109" y="306060"/>
            <a:ext cx="8827082" cy="428598"/>
          </a:xfrm>
          <a:prstGeom prst="rect">
            <a:avLst/>
          </a:prstGeom>
        </p:spPr>
        <p:txBody>
          <a:bodyPr lIns="0" tIns="0" rIns="0" bIns="0" rtlCol="0" anchor="t">
            <a:spAutoFit/>
          </a:bodyPr>
          <a:lstStyle/>
          <a:p>
            <a:pPr algn="l">
              <a:lnSpc>
                <a:spcPts val="3150"/>
              </a:lnSpc>
            </a:pPr>
            <a:r>
              <a:rPr lang="en-US" sz="3500">
                <a:solidFill>
                  <a:srgbClr val="009B0B"/>
                </a:solidFill>
                <a:latin typeface="Canva Sans"/>
                <a:ea typeface="Canva Sans"/>
                <a:cs typeface="Canva Sans"/>
                <a:sym typeface="Canva Sans"/>
              </a:rPr>
              <a:t>Evaluation and Validation</a:t>
            </a:r>
          </a:p>
        </p:txBody>
      </p:sp>
      <p:sp>
        <p:nvSpPr>
          <p:cNvPr id="14" name="TextBox 14"/>
          <p:cNvSpPr txBox="1"/>
          <p:nvPr/>
        </p:nvSpPr>
        <p:spPr>
          <a:xfrm>
            <a:off x="585050" y="5021622"/>
            <a:ext cx="8827082" cy="628650"/>
          </a:xfrm>
          <a:prstGeom prst="rect">
            <a:avLst/>
          </a:prstGeom>
        </p:spPr>
        <p:txBody>
          <a:bodyPr lIns="0" tIns="0" rIns="0" bIns="0" rtlCol="0" anchor="t">
            <a:spAutoFit/>
          </a:bodyPr>
          <a:lstStyle/>
          <a:p>
            <a:pPr algn="l">
              <a:lnSpc>
                <a:spcPts val="5250"/>
              </a:lnSpc>
            </a:pPr>
            <a:r>
              <a:rPr lang="en-US" sz="3500">
                <a:solidFill>
                  <a:srgbClr val="009B0B"/>
                </a:solidFill>
                <a:latin typeface="Canva Sans"/>
                <a:ea typeface="Canva Sans"/>
                <a:cs typeface="Canva Sans"/>
                <a:sym typeface="Canva Sans"/>
              </a:rPr>
              <a:t> </a:t>
            </a:r>
          </a:p>
        </p:txBody>
      </p:sp>
      <p:sp>
        <p:nvSpPr>
          <p:cNvPr id="15" name="TextBox 15"/>
          <p:cNvSpPr txBox="1"/>
          <p:nvPr/>
        </p:nvSpPr>
        <p:spPr>
          <a:xfrm>
            <a:off x="525264" y="1180092"/>
            <a:ext cx="16303117" cy="5727081"/>
          </a:xfrm>
          <a:prstGeom prst="rect">
            <a:avLst/>
          </a:prstGeom>
        </p:spPr>
        <p:txBody>
          <a:bodyPr wrap="square" lIns="0" tIns="0" rIns="0" bIns="0" rtlCol="0" anchor="t">
            <a:spAutoFit/>
          </a:bodyPr>
          <a:lstStyle/>
          <a:p>
            <a:pPr marL="457200">
              <a:buFont typeface="Arial"/>
              <a:buChar char="•"/>
            </a:pPr>
            <a:r>
              <a:rPr lang="en-US" sz="2800" b="1">
                <a:ea typeface="+mn-lt"/>
                <a:cs typeface="+mn-lt"/>
              </a:rPr>
              <a:t>Model accuracy testing</a:t>
            </a:r>
            <a:r>
              <a:rPr lang="en-US" sz="2800">
                <a:ea typeface="+mn-lt"/>
                <a:cs typeface="+mn-lt"/>
              </a:rPr>
              <a:t> using labeled textile waste datasets containing material-wise waste quantity records. </a:t>
            </a:r>
            <a:endParaRPr lang="en-US">
              <a:ea typeface="+mn-lt"/>
              <a:cs typeface="+mn-lt"/>
            </a:endParaRPr>
          </a:p>
          <a:p>
            <a:pPr>
              <a:buFont typeface="Arial"/>
              <a:buChar char="•"/>
            </a:pPr>
            <a:endParaRPr lang="en-US" sz="2800">
              <a:ea typeface="+mn-lt"/>
              <a:cs typeface="+mn-lt"/>
            </a:endParaRPr>
          </a:p>
          <a:p>
            <a:pPr lvl="1">
              <a:buFont typeface="Arial"/>
              <a:buChar char="•"/>
            </a:pPr>
            <a:r>
              <a:rPr lang="en-US" sz="2800">
                <a:ea typeface="+mn-lt"/>
                <a:cs typeface="+mn-lt"/>
              </a:rPr>
              <a:t>Cross-validation and performance evaluation using machine learning metrics such as R² Score, Mean Absolute Error (MAE), and Root Mean Square Error (RMSE). </a:t>
            </a:r>
            <a:endParaRPr lang="en-US"/>
          </a:p>
          <a:p>
            <a:pPr lvl="1">
              <a:buFont typeface="Arial"/>
              <a:buChar char="•"/>
            </a:pPr>
            <a:endParaRPr lang="en-US" sz="2800">
              <a:ea typeface="+mn-lt"/>
              <a:cs typeface="+mn-lt"/>
            </a:endParaRPr>
          </a:p>
          <a:p>
            <a:pPr lvl="1">
              <a:buFont typeface="Arial"/>
              <a:buChar char="•"/>
            </a:pPr>
            <a:r>
              <a:rPr lang="en-US" sz="2800">
                <a:ea typeface="+mn-lt"/>
                <a:cs typeface="+mn-lt"/>
              </a:rPr>
              <a:t>Comparison of predicted textile waste quantities with historical waste records to evaluate forecasting accuracy and model reliability. </a:t>
            </a:r>
            <a:endParaRPr lang="en-US"/>
          </a:p>
          <a:p>
            <a:pPr lvl="1">
              <a:buFont typeface="Arial"/>
              <a:buChar char="•"/>
            </a:pPr>
            <a:endParaRPr lang="en-US" sz="2800">
              <a:ea typeface="+mn-lt"/>
              <a:cs typeface="+mn-lt"/>
            </a:endParaRPr>
          </a:p>
          <a:p>
            <a:pPr lvl="1">
              <a:buFont typeface="Arial"/>
              <a:buChar char="•"/>
            </a:pPr>
            <a:r>
              <a:rPr lang="en-US" sz="2800">
                <a:ea typeface="+mn-lt"/>
                <a:cs typeface="+mn-lt"/>
              </a:rPr>
              <a:t>Validation of material-wise waste forecasting performance for textile materials such as cotton, denim, polyester, nylon, linen, and viscose. </a:t>
            </a:r>
            <a:endParaRPr lang="en-US"/>
          </a:p>
          <a:p>
            <a:pPr lvl="1">
              <a:buFont typeface="Arial"/>
              <a:buChar char="•"/>
            </a:pPr>
            <a:endParaRPr lang="en-US" sz="2800">
              <a:ea typeface="+mn-lt"/>
              <a:cs typeface="+mn-lt"/>
            </a:endParaRPr>
          </a:p>
          <a:p>
            <a:pPr lvl="1">
              <a:buFont typeface="Arial"/>
              <a:buChar char="•"/>
            </a:pPr>
            <a:r>
              <a:rPr lang="en-US" sz="2800">
                <a:ea typeface="+mn-lt"/>
                <a:cs typeface="+mn-lt"/>
              </a:rPr>
              <a:t>Analysis of forecasting trends and prediction consistency using historical textile waste data.</a:t>
            </a:r>
            <a:endParaRPr lang="en-US"/>
          </a:p>
          <a:p>
            <a:pPr marL="603885" lvl="1" indent="-301625">
              <a:lnSpc>
                <a:spcPts val="4759"/>
              </a:lnSpc>
              <a:buFont typeface="Arial"/>
              <a:buChar char="•"/>
            </a:pPr>
            <a:endParaRPr lang="en-US" sz="2800">
              <a:ea typeface="Calibri"/>
              <a:cs typeface="Calibri"/>
            </a:endParaRPr>
          </a:p>
        </p:txBody>
      </p:sp>
      <p:sp>
        <p:nvSpPr>
          <p:cNvPr id="16" name="TextBox 16"/>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31</a:t>
            </a:r>
          </a:p>
        </p:txBody>
      </p:sp>
      <p:sp>
        <p:nvSpPr>
          <p:cNvPr id="22" name="TextBox 22"/>
          <p:cNvSpPr txBox="1"/>
          <p:nvPr/>
        </p:nvSpPr>
        <p:spPr>
          <a:xfrm>
            <a:off x="4124481" y="9716626"/>
            <a:ext cx="6681454" cy="389254"/>
          </a:xfrm>
          <a:prstGeom prst="rect">
            <a:avLst/>
          </a:prstGeom>
        </p:spPr>
        <p:txBody>
          <a:bodyPr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IT22281678  |   </a:t>
            </a:r>
            <a:r>
              <a:rPr lang="en-US" sz="2300" err="1">
                <a:solidFill>
                  <a:srgbClr val="000000"/>
                </a:solidFill>
                <a:latin typeface="Canva Sans"/>
                <a:ea typeface="Canva Sans"/>
                <a:cs typeface="Canva Sans"/>
                <a:sym typeface="Canva Sans"/>
              </a:rPr>
              <a:t>Thalagala</a:t>
            </a:r>
            <a:r>
              <a:rPr lang="en-US" sz="2300">
                <a:solidFill>
                  <a:srgbClr val="000000"/>
                </a:solidFill>
                <a:latin typeface="Canva Sans"/>
                <a:ea typeface="Canva Sans"/>
                <a:cs typeface="Canva Sans"/>
                <a:sym typeface="Canva Sans"/>
              </a:rPr>
              <a:t> T.A.D.V.  |  R26-081</a:t>
            </a:r>
          </a:p>
        </p:txBody>
      </p:sp>
      <p:sp>
        <p:nvSpPr>
          <p:cNvPr id="21" name="TextBox 13">
            <a:extLst>
              <a:ext uri="{FF2B5EF4-FFF2-40B4-BE49-F238E27FC236}">
                <a16:creationId xmlns:a16="http://schemas.microsoft.com/office/drawing/2014/main" id="{46B984F3-E338-4574-07DD-99A6D009A6EE}"/>
              </a:ext>
            </a:extLst>
          </p:cNvPr>
          <p:cNvSpPr txBox="1"/>
          <p:nvPr/>
        </p:nvSpPr>
        <p:spPr>
          <a:xfrm>
            <a:off x="585049" y="6474897"/>
            <a:ext cx="8827082" cy="428598"/>
          </a:xfrm>
          <a:prstGeom prst="rect">
            <a:avLst/>
          </a:prstGeom>
        </p:spPr>
        <p:txBody>
          <a:bodyPr lIns="0" tIns="0" rIns="0" bIns="0" rtlCol="0" anchor="t">
            <a:spAutoFit/>
          </a:bodyPr>
          <a:lstStyle/>
          <a:p>
            <a:pPr>
              <a:lnSpc>
                <a:spcPts val="3150"/>
              </a:lnSpc>
            </a:pPr>
            <a:r>
              <a:rPr lang="en-US" sz="3500">
                <a:solidFill>
                  <a:srgbClr val="009B0B"/>
                </a:solidFill>
                <a:latin typeface="Canva Sans"/>
              </a:rPr>
              <a:t>Data Availability &amp; Ethical Clearance</a:t>
            </a:r>
            <a:endParaRPr lang="en-US"/>
          </a:p>
        </p:txBody>
      </p:sp>
      <p:sp>
        <p:nvSpPr>
          <p:cNvPr id="24" name="TextBox 23">
            <a:extLst>
              <a:ext uri="{FF2B5EF4-FFF2-40B4-BE49-F238E27FC236}">
                <a16:creationId xmlns:a16="http://schemas.microsoft.com/office/drawing/2014/main" id="{14DE0689-4743-4857-F251-7CD89E1CCFB4}"/>
              </a:ext>
            </a:extLst>
          </p:cNvPr>
          <p:cNvSpPr txBox="1"/>
          <p:nvPr/>
        </p:nvSpPr>
        <p:spPr>
          <a:xfrm>
            <a:off x="1058956" y="7210985"/>
            <a:ext cx="15111132"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800"/>
              <a:t>Dataset contains material-wise textile waste quantity records </a:t>
            </a:r>
            <a:endParaRPr lang="en-US" sz="2800">
              <a:ea typeface="Calibri"/>
              <a:cs typeface="Calibri"/>
            </a:endParaRPr>
          </a:p>
          <a:p>
            <a:pPr>
              <a:buFont typeface=""/>
              <a:buChar char="•"/>
            </a:pPr>
            <a:r>
              <a:rPr lang="en-US" sz="2800"/>
              <a:t>No personal or sensitive user data was collected </a:t>
            </a:r>
            <a:endParaRPr lang="en-US" sz="2800">
              <a:ea typeface="Calibri"/>
              <a:cs typeface="Calibri"/>
            </a:endParaRPr>
          </a:p>
          <a:p>
            <a:pPr>
              <a:buFont typeface=""/>
              <a:buChar char="•"/>
            </a:pPr>
            <a:r>
              <a:rPr lang="en-US" sz="2800"/>
              <a:t>Data used only for research and educational purposes </a:t>
            </a:r>
            <a:endParaRPr lang="en-US" sz="2800">
              <a:ea typeface="Calibri"/>
              <a:cs typeface="Calibri"/>
            </a:endParaRPr>
          </a:p>
          <a:p>
            <a:pPr>
              <a:buFont typeface=""/>
              <a:buChar char="•"/>
            </a:pPr>
            <a:r>
              <a:rPr lang="en-US" sz="2800"/>
              <a:t>System follows responsible AI and sustainability-focused practices </a:t>
            </a:r>
            <a:endParaRPr lang="en-US" sz="2800">
              <a:ea typeface="Calibri"/>
              <a:cs typeface="Calibri"/>
            </a:endParaRPr>
          </a:p>
          <a:p>
            <a:pPr>
              <a:buFont typeface=""/>
              <a:buChar char="•"/>
            </a:pPr>
            <a:r>
              <a:rPr lang="en-US" sz="2800"/>
              <a:t>Future work includes larger real-world textile waste datasets and improved forecasting validation</a:t>
            </a:r>
            <a:endParaRPr lang="en-US" sz="2800">
              <a:ea typeface="Calibri"/>
              <a:cs typeface="Calibri"/>
            </a:endParaRPr>
          </a:p>
          <a:p>
            <a:pPr algn="ct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70741" b="-70741"/>
              </a:stretch>
            </a:blipFill>
          </p:spPr>
          <p:txBody>
            <a:bodyPr/>
            <a:lstStyle/>
            <a:p>
              <a:endParaRPr lang="en-US"/>
            </a:p>
          </p:txBody>
        </p:sp>
      </p:grpSp>
      <p:sp>
        <p:nvSpPr>
          <p:cNvPr id="4" name="TextBox 4"/>
          <p:cNvSpPr txBox="1"/>
          <p:nvPr/>
        </p:nvSpPr>
        <p:spPr>
          <a:xfrm>
            <a:off x="5543603" y="4034423"/>
            <a:ext cx="7648573" cy="2024990"/>
          </a:xfrm>
          <a:prstGeom prst="rect">
            <a:avLst/>
          </a:prstGeom>
        </p:spPr>
        <p:txBody>
          <a:bodyPr lIns="0" tIns="0" rIns="0" bIns="0" rtlCol="0" anchor="t">
            <a:spAutoFit/>
          </a:bodyPr>
          <a:lstStyle/>
          <a:p>
            <a:pPr algn="l">
              <a:lnSpc>
                <a:spcPts val="14759"/>
              </a:lnSpc>
            </a:pPr>
            <a:r>
              <a:rPr lang="en-US" sz="16399" spc="327">
                <a:solidFill>
                  <a:srgbClr val="009B0B"/>
                </a:solidFill>
                <a:latin typeface="League Gothic"/>
                <a:ea typeface="League Gothic"/>
                <a:cs typeface="League Gothic"/>
                <a:sym typeface="League Gothic"/>
              </a:rPr>
              <a:t>Thank You!</a:t>
            </a:r>
          </a:p>
        </p:txBody>
      </p:sp>
      <p:grpSp>
        <p:nvGrpSpPr>
          <p:cNvPr id="5" name="Group 5"/>
          <p:cNvGrpSpPr/>
          <p:nvPr/>
        </p:nvGrpSpPr>
        <p:grpSpPr>
          <a:xfrm>
            <a:off x="20999" y="9533010"/>
            <a:ext cx="3917169" cy="703984"/>
            <a:chOff x="0" y="0"/>
            <a:chExt cx="5222892" cy="938645"/>
          </a:xfrm>
        </p:grpSpPr>
        <p:sp>
          <p:nvSpPr>
            <p:cNvPr id="6" name="Freeform 6"/>
            <p:cNvSpPr/>
            <p:nvPr/>
          </p:nvSpPr>
          <p:spPr>
            <a:xfrm>
              <a:off x="0" y="0"/>
              <a:ext cx="5222875" cy="938657"/>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a:p>
          </p:txBody>
        </p:sp>
      </p:grpSp>
      <p:sp>
        <p:nvSpPr>
          <p:cNvPr id="7" name="TextBox 7"/>
          <p:cNvSpPr txBox="1"/>
          <p:nvPr/>
        </p:nvSpPr>
        <p:spPr>
          <a:xfrm>
            <a:off x="15201076" y="9716626"/>
            <a:ext cx="1615169" cy="389254"/>
          </a:xfrm>
          <a:prstGeom prst="rect">
            <a:avLst/>
          </a:prstGeom>
        </p:spPr>
        <p:txBody>
          <a:bodyPr lIns="0" tIns="0" rIns="0" bIns="0" rtlCol="0" anchor="t">
            <a:spAutoFit/>
          </a:bodyPr>
          <a:lstStyle/>
          <a:p>
            <a:pPr algn="ctr">
              <a:lnSpc>
                <a:spcPts val="3220"/>
              </a:lnSpc>
            </a:pPr>
            <a:r>
              <a:rPr lang="en-US" sz="2300">
                <a:solidFill>
                  <a:srgbClr val="000000"/>
                </a:solidFill>
                <a:latin typeface="Canva Sans"/>
                <a:ea typeface="Canva Sans"/>
                <a:cs typeface="Canva Sans"/>
                <a:sym typeface="Canva Sans"/>
              </a:rPr>
              <a:t>9/11/2025</a:t>
            </a:r>
          </a:p>
        </p:txBody>
      </p:sp>
      <p:sp>
        <p:nvSpPr>
          <p:cNvPr id="8" name="TextBox 8"/>
          <p:cNvSpPr txBox="1"/>
          <p:nvPr/>
        </p:nvSpPr>
        <p:spPr>
          <a:xfrm>
            <a:off x="17031490" y="9716626"/>
            <a:ext cx="851161" cy="389197"/>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3" ma:contentTypeDescription="Create a new document." ma:contentTypeScope="" ma:versionID="ed8957265f396ef1a05f01d558c99f69">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1597c9238c56ccca7c2d5e0a413be07c"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137ED6-094B-47CB-8DE9-EC25978E341E}">
  <ds:schemaRefs>
    <ds:schemaRef ds:uri="http://schemas.microsoft.com/sharepoint/v3/contenttype/forms"/>
  </ds:schemaRefs>
</ds:datastoreItem>
</file>

<file path=customXml/itemProps2.xml><?xml version="1.0" encoding="utf-8"?>
<ds:datastoreItem xmlns:ds="http://schemas.openxmlformats.org/officeDocument/2006/customXml" ds:itemID="{0529FF82-449D-4ED7-ABB2-BA0333A34E86}">
  <ds:schemaRefs>
    <ds:schemaRef ds:uri="http://schemas.microsoft.com/office/2006/metadata/properties"/>
    <ds:schemaRef ds:uri="http://schemas.microsoft.com/office/infopath/2007/PartnerControls"/>
    <ds:schemaRef ds:uri="db72c12f-87a4-44ab-bbc5-4cc8306b158a"/>
    <ds:schemaRef ds:uri="5aad1aa7-8ede-435c-b3a7-ac11bacaeb50"/>
  </ds:schemaRefs>
</ds:datastoreItem>
</file>

<file path=customXml/itemProps3.xml><?xml version="1.0" encoding="utf-8"?>
<ds:datastoreItem xmlns:ds="http://schemas.openxmlformats.org/officeDocument/2006/customXml" ds:itemID="{F8C74112-9B6B-4536-B045-234F3454C2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ad1aa7-8ede-435c-b3a7-ac11bacaeb50"/>
    <ds:schemaRef ds:uri="db72c12f-87a4-44ab-bbc5-4cc8306b15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4e3cf94-19c9-4e32-96c3-14f5bf01391a}" enabled="0" method="" siteId="{44e3cf94-19c9-4e32-96c3-14f5bf01391a}" removed="1"/>
</clbl:labelList>
</file>

<file path=docProps/app.xml><?xml version="1.0" encoding="utf-8"?>
<Properties xmlns="http://schemas.openxmlformats.org/officeDocument/2006/extended-properties" xmlns:vt="http://schemas.openxmlformats.org/officeDocument/2006/docPropsVTypes">
  <TotalTime>84</TotalTime>
  <Words>2019</Words>
  <Application>Microsoft Office PowerPoint</Application>
  <PresentationFormat>Custom</PresentationFormat>
  <Paragraphs>459</Paragraphs>
  <Slides>39</Slides>
  <Notes>3</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HELANOVA</dc:title>
  <dc:creator>Janith</dc:creator>
  <cp:lastModifiedBy>SANDEEPA S.A.C it22281814</cp:lastModifiedBy>
  <cp:revision>14</cp:revision>
  <dcterms:created xsi:type="dcterms:W3CDTF">2006-08-16T00:00:00Z</dcterms:created>
  <dcterms:modified xsi:type="dcterms:W3CDTF">2026-10-17T07:17:57Z</dcterms:modified>
  <dc:identifier>DAGxntMEx8Y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y fmtid="{D5CDD505-2E9C-101B-9397-08002B2CF9AE}" pid="3" name="MediaServiceImageTags">
    <vt:lpwstr/>
  </property>
</Properties>
</file>