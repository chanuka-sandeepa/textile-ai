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entation.xml" ContentType="application/vnd.openxmlformats-officedocument.presentationml.presentation.main+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1.xml" ContentType="application/vnd.openxmlformats-officedocument.presentationml.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7.xml" ContentType="application/vnd.openxmlformats-officedocument.presentationml.notesSlide+xml"/>
  <Override PartName="/ppt/notesSlides/notesSlide11.xml" ContentType="application/vnd.openxmlformats-officedocument.presentationml.notesSlide+xml"/>
  <Override PartName="/ppt/notesSlides/notesSlide36.xml" ContentType="application/vnd.openxmlformats-officedocument.presentationml.notesSlide+xml"/>
  <Override PartName="/ppt/notesSlides/notesSlide12.xml" ContentType="application/vnd.openxmlformats-officedocument.presentationml.notesSlide+xml"/>
  <Override PartName="/ppt/notesSlides/notesSlide35.xml" ContentType="application/vnd.openxmlformats-officedocument.presentationml.notesSlide+xml"/>
  <Override PartName="/ppt/notesSlides/notesSlide13.xml" ContentType="application/vnd.openxmlformats-officedocument.presentationml.notesSlide+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30.xml" ContentType="application/vnd.openxmlformats-officedocument.presentationml.notesSlide+xml"/>
  <Override PartName="/ppt/notesSlides/notesSlide29.xml" ContentType="application/vnd.openxmlformats-officedocument.presentationml.notesSlide+xml"/>
  <Override PartName="/ppt/notesSlides/notesSlide14.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slideMasters/slideMaster1.xml" ContentType="application/vnd.openxmlformats-officedocument.presentationml.slideMaster+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revisionInfo.xml" ContentType="application/vnd.ms-powerpoint.revision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12192000"/>
  <p:embeddedFontLst>
    <p:embeddedFont>
      <p:font typeface="Consolas" panose="020B0609020204030204" pitchFamily="49" charset="0"/>
      <p:regular r:id="rId42"/>
      <p:bold r:id="rId43"/>
      <p:italic r:id="rId44"/>
      <p:boldItalic r:id="rId45"/>
    </p:embeddedFont>
    <p:embeddedFont>
      <p:font typeface="DM Sans ExtraBold" pitchFamily="2" charset="77"/>
      <p:regular r:id="rId46"/>
      <p:bold r:id="rId47"/>
    </p:embeddedFont>
    <p:embeddedFont>
      <p:font typeface="Inter Light" panose="02000503000000020004" pitchFamily="2" charset="0"/>
      <p:regular r:id="rId4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6D9D5E-0D64-5A56-19F3-4620D912FC70}" v="8" dt="2026-09-01T04:13:02.392"/>
    <p1510:client id="{ED9050C5-0C2C-7E4A-8E75-87E60DC67237}" v="2" dt="2026-09-01T04:16:39.8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574"/>
    <p:restoredTop sz="94610"/>
  </p:normalViewPr>
  <p:slideViewPr>
    <p:cSldViewPr snapToGrid="0" snapToObjects="1">
      <p:cViewPr varScale="1">
        <p:scale>
          <a:sx n="119" d="100"/>
          <a:sy n="119" d="100"/>
        </p:scale>
        <p:origin x="216" y="9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viewProps" Target="viewProps.xml"/><Relationship Id="rId55"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notesMaster" Target="notesMasters/notesMaster1.xml"/><Relationship Id="rId54"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4714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core research question, highlighting the integrated approach. Then, break it down into the five key sub-questions that our project aims to answer, explaining how each sub-question addresses a specific challenge within textile waste upcycling.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the AI pipeline works, step-by-step, from image upload to assessing remaining lifespan.
Highlight the EfficientNet-B3 model as the technical backbone and briefly mention its strengths for image classification.
Emphasize the breadth of fabric types our system can identify (16 classes) to show its versatility.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importance of quantifying environmental benefits for stakeholders and decision-makers.
Briefly describe each output, emphasizing its relevance to textile sustainability and circularity.
Mention that these metrics will help users understand the direct positive impact of their choices.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problem with a compelling visual and highlight the key environmental and economic losses.
Explain how current marketplaces fall short by only focusing on price, missing the crucial environmental quantification.
Emphasize how TexCycle AI fills this gap by adding environmental value to the equation, laying the groundwork for the next discussion.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scenario step-by-step, explaining how user input translates into TexCycle AI's analysis and leads to actionable recommendations.
Emphasize the practical value of the recommended action and the transparency of the calculated metrics.
Briefly mention that the image is an example of the kind of output the user would see on the Sustainability Analysis page.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this section as the core of economic valuation and marketplace efficiency.
Elaborate on how answering "what it's worth" and "who should buy it" is crucial for a thriving circular economy, moving beyond simple listing price.
Emphasize the importance of traceability in building trust and transparency in the textile supply chain, and how a digital material history enhances this.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by highlighting the core issue: inefficiency and lack of transparency in the textile waste market.
Explain how these challenges prevent valuable textile resources from being properly commercialized and re-integrated into the circular economy.
Set the stage for how TexCycle AI addresses these specific pain points for both sides of the marketplace.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while these research areas exist, their integration, especially with textile-specific data, is the gap we're filling.
Highlight how each limitation mentioned for Research A, B, and C is directly addressed by TexCycle AI's integrated approach.
Emphasize the unique value proposition of combining all four elements: AI Pricing, Buyer Recommendation, Traceability, and Sustainability, making the system comprehensive and powerful.</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details the specific technologies and foundational domains that power TexCycle AI.
Highlight how a diverse set of AI/ML techniques allows us to accurately assess textile value, and how sophisticated recommendation algorithms ensure the right matches are made.
Emphasize the robust traceability features, creating a comprehensive digital history for every textile batch.
Mention the modern, scalable technology stack and reiterate how these components collectively support the key domains relevant to circular economy principles.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MAE, RMSE, and R² values showcase the model's accuracy in predicting prices, indicating minimal error and high explanatory power.
Highlight that recommendation evaluation focuses on user engagement and the practical utility of the matches proposed by the AI.
For traceability, emphasize the system's ability to maintain a reliable and unalterable digital material history, which is crucial for building trust in circular supply chains.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next team member, Thalagala T.A.D.V., and their core contribution to the TexCycle AI project: the development of the marketplace platform and its integrated predictive analytics capabilities.
Briefly emphasize the significance of a robust marketplace and accurate predictions for the success of the circular economy model being presented.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specific research component focusing on marketplace predictive analytics.
Emphasize the core question the research aims to answer: forecasting marketplace performance.
Briefly explain each of the main outputs, highlighting how they contribute to a more efficient and predictable textile waste marketplace.
Mention that these outputs directly support buyers and sellers in making informed decisions.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core functionality of Marketplace Predictive Analytics, highlighting how it provides crucial market intelligence.
For "Key Predictive Outputs", briefly explain what each prediction entails (Sold/Unsold, Estimated Days to Sell, Increasing/Stable/Decreasing trends).
For "Algorithm: XGBoost", emphasize that XGBoost is used for all predictions due to its robustness. Specify whether it's a Classifier or Regressor for each prediction, aligning with the type of output.
Conclude by stating how these predictions directly support informed decision-making for both textile sellers and buyers on the platform.</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details of the dataset used for Member 4's models, including its size and the number of features.
Clearly state that the dataset is synthetic/prototype and used primarily for model development and demonstration.
Emphasize the critical need for real-world Sri Lankan transaction data to validate the models' performance in a live market scenario, reiterating that the current metrics are based on this synthetic data.</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commercialization strategy for the TexCycle AI platform, emphasizing how it bridges the gap between textile waste generators and those who can reuse or recycle it.
Highlight the diverse range of target users on both the supply and demand sides, showcasing the broad applicability and potential impact of the platform.
Explain the specific value propositions for both sellers (e.g., maximizing revenue through better valuation, efficient sales) and buyers (e.g., easy access to diverse materials, informed decision-making).
Connect these points back to the overall goal of creating a transparent and efficient circular economy.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core business model, outlining the three distinct tiers and their respective feature sets.
Emphasize how the tiered approach balances accessibility with advanced value propositions for different user segments.
Detail each potential revenue stream, explaining how TexCycle AI will generate income from transaction commissions, premium subscriptions, enterprise solutions, API access, and verified business services.
Connect these revenue streams back to the value provided to users and the sustainability of the platform.</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the presentation with a clear and concise thank you message.
Reiterate the core mission and value proposition of TexCycle AI in a memorable way.
Summarize the key pillars of the project: AI, Sustainability, Marketplace, and Circular Economy.
Keep the design clean and impactful, suitable for a closing slide.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solidFill>
          <a:ln/>
        </p:spPr>
      </p:sp>
      <p:pic>
        <p:nvPicPr>
          <p:cNvPr id="4" name="Image 1" descr="preencoded.png"/>
          <p:cNvPicPr>
            <a:picLocks noChangeAspect="1"/>
          </p:cNvPicPr>
          <p:nvPr/>
        </p:nvPicPr>
        <p:blipFill>
          <a:blip r:embed="rId3"/>
          <a:stretch>
            <a:fillRect/>
          </a:stretch>
        </p:blipFill>
        <p:spPr>
          <a:xfrm>
            <a:off x="0" y="0"/>
            <a:ext cx="12191695" cy="6858000"/>
          </a:xfrm>
          <a:prstGeom prst="rect">
            <a:avLst/>
          </a:prstGeom>
        </p:spPr>
      </p:pic>
      <p:sp>
        <p:nvSpPr>
          <p:cNvPr id="5" name="Shape 1"/>
          <p:cNvSpPr/>
          <p:nvPr/>
        </p:nvSpPr>
        <p:spPr>
          <a:xfrm>
            <a:off x="0" y="0"/>
            <a:ext cx="12191695" cy="6858000"/>
          </a:xfrm>
          <a:prstGeom prst="rect">
            <a:avLst/>
          </a:prstGeom>
          <a:solidFill>
            <a:srgbClr val="FFFFFF">
              <a:alpha val="40000"/>
            </a:srgbClr>
          </a:solidFill>
          <a:ln/>
        </p:spPr>
      </p:sp>
      <p:pic>
        <p:nvPicPr>
          <p:cNvPr id="6" name="Image 2" descr="preencoded.png">
            <a:hlinkClick r:id="rId4"/>
          </p:cNvPr>
          <p:cNvPicPr>
            <a:picLocks noChangeAspect="1"/>
          </p:cNvPicPr>
          <p:nvPr/>
        </p:nvPicPr>
        <p:blipFill>
          <a:blip r:embed="rId5"/>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solidFill>
          <a:ln/>
        </p:spPr>
      </p:sp>
      <p:pic>
        <p:nvPicPr>
          <p:cNvPr id="4" name="Image 1" descr="preencoded.png"/>
          <p:cNvPicPr>
            <a:picLocks noChangeAspect="1"/>
          </p:cNvPicPr>
          <p:nvPr/>
        </p:nvPicPr>
        <p:blipFill>
          <a:blip r:embed="rId3"/>
          <a:stretch>
            <a:fillRect/>
          </a:stretch>
        </p:blipFill>
        <p:spPr>
          <a:xfrm>
            <a:off x="0" y="0"/>
            <a:ext cx="12191695" cy="6858000"/>
          </a:xfrm>
          <a:prstGeom prst="rect">
            <a:avLst/>
          </a:prstGeom>
        </p:spPr>
      </p:pic>
      <p:sp>
        <p:nvSpPr>
          <p:cNvPr id="5" name="Shape 1"/>
          <p:cNvSpPr/>
          <p:nvPr/>
        </p:nvSpPr>
        <p:spPr>
          <a:xfrm>
            <a:off x="0" y="0"/>
            <a:ext cx="12191695" cy="6858000"/>
          </a:xfrm>
          <a:prstGeom prst="rect">
            <a:avLst/>
          </a:prstGeom>
          <a:solidFill>
            <a:srgbClr val="FFFFFF">
              <a:alpha val="85000"/>
            </a:srgbClr>
          </a:solidFill>
          <a:ln/>
        </p:spPr>
      </p:sp>
      <p:pic>
        <p:nvPicPr>
          <p:cNvPr id="6" name="Image 2" descr="preencoded.png">
            <a:hlinkClick r:id="rId4"/>
          </p:cNvPr>
          <p:cNvPicPr>
            <a:picLocks noChangeAspect="1"/>
          </p:cNvPicPr>
          <p:nvPr/>
        </p:nvPicPr>
        <p:blipFill>
          <a:blip r:embed="rId5"/>
          <a:stretch>
            <a:fillRect/>
          </a:stretch>
        </p:blipFill>
        <p:spPr>
          <a:xfrm>
            <a:off x="11076875"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solidFill>
          <a:ln/>
        </p:spPr>
      </p:sp>
      <p:pic>
        <p:nvPicPr>
          <p:cNvPr id="4" name="Image 1" descr="preencoded.png"/>
          <p:cNvPicPr>
            <a:picLocks noChangeAspect="1"/>
          </p:cNvPicPr>
          <p:nvPr/>
        </p:nvPicPr>
        <p:blipFill>
          <a:blip r:embed="rId3"/>
          <a:stretch>
            <a:fillRect/>
          </a:stretch>
        </p:blipFill>
        <p:spPr>
          <a:xfrm>
            <a:off x="0" y="0"/>
            <a:ext cx="12191695" cy="6858000"/>
          </a:xfrm>
          <a:prstGeom prst="rect">
            <a:avLst/>
          </a:prstGeom>
        </p:spPr>
      </p:pic>
      <p:sp>
        <p:nvSpPr>
          <p:cNvPr id="5" name="Shape 1"/>
          <p:cNvSpPr/>
          <p:nvPr/>
        </p:nvSpPr>
        <p:spPr>
          <a:xfrm>
            <a:off x="0" y="0"/>
            <a:ext cx="12191695" cy="6858000"/>
          </a:xfrm>
          <a:prstGeom prst="rect">
            <a:avLst/>
          </a:prstGeom>
          <a:solidFill>
            <a:srgbClr val="FFFFFF">
              <a:alpha val="85000"/>
            </a:srgbClr>
          </a:solidFill>
          <a:ln/>
        </p:spPr>
      </p:sp>
      <p:pic>
        <p:nvPicPr>
          <p:cNvPr id="6" name="Image 2" descr="preencoded.png">
            <a:hlinkClick r:id="rId4"/>
          </p:cNvPr>
          <p:cNvPicPr>
            <a:picLocks noChangeAspect="1"/>
          </p:cNvPicPr>
          <p:nvPr/>
        </p:nvPicPr>
        <p:blipFill>
          <a:blip r:embed="rId5"/>
          <a:stretch>
            <a:fillRect/>
          </a:stretch>
        </p:blipFill>
        <p:spPr>
          <a:xfrm>
            <a:off x="11076875" y="65589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master 5">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solidFill>
          <a:ln/>
        </p:spPr>
      </p:sp>
      <p:pic>
        <p:nvPicPr>
          <p:cNvPr id="4" name="Image 1" descr="preencoded.png"/>
          <p:cNvPicPr>
            <a:picLocks noChangeAspect="1"/>
          </p:cNvPicPr>
          <p:nvPr/>
        </p:nvPicPr>
        <p:blipFill>
          <a:blip r:embed="rId3"/>
          <a:stretch>
            <a:fillRect/>
          </a:stretch>
        </p:blipFill>
        <p:spPr>
          <a:xfrm>
            <a:off x="0" y="0"/>
            <a:ext cx="12191695" cy="6858000"/>
          </a:xfrm>
          <a:prstGeom prst="rect">
            <a:avLst/>
          </a:prstGeom>
        </p:spPr>
      </p:pic>
      <p:sp>
        <p:nvSpPr>
          <p:cNvPr id="5" name="Shape 1"/>
          <p:cNvSpPr/>
          <p:nvPr/>
        </p:nvSpPr>
        <p:spPr>
          <a:xfrm>
            <a:off x="0" y="0"/>
            <a:ext cx="12191695" cy="6858000"/>
          </a:xfrm>
          <a:prstGeom prst="rect">
            <a:avLst/>
          </a:prstGeom>
          <a:solidFill>
            <a:srgbClr val="FFFFFF">
              <a:alpha val="85000"/>
            </a:srgbClr>
          </a:solidFill>
          <a:ln/>
        </p:spPr>
      </p:sp>
      <p:pic>
        <p:nvPicPr>
          <p:cNvPr id="6" name="Image 2" descr="preencoded.png">
            <a:hlinkClick r:id="rId4"/>
          </p:cNvPr>
          <p:cNvPicPr>
            <a:picLocks noChangeAspect="1"/>
          </p:cNvPicPr>
          <p:nvPr/>
        </p:nvPicPr>
        <p:blipFill>
          <a:blip r:embed="rId5"/>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eg"/><Relationship Id="rId7" Type="http://schemas.openxmlformats.org/officeDocument/2006/relationships/image" Target="../media/image13.svg"/><Relationship Id="rId12"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s>
</file>

<file path=ppt/slides/_rels/slide5.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8" Type="http://schemas.openxmlformats.org/officeDocument/2006/relationships/image" Target="../media/image33.svg"/><Relationship Id="rId13" Type="http://schemas.openxmlformats.org/officeDocument/2006/relationships/image" Target="../media/image8.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1.sv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svg"/><Relationship Id="rId4" Type="http://schemas.openxmlformats.org/officeDocument/2006/relationships/image" Target="../media/image29.svg"/><Relationship Id="rId9" Type="http://schemas.openxmlformats.org/officeDocument/2006/relationships/image" Target="../media/image34.png"/></Relationships>
</file>

<file path=ppt/slides/_rels/slide7.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svg"/><Relationship Id="rId3" Type="http://schemas.openxmlformats.org/officeDocument/2006/relationships/image" Target="../media/image38.jpeg"/><Relationship Id="rId7" Type="http://schemas.openxmlformats.org/officeDocument/2006/relationships/image" Target="../media/image42.svg"/><Relationship Id="rId12" Type="http://schemas.openxmlformats.org/officeDocument/2006/relationships/image" Target="../media/image4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svg"/><Relationship Id="rId5" Type="http://schemas.openxmlformats.org/officeDocument/2006/relationships/image" Target="../media/image40.svg"/><Relationship Id="rId15" Type="http://schemas.openxmlformats.org/officeDocument/2006/relationships/image" Target="../media/image50.sv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svg"/><Relationship Id="rId14" Type="http://schemas.openxmlformats.org/officeDocument/2006/relationships/image" Target="../media/image49.png"/></Relationships>
</file>

<file path=ppt/slides/_rels/slide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57.svg"/><Relationship Id="rId13" Type="http://schemas.openxmlformats.org/officeDocument/2006/relationships/image" Target="../media/image62.png"/><Relationship Id="rId18" Type="http://schemas.openxmlformats.org/officeDocument/2006/relationships/image" Target="../media/image67.svg"/><Relationship Id="rId26" Type="http://schemas.openxmlformats.org/officeDocument/2006/relationships/image" Target="../media/image75.svg"/><Relationship Id="rId3" Type="http://schemas.openxmlformats.org/officeDocument/2006/relationships/image" Target="../media/image52.png"/><Relationship Id="rId21" Type="http://schemas.openxmlformats.org/officeDocument/2006/relationships/image" Target="../media/image70.png"/><Relationship Id="rId7" Type="http://schemas.openxmlformats.org/officeDocument/2006/relationships/image" Target="../media/image56.png"/><Relationship Id="rId12" Type="http://schemas.openxmlformats.org/officeDocument/2006/relationships/image" Target="../media/image61.svg"/><Relationship Id="rId17" Type="http://schemas.openxmlformats.org/officeDocument/2006/relationships/image" Target="../media/image66.png"/><Relationship Id="rId25" Type="http://schemas.openxmlformats.org/officeDocument/2006/relationships/image" Target="../media/image74.png"/><Relationship Id="rId2" Type="http://schemas.openxmlformats.org/officeDocument/2006/relationships/notesSlide" Target="../notesSlides/notesSlide10.xml"/><Relationship Id="rId16" Type="http://schemas.openxmlformats.org/officeDocument/2006/relationships/image" Target="../media/image65.svg"/><Relationship Id="rId20" Type="http://schemas.openxmlformats.org/officeDocument/2006/relationships/image" Target="../media/image69.svg"/><Relationship Id="rId1" Type="http://schemas.openxmlformats.org/officeDocument/2006/relationships/slideLayout" Target="../slideLayouts/slideLayout2.xml"/><Relationship Id="rId6" Type="http://schemas.openxmlformats.org/officeDocument/2006/relationships/image" Target="../media/image55.svg"/><Relationship Id="rId11" Type="http://schemas.openxmlformats.org/officeDocument/2006/relationships/image" Target="../media/image60.png"/><Relationship Id="rId24" Type="http://schemas.openxmlformats.org/officeDocument/2006/relationships/image" Target="../media/image73.svg"/><Relationship Id="rId5" Type="http://schemas.openxmlformats.org/officeDocument/2006/relationships/image" Target="../media/image54.png"/><Relationship Id="rId15" Type="http://schemas.openxmlformats.org/officeDocument/2006/relationships/image" Target="../media/image64.png"/><Relationship Id="rId23" Type="http://schemas.openxmlformats.org/officeDocument/2006/relationships/image" Target="../media/image72.png"/><Relationship Id="rId10" Type="http://schemas.openxmlformats.org/officeDocument/2006/relationships/image" Target="../media/image59.svg"/><Relationship Id="rId19" Type="http://schemas.openxmlformats.org/officeDocument/2006/relationships/image" Target="../media/image68.png"/><Relationship Id="rId4" Type="http://schemas.openxmlformats.org/officeDocument/2006/relationships/image" Target="../media/image53.svg"/><Relationship Id="rId9" Type="http://schemas.openxmlformats.org/officeDocument/2006/relationships/image" Target="../media/image58.png"/><Relationship Id="rId14" Type="http://schemas.openxmlformats.org/officeDocument/2006/relationships/image" Target="../media/image63.svg"/><Relationship Id="rId22" Type="http://schemas.openxmlformats.org/officeDocument/2006/relationships/image" Target="../media/image71.svg"/><Relationship Id="rId27"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8" Type="http://schemas.openxmlformats.org/officeDocument/2006/relationships/image" Target="../media/image83.svg"/><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81.svg"/><Relationship Id="rId5" Type="http://schemas.openxmlformats.org/officeDocument/2006/relationships/image" Target="../media/image80.png"/><Relationship Id="rId4" Type="http://schemas.openxmlformats.org/officeDocument/2006/relationships/image" Target="../media/image79.svg"/><Relationship Id="rId9"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image" Target="../media/image89.svg"/><Relationship Id="rId13" Type="http://schemas.openxmlformats.org/officeDocument/2006/relationships/image" Target="../media/image94.png"/><Relationship Id="rId18" Type="http://schemas.openxmlformats.org/officeDocument/2006/relationships/image" Target="../media/image99.svg"/><Relationship Id="rId3" Type="http://schemas.openxmlformats.org/officeDocument/2006/relationships/image" Target="../media/image84.png"/><Relationship Id="rId7" Type="http://schemas.openxmlformats.org/officeDocument/2006/relationships/image" Target="../media/image88.png"/><Relationship Id="rId12" Type="http://schemas.openxmlformats.org/officeDocument/2006/relationships/image" Target="../media/image93.svg"/><Relationship Id="rId17" Type="http://schemas.openxmlformats.org/officeDocument/2006/relationships/image" Target="../media/image98.png"/><Relationship Id="rId2" Type="http://schemas.openxmlformats.org/officeDocument/2006/relationships/notesSlide" Target="../notesSlides/notesSlide14.xml"/><Relationship Id="rId16" Type="http://schemas.openxmlformats.org/officeDocument/2006/relationships/image" Target="../media/image97.svg"/><Relationship Id="rId1" Type="http://schemas.openxmlformats.org/officeDocument/2006/relationships/slideLayout" Target="../slideLayouts/slideLayout2.xml"/><Relationship Id="rId6" Type="http://schemas.openxmlformats.org/officeDocument/2006/relationships/image" Target="../media/image87.svg"/><Relationship Id="rId11" Type="http://schemas.openxmlformats.org/officeDocument/2006/relationships/image" Target="../media/image92.png"/><Relationship Id="rId5" Type="http://schemas.openxmlformats.org/officeDocument/2006/relationships/image" Target="../media/image86.png"/><Relationship Id="rId15" Type="http://schemas.openxmlformats.org/officeDocument/2006/relationships/image" Target="../media/image96.png"/><Relationship Id="rId10" Type="http://schemas.openxmlformats.org/officeDocument/2006/relationships/image" Target="../media/image91.svg"/><Relationship Id="rId19" Type="http://schemas.openxmlformats.org/officeDocument/2006/relationships/image" Target="../media/image8.png"/><Relationship Id="rId4" Type="http://schemas.openxmlformats.org/officeDocument/2006/relationships/image" Target="../media/image85.svg"/><Relationship Id="rId9" Type="http://schemas.openxmlformats.org/officeDocument/2006/relationships/image" Target="../media/image90.png"/><Relationship Id="rId14" Type="http://schemas.openxmlformats.org/officeDocument/2006/relationships/image" Target="../media/image95.svg"/></Relationships>
</file>

<file path=ppt/slides/_rels/slide15.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0.jpeg"/><Relationship Id="rId7" Type="http://schemas.openxmlformats.org/officeDocument/2006/relationships/image" Target="../media/image104.sv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image" Target="../media/image102.svg"/><Relationship Id="rId4" Type="http://schemas.openxmlformats.org/officeDocument/2006/relationships/image" Target="../media/image101.png"/><Relationship Id="rId9" Type="http://schemas.openxmlformats.org/officeDocument/2006/relationships/image" Target="../media/image106.svg"/></Relationships>
</file>

<file path=ppt/slides/_rels/slide16.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16.svg"/><Relationship Id="rId13" Type="http://schemas.openxmlformats.org/officeDocument/2006/relationships/image" Target="../media/image121.png"/><Relationship Id="rId18" Type="http://schemas.openxmlformats.org/officeDocument/2006/relationships/image" Target="../media/image126.svg"/><Relationship Id="rId3" Type="http://schemas.openxmlformats.org/officeDocument/2006/relationships/image" Target="../media/image111.png"/><Relationship Id="rId21" Type="http://schemas.openxmlformats.org/officeDocument/2006/relationships/image" Target="../media/image129.png"/><Relationship Id="rId7" Type="http://schemas.openxmlformats.org/officeDocument/2006/relationships/image" Target="../media/image115.png"/><Relationship Id="rId12" Type="http://schemas.openxmlformats.org/officeDocument/2006/relationships/image" Target="../media/image120.svg"/><Relationship Id="rId17" Type="http://schemas.openxmlformats.org/officeDocument/2006/relationships/image" Target="../media/image125.png"/><Relationship Id="rId2" Type="http://schemas.openxmlformats.org/officeDocument/2006/relationships/notesSlide" Target="../notesSlides/notesSlide18.xml"/><Relationship Id="rId16" Type="http://schemas.openxmlformats.org/officeDocument/2006/relationships/image" Target="../media/image124.svg"/><Relationship Id="rId20" Type="http://schemas.openxmlformats.org/officeDocument/2006/relationships/image" Target="../media/image128.svg"/><Relationship Id="rId1" Type="http://schemas.openxmlformats.org/officeDocument/2006/relationships/slideLayout" Target="../slideLayouts/slideLayout4.xml"/><Relationship Id="rId6" Type="http://schemas.openxmlformats.org/officeDocument/2006/relationships/image" Target="../media/image114.svg"/><Relationship Id="rId11" Type="http://schemas.openxmlformats.org/officeDocument/2006/relationships/image" Target="../media/image119.png"/><Relationship Id="rId5" Type="http://schemas.openxmlformats.org/officeDocument/2006/relationships/image" Target="../media/image113.png"/><Relationship Id="rId15" Type="http://schemas.openxmlformats.org/officeDocument/2006/relationships/image" Target="../media/image123.png"/><Relationship Id="rId23" Type="http://schemas.openxmlformats.org/officeDocument/2006/relationships/image" Target="../media/image8.png"/><Relationship Id="rId10" Type="http://schemas.openxmlformats.org/officeDocument/2006/relationships/image" Target="../media/image118.svg"/><Relationship Id="rId19" Type="http://schemas.openxmlformats.org/officeDocument/2006/relationships/image" Target="../media/image127.png"/><Relationship Id="rId4" Type="http://schemas.openxmlformats.org/officeDocument/2006/relationships/image" Target="../media/image112.svg"/><Relationship Id="rId9" Type="http://schemas.openxmlformats.org/officeDocument/2006/relationships/image" Target="../media/image117.png"/><Relationship Id="rId14" Type="http://schemas.openxmlformats.org/officeDocument/2006/relationships/image" Target="../media/image122.svg"/><Relationship Id="rId22" Type="http://schemas.openxmlformats.org/officeDocument/2006/relationships/image" Target="../media/image130.svg"/></Relationships>
</file>

<file path=ppt/slides/_rels/slide19.xml.rels><?xml version="1.0" encoding="UTF-8" standalone="yes"?>
<Relationships xmlns="http://schemas.openxmlformats.org/package/2006/relationships"><Relationship Id="rId8" Type="http://schemas.openxmlformats.org/officeDocument/2006/relationships/image" Target="../media/image136.png"/><Relationship Id="rId3" Type="http://schemas.openxmlformats.org/officeDocument/2006/relationships/image" Target="../media/image131.jpeg"/><Relationship Id="rId7" Type="http://schemas.openxmlformats.org/officeDocument/2006/relationships/image" Target="../media/image135.sv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34.png"/><Relationship Id="rId5" Type="http://schemas.openxmlformats.org/officeDocument/2006/relationships/image" Target="../media/image133.svg"/><Relationship Id="rId10" Type="http://schemas.openxmlformats.org/officeDocument/2006/relationships/image" Target="../media/image8.png"/><Relationship Id="rId4" Type="http://schemas.openxmlformats.org/officeDocument/2006/relationships/image" Target="../media/image132.png"/><Relationship Id="rId9" Type="http://schemas.openxmlformats.org/officeDocument/2006/relationships/image" Target="../media/image137.svg"/></Relationships>
</file>

<file path=ppt/slides/_rels/slide20.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8" Type="http://schemas.openxmlformats.org/officeDocument/2006/relationships/image" Target="../media/image144.svg"/><Relationship Id="rId3" Type="http://schemas.openxmlformats.org/officeDocument/2006/relationships/image" Target="../media/image139.png"/><Relationship Id="rId7" Type="http://schemas.openxmlformats.org/officeDocument/2006/relationships/image" Target="../media/image143.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42.svg"/><Relationship Id="rId11" Type="http://schemas.openxmlformats.org/officeDocument/2006/relationships/image" Target="../media/image8.png"/><Relationship Id="rId5" Type="http://schemas.openxmlformats.org/officeDocument/2006/relationships/image" Target="../media/image141.png"/><Relationship Id="rId10" Type="http://schemas.openxmlformats.org/officeDocument/2006/relationships/image" Target="../media/image146.svg"/><Relationship Id="rId4" Type="http://schemas.openxmlformats.org/officeDocument/2006/relationships/image" Target="../media/image140.svg"/><Relationship Id="rId9" Type="http://schemas.openxmlformats.org/officeDocument/2006/relationships/image" Target="../media/image145.png"/></Relationships>
</file>

<file path=ppt/slides/_rels/slide22.xml.rels><?xml version="1.0" encoding="UTF-8" standalone="yes"?>
<Relationships xmlns="http://schemas.openxmlformats.org/package/2006/relationships"><Relationship Id="rId8" Type="http://schemas.openxmlformats.org/officeDocument/2006/relationships/image" Target="../media/image152.svg"/><Relationship Id="rId3" Type="http://schemas.openxmlformats.org/officeDocument/2006/relationships/image" Target="../media/image147.png"/><Relationship Id="rId7" Type="http://schemas.openxmlformats.org/officeDocument/2006/relationships/image" Target="../media/image151.png"/><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150.svg"/><Relationship Id="rId11" Type="http://schemas.openxmlformats.org/officeDocument/2006/relationships/image" Target="../media/image8.png"/><Relationship Id="rId5" Type="http://schemas.openxmlformats.org/officeDocument/2006/relationships/image" Target="../media/image149.png"/><Relationship Id="rId10" Type="http://schemas.openxmlformats.org/officeDocument/2006/relationships/image" Target="../media/image154.svg"/><Relationship Id="rId4" Type="http://schemas.openxmlformats.org/officeDocument/2006/relationships/image" Target="../media/image148.svg"/><Relationship Id="rId9" Type="http://schemas.openxmlformats.org/officeDocument/2006/relationships/image" Target="../media/image153.png"/></Relationships>
</file>

<file path=ppt/slides/_rels/slide23.xml.rels><?xml version="1.0" encoding="UTF-8" standalone="yes"?>
<Relationships xmlns="http://schemas.openxmlformats.org/package/2006/relationships"><Relationship Id="rId8" Type="http://schemas.openxmlformats.org/officeDocument/2006/relationships/image" Target="../media/image160.svg"/><Relationship Id="rId13" Type="http://schemas.openxmlformats.org/officeDocument/2006/relationships/image" Target="../media/image8.png"/><Relationship Id="rId3" Type="http://schemas.openxmlformats.org/officeDocument/2006/relationships/image" Target="../media/image155.png"/><Relationship Id="rId7" Type="http://schemas.openxmlformats.org/officeDocument/2006/relationships/image" Target="../media/image159.png"/><Relationship Id="rId12" Type="http://schemas.openxmlformats.org/officeDocument/2006/relationships/image" Target="../media/image164.sv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58.svg"/><Relationship Id="rId11" Type="http://schemas.openxmlformats.org/officeDocument/2006/relationships/image" Target="../media/image163.png"/><Relationship Id="rId5" Type="http://schemas.openxmlformats.org/officeDocument/2006/relationships/image" Target="../media/image157.png"/><Relationship Id="rId10" Type="http://schemas.openxmlformats.org/officeDocument/2006/relationships/image" Target="../media/image162.svg"/><Relationship Id="rId4" Type="http://schemas.openxmlformats.org/officeDocument/2006/relationships/image" Target="../media/image156.svg"/><Relationship Id="rId9" Type="http://schemas.openxmlformats.org/officeDocument/2006/relationships/image" Target="../media/image161.png"/></Relationships>
</file>

<file path=ppt/slides/_rels/slide24.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67.png"/><Relationship Id="rId4" Type="http://schemas.openxmlformats.org/officeDocument/2006/relationships/image" Target="../media/image166.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173.svg"/><Relationship Id="rId3" Type="http://schemas.openxmlformats.org/officeDocument/2006/relationships/image" Target="../media/image168.png"/><Relationship Id="rId7" Type="http://schemas.openxmlformats.org/officeDocument/2006/relationships/image" Target="../media/image172.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71.svg"/><Relationship Id="rId5" Type="http://schemas.openxmlformats.org/officeDocument/2006/relationships/image" Target="../media/image170.png"/><Relationship Id="rId4" Type="http://schemas.openxmlformats.org/officeDocument/2006/relationships/image" Target="../media/image169.svg"/><Relationship Id="rId9"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174.png"/><Relationship Id="rId7"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177.svg"/><Relationship Id="rId5" Type="http://schemas.openxmlformats.org/officeDocument/2006/relationships/image" Target="../media/image176.png"/><Relationship Id="rId4" Type="http://schemas.openxmlformats.org/officeDocument/2006/relationships/image" Target="../media/image175.svg"/></Relationships>
</file>

<file path=ppt/slides/_rels/slide28.xml.rels><?xml version="1.0" encoding="UTF-8" standalone="yes"?>
<Relationships xmlns="http://schemas.openxmlformats.org/package/2006/relationships"><Relationship Id="rId8" Type="http://schemas.openxmlformats.org/officeDocument/2006/relationships/image" Target="../media/image183.svg"/><Relationship Id="rId13" Type="http://schemas.openxmlformats.org/officeDocument/2006/relationships/image" Target="../media/image188.png"/><Relationship Id="rId18" Type="http://schemas.openxmlformats.org/officeDocument/2006/relationships/image" Target="../media/image193.svg"/><Relationship Id="rId3" Type="http://schemas.openxmlformats.org/officeDocument/2006/relationships/image" Target="../media/image178.png"/><Relationship Id="rId7" Type="http://schemas.openxmlformats.org/officeDocument/2006/relationships/image" Target="../media/image182.png"/><Relationship Id="rId12" Type="http://schemas.openxmlformats.org/officeDocument/2006/relationships/image" Target="../media/image187.svg"/><Relationship Id="rId17" Type="http://schemas.openxmlformats.org/officeDocument/2006/relationships/image" Target="../media/image192.png"/><Relationship Id="rId2" Type="http://schemas.openxmlformats.org/officeDocument/2006/relationships/notesSlide" Target="../notesSlides/notesSlide28.xml"/><Relationship Id="rId16" Type="http://schemas.openxmlformats.org/officeDocument/2006/relationships/image" Target="../media/image191.svg"/><Relationship Id="rId1" Type="http://schemas.openxmlformats.org/officeDocument/2006/relationships/slideLayout" Target="../slideLayouts/slideLayout2.xml"/><Relationship Id="rId6" Type="http://schemas.openxmlformats.org/officeDocument/2006/relationships/image" Target="../media/image181.svg"/><Relationship Id="rId11" Type="http://schemas.openxmlformats.org/officeDocument/2006/relationships/image" Target="../media/image186.png"/><Relationship Id="rId5" Type="http://schemas.openxmlformats.org/officeDocument/2006/relationships/image" Target="../media/image180.png"/><Relationship Id="rId15" Type="http://schemas.openxmlformats.org/officeDocument/2006/relationships/image" Target="../media/image190.png"/><Relationship Id="rId10" Type="http://schemas.openxmlformats.org/officeDocument/2006/relationships/image" Target="../media/image185.svg"/><Relationship Id="rId19" Type="http://schemas.openxmlformats.org/officeDocument/2006/relationships/image" Target="../media/image8.png"/><Relationship Id="rId4" Type="http://schemas.openxmlformats.org/officeDocument/2006/relationships/image" Target="../media/image179.svg"/><Relationship Id="rId9" Type="http://schemas.openxmlformats.org/officeDocument/2006/relationships/image" Target="../media/image184.png"/><Relationship Id="rId14" Type="http://schemas.openxmlformats.org/officeDocument/2006/relationships/image" Target="../media/image189.svg"/></Relationships>
</file>

<file path=ppt/slides/_rels/slide29.xml.rels><?xml version="1.0" encoding="UTF-8" standalone="yes"?>
<Relationships xmlns="http://schemas.openxmlformats.org/package/2006/relationships"><Relationship Id="rId8" Type="http://schemas.openxmlformats.org/officeDocument/2006/relationships/image" Target="../media/image199.svg"/><Relationship Id="rId13" Type="http://schemas.openxmlformats.org/officeDocument/2006/relationships/image" Target="../media/image204.png"/><Relationship Id="rId3" Type="http://schemas.openxmlformats.org/officeDocument/2006/relationships/image" Target="../media/image194.png"/><Relationship Id="rId7" Type="http://schemas.openxmlformats.org/officeDocument/2006/relationships/image" Target="../media/image198.png"/><Relationship Id="rId12" Type="http://schemas.openxmlformats.org/officeDocument/2006/relationships/image" Target="../media/image203.svg"/><Relationship Id="rId17" Type="http://schemas.openxmlformats.org/officeDocument/2006/relationships/image" Target="../media/image8.png"/><Relationship Id="rId2" Type="http://schemas.openxmlformats.org/officeDocument/2006/relationships/notesSlide" Target="../notesSlides/notesSlide29.xml"/><Relationship Id="rId16" Type="http://schemas.openxmlformats.org/officeDocument/2006/relationships/image" Target="../media/image207.svg"/><Relationship Id="rId1" Type="http://schemas.openxmlformats.org/officeDocument/2006/relationships/slideLayout" Target="../slideLayouts/slideLayout2.xml"/><Relationship Id="rId6" Type="http://schemas.openxmlformats.org/officeDocument/2006/relationships/image" Target="../media/image197.svg"/><Relationship Id="rId11" Type="http://schemas.openxmlformats.org/officeDocument/2006/relationships/image" Target="../media/image202.png"/><Relationship Id="rId5" Type="http://schemas.openxmlformats.org/officeDocument/2006/relationships/image" Target="../media/image196.png"/><Relationship Id="rId15" Type="http://schemas.openxmlformats.org/officeDocument/2006/relationships/image" Target="../media/image206.png"/><Relationship Id="rId10" Type="http://schemas.openxmlformats.org/officeDocument/2006/relationships/image" Target="../media/image201.svg"/><Relationship Id="rId4" Type="http://schemas.openxmlformats.org/officeDocument/2006/relationships/image" Target="../media/image195.svg"/><Relationship Id="rId9" Type="http://schemas.openxmlformats.org/officeDocument/2006/relationships/image" Target="../media/image200.png"/><Relationship Id="rId14" Type="http://schemas.openxmlformats.org/officeDocument/2006/relationships/image" Target="../media/image205.svg"/></Relationships>
</file>

<file path=ppt/slides/_rels/slide30.xml.rels><?xml version="1.0" encoding="UTF-8" standalone="yes"?>
<Relationships xmlns="http://schemas.openxmlformats.org/package/2006/relationships"><Relationship Id="rId8" Type="http://schemas.openxmlformats.org/officeDocument/2006/relationships/image" Target="../media/image213.svg"/><Relationship Id="rId13" Type="http://schemas.openxmlformats.org/officeDocument/2006/relationships/image" Target="../media/image8.png"/><Relationship Id="rId3" Type="http://schemas.openxmlformats.org/officeDocument/2006/relationships/image" Target="../media/image208.png"/><Relationship Id="rId7" Type="http://schemas.openxmlformats.org/officeDocument/2006/relationships/image" Target="../media/image212.png"/><Relationship Id="rId12" Type="http://schemas.openxmlformats.org/officeDocument/2006/relationships/image" Target="../media/image217.sv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11.svg"/><Relationship Id="rId11" Type="http://schemas.openxmlformats.org/officeDocument/2006/relationships/image" Target="../media/image216.png"/><Relationship Id="rId5" Type="http://schemas.openxmlformats.org/officeDocument/2006/relationships/image" Target="../media/image210.png"/><Relationship Id="rId10" Type="http://schemas.openxmlformats.org/officeDocument/2006/relationships/image" Target="../media/image215.svg"/><Relationship Id="rId4" Type="http://schemas.openxmlformats.org/officeDocument/2006/relationships/image" Target="../media/image209.svg"/><Relationship Id="rId9" Type="http://schemas.openxmlformats.org/officeDocument/2006/relationships/image" Target="../media/image214.png"/></Relationships>
</file>

<file path=ppt/slides/_rels/slide31.xml.rels><?xml version="1.0" encoding="UTF-8" standalone="yes"?>
<Relationships xmlns="http://schemas.openxmlformats.org/package/2006/relationships"><Relationship Id="rId8" Type="http://schemas.openxmlformats.org/officeDocument/2006/relationships/image" Target="../media/image223.svg"/><Relationship Id="rId3" Type="http://schemas.openxmlformats.org/officeDocument/2006/relationships/image" Target="../media/image218.png"/><Relationship Id="rId7" Type="http://schemas.openxmlformats.org/officeDocument/2006/relationships/image" Target="../media/image222.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221.svg"/><Relationship Id="rId5" Type="http://schemas.openxmlformats.org/officeDocument/2006/relationships/image" Target="../media/image220.png"/><Relationship Id="rId4" Type="http://schemas.openxmlformats.org/officeDocument/2006/relationships/image" Target="../media/image219.svg"/><Relationship Id="rId9"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229.svg"/><Relationship Id="rId13" Type="http://schemas.openxmlformats.org/officeDocument/2006/relationships/image" Target="../media/image234.png"/><Relationship Id="rId18" Type="http://schemas.openxmlformats.org/officeDocument/2006/relationships/image" Target="../media/image239.svg"/><Relationship Id="rId26" Type="http://schemas.openxmlformats.org/officeDocument/2006/relationships/image" Target="../media/image247.svg"/><Relationship Id="rId3" Type="http://schemas.openxmlformats.org/officeDocument/2006/relationships/image" Target="../media/image224.png"/><Relationship Id="rId21" Type="http://schemas.openxmlformats.org/officeDocument/2006/relationships/image" Target="../media/image242.png"/><Relationship Id="rId7" Type="http://schemas.openxmlformats.org/officeDocument/2006/relationships/image" Target="../media/image228.png"/><Relationship Id="rId12" Type="http://schemas.openxmlformats.org/officeDocument/2006/relationships/image" Target="../media/image233.svg"/><Relationship Id="rId17" Type="http://schemas.openxmlformats.org/officeDocument/2006/relationships/image" Target="../media/image238.png"/><Relationship Id="rId25" Type="http://schemas.openxmlformats.org/officeDocument/2006/relationships/image" Target="../media/image246.png"/><Relationship Id="rId2" Type="http://schemas.openxmlformats.org/officeDocument/2006/relationships/notesSlide" Target="../notesSlides/notesSlide34.xml"/><Relationship Id="rId16" Type="http://schemas.openxmlformats.org/officeDocument/2006/relationships/image" Target="../media/image237.svg"/><Relationship Id="rId20" Type="http://schemas.openxmlformats.org/officeDocument/2006/relationships/image" Target="../media/image241.svg"/><Relationship Id="rId1" Type="http://schemas.openxmlformats.org/officeDocument/2006/relationships/slideLayout" Target="../slideLayouts/slideLayout2.xml"/><Relationship Id="rId6" Type="http://schemas.openxmlformats.org/officeDocument/2006/relationships/image" Target="../media/image227.svg"/><Relationship Id="rId11" Type="http://schemas.openxmlformats.org/officeDocument/2006/relationships/image" Target="../media/image232.png"/><Relationship Id="rId24" Type="http://schemas.openxmlformats.org/officeDocument/2006/relationships/image" Target="../media/image245.svg"/><Relationship Id="rId5" Type="http://schemas.openxmlformats.org/officeDocument/2006/relationships/image" Target="../media/image226.png"/><Relationship Id="rId15" Type="http://schemas.openxmlformats.org/officeDocument/2006/relationships/image" Target="../media/image236.png"/><Relationship Id="rId23" Type="http://schemas.openxmlformats.org/officeDocument/2006/relationships/image" Target="../media/image244.png"/><Relationship Id="rId10" Type="http://schemas.openxmlformats.org/officeDocument/2006/relationships/image" Target="../media/image231.svg"/><Relationship Id="rId19" Type="http://schemas.openxmlformats.org/officeDocument/2006/relationships/image" Target="../media/image240.png"/><Relationship Id="rId4" Type="http://schemas.openxmlformats.org/officeDocument/2006/relationships/image" Target="../media/image225.svg"/><Relationship Id="rId9" Type="http://schemas.openxmlformats.org/officeDocument/2006/relationships/image" Target="../media/image230.png"/><Relationship Id="rId14" Type="http://schemas.openxmlformats.org/officeDocument/2006/relationships/image" Target="../media/image235.svg"/><Relationship Id="rId22" Type="http://schemas.openxmlformats.org/officeDocument/2006/relationships/image" Target="../media/image243.svg"/><Relationship Id="rId27" Type="http://schemas.openxmlformats.org/officeDocument/2006/relationships/image" Target="../media/image8.png"/></Relationships>
</file>

<file path=ppt/slides/_rels/slide35.xml.rels><?xml version="1.0" encoding="UTF-8" standalone="yes"?>
<Relationships xmlns="http://schemas.openxmlformats.org/package/2006/relationships"><Relationship Id="rId8" Type="http://schemas.openxmlformats.org/officeDocument/2006/relationships/image" Target="../media/image253.png"/><Relationship Id="rId3" Type="http://schemas.openxmlformats.org/officeDocument/2006/relationships/image" Target="../media/image248.jpeg"/><Relationship Id="rId7" Type="http://schemas.openxmlformats.org/officeDocument/2006/relationships/image" Target="../media/image252.sv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251.png"/><Relationship Id="rId5" Type="http://schemas.openxmlformats.org/officeDocument/2006/relationships/image" Target="../media/image250.svg"/><Relationship Id="rId10" Type="http://schemas.openxmlformats.org/officeDocument/2006/relationships/image" Target="../media/image8.png"/><Relationship Id="rId4" Type="http://schemas.openxmlformats.org/officeDocument/2006/relationships/image" Target="../media/image249.png"/><Relationship Id="rId9" Type="http://schemas.openxmlformats.org/officeDocument/2006/relationships/image" Target="../media/image254.svg"/></Relationships>
</file>

<file path=ppt/slides/_rels/slide36.xml.rels><?xml version="1.0" encoding="UTF-8" standalone="yes"?>
<Relationships xmlns="http://schemas.openxmlformats.org/package/2006/relationships"><Relationship Id="rId8" Type="http://schemas.openxmlformats.org/officeDocument/2006/relationships/image" Target="../media/image260.png"/><Relationship Id="rId3" Type="http://schemas.openxmlformats.org/officeDocument/2006/relationships/image" Target="../media/image255.jpeg"/><Relationship Id="rId7" Type="http://schemas.openxmlformats.org/officeDocument/2006/relationships/image" Target="../media/image259.svg"/><Relationship Id="rId12"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258.png"/><Relationship Id="rId11" Type="http://schemas.openxmlformats.org/officeDocument/2006/relationships/image" Target="../media/image263.svg"/><Relationship Id="rId5" Type="http://schemas.openxmlformats.org/officeDocument/2006/relationships/image" Target="../media/image257.svg"/><Relationship Id="rId10" Type="http://schemas.openxmlformats.org/officeDocument/2006/relationships/image" Target="../media/image262.png"/><Relationship Id="rId4" Type="http://schemas.openxmlformats.org/officeDocument/2006/relationships/image" Target="../media/image256.png"/><Relationship Id="rId9" Type="http://schemas.openxmlformats.org/officeDocument/2006/relationships/image" Target="../media/image261.svg"/></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0"/>
            <a:ext cx="12191695" cy="2132707"/>
          </a:xfrm>
          <a:custGeom>
            <a:avLst/>
            <a:gdLst/>
            <a:ahLst/>
            <a:cxnLst/>
            <a:rect l="0" t="0" r="100000" b="100000"/>
            <a:pathLst>
              <a:path w="100000" h="100000">
                <a:moveTo>
                  <a:pt x="0" y="0"/>
                </a:moveTo>
                <a:lnTo>
                  <a:pt x="100000" y="0"/>
                </a:lnTo>
                <a:lnTo>
                  <a:pt x="100000" y="86720"/>
                </a:lnTo>
                <a:lnTo>
                  <a:pt x="96000" y="89450"/>
                </a:lnTo>
                <a:lnTo>
                  <a:pt x="91990" y="91890"/>
                </a:lnTo>
                <a:lnTo>
                  <a:pt x="84670" y="95800"/>
                </a:lnTo>
                <a:lnTo>
                  <a:pt x="81150" y="97360"/>
                </a:lnTo>
                <a:lnTo>
                  <a:pt x="77150" y="98830"/>
                </a:lnTo>
                <a:lnTo>
                  <a:pt x="74610" y="99510"/>
                </a:lnTo>
                <a:lnTo>
                  <a:pt x="71480" y="100000"/>
                </a:lnTo>
                <a:lnTo>
                  <a:pt x="67290" y="99800"/>
                </a:lnTo>
                <a:lnTo>
                  <a:pt x="63280" y="98730"/>
                </a:lnTo>
                <a:lnTo>
                  <a:pt x="60060" y="97270"/>
                </a:lnTo>
                <a:lnTo>
                  <a:pt x="56050" y="94920"/>
                </a:lnTo>
                <a:lnTo>
                  <a:pt x="52540" y="93160"/>
                </a:lnTo>
                <a:lnTo>
                  <a:pt x="48540" y="91800"/>
                </a:lnTo>
                <a:lnTo>
                  <a:pt x="45700" y="91310"/>
                </a:lnTo>
                <a:lnTo>
                  <a:pt x="40040" y="91210"/>
                </a:lnTo>
                <a:lnTo>
                  <a:pt x="36520" y="91410"/>
                </a:lnTo>
                <a:lnTo>
                  <a:pt x="31150" y="91990"/>
                </a:lnTo>
                <a:lnTo>
                  <a:pt x="21970" y="93460"/>
                </a:lnTo>
                <a:lnTo>
                  <a:pt x="14750" y="93850"/>
                </a:lnTo>
                <a:lnTo>
                  <a:pt x="11330" y="93650"/>
                </a:lnTo>
                <a:lnTo>
                  <a:pt x="7030" y="93070"/>
                </a:lnTo>
                <a:lnTo>
                  <a:pt x="2640" y="92090"/>
                </a:lnTo>
                <a:lnTo>
                  <a:pt x="0" y="91210"/>
                </a:lnTo>
                <a:close/>
              </a:path>
            </a:pathLst>
          </a:custGeom>
        </p:spPr>
      </p:pic>
      <p:sp>
        <p:nvSpPr>
          <p:cNvPr id="3" name="Text 0"/>
          <p:cNvSpPr/>
          <p:nvPr/>
        </p:nvSpPr>
        <p:spPr>
          <a:xfrm>
            <a:off x="631908" y="2696865"/>
            <a:ext cx="10927878" cy="427633"/>
          </a:xfrm>
          <a:prstGeom prst="rect">
            <a:avLst/>
          </a:prstGeom>
          <a:noFill/>
          <a:ln/>
        </p:spPr>
        <p:txBody>
          <a:bodyPr wrap="none" lIns="0" tIns="0" rIns="0" bIns="0" rtlCol="0" anchor="t"/>
          <a:lstStyle/>
          <a:p>
            <a:pPr marL="0" indent="0" algn="ctr">
              <a:lnSpc>
                <a:spcPct val="83000"/>
              </a:lnSpc>
              <a:buNone/>
            </a:pPr>
            <a:r>
              <a:rPr lang="en-US" sz="3350" kern="0" spc="-101" dirty="0">
                <a:solidFill>
                  <a:srgbClr val="383830"/>
                </a:solidFill>
                <a:latin typeface="DM Sans ExtraBold" pitchFamily="34" charset="0"/>
                <a:ea typeface="DM Sans ExtraBold" pitchFamily="34" charset="-122"/>
                <a:cs typeface="DM Sans ExtraBold" pitchFamily="34" charset="-120"/>
              </a:rPr>
              <a:t>TexCycle AI</a:t>
            </a:r>
            <a:endParaRPr lang="en-US" sz="3350" dirty="0"/>
          </a:p>
        </p:txBody>
      </p:sp>
      <p:sp>
        <p:nvSpPr>
          <p:cNvPr id="4" name="Text 1"/>
          <p:cNvSpPr/>
          <p:nvPr/>
        </p:nvSpPr>
        <p:spPr>
          <a:xfrm>
            <a:off x="631908" y="3182938"/>
            <a:ext cx="10927878" cy="684212"/>
          </a:xfrm>
          <a:prstGeom prst="rect">
            <a:avLst/>
          </a:prstGeom>
          <a:noFill/>
          <a:ln/>
        </p:spPr>
        <p:txBody>
          <a:bodyPr wrap="square" lIns="0" tIns="0" rIns="0" bIns="0" rtlCol="0" anchor="t">
            <a:normAutofit/>
          </a:bodyPr>
          <a:lstStyle/>
          <a:p>
            <a:pPr marL="0" indent="0" algn="ctr">
              <a:lnSpc>
                <a:spcPct val="83000"/>
              </a:lnSpc>
              <a:buNone/>
            </a:pPr>
            <a:r>
              <a:rPr lang="en-US" sz="2650" kern="0" spc="-81" dirty="0">
                <a:solidFill>
                  <a:srgbClr val="383830"/>
                </a:solidFill>
                <a:latin typeface="DM Sans ExtraBold" pitchFamily="34" charset="0"/>
                <a:ea typeface="DM Sans ExtraBold" pitchFamily="34" charset="-122"/>
                <a:cs typeface="DM Sans ExtraBold" pitchFamily="34" charset="-120"/>
              </a:rPr>
              <a:t>AI-Powered Digital Marketplace for Upcycling Sri Lanka's Textile Waste</a:t>
            </a:r>
            <a:endParaRPr lang="en-US" sz="2650" dirty="0"/>
          </a:p>
        </p:txBody>
      </p:sp>
      <p:sp>
        <p:nvSpPr>
          <p:cNvPr id="5" name="Shape 2"/>
          <p:cNvSpPr/>
          <p:nvPr/>
        </p:nvSpPr>
        <p:spPr>
          <a:xfrm>
            <a:off x="631908" y="4127004"/>
            <a:ext cx="10927878" cy="19050"/>
          </a:xfrm>
          <a:prstGeom prst="roundRect">
            <a:avLst>
              <a:gd name="adj" fmla="val 49999"/>
            </a:avLst>
          </a:prstGeom>
          <a:solidFill>
            <a:srgbClr val="23231E">
              <a:alpha val="50000"/>
            </a:srgbClr>
          </a:solidFill>
          <a:ln/>
        </p:spPr>
        <p:txBody>
          <a:bodyPr/>
          <a:lstStyle/>
          <a:p>
            <a:endParaRPr lang="en-US"/>
          </a:p>
        </p:txBody>
      </p:sp>
      <p:sp>
        <p:nvSpPr>
          <p:cNvPr id="6" name="Text 3"/>
          <p:cNvSpPr/>
          <p:nvPr/>
        </p:nvSpPr>
        <p:spPr>
          <a:xfrm>
            <a:off x="631908" y="4351139"/>
            <a:ext cx="10927878" cy="1841103"/>
          </a:xfrm>
          <a:prstGeom prst="rect">
            <a:avLst/>
          </a:prstGeom>
          <a:noFill/>
          <a:ln/>
        </p:spPr>
        <p:txBody>
          <a:bodyPr wrap="square" lIns="0" tIns="0" rIns="0" bIns="0" rtlCol="0" anchor="t"/>
          <a:lstStyle/>
          <a:p>
            <a:pPr marL="0" indent="0" algn="ctr">
              <a:lnSpc>
                <a:spcPct val="87000"/>
              </a:lnSpc>
              <a:spcAft>
                <a:spcPts val="1250"/>
              </a:spcAft>
              <a:buNone/>
            </a:pPr>
            <a:r>
              <a:rPr lang="en-US" sz="1250" dirty="0">
                <a:solidFill>
                  <a:srgbClr val="23231E"/>
                </a:solidFill>
                <a:latin typeface="Inter Light" pitchFamily="34" charset="0"/>
                <a:ea typeface="Inter Light" pitchFamily="34" charset="-122"/>
                <a:cs typeface="Inter Light" pitchFamily="34" charset="-120"/>
              </a:rPr>
              <a:t>Research Project</a:t>
            </a:r>
            <a:endParaRPr lang="en-US" sz="1250" dirty="0"/>
          </a:p>
          <a:p>
            <a:pPr marL="0" indent="0" algn="ctr">
              <a:lnSpc>
                <a:spcPct val="87000"/>
              </a:lnSpc>
              <a:spcAft>
                <a:spcPts val="1250"/>
              </a:spcAft>
              <a:buNone/>
            </a:pPr>
            <a:r>
              <a:rPr lang="en-US" sz="1250" dirty="0">
                <a:solidFill>
                  <a:srgbClr val="23231E"/>
                </a:solidFill>
                <a:latin typeface="Inter Light" pitchFamily="34" charset="0"/>
                <a:ea typeface="Inter Light" pitchFamily="34" charset="-122"/>
                <a:cs typeface="Inter Light" pitchFamily="34" charset="-120"/>
              </a:rPr>
              <a:t>Group ID: R26-IT-081</a:t>
            </a:r>
            <a:endParaRPr lang="en-US" sz="1250" dirty="0"/>
          </a:p>
          <a:p>
            <a:pPr marL="0" indent="0" algn="ctr">
              <a:lnSpc>
                <a:spcPct val="87000"/>
              </a:lnSpc>
              <a:spcAft>
                <a:spcPts val="1250"/>
              </a:spcAft>
              <a:buNone/>
            </a:pPr>
            <a:r>
              <a:rPr lang="en-US" sz="1250" dirty="0">
                <a:solidFill>
                  <a:srgbClr val="23231E"/>
                </a:solidFill>
                <a:latin typeface="Inter Light" pitchFamily="34" charset="0"/>
                <a:ea typeface="Inter Light" pitchFamily="34" charset="-122"/>
                <a:cs typeface="Inter Light" pitchFamily="34" charset="-120"/>
              </a:rPr>
              <a:t>BSc (Hons) in Information Technology</a:t>
            </a:r>
            <a:endParaRPr lang="en-US" sz="1250" dirty="0"/>
          </a:p>
          <a:p>
            <a:pPr marL="0" indent="0" algn="ctr">
              <a:lnSpc>
                <a:spcPct val="87000"/>
              </a:lnSpc>
              <a:spcAft>
                <a:spcPts val="1250"/>
              </a:spcAft>
              <a:buNone/>
            </a:pPr>
            <a:r>
              <a:rPr lang="en-US" sz="1250" dirty="0">
                <a:solidFill>
                  <a:srgbClr val="23231E"/>
                </a:solidFill>
                <a:latin typeface="Inter Light" pitchFamily="34" charset="0"/>
                <a:ea typeface="Inter Light" pitchFamily="34" charset="-122"/>
                <a:cs typeface="Inter Light" pitchFamily="34" charset="-120"/>
              </a:rPr>
              <a:t>Specializing in Information Technology</a:t>
            </a:r>
            <a:endParaRPr lang="en-US" sz="1250" dirty="0"/>
          </a:p>
          <a:p>
            <a:pPr marL="0" indent="0" algn="ctr">
              <a:lnSpc>
                <a:spcPct val="87000"/>
              </a:lnSpc>
              <a:spcAft>
                <a:spcPts val="1250"/>
              </a:spcAft>
              <a:buNone/>
            </a:pPr>
            <a:r>
              <a:rPr lang="en-US" sz="1250" dirty="0">
                <a:solidFill>
                  <a:srgbClr val="23231E"/>
                </a:solidFill>
                <a:latin typeface="Inter Light" pitchFamily="34" charset="0"/>
                <a:ea typeface="Inter Light" pitchFamily="34" charset="-122"/>
                <a:cs typeface="Inter Light" pitchFamily="34" charset="-120"/>
              </a:rPr>
              <a:t>Supervisor: Prof. Dasuni Nawinna</a:t>
            </a:r>
            <a:endParaRPr lang="en-US" sz="1250" dirty="0"/>
          </a:p>
          <a:p>
            <a:pPr marL="0" indent="0" algn="ctr">
              <a:lnSpc>
                <a:spcPct val="87000"/>
              </a:lnSpc>
              <a:buNone/>
            </a:pPr>
            <a:r>
              <a:rPr lang="en-US" sz="1250" dirty="0">
                <a:solidFill>
                  <a:srgbClr val="23231E"/>
                </a:solidFill>
                <a:latin typeface="Inter Light" pitchFamily="34" charset="0"/>
                <a:ea typeface="Inter Light" pitchFamily="34" charset="-122"/>
                <a:cs typeface="Inter Light" pitchFamily="34" charset="-120"/>
              </a:rPr>
              <a:t>Co-Supervisor: Mr. Nelum Amarasena</a:t>
            </a:r>
            <a:endParaRPr lang="en-US" sz="1250" dirty="0"/>
          </a:p>
        </p:txBody>
      </p:sp>
      <p:grpSp>
        <p:nvGrpSpPr>
          <p:cNvPr id="7" name="Group 6">
            <a:extLst>
              <a:ext uri="{FF2B5EF4-FFF2-40B4-BE49-F238E27FC236}">
                <a16:creationId xmlns:a16="http://schemas.microsoft.com/office/drawing/2014/main" id="{9F09C565-0170-3CA4-0A0E-3074BAE60CDC}"/>
              </a:ext>
            </a:extLst>
          </p:cNvPr>
          <p:cNvGrpSpPr/>
          <p:nvPr/>
        </p:nvGrpSpPr>
        <p:grpSpPr>
          <a:xfrm>
            <a:off x="10686552" y="6506574"/>
            <a:ext cx="1505131" cy="351434"/>
            <a:chOff x="2623154" y="413097"/>
            <a:chExt cx="2599719" cy="525560"/>
          </a:xfrm>
        </p:grpSpPr>
        <p:sp>
          <p:nvSpPr>
            <p:cNvPr id="8" name="Freeform 7">
              <a:extLst>
                <a:ext uri="{FF2B5EF4-FFF2-40B4-BE49-F238E27FC236}">
                  <a16:creationId xmlns:a16="http://schemas.microsoft.com/office/drawing/2014/main" id="{BD015233-7BAA-9B32-E19D-0D72CE622E38}"/>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4"/>
              <a:stretch>
                <a:fillRect l="-64" r="-64" b="1"/>
              </a:stretch>
            </a:blipFill>
          </p:spPr>
          <p:txBody>
            <a:bodyPr/>
            <a:lstStyle/>
            <a:p>
              <a:endParaRPr lang="en-US" sz="1200"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31908" y="2168525"/>
            <a:ext cx="10927878" cy="475159"/>
          </a:xfrm>
          <a:prstGeom prst="rect">
            <a:avLst/>
          </a:prstGeom>
          <a:noFill/>
          <a:ln/>
        </p:spPr>
        <p:txBody>
          <a:bodyPr wrap="none" lIns="0" tIns="0" rIns="0" bIns="0" rtlCol="0" anchor="t"/>
          <a:lstStyle/>
          <a:p>
            <a:pPr marL="0" indent="0" algn="l">
              <a:lnSpc>
                <a:spcPct val="83000"/>
              </a:lnSpc>
              <a:buNone/>
            </a:pPr>
            <a:r>
              <a:rPr lang="en-US" sz="3700" kern="0" spc="-112" dirty="0">
                <a:solidFill>
                  <a:srgbClr val="383830"/>
                </a:solidFill>
                <a:latin typeface="DM Sans ExtraBold" pitchFamily="34" charset="0"/>
                <a:ea typeface="DM Sans ExtraBold" pitchFamily="34" charset="-122"/>
                <a:cs typeface="DM Sans ExtraBold" pitchFamily="34" charset="-120"/>
              </a:rPr>
              <a:t>Our Team</a:t>
            </a:r>
            <a:endParaRPr lang="en-US" sz="3700" dirty="0"/>
          </a:p>
        </p:txBody>
      </p:sp>
      <p:sp>
        <p:nvSpPr>
          <p:cNvPr id="4" name="Text 1"/>
          <p:cNvSpPr/>
          <p:nvPr/>
        </p:nvSpPr>
        <p:spPr>
          <a:xfrm>
            <a:off x="1600656" y="3004741"/>
            <a:ext cx="1594009" cy="475059"/>
          </a:xfrm>
          <a:prstGeom prst="rect">
            <a:avLst/>
          </a:prstGeom>
          <a:noFill/>
          <a:ln/>
        </p:spPr>
        <p:txBody>
          <a:bodyPr wrap="square" lIns="0" tIns="0" rIns="0" bIns="0" rtlCol="0" anchor="t">
            <a:normAutofit lnSpcReduction="10000"/>
          </a:bodyPr>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Sandeepa S.A.C.</a:t>
            </a:r>
            <a:endParaRPr lang="en-US" sz="1850" dirty="0"/>
          </a:p>
        </p:txBody>
      </p:sp>
      <p:sp>
        <p:nvSpPr>
          <p:cNvPr id="5" name="Text 2"/>
          <p:cNvSpPr/>
          <p:nvPr/>
        </p:nvSpPr>
        <p:spPr>
          <a:xfrm>
            <a:off x="1600656" y="3588048"/>
            <a:ext cx="1594009" cy="704155"/>
          </a:xfrm>
          <a:prstGeom prst="rect">
            <a:avLst/>
          </a:prstGeom>
          <a:noFill/>
          <a:ln/>
        </p:spPr>
        <p:txBody>
          <a:bodyPr wrap="square" lIns="0" tIns="0" rIns="0" bIns="0" rtlCol="0" anchor="t"/>
          <a:lstStyle/>
          <a:p>
            <a:pPr marL="0" indent="0" algn="l">
              <a:lnSpc>
                <a:spcPct val="92000"/>
              </a:lnSpc>
              <a:spcAft>
                <a:spcPts val="850"/>
              </a:spcAft>
              <a:buNone/>
            </a:pPr>
            <a:r>
              <a:rPr lang="en-US" sz="1400" dirty="0">
                <a:solidFill>
                  <a:srgbClr val="23231E"/>
                </a:solidFill>
                <a:latin typeface="Inter Light" pitchFamily="34" charset="0"/>
                <a:ea typeface="Inter Light" pitchFamily="34" charset="-122"/>
                <a:cs typeface="Inter Light" pitchFamily="34" charset="-120"/>
              </a:rPr>
              <a:t>IT22281814</a:t>
            </a:r>
            <a:endParaRPr lang="en-US" sz="1400" dirty="0"/>
          </a:p>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 AI Fabric Classification</a:t>
            </a:r>
            <a:endParaRPr lang="en-US" sz="1400" dirty="0"/>
          </a:p>
        </p:txBody>
      </p:sp>
      <p:sp>
        <p:nvSpPr>
          <p:cNvPr id="7" name="Text 3"/>
          <p:cNvSpPr/>
          <p:nvPr/>
        </p:nvSpPr>
        <p:spPr>
          <a:xfrm>
            <a:off x="4389030" y="3004741"/>
            <a:ext cx="1594009" cy="475059"/>
          </a:xfrm>
          <a:prstGeom prst="rect">
            <a:avLst/>
          </a:prstGeom>
          <a:noFill/>
          <a:ln/>
        </p:spPr>
        <p:txBody>
          <a:bodyPr wrap="square" lIns="0" tIns="0" rIns="0" bIns="0" rtlCol="0" anchor="t">
            <a:normAutofit lnSpcReduction="10000"/>
          </a:bodyPr>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Siriwardhana N.S.T.N</a:t>
            </a:r>
            <a:endParaRPr lang="en-US" sz="1850" dirty="0"/>
          </a:p>
        </p:txBody>
      </p:sp>
      <p:sp>
        <p:nvSpPr>
          <p:cNvPr id="8" name="Text 4"/>
          <p:cNvSpPr/>
          <p:nvPr/>
        </p:nvSpPr>
        <p:spPr>
          <a:xfrm>
            <a:off x="4389030" y="3588048"/>
            <a:ext cx="1594009" cy="704155"/>
          </a:xfrm>
          <a:prstGeom prst="rect">
            <a:avLst/>
          </a:prstGeom>
          <a:noFill/>
          <a:ln/>
        </p:spPr>
        <p:txBody>
          <a:bodyPr wrap="square" lIns="0" tIns="0" rIns="0" bIns="0" rtlCol="0" anchor="t"/>
          <a:lstStyle/>
          <a:p>
            <a:pPr marL="0" indent="0" algn="l">
              <a:lnSpc>
                <a:spcPct val="92000"/>
              </a:lnSpc>
              <a:spcAft>
                <a:spcPts val="850"/>
              </a:spcAft>
              <a:buNone/>
            </a:pPr>
            <a:r>
              <a:rPr lang="en-US" sz="1400" dirty="0">
                <a:solidFill>
                  <a:srgbClr val="23231E"/>
                </a:solidFill>
                <a:latin typeface="Inter Light" pitchFamily="34" charset="0"/>
                <a:ea typeface="Inter Light" pitchFamily="34" charset="-122"/>
                <a:cs typeface="Inter Light" pitchFamily="34" charset="-120"/>
              </a:rPr>
              <a:t>IT22215338</a:t>
            </a:r>
            <a:endParaRPr lang="en-US" sz="1400" dirty="0"/>
          </a:p>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 Environmental Impact Prediction</a:t>
            </a:r>
            <a:endParaRPr lang="en-US" sz="1400" dirty="0"/>
          </a:p>
        </p:txBody>
      </p:sp>
      <p:sp>
        <p:nvSpPr>
          <p:cNvPr id="10" name="Text 5"/>
          <p:cNvSpPr/>
          <p:nvPr/>
        </p:nvSpPr>
        <p:spPr>
          <a:xfrm>
            <a:off x="7177404" y="3004741"/>
            <a:ext cx="1594009" cy="475059"/>
          </a:xfrm>
          <a:prstGeom prst="rect">
            <a:avLst/>
          </a:prstGeom>
          <a:noFill/>
          <a:ln/>
        </p:spPr>
        <p:txBody>
          <a:bodyPr wrap="square" lIns="0" tIns="0" rIns="0" bIns="0" rtlCol="0" anchor="t">
            <a:normAutofit lnSpcReduction="10000"/>
          </a:bodyPr>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Madushanka H.M.T.G</a:t>
            </a:r>
            <a:endParaRPr lang="en-US" sz="1850" dirty="0"/>
          </a:p>
        </p:txBody>
      </p:sp>
      <p:sp>
        <p:nvSpPr>
          <p:cNvPr id="11" name="Text 6"/>
          <p:cNvSpPr/>
          <p:nvPr/>
        </p:nvSpPr>
        <p:spPr>
          <a:xfrm>
            <a:off x="7177404" y="3588048"/>
            <a:ext cx="1594009" cy="902791"/>
          </a:xfrm>
          <a:prstGeom prst="rect">
            <a:avLst/>
          </a:prstGeom>
          <a:noFill/>
          <a:ln/>
        </p:spPr>
        <p:txBody>
          <a:bodyPr wrap="square" lIns="0" tIns="0" rIns="0" bIns="0" rtlCol="0" anchor="t"/>
          <a:lstStyle/>
          <a:p>
            <a:pPr marL="0" indent="0" algn="l">
              <a:lnSpc>
                <a:spcPct val="92000"/>
              </a:lnSpc>
              <a:spcAft>
                <a:spcPts val="850"/>
              </a:spcAft>
              <a:buNone/>
            </a:pPr>
            <a:r>
              <a:rPr lang="en-US" sz="1400" dirty="0">
                <a:solidFill>
                  <a:srgbClr val="23231E"/>
                </a:solidFill>
                <a:latin typeface="Inter Light" pitchFamily="34" charset="0"/>
                <a:ea typeface="Inter Light" pitchFamily="34" charset="-122"/>
                <a:cs typeface="Inter Light" pitchFamily="34" charset="-120"/>
              </a:rPr>
              <a:t>IT22221278</a:t>
            </a:r>
            <a:endParaRPr lang="en-US" sz="1400" dirty="0"/>
          </a:p>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 Traceability, Recommendations &amp; AI Pricing</a:t>
            </a:r>
            <a:endParaRPr lang="en-US" sz="1400" dirty="0"/>
          </a:p>
        </p:txBody>
      </p:sp>
      <p:sp>
        <p:nvSpPr>
          <p:cNvPr id="13" name="Text 7"/>
          <p:cNvSpPr/>
          <p:nvPr/>
        </p:nvSpPr>
        <p:spPr>
          <a:xfrm>
            <a:off x="9965778" y="3004741"/>
            <a:ext cx="1594009" cy="475059"/>
          </a:xfrm>
          <a:prstGeom prst="rect">
            <a:avLst/>
          </a:prstGeom>
          <a:noFill/>
          <a:ln/>
        </p:spPr>
        <p:txBody>
          <a:bodyPr wrap="square" lIns="0" tIns="0" rIns="0" bIns="0" rtlCol="0" anchor="t">
            <a:normAutofit lnSpcReduction="10000"/>
          </a:bodyPr>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Thalagala T.A.D.V</a:t>
            </a:r>
            <a:endParaRPr lang="en-US" sz="1850" dirty="0"/>
          </a:p>
        </p:txBody>
      </p:sp>
      <p:sp>
        <p:nvSpPr>
          <p:cNvPr id="14" name="Text 8"/>
          <p:cNvSpPr/>
          <p:nvPr/>
        </p:nvSpPr>
        <p:spPr>
          <a:xfrm>
            <a:off x="9965778" y="3588048"/>
            <a:ext cx="1594009" cy="1101427"/>
          </a:xfrm>
          <a:prstGeom prst="rect">
            <a:avLst/>
          </a:prstGeom>
          <a:noFill/>
          <a:ln/>
        </p:spPr>
        <p:txBody>
          <a:bodyPr wrap="square" lIns="0" tIns="0" rIns="0" bIns="0" rtlCol="0" anchor="t"/>
          <a:lstStyle/>
          <a:p>
            <a:pPr marL="0" indent="0" algn="l">
              <a:lnSpc>
                <a:spcPct val="92000"/>
              </a:lnSpc>
              <a:spcAft>
                <a:spcPts val="850"/>
              </a:spcAft>
              <a:buNone/>
            </a:pPr>
            <a:r>
              <a:rPr lang="en-US" sz="1400" dirty="0">
                <a:solidFill>
                  <a:srgbClr val="23231E"/>
                </a:solidFill>
                <a:latin typeface="Inter Light" pitchFamily="34" charset="0"/>
                <a:ea typeface="Inter Light" pitchFamily="34" charset="-122"/>
                <a:cs typeface="Inter Light" pitchFamily="34" charset="-120"/>
              </a:rPr>
              <a:t>IT22281678</a:t>
            </a:r>
            <a:endParaRPr lang="en-US" sz="1400" dirty="0"/>
          </a:p>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 Marketplace Platform &amp; Predictive Analytics</a:t>
            </a:r>
            <a:endParaRPr lang="en-US" sz="1400" dirty="0"/>
          </a:p>
        </p:txBody>
      </p:sp>
      <p:grpSp>
        <p:nvGrpSpPr>
          <p:cNvPr id="15" name="Group 14">
            <a:extLst>
              <a:ext uri="{FF2B5EF4-FFF2-40B4-BE49-F238E27FC236}">
                <a16:creationId xmlns:a16="http://schemas.microsoft.com/office/drawing/2014/main" id="{B2B8A15F-D187-866F-AE42-3DF934B41465}"/>
              </a:ext>
            </a:extLst>
          </p:cNvPr>
          <p:cNvGrpSpPr/>
          <p:nvPr/>
        </p:nvGrpSpPr>
        <p:grpSpPr>
          <a:xfrm>
            <a:off x="10686552" y="6506574"/>
            <a:ext cx="1505131" cy="351434"/>
            <a:chOff x="2623154" y="413097"/>
            <a:chExt cx="2599719" cy="525560"/>
          </a:xfrm>
        </p:grpSpPr>
        <p:sp>
          <p:nvSpPr>
            <p:cNvPr id="16" name="Freeform 15">
              <a:extLst>
                <a:ext uri="{FF2B5EF4-FFF2-40B4-BE49-F238E27FC236}">
                  <a16:creationId xmlns:a16="http://schemas.microsoft.com/office/drawing/2014/main" id="{9C4F0A80-B54D-0518-32BB-A02BB74BF8B9}"/>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sz="1200"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31908" y="979388"/>
            <a:ext cx="10927878" cy="475159"/>
          </a:xfrm>
          <a:prstGeom prst="rect">
            <a:avLst/>
          </a:prstGeom>
          <a:noFill/>
          <a:ln/>
        </p:spPr>
        <p:txBody>
          <a:bodyPr wrap="none" lIns="0" tIns="0" rIns="0" bIns="0" rtlCol="0" anchor="t"/>
          <a:lstStyle/>
          <a:p>
            <a:pPr marL="0" indent="0" algn="l">
              <a:lnSpc>
                <a:spcPct val="83000"/>
              </a:lnSpc>
              <a:buNone/>
            </a:pPr>
            <a:r>
              <a:rPr lang="en-US" sz="3700" kern="0" spc="-112" dirty="0">
                <a:solidFill>
                  <a:srgbClr val="383830"/>
                </a:solidFill>
                <a:latin typeface="DM Sans ExtraBold" pitchFamily="34" charset="0"/>
                <a:ea typeface="DM Sans ExtraBold" pitchFamily="34" charset="-122"/>
                <a:cs typeface="DM Sans ExtraBold" pitchFamily="34" charset="-120"/>
              </a:rPr>
              <a:t>The Problem: Textile Waste in Sri Lanka</a:t>
            </a:r>
            <a:endParaRPr lang="en-US" sz="3700" dirty="0"/>
          </a:p>
        </p:txBody>
      </p:sp>
      <p:sp>
        <p:nvSpPr>
          <p:cNvPr id="3" name="Text 1"/>
          <p:cNvSpPr/>
          <p:nvPr/>
        </p:nvSpPr>
        <p:spPr>
          <a:xfrm>
            <a:off x="631908" y="1725315"/>
            <a:ext cx="10927878" cy="397272"/>
          </a:xfrm>
          <a:prstGeom prst="rect">
            <a:avLst/>
          </a:prstGeom>
          <a:noFill/>
          <a:ln/>
        </p:spPr>
        <p:txBody>
          <a:bodyPr wrap="square" lIns="0" tIns="0" rIns="0" bIns="0" rtlCol="0" anchor="t">
            <a:normAutofit/>
          </a:bodyPr>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Sri Lanka's textile and apparel industry generates considerable waste. Reusable textile material often loses its economic value due to several key inefficiencies:</a:t>
            </a:r>
            <a:endParaRPr lang="en-US" sz="1400" dirty="0"/>
          </a:p>
        </p:txBody>
      </p:sp>
      <p:sp>
        <p:nvSpPr>
          <p:cNvPr id="4" name="Text 2"/>
          <p:cNvSpPr/>
          <p:nvPr/>
        </p:nvSpPr>
        <p:spPr>
          <a:xfrm>
            <a:off x="631908" y="2325688"/>
            <a:ext cx="10927878" cy="983853"/>
          </a:xfrm>
          <a:prstGeom prst="rect">
            <a:avLst/>
          </a:prstGeom>
          <a:noFill/>
          <a:ln/>
        </p:spPr>
        <p:txBody>
          <a:bodyPr wrap="square" lIns="0" tIns="72219" rIns="0" bIns="0" rtlCol="0" anchor="t">
            <a:normAutofit/>
          </a:bodyPr>
          <a:lstStyle/>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Manual sorting and poor waste visibility</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Lack of standardized quality information</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Difficult buyer discovery and unclear pricing</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Limited traceability and sustainability data</a:t>
            </a:r>
            <a:endParaRPr lang="en-US" sz="1400" dirty="0"/>
          </a:p>
        </p:txBody>
      </p:sp>
      <p:sp>
        <p:nvSpPr>
          <p:cNvPr id="5" name="Text 3"/>
          <p:cNvSpPr/>
          <p:nvPr/>
        </p:nvSpPr>
        <p:spPr>
          <a:xfrm>
            <a:off x="631908" y="3580309"/>
            <a:ext cx="10927878" cy="380107"/>
          </a:xfrm>
          <a:prstGeom prst="rect">
            <a:avLst/>
          </a:prstGeom>
          <a:noFill/>
          <a:ln/>
        </p:spPr>
        <p:txBody>
          <a:bodyPr wrap="none" lIns="0" tIns="0" rIns="0" bIns="0" rtlCol="0" anchor="t"/>
          <a:lstStyle/>
          <a:p>
            <a:pPr marL="0" indent="0" algn="l">
              <a:lnSpc>
                <a:spcPct val="83000"/>
              </a:lnSpc>
              <a:buNone/>
            </a:pPr>
            <a:r>
              <a:rPr lang="en-US" sz="2950" kern="0" spc="-90" dirty="0">
                <a:solidFill>
                  <a:srgbClr val="383830"/>
                </a:solidFill>
                <a:latin typeface="DM Sans ExtraBold" pitchFamily="34" charset="0"/>
                <a:ea typeface="DM Sans ExtraBold" pitchFamily="34" charset="-122"/>
                <a:cs typeface="DM Sans ExtraBold" pitchFamily="34" charset="-120"/>
              </a:rPr>
              <a:t>TexCycle AI: Our Impact</a:t>
            </a:r>
            <a:endParaRPr lang="en-US" sz="2950" dirty="0"/>
          </a:p>
        </p:txBody>
      </p:sp>
      <p:sp>
        <p:nvSpPr>
          <p:cNvPr id="6" name="Text 4"/>
          <p:cNvSpPr/>
          <p:nvPr/>
        </p:nvSpPr>
        <p:spPr>
          <a:xfrm>
            <a:off x="631908" y="4231184"/>
            <a:ext cx="11537463" cy="198636"/>
          </a:xfrm>
          <a:prstGeom prst="rect">
            <a:avLst/>
          </a:prstGeom>
          <a:noFill/>
          <a:ln/>
        </p:spPr>
        <p:txBody>
          <a:bodyPr wrap="none" lIns="0" tIns="0" rIns="0" bIns="0" rtlCol="0" anchor="t"/>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TexCycle AI aims to transform this challenge into an opportunity by:</a:t>
            </a:r>
            <a:endParaRPr lang="en-US" sz="1400" dirty="0"/>
          </a:p>
        </p:txBody>
      </p:sp>
      <p:sp>
        <p:nvSpPr>
          <p:cNvPr id="7" name="Text 5"/>
          <p:cNvSpPr/>
          <p:nvPr/>
        </p:nvSpPr>
        <p:spPr>
          <a:xfrm>
            <a:off x="631908" y="4632920"/>
            <a:ext cx="10927878" cy="1245592"/>
          </a:xfrm>
          <a:prstGeom prst="rect">
            <a:avLst/>
          </a:prstGeom>
          <a:noFill/>
          <a:ln/>
        </p:spPr>
        <p:txBody>
          <a:bodyPr wrap="square" lIns="0" tIns="72219" rIns="0" bIns="0" rtlCol="0" anchor="t">
            <a:normAutofit/>
          </a:bodyPr>
          <a:lstStyle/>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Increasing textile waste reuse</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Supporting circular-economy practices</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Connecting SMEs to affordable materials</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Improving transparency for buyers and sellers</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Enabling data-driven waste management</a:t>
            </a:r>
            <a:endParaRPr lang="en-US" sz="1400" dirty="0"/>
          </a:p>
        </p:txBody>
      </p:sp>
      <p:grpSp>
        <p:nvGrpSpPr>
          <p:cNvPr id="8" name="Group 7">
            <a:extLst>
              <a:ext uri="{FF2B5EF4-FFF2-40B4-BE49-F238E27FC236}">
                <a16:creationId xmlns:a16="http://schemas.microsoft.com/office/drawing/2014/main" id="{593E8800-FAD9-29D9-84F2-6682D39B8192}"/>
              </a:ext>
            </a:extLst>
          </p:cNvPr>
          <p:cNvGrpSpPr/>
          <p:nvPr/>
        </p:nvGrpSpPr>
        <p:grpSpPr>
          <a:xfrm>
            <a:off x="10686552" y="6506574"/>
            <a:ext cx="1505131" cy="351434"/>
            <a:chOff x="2623154" y="413097"/>
            <a:chExt cx="2599719" cy="525560"/>
          </a:xfrm>
        </p:grpSpPr>
        <p:sp>
          <p:nvSpPr>
            <p:cNvPr id="9" name="Freeform 8">
              <a:extLst>
                <a:ext uri="{FF2B5EF4-FFF2-40B4-BE49-F238E27FC236}">
                  <a16:creationId xmlns:a16="http://schemas.microsoft.com/office/drawing/2014/main" id="{026D6A82-21CD-67FA-9B13-50DB63CF7D3D}"/>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sz="1200" dirty="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0"/>
            <a:ext cx="12191695" cy="1492151"/>
          </a:xfrm>
          <a:custGeom>
            <a:avLst/>
            <a:gdLst/>
            <a:ahLst/>
            <a:cxnLst/>
            <a:rect l="0" t="0" r="100000" b="100000"/>
            <a:pathLst>
              <a:path w="100000" h="100000">
                <a:moveTo>
                  <a:pt x="0" y="0"/>
                </a:moveTo>
                <a:lnTo>
                  <a:pt x="100000" y="0"/>
                </a:lnTo>
                <a:lnTo>
                  <a:pt x="100000" y="86720"/>
                </a:lnTo>
                <a:lnTo>
                  <a:pt x="96000" y="89450"/>
                </a:lnTo>
                <a:lnTo>
                  <a:pt x="91990" y="91890"/>
                </a:lnTo>
                <a:lnTo>
                  <a:pt x="84670" y="95800"/>
                </a:lnTo>
                <a:lnTo>
                  <a:pt x="81150" y="97360"/>
                </a:lnTo>
                <a:lnTo>
                  <a:pt x="77150" y="98830"/>
                </a:lnTo>
                <a:lnTo>
                  <a:pt x="74610" y="99510"/>
                </a:lnTo>
                <a:lnTo>
                  <a:pt x="71480" y="100000"/>
                </a:lnTo>
                <a:lnTo>
                  <a:pt x="67290" y="99800"/>
                </a:lnTo>
                <a:lnTo>
                  <a:pt x="63280" y="98730"/>
                </a:lnTo>
                <a:lnTo>
                  <a:pt x="60060" y="97270"/>
                </a:lnTo>
                <a:lnTo>
                  <a:pt x="56050" y="94920"/>
                </a:lnTo>
                <a:lnTo>
                  <a:pt x="52540" y="93160"/>
                </a:lnTo>
                <a:lnTo>
                  <a:pt x="48540" y="91800"/>
                </a:lnTo>
                <a:lnTo>
                  <a:pt x="45700" y="91310"/>
                </a:lnTo>
                <a:lnTo>
                  <a:pt x="40040" y="91210"/>
                </a:lnTo>
                <a:lnTo>
                  <a:pt x="36520" y="91410"/>
                </a:lnTo>
                <a:lnTo>
                  <a:pt x="31150" y="91990"/>
                </a:lnTo>
                <a:lnTo>
                  <a:pt x="21970" y="93460"/>
                </a:lnTo>
                <a:lnTo>
                  <a:pt x="14750" y="93850"/>
                </a:lnTo>
                <a:lnTo>
                  <a:pt x="11330" y="93650"/>
                </a:lnTo>
                <a:lnTo>
                  <a:pt x="7030" y="93070"/>
                </a:lnTo>
                <a:lnTo>
                  <a:pt x="2640" y="92090"/>
                </a:lnTo>
                <a:lnTo>
                  <a:pt x="0" y="91210"/>
                </a:lnTo>
                <a:close/>
              </a:path>
            </a:pathLst>
          </a:custGeom>
        </p:spPr>
      </p:pic>
      <p:sp>
        <p:nvSpPr>
          <p:cNvPr id="3" name="Text 0"/>
          <p:cNvSpPr/>
          <p:nvPr/>
        </p:nvSpPr>
        <p:spPr>
          <a:xfrm>
            <a:off x="631908" y="1968500"/>
            <a:ext cx="10927878" cy="299145"/>
          </a:xfrm>
          <a:prstGeom prst="rect">
            <a:avLst/>
          </a:prstGeom>
          <a:noFill/>
          <a:ln/>
        </p:spPr>
        <p:txBody>
          <a:bodyPr wrap="none" lIns="0" tIns="0" rIns="0" bIns="0" rtlCol="0" anchor="t"/>
          <a:lstStyle/>
          <a:p>
            <a:pPr marL="0" indent="0" algn="l">
              <a:lnSpc>
                <a:spcPct val="83000"/>
              </a:lnSpc>
              <a:buNone/>
            </a:pPr>
            <a:r>
              <a:rPr lang="en-US" sz="2350" kern="0" spc="-71" dirty="0">
                <a:solidFill>
                  <a:srgbClr val="383830"/>
                </a:solidFill>
                <a:latin typeface="DM Sans ExtraBold" pitchFamily="34" charset="0"/>
                <a:ea typeface="DM Sans ExtraBold" pitchFamily="34" charset="-122"/>
                <a:cs typeface="DM Sans ExtraBold" pitchFamily="34" charset="-120"/>
              </a:rPr>
              <a:t>Shortcomings of Previous Research &amp; Existing Solutions</a:t>
            </a:r>
            <a:endParaRPr lang="en-US" sz="2350" dirty="0"/>
          </a:p>
        </p:txBody>
      </p:sp>
      <p:sp>
        <p:nvSpPr>
          <p:cNvPr id="4" name="Text 1"/>
          <p:cNvSpPr/>
          <p:nvPr/>
        </p:nvSpPr>
        <p:spPr>
          <a:xfrm>
            <a:off x="631908" y="2374999"/>
            <a:ext cx="11537463" cy="101898"/>
          </a:xfrm>
          <a:prstGeom prst="rect">
            <a:avLst/>
          </a:prstGeom>
          <a:noFill/>
          <a:ln/>
        </p:spPr>
        <p:txBody>
          <a:bodyPr wrap="none" lIns="0" tIns="0" rIns="0" bIns="0" rtlCol="0" anchor="t"/>
          <a:lstStyle/>
          <a:p>
            <a:pPr marL="0" indent="0" algn="l">
              <a:lnSpc>
                <a:spcPct val="75000"/>
              </a:lnSpc>
              <a:buNone/>
            </a:pPr>
            <a:r>
              <a:rPr lang="en-US" sz="850" dirty="0">
                <a:solidFill>
                  <a:srgbClr val="23231E"/>
                </a:solidFill>
                <a:latin typeface="Inter Light" pitchFamily="34" charset="0"/>
                <a:ea typeface="Inter Light" pitchFamily="34" charset="-122"/>
                <a:cs typeface="Inter Light" pitchFamily="34" charset="-120"/>
              </a:rPr>
              <a:t>Existing work has demonstrated individual technologies such as:</a:t>
            </a:r>
            <a:endParaRPr lang="en-US" sz="850" dirty="0"/>
          </a:p>
        </p:txBody>
      </p:sp>
      <p:sp>
        <p:nvSpPr>
          <p:cNvPr id="5" name="Text 2"/>
          <p:cNvSpPr/>
          <p:nvPr/>
        </p:nvSpPr>
        <p:spPr>
          <a:xfrm>
            <a:off x="631908" y="2557363"/>
            <a:ext cx="10927878" cy="736402"/>
          </a:xfrm>
          <a:prstGeom prst="rect">
            <a:avLst/>
          </a:prstGeom>
          <a:noFill/>
          <a:ln/>
        </p:spPr>
        <p:txBody>
          <a:bodyPr wrap="square" lIns="0" tIns="45475" rIns="0" bIns="0" rtlCol="0" anchor="t">
            <a:normAutofit/>
          </a:bodyPr>
          <a:lstStyle/>
          <a:p>
            <a:pPr marL="172720" indent="-172720" algn="l">
              <a:lnSpc>
                <a:spcPct val="75000"/>
              </a:lnSpc>
              <a:buSzPct val="100000"/>
              <a:buChar char="•"/>
            </a:pPr>
            <a:r>
              <a:rPr lang="en-US" sz="850" dirty="0">
                <a:solidFill>
                  <a:srgbClr val="23231E"/>
                </a:solidFill>
                <a:latin typeface="Inter Light" pitchFamily="34" charset="0"/>
                <a:ea typeface="Inter Light" pitchFamily="34" charset="-122"/>
                <a:cs typeface="Inter Light" pitchFamily="34" charset="-120"/>
              </a:rPr>
              <a:t>Textile image classification</a:t>
            </a:r>
            <a:endParaRPr lang="en-US" sz="850" dirty="0"/>
          </a:p>
          <a:p>
            <a:pPr marL="172720" indent="-172720" algn="l">
              <a:lnSpc>
                <a:spcPct val="75000"/>
              </a:lnSpc>
              <a:buSzPct val="100000"/>
              <a:buChar char="•"/>
            </a:pPr>
            <a:r>
              <a:rPr lang="en-US" sz="850" dirty="0">
                <a:solidFill>
                  <a:srgbClr val="23231E"/>
                </a:solidFill>
                <a:latin typeface="Inter Light" pitchFamily="34" charset="0"/>
                <a:ea typeface="Inter Light" pitchFamily="34" charset="-122"/>
                <a:cs typeface="Inter Light" pitchFamily="34" charset="-120"/>
              </a:rPr>
              <a:t>Computer vision-based sorting</a:t>
            </a:r>
            <a:endParaRPr lang="en-US" sz="850" dirty="0"/>
          </a:p>
          <a:p>
            <a:pPr marL="172720" indent="-172720" algn="l">
              <a:lnSpc>
                <a:spcPct val="75000"/>
              </a:lnSpc>
              <a:buSzPct val="100000"/>
              <a:buChar char="•"/>
            </a:pPr>
            <a:r>
              <a:rPr lang="en-US" sz="850" dirty="0">
                <a:solidFill>
                  <a:srgbClr val="23231E"/>
                </a:solidFill>
                <a:latin typeface="Inter Light" pitchFamily="34" charset="0"/>
                <a:ea typeface="Inter Light" pitchFamily="34" charset="-122"/>
                <a:cs typeface="Inter Light" pitchFamily="34" charset="-120"/>
              </a:rPr>
              <a:t>Life-cycle assessment &amp; Environmental impact calculation</a:t>
            </a:r>
            <a:endParaRPr lang="en-US" sz="850" dirty="0"/>
          </a:p>
          <a:p>
            <a:pPr marL="172720" indent="-172720" algn="l">
              <a:lnSpc>
                <a:spcPct val="75000"/>
              </a:lnSpc>
              <a:buSzPct val="100000"/>
              <a:buChar char="•"/>
            </a:pPr>
            <a:r>
              <a:rPr lang="en-US" sz="850" dirty="0">
                <a:solidFill>
                  <a:srgbClr val="23231E"/>
                </a:solidFill>
                <a:latin typeface="Inter Light" pitchFamily="34" charset="0"/>
                <a:ea typeface="Inter Light" pitchFamily="34" charset="-122"/>
                <a:cs typeface="Inter Light" pitchFamily="34" charset="-120"/>
              </a:rPr>
              <a:t>Digital traceability</a:t>
            </a:r>
            <a:endParaRPr lang="en-US" sz="850" dirty="0"/>
          </a:p>
          <a:p>
            <a:pPr marL="172720" indent="-172720" algn="l">
              <a:lnSpc>
                <a:spcPct val="75000"/>
              </a:lnSpc>
              <a:buSzPct val="100000"/>
              <a:buChar char="•"/>
            </a:pPr>
            <a:r>
              <a:rPr lang="en-US" sz="850" dirty="0">
                <a:solidFill>
                  <a:srgbClr val="23231E"/>
                </a:solidFill>
                <a:latin typeface="Inter Light" pitchFamily="34" charset="0"/>
                <a:ea typeface="Inter Light" pitchFamily="34" charset="-122"/>
                <a:cs typeface="Inter Light" pitchFamily="34" charset="-120"/>
              </a:rPr>
              <a:t>AI pricing &amp; Recommendation systems</a:t>
            </a:r>
            <a:endParaRPr lang="en-US" sz="850" dirty="0"/>
          </a:p>
          <a:p>
            <a:pPr marL="172720" indent="-172720" algn="l">
              <a:lnSpc>
                <a:spcPct val="75000"/>
              </a:lnSpc>
              <a:buSzPct val="100000"/>
              <a:buChar char="•"/>
            </a:pPr>
            <a:r>
              <a:rPr lang="en-US" sz="850" dirty="0">
                <a:solidFill>
                  <a:srgbClr val="23231E"/>
                </a:solidFill>
                <a:latin typeface="Inter Light" pitchFamily="34" charset="0"/>
                <a:ea typeface="Inter Light" pitchFamily="34" charset="-122"/>
                <a:cs typeface="Inter Light" pitchFamily="34" charset="-120"/>
              </a:rPr>
              <a:t>Textile marketplaces &amp; Predictive analytics</a:t>
            </a:r>
            <a:endParaRPr lang="en-US" sz="850" dirty="0"/>
          </a:p>
        </p:txBody>
      </p:sp>
      <p:sp>
        <p:nvSpPr>
          <p:cNvPr id="6" name="Text 3"/>
          <p:cNvSpPr/>
          <p:nvPr/>
        </p:nvSpPr>
        <p:spPr>
          <a:xfrm>
            <a:off x="631908" y="3401120"/>
            <a:ext cx="10927878" cy="412849"/>
          </a:xfrm>
          <a:prstGeom prst="rect">
            <a:avLst/>
          </a:prstGeom>
          <a:noFill/>
          <a:ln/>
        </p:spPr>
        <p:txBody>
          <a:bodyPr wrap="none" lIns="0" tIns="0" rIns="0" bIns="0" rtlCol="0" anchor="t"/>
          <a:lstStyle/>
          <a:p>
            <a:pPr marL="0" indent="0" algn="ctr">
              <a:lnSpc>
                <a:spcPct val="83000"/>
              </a:lnSpc>
              <a:buNone/>
            </a:pPr>
            <a:r>
              <a:rPr lang="en-US" sz="3250" kern="0" spc="-98" dirty="0">
                <a:solidFill>
                  <a:srgbClr val="383830"/>
                </a:solidFill>
                <a:latin typeface="DM Sans ExtraBold" pitchFamily="34" charset="0"/>
                <a:ea typeface="DM Sans ExtraBold" pitchFamily="34" charset="-122"/>
                <a:cs typeface="DM Sans ExtraBold" pitchFamily="34" charset="-120"/>
              </a:rPr>
              <a:t>However...</a:t>
            </a:r>
            <a:endParaRPr lang="en-US" sz="3250" dirty="0"/>
          </a:p>
        </p:txBody>
      </p:sp>
      <p:sp>
        <p:nvSpPr>
          <p:cNvPr id="7" name="Text 4"/>
          <p:cNvSpPr/>
          <p:nvPr/>
        </p:nvSpPr>
        <p:spPr>
          <a:xfrm>
            <a:off x="327116" y="3921323"/>
            <a:ext cx="11537463" cy="101898"/>
          </a:xfrm>
          <a:prstGeom prst="rect">
            <a:avLst/>
          </a:prstGeom>
          <a:noFill/>
          <a:ln/>
        </p:spPr>
        <p:txBody>
          <a:bodyPr wrap="none" lIns="0" tIns="0" rIns="0" bIns="0" rtlCol="0" anchor="t"/>
          <a:lstStyle/>
          <a:p>
            <a:pPr marL="0" indent="0" algn="ctr">
              <a:lnSpc>
                <a:spcPct val="75000"/>
              </a:lnSpc>
              <a:buNone/>
            </a:pPr>
            <a:r>
              <a:rPr lang="en-US" sz="850" dirty="0">
                <a:solidFill>
                  <a:srgbClr val="23231E"/>
                </a:solidFill>
                <a:latin typeface="Inter Light" pitchFamily="34" charset="0"/>
                <a:ea typeface="Inter Light" pitchFamily="34" charset="-122"/>
                <a:cs typeface="Inter Light" pitchFamily="34" charset="-120"/>
              </a:rPr>
              <a:t>These capabilities are commonly handled as separate solutions, creating significant limitations:</a:t>
            </a:r>
            <a:endParaRPr lang="en-US" sz="850" dirty="0"/>
          </a:p>
        </p:txBody>
      </p:sp>
      <p:pic>
        <p:nvPicPr>
          <p:cNvPr id="8"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4571" y="4089499"/>
            <a:ext cx="170454" cy="170458"/>
          </a:xfrm>
          <a:prstGeom prst="rect">
            <a:avLst/>
          </a:prstGeom>
        </p:spPr>
      </p:pic>
      <p:sp>
        <p:nvSpPr>
          <p:cNvPr id="9" name="Text 5"/>
          <p:cNvSpPr/>
          <p:nvPr/>
        </p:nvSpPr>
        <p:spPr>
          <a:xfrm>
            <a:off x="1001291" y="4103688"/>
            <a:ext cx="10558496" cy="149622"/>
          </a:xfrm>
          <a:prstGeom prst="rect">
            <a:avLst/>
          </a:prstGeom>
          <a:noFill/>
          <a:ln/>
        </p:spPr>
        <p:txBody>
          <a:bodyPr wrap="none" lIns="0" tIns="0" rIns="0" bIns="0" rtlCol="0" anchor="t"/>
          <a:lstStyle/>
          <a:p>
            <a:pPr marL="0" indent="0" algn="l">
              <a:lnSpc>
                <a:spcPct val="83000"/>
              </a:lnSpc>
              <a:buNone/>
            </a:pPr>
            <a:r>
              <a:rPr lang="en-US" sz="1150" kern="0" spc="-35" dirty="0">
                <a:solidFill>
                  <a:srgbClr val="23231E"/>
                </a:solidFill>
                <a:latin typeface="DM Sans ExtraBold" pitchFamily="34" charset="0"/>
                <a:ea typeface="DM Sans ExtraBold" pitchFamily="34" charset="-122"/>
                <a:cs typeface="DM Sans ExtraBold" pitchFamily="34" charset="-120"/>
              </a:rPr>
              <a:t>Disconnected Identification &amp; Marketplace</a:t>
            </a:r>
            <a:endParaRPr lang="en-US" sz="1150" dirty="0"/>
          </a:p>
        </p:txBody>
      </p:sp>
      <p:sp>
        <p:nvSpPr>
          <p:cNvPr id="10" name="Text 6"/>
          <p:cNvSpPr/>
          <p:nvPr/>
        </p:nvSpPr>
        <p:spPr>
          <a:xfrm>
            <a:off x="1001291" y="4296172"/>
            <a:ext cx="10558496" cy="101898"/>
          </a:xfrm>
          <a:prstGeom prst="rect">
            <a:avLst/>
          </a:prstGeom>
          <a:noFill/>
          <a:ln/>
        </p:spPr>
        <p:txBody>
          <a:bodyPr wrap="none" lIns="0" tIns="0" rIns="0" bIns="0" rtlCol="0" anchor="t"/>
          <a:lstStyle/>
          <a:p>
            <a:pPr marL="0" indent="0" algn="l">
              <a:lnSpc>
                <a:spcPct val="75000"/>
              </a:lnSpc>
              <a:buNone/>
            </a:pPr>
            <a:r>
              <a:rPr lang="en-US" sz="850" dirty="0">
                <a:solidFill>
                  <a:srgbClr val="23231E"/>
                </a:solidFill>
                <a:latin typeface="Inter Light" pitchFamily="34" charset="0"/>
                <a:ea typeface="Inter Light" pitchFamily="34" charset="-122"/>
                <a:cs typeface="Inter Light" pitchFamily="34" charset="-120"/>
              </a:rPr>
              <a:t>Fabric analysis does not integrate with sales platforms, hindering efficient transactions.</a:t>
            </a:r>
            <a:endParaRPr lang="en-US" sz="850" dirty="0"/>
          </a:p>
        </p:txBody>
      </p:sp>
      <p:pic>
        <p:nvPicPr>
          <p:cNvPr id="11"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4571" y="4559498"/>
            <a:ext cx="170454" cy="170458"/>
          </a:xfrm>
          <a:prstGeom prst="rect">
            <a:avLst/>
          </a:prstGeom>
        </p:spPr>
      </p:pic>
      <p:sp>
        <p:nvSpPr>
          <p:cNvPr id="12" name="Text 7"/>
          <p:cNvSpPr/>
          <p:nvPr/>
        </p:nvSpPr>
        <p:spPr>
          <a:xfrm>
            <a:off x="1001291" y="4573687"/>
            <a:ext cx="10558496" cy="149622"/>
          </a:xfrm>
          <a:prstGeom prst="rect">
            <a:avLst/>
          </a:prstGeom>
          <a:noFill/>
          <a:ln/>
        </p:spPr>
        <p:txBody>
          <a:bodyPr wrap="none" lIns="0" tIns="0" rIns="0" bIns="0" rtlCol="0" anchor="t"/>
          <a:lstStyle/>
          <a:p>
            <a:pPr marL="0" indent="0" algn="l">
              <a:lnSpc>
                <a:spcPct val="83000"/>
              </a:lnSpc>
              <a:buNone/>
            </a:pPr>
            <a:r>
              <a:rPr lang="en-US" sz="1150" kern="0" spc="-35" dirty="0">
                <a:solidFill>
                  <a:srgbClr val="23231E"/>
                </a:solidFill>
                <a:latin typeface="DM Sans ExtraBold" pitchFamily="34" charset="0"/>
                <a:ea typeface="DM Sans ExtraBold" pitchFamily="34" charset="-122"/>
                <a:cs typeface="DM Sans ExtraBold" pitchFamily="34" charset="-120"/>
              </a:rPr>
              <a:t>Sustainability Data Isolation</a:t>
            </a:r>
            <a:endParaRPr lang="en-US" sz="1150" dirty="0"/>
          </a:p>
        </p:txBody>
      </p:sp>
      <p:sp>
        <p:nvSpPr>
          <p:cNvPr id="13" name="Text 8"/>
          <p:cNvSpPr/>
          <p:nvPr/>
        </p:nvSpPr>
        <p:spPr>
          <a:xfrm>
            <a:off x="1001291" y="4766171"/>
            <a:ext cx="10558496" cy="101898"/>
          </a:xfrm>
          <a:prstGeom prst="rect">
            <a:avLst/>
          </a:prstGeom>
          <a:noFill/>
          <a:ln/>
        </p:spPr>
        <p:txBody>
          <a:bodyPr wrap="none" lIns="0" tIns="0" rIns="0" bIns="0" rtlCol="0" anchor="t"/>
          <a:lstStyle/>
          <a:p>
            <a:pPr marL="0" indent="0" algn="l">
              <a:lnSpc>
                <a:spcPct val="75000"/>
              </a:lnSpc>
              <a:buNone/>
            </a:pPr>
            <a:r>
              <a:rPr lang="en-US" sz="850" dirty="0">
                <a:solidFill>
                  <a:srgbClr val="23231E"/>
                </a:solidFill>
                <a:latin typeface="Inter Light" pitchFamily="34" charset="0"/>
                <a:ea typeface="Inter Light" pitchFamily="34" charset="-122"/>
                <a:cs typeface="Inter Light" pitchFamily="34" charset="-120"/>
              </a:rPr>
              <a:t>Environmental impact metrics are not linked to commercial buying/selling decisions.</a:t>
            </a:r>
            <a:endParaRPr lang="en-US" sz="850" dirty="0"/>
          </a:p>
        </p:txBody>
      </p:sp>
      <p:pic>
        <p:nvPicPr>
          <p:cNvPr id="14"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74571" y="5029498"/>
            <a:ext cx="170454" cy="170458"/>
          </a:xfrm>
          <a:prstGeom prst="rect">
            <a:avLst/>
          </a:prstGeom>
        </p:spPr>
      </p:pic>
      <p:sp>
        <p:nvSpPr>
          <p:cNvPr id="15" name="Text 9"/>
          <p:cNvSpPr/>
          <p:nvPr/>
        </p:nvSpPr>
        <p:spPr>
          <a:xfrm>
            <a:off x="1001291" y="5043686"/>
            <a:ext cx="10558496" cy="149622"/>
          </a:xfrm>
          <a:prstGeom prst="rect">
            <a:avLst/>
          </a:prstGeom>
          <a:noFill/>
          <a:ln/>
        </p:spPr>
        <p:txBody>
          <a:bodyPr wrap="none" lIns="0" tIns="0" rIns="0" bIns="0" rtlCol="0" anchor="t"/>
          <a:lstStyle/>
          <a:p>
            <a:pPr marL="0" indent="0" algn="l">
              <a:lnSpc>
                <a:spcPct val="83000"/>
              </a:lnSpc>
              <a:buNone/>
            </a:pPr>
            <a:r>
              <a:rPr lang="en-US" sz="1150" kern="0" spc="-35" dirty="0">
                <a:solidFill>
                  <a:srgbClr val="23231E"/>
                </a:solidFill>
                <a:latin typeface="DM Sans ExtraBold" pitchFamily="34" charset="0"/>
                <a:ea typeface="DM Sans ExtraBold" pitchFamily="34" charset="-122"/>
                <a:cs typeface="DM Sans ExtraBold" pitchFamily="34" charset="-120"/>
              </a:rPr>
              <a:t>Inefficient Buyer Discovery &amp; Pricing</a:t>
            </a:r>
            <a:endParaRPr lang="en-US" sz="1150" dirty="0"/>
          </a:p>
        </p:txBody>
      </p:sp>
      <p:sp>
        <p:nvSpPr>
          <p:cNvPr id="16" name="Text 10"/>
          <p:cNvSpPr/>
          <p:nvPr/>
        </p:nvSpPr>
        <p:spPr>
          <a:xfrm>
            <a:off x="1001291" y="5236170"/>
            <a:ext cx="10558496" cy="101898"/>
          </a:xfrm>
          <a:prstGeom prst="rect">
            <a:avLst/>
          </a:prstGeom>
          <a:noFill/>
          <a:ln/>
        </p:spPr>
        <p:txBody>
          <a:bodyPr wrap="none" lIns="0" tIns="0" rIns="0" bIns="0" rtlCol="0" anchor="t"/>
          <a:lstStyle/>
          <a:p>
            <a:pPr marL="0" indent="0" algn="l">
              <a:lnSpc>
                <a:spcPct val="75000"/>
              </a:lnSpc>
              <a:buNone/>
            </a:pPr>
            <a:r>
              <a:rPr lang="en-US" sz="850" dirty="0">
                <a:solidFill>
                  <a:srgbClr val="23231E"/>
                </a:solidFill>
                <a:latin typeface="Inter Light" pitchFamily="34" charset="0"/>
                <a:ea typeface="Inter Light" pitchFamily="34" charset="-122"/>
                <a:cs typeface="Inter Light" pitchFamily="34" charset="-120"/>
              </a:rPr>
              <a:t>Finding suitable buyers and establishing fair prices remain manual, negotiation-based processes.</a:t>
            </a:r>
            <a:endParaRPr lang="en-US" sz="850" dirty="0"/>
          </a:p>
        </p:txBody>
      </p:sp>
      <p:pic>
        <p:nvPicPr>
          <p:cNvPr id="17"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74571" y="5499497"/>
            <a:ext cx="170454" cy="170458"/>
          </a:xfrm>
          <a:prstGeom prst="rect">
            <a:avLst/>
          </a:prstGeom>
        </p:spPr>
      </p:pic>
      <p:sp>
        <p:nvSpPr>
          <p:cNvPr id="18" name="Text 11"/>
          <p:cNvSpPr/>
          <p:nvPr/>
        </p:nvSpPr>
        <p:spPr>
          <a:xfrm>
            <a:off x="1001291" y="5513685"/>
            <a:ext cx="10558496" cy="149622"/>
          </a:xfrm>
          <a:prstGeom prst="rect">
            <a:avLst/>
          </a:prstGeom>
          <a:noFill/>
          <a:ln/>
        </p:spPr>
        <p:txBody>
          <a:bodyPr wrap="none" lIns="0" tIns="0" rIns="0" bIns="0" rtlCol="0" anchor="t"/>
          <a:lstStyle/>
          <a:p>
            <a:pPr marL="0" indent="0" algn="l">
              <a:lnSpc>
                <a:spcPct val="83000"/>
              </a:lnSpc>
              <a:buNone/>
            </a:pPr>
            <a:r>
              <a:rPr lang="en-US" sz="1150" kern="0" spc="-35" dirty="0">
                <a:solidFill>
                  <a:srgbClr val="23231E"/>
                </a:solidFill>
                <a:latin typeface="DM Sans ExtraBold" pitchFamily="34" charset="0"/>
                <a:ea typeface="DM Sans ExtraBold" pitchFamily="34" charset="-122"/>
                <a:cs typeface="DM Sans ExtraBold" pitchFamily="34" charset="-120"/>
              </a:rPr>
              <a:t>Fragmented Lifecycle Traceability</a:t>
            </a:r>
            <a:endParaRPr lang="en-US" sz="1150" dirty="0"/>
          </a:p>
        </p:txBody>
      </p:sp>
      <p:sp>
        <p:nvSpPr>
          <p:cNvPr id="19" name="Text 12"/>
          <p:cNvSpPr/>
          <p:nvPr/>
        </p:nvSpPr>
        <p:spPr>
          <a:xfrm>
            <a:off x="1001291" y="5706170"/>
            <a:ext cx="10558496" cy="101898"/>
          </a:xfrm>
          <a:prstGeom prst="rect">
            <a:avLst/>
          </a:prstGeom>
          <a:noFill/>
          <a:ln/>
        </p:spPr>
        <p:txBody>
          <a:bodyPr wrap="none" lIns="0" tIns="0" rIns="0" bIns="0" rtlCol="0" anchor="t"/>
          <a:lstStyle/>
          <a:p>
            <a:pPr marL="0" indent="0" algn="l">
              <a:lnSpc>
                <a:spcPct val="75000"/>
              </a:lnSpc>
              <a:buNone/>
            </a:pPr>
            <a:r>
              <a:rPr lang="en-US" sz="850" dirty="0">
                <a:solidFill>
                  <a:srgbClr val="23231E"/>
                </a:solidFill>
                <a:latin typeface="Inter Light" pitchFamily="34" charset="0"/>
                <a:ea typeface="Inter Light" pitchFamily="34" charset="-122"/>
                <a:cs typeface="Inter Light" pitchFamily="34" charset="-120"/>
              </a:rPr>
              <a:t>Information about a textile's journey is not consistently tied to its transactions.</a:t>
            </a:r>
            <a:endParaRPr lang="en-US" sz="850" dirty="0"/>
          </a:p>
        </p:txBody>
      </p:sp>
      <p:pic>
        <p:nvPicPr>
          <p:cNvPr id="20" name="Image 5"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4571" y="5969496"/>
            <a:ext cx="170454" cy="170458"/>
          </a:xfrm>
          <a:prstGeom prst="rect">
            <a:avLst/>
          </a:prstGeom>
        </p:spPr>
      </p:pic>
      <p:sp>
        <p:nvSpPr>
          <p:cNvPr id="21" name="Text 13"/>
          <p:cNvSpPr/>
          <p:nvPr/>
        </p:nvSpPr>
        <p:spPr>
          <a:xfrm>
            <a:off x="1001291" y="5983684"/>
            <a:ext cx="10558496" cy="149622"/>
          </a:xfrm>
          <a:prstGeom prst="rect">
            <a:avLst/>
          </a:prstGeom>
          <a:noFill/>
          <a:ln/>
        </p:spPr>
        <p:txBody>
          <a:bodyPr wrap="none" lIns="0" tIns="0" rIns="0" bIns="0" rtlCol="0" anchor="t"/>
          <a:lstStyle/>
          <a:p>
            <a:pPr marL="0" indent="0" algn="l">
              <a:lnSpc>
                <a:spcPct val="83000"/>
              </a:lnSpc>
              <a:buNone/>
            </a:pPr>
            <a:r>
              <a:rPr lang="en-US" sz="1150" kern="0" spc="-35" dirty="0">
                <a:solidFill>
                  <a:srgbClr val="23231E"/>
                </a:solidFill>
                <a:latin typeface="DM Sans ExtraBold" pitchFamily="34" charset="0"/>
                <a:ea typeface="DM Sans ExtraBold" pitchFamily="34" charset="-122"/>
                <a:cs typeface="DM Sans ExtraBold" pitchFamily="34" charset="-120"/>
              </a:rPr>
              <a:t>Unpredictable Market Dynamics</a:t>
            </a:r>
            <a:endParaRPr lang="en-US" sz="1150" dirty="0"/>
          </a:p>
        </p:txBody>
      </p:sp>
      <p:sp>
        <p:nvSpPr>
          <p:cNvPr id="22" name="Text 14"/>
          <p:cNvSpPr/>
          <p:nvPr/>
        </p:nvSpPr>
        <p:spPr>
          <a:xfrm>
            <a:off x="1001291" y="6176169"/>
            <a:ext cx="10558496" cy="101898"/>
          </a:xfrm>
          <a:prstGeom prst="rect">
            <a:avLst/>
          </a:prstGeom>
          <a:noFill/>
          <a:ln/>
        </p:spPr>
        <p:txBody>
          <a:bodyPr wrap="none" lIns="0" tIns="0" rIns="0" bIns="0" rtlCol="0" anchor="t"/>
          <a:lstStyle/>
          <a:p>
            <a:pPr marL="0" indent="0" algn="l">
              <a:lnSpc>
                <a:spcPct val="75000"/>
              </a:lnSpc>
              <a:buNone/>
            </a:pPr>
            <a:r>
              <a:rPr lang="en-US" sz="850" dirty="0">
                <a:solidFill>
                  <a:srgbClr val="23231E"/>
                </a:solidFill>
                <a:latin typeface="Inter Light" pitchFamily="34" charset="0"/>
                <a:ea typeface="Inter Light" pitchFamily="34" charset="-122"/>
                <a:cs typeface="Inter Light" pitchFamily="34" charset="-120"/>
              </a:rPr>
              <a:t>Demand and sales patterns within the textile waste market are not forecasted.</a:t>
            </a:r>
            <a:endParaRPr lang="en-US" sz="850" dirty="0"/>
          </a:p>
        </p:txBody>
      </p:sp>
      <p:grpSp>
        <p:nvGrpSpPr>
          <p:cNvPr id="23" name="Group 22">
            <a:extLst>
              <a:ext uri="{FF2B5EF4-FFF2-40B4-BE49-F238E27FC236}">
                <a16:creationId xmlns:a16="http://schemas.microsoft.com/office/drawing/2014/main" id="{68ABA11A-A772-DD66-6F2E-3BF376F13303}"/>
              </a:ext>
            </a:extLst>
          </p:cNvPr>
          <p:cNvGrpSpPr/>
          <p:nvPr/>
        </p:nvGrpSpPr>
        <p:grpSpPr>
          <a:xfrm>
            <a:off x="10686552" y="6506574"/>
            <a:ext cx="1505131" cy="351434"/>
            <a:chOff x="2623154" y="413097"/>
            <a:chExt cx="2599719" cy="525560"/>
          </a:xfrm>
        </p:grpSpPr>
        <p:sp>
          <p:nvSpPr>
            <p:cNvPr id="24" name="Freeform 23">
              <a:extLst>
                <a:ext uri="{FF2B5EF4-FFF2-40B4-BE49-F238E27FC236}">
                  <a16:creationId xmlns:a16="http://schemas.microsoft.com/office/drawing/2014/main" id="{A047D95B-DB9E-53AF-ECE3-CAF7EA41449B}"/>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12"/>
              <a:stretch>
                <a:fillRect l="-64" r="-64" b="1"/>
              </a:stretch>
            </a:blipFill>
          </p:spPr>
          <p:txBody>
            <a:bodyPr/>
            <a:lstStyle/>
            <a:p>
              <a:endParaRPr lang="en-US" sz="1200"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31908" y="526554"/>
            <a:ext cx="10927878" cy="226814"/>
          </a:xfrm>
          <a:prstGeom prst="rect">
            <a:avLst/>
          </a:prstGeom>
          <a:noFill/>
          <a:ln/>
        </p:spPr>
        <p:txBody>
          <a:bodyPr wrap="none" lIns="0" tIns="0" rIns="0" bIns="0" rtlCol="0" anchor="t"/>
          <a:lstStyle/>
          <a:p>
            <a:pPr marL="0" indent="0" algn="l">
              <a:lnSpc>
                <a:spcPct val="83000"/>
              </a:lnSpc>
              <a:buNone/>
            </a:pPr>
            <a:r>
              <a:rPr lang="en-US" sz="1750" kern="0" spc="-54" dirty="0">
                <a:solidFill>
                  <a:srgbClr val="383830"/>
                </a:solidFill>
                <a:latin typeface="DM Sans ExtraBold" pitchFamily="34" charset="0"/>
                <a:ea typeface="DM Sans ExtraBold" pitchFamily="34" charset="-122"/>
                <a:cs typeface="DM Sans ExtraBold" pitchFamily="34" charset="-120"/>
              </a:rPr>
              <a:t>Our Approach to Address the Gap</a:t>
            </a:r>
            <a:endParaRPr lang="en-US" sz="1750" dirty="0"/>
          </a:p>
        </p:txBody>
      </p:sp>
      <p:sp>
        <p:nvSpPr>
          <p:cNvPr id="3" name="Text 1"/>
          <p:cNvSpPr/>
          <p:nvPr/>
        </p:nvSpPr>
        <p:spPr>
          <a:xfrm>
            <a:off x="631908" y="835620"/>
            <a:ext cx="11537463" cy="70048"/>
          </a:xfrm>
          <a:prstGeom prst="rect">
            <a:avLst/>
          </a:prstGeom>
          <a:noFill/>
          <a:ln/>
        </p:spPr>
        <p:txBody>
          <a:bodyPr wrap="none" lIns="0" tIns="0" rIns="0" bIns="0" rtlCol="0" anchor="t"/>
          <a:lstStyle/>
          <a:p>
            <a:pPr marL="0" indent="0" algn="l">
              <a:lnSpc>
                <a:spcPct val="68000"/>
              </a:lnSpc>
              <a:buNone/>
            </a:pPr>
            <a:r>
              <a:rPr lang="en-US" sz="650" dirty="0">
                <a:solidFill>
                  <a:srgbClr val="23231E"/>
                </a:solidFill>
                <a:latin typeface="Inter Light" pitchFamily="34" charset="0"/>
                <a:ea typeface="Inter Light" pitchFamily="34" charset="-122"/>
                <a:cs typeface="Inter Light" pitchFamily="34" charset="-120"/>
              </a:rPr>
              <a:t>TexCycle AI addresses existing inefficiencies by integrating four distinct intelligence layers:</a:t>
            </a:r>
            <a:endParaRPr lang="en-US" sz="6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908" y="921841"/>
            <a:ext cx="5443401" cy="651470"/>
          </a:xfrm>
          <a:prstGeom prst="rect">
            <a:avLst/>
          </a:prstGeom>
        </p:spPr>
      </p:pic>
      <p:sp>
        <p:nvSpPr>
          <p:cNvPr id="5" name="Text 2"/>
          <p:cNvSpPr/>
          <p:nvPr/>
        </p:nvSpPr>
        <p:spPr>
          <a:xfrm>
            <a:off x="3301868" y="1029395"/>
            <a:ext cx="103383" cy="103386"/>
          </a:xfrm>
          <a:prstGeom prst="rect">
            <a:avLst/>
          </a:prstGeom>
          <a:noFill/>
          <a:ln/>
        </p:spPr>
        <p:txBody>
          <a:bodyPr wrap="none" lIns="0" tIns="0" rIns="0" bIns="0" rtlCol="0" anchor="ctr"/>
          <a:lstStyle/>
          <a:p>
            <a:pPr marL="0" indent="0" algn="ctr">
              <a:lnSpc>
                <a:spcPct val="100000"/>
              </a:lnSpc>
              <a:buNone/>
            </a:pPr>
            <a:r>
              <a:rPr lang="en-US" sz="800" kern="0" spc="-20" dirty="0">
                <a:solidFill>
                  <a:srgbClr val="FFFFFF"/>
                </a:solidFill>
                <a:latin typeface="DM Sans ExtraBold" pitchFamily="34" charset="0"/>
                <a:ea typeface="DM Sans ExtraBold" pitchFamily="34" charset="-122"/>
                <a:cs typeface="DM Sans ExtraBold" pitchFamily="34" charset="-120"/>
              </a:rPr>
              <a:t>1</a:t>
            </a:r>
            <a:endParaRPr lang="en-US" sz="800" dirty="0"/>
          </a:p>
        </p:txBody>
      </p:sp>
      <p:sp>
        <p:nvSpPr>
          <p:cNvPr id="6" name="Text 3"/>
          <p:cNvSpPr/>
          <p:nvPr/>
        </p:nvSpPr>
        <p:spPr>
          <a:xfrm>
            <a:off x="730728" y="1296491"/>
            <a:ext cx="5245763" cy="113407"/>
          </a:xfrm>
          <a:prstGeom prst="rect">
            <a:avLst/>
          </a:prstGeom>
          <a:noFill/>
          <a:ln/>
        </p:spPr>
        <p:txBody>
          <a:bodyPr wrap="none" lIns="0" tIns="0" rIns="0" bIns="0" rtlCol="0" anchor="t"/>
          <a:lstStyle/>
          <a:p>
            <a:pPr marL="0" indent="0" algn="l">
              <a:lnSpc>
                <a:spcPct val="83000"/>
              </a:lnSpc>
              <a:buNone/>
            </a:pPr>
            <a:r>
              <a:rPr lang="en-US" sz="850" kern="0" spc="-27" dirty="0">
                <a:solidFill>
                  <a:srgbClr val="23231E"/>
                </a:solidFill>
                <a:latin typeface="DM Sans ExtraBold" pitchFamily="34" charset="0"/>
                <a:ea typeface="DM Sans ExtraBold" pitchFamily="34" charset="-122"/>
                <a:cs typeface="DM Sans ExtraBold" pitchFamily="34" charset="-120"/>
              </a:rPr>
              <a:t>Fabric Intelligence</a:t>
            </a:r>
            <a:endParaRPr lang="en-US" sz="850" dirty="0"/>
          </a:p>
        </p:txBody>
      </p:sp>
      <p:sp>
        <p:nvSpPr>
          <p:cNvPr id="7" name="Text 4"/>
          <p:cNvSpPr/>
          <p:nvPr/>
        </p:nvSpPr>
        <p:spPr>
          <a:xfrm>
            <a:off x="730728" y="1434505"/>
            <a:ext cx="5245763" cy="70048"/>
          </a:xfrm>
          <a:prstGeom prst="rect">
            <a:avLst/>
          </a:prstGeom>
          <a:noFill/>
          <a:ln/>
        </p:spPr>
        <p:txBody>
          <a:bodyPr wrap="none" lIns="0" tIns="0" rIns="0" bIns="0" rtlCol="0" anchor="t"/>
          <a:lstStyle/>
          <a:p>
            <a:pPr marL="0" indent="0" algn="l">
              <a:lnSpc>
                <a:spcPct val="68000"/>
              </a:lnSpc>
              <a:buNone/>
            </a:pPr>
            <a:r>
              <a:rPr lang="en-US" sz="650" dirty="0">
                <a:solidFill>
                  <a:srgbClr val="23231E"/>
                </a:solidFill>
                <a:latin typeface="Inter Light" pitchFamily="34" charset="0"/>
                <a:ea typeface="Inter Light" pitchFamily="34" charset="-122"/>
                <a:cs typeface="Inter Light" pitchFamily="34" charset="-120"/>
              </a:rPr>
              <a:t>Identifies the textile type and assesses its current condition.</a:t>
            </a:r>
            <a:endParaRPr lang="en-US" sz="650" dirty="0"/>
          </a:p>
        </p:txBody>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16385" y="921841"/>
            <a:ext cx="5443401" cy="651470"/>
          </a:xfrm>
          <a:prstGeom prst="rect">
            <a:avLst/>
          </a:prstGeom>
        </p:spPr>
      </p:pic>
      <p:sp>
        <p:nvSpPr>
          <p:cNvPr id="9" name="Text 5"/>
          <p:cNvSpPr/>
          <p:nvPr/>
        </p:nvSpPr>
        <p:spPr>
          <a:xfrm>
            <a:off x="8786345" y="1029395"/>
            <a:ext cx="103383" cy="103386"/>
          </a:xfrm>
          <a:prstGeom prst="rect">
            <a:avLst/>
          </a:prstGeom>
          <a:noFill/>
          <a:ln/>
        </p:spPr>
        <p:txBody>
          <a:bodyPr wrap="none" lIns="0" tIns="0" rIns="0" bIns="0" rtlCol="0" anchor="ctr"/>
          <a:lstStyle/>
          <a:p>
            <a:pPr marL="0" indent="0" algn="ctr">
              <a:lnSpc>
                <a:spcPct val="100000"/>
              </a:lnSpc>
              <a:buNone/>
            </a:pPr>
            <a:r>
              <a:rPr lang="en-US" sz="800" kern="0" spc="-20" dirty="0">
                <a:solidFill>
                  <a:srgbClr val="FFFFFF"/>
                </a:solidFill>
                <a:latin typeface="DM Sans ExtraBold" pitchFamily="34" charset="0"/>
                <a:ea typeface="DM Sans ExtraBold" pitchFamily="34" charset="-122"/>
                <a:cs typeface="DM Sans ExtraBold" pitchFamily="34" charset="-120"/>
              </a:rPr>
              <a:t>2</a:t>
            </a:r>
            <a:endParaRPr lang="en-US" sz="800" dirty="0"/>
          </a:p>
        </p:txBody>
      </p:sp>
      <p:sp>
        <p:nvSpPr>
          <p:cNvPr id="10" name="Text 6"/>
          <p:cNvSpPr/>
          <p:nvPr/>
        </p:nvSpPr>
        <p:spPr>
          <a:xfrm>
            <a:off x="6215205" y="1296491"/>
            <a:ext cx="5245763" cy="113407"/>
          </a:xfrm>
          <a:prstGeom prst="rect">
            <a:avLst/>
          </a:prstGeom>
          <a:noFill/>
          <a:ln/>
        </p:spPr>
        <p:txBody>
          <a:bodyPr wrap="none" lIns="0" tIns="0" rIns="0" bIns="0" rtlCol="0" anchor="t"/>
          <a:lstStyle/>
          <a:p>
            <a:pPr marL="0" indent="0" algn="l">
              <a:lnSpc>
                <a:spcPct val="83000"/>
              </a:lnSpc>
              <a:buNone/>
            </a:pPr>
            <a:r>
              <a:rPr lang="en-US" sz="850" kern="0" spc="-27" dirty="0">
                <a:solidFill>
                  <a:srgbClr val="23231E"/>
                </a:solidFill>
                <a:latin typeface="DM Sans ExtraBold" pitchFamily="34" charset="0"/>
                <a:ea typeface="DM Sans ExtraBold" pitchFamily="34" charset="-122"/>
                <a:cs typeface="DM Sans ExtraBold" pitchFamily="34" charset="-120"/>
              </a:rPr>
              <a:t>Sustainability Intelligence</a:t>
            </a:r>
            <a:endParaRPr lang="en-US" sz="850" dirty="0"/>
          </a:p>
        </p:txBody>
      </p:sp>
      <p:sp>
        <p:nvSpPr>
          <p:cNvPr id="11" name="Text 7"/>
          <p:cNvSpPr/>
          <p:nvPr/>
        </p:nvSpPr>
        <p:spPr>
          <a:xfrm>
            <a:off x="6215205" y="1434505"/>
            <a:ext cx="5245763" cy="70048"/>
          </a:xfrm>
          <a:prstGeom prst="rect">
            <a:avLst/>
          </a:prstGeom>
          <a:noFill/>
          <a:ln/>
        </p:spPr>
        <p:txBody>
          <a:bodyPr wrap="none" lIns="0" tIns="0" rIns="0" bIns="0" rtlCol="0" anchor="t"/>
          <a:lstStyle/>
          <a:p>
            <a:pPr marL="0" indent="0" algn="l">
              <a:lnSpc>
                <a:spcPct val="68000"/>
              </a:lnSpc>
              <a:buNone/>
            </a:pPr>
            <a:r>
              <a:rPr lang="en-US" sz="650" dirty="0">
                <a:solidFill>
                  <a:srgbClr val="23231E"/>
                </a:solidFill>
                <a:latin typeface="Inter Light" pitchFamily="34" charset="0"/>
                <a:ea typeface="Inter Light" pitchFamily="34" charset="-122"/>
                <a:cs typeface="Inter Light" pitchFamily="34" charset="-120"/>
              </a:rPr>
              <a:t>Evaluates the environmental impact and value of the material.</a:t>
            </a:r>
            <a:endParaRPr lang="en-US" sz="650" dirty="0"/>
          </a:p>
        </p:txBody>
      </p:sp>
      <p:pic>
        <p:nvPicPr>
          <p:cNvPr id="1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1908" y="1614388"/>
            <a:ext cx="5443401" cy="651470"/>
          </a:xfrm>
          <a:prstGeom prst="rect">
            <a:avLst/>
          </a:prstGeom>
        </p:spPr>
      </p:pic>
      <p:sp>
        <p:nvSpPr>
          <p:cNvPr id="13" name="Text 8"/>
          <p:cNvSpPr/>
          <p:nvPr/>
        </p:nvSpPr>
        <p:spPr>
          <a:xfrm>
            <a:off x="3301868" y="1721941"/>
            <a:ext cx="103383" cy="103386"/>
          </a:xfrm>
          <a:prstGeom prst="rect">
            <a:avLst/>
          </a:prstGeom>
          <a:noFill/>
          <a:ln/>
        </p:spPr>
        <p:txBody>
          <a:bodyPr wrap="none" lIns="0" tIns="0" rIns="0" bIns="0" rtlCol="0" anchor="ctr"/>
          <a:lstStyle/>
          <a:p>
            <a:pPr marL="0" indent="0" algn="ctr">
              <a:lnSpc>
                <a:spcPct val="100000"/>
              </a:lnSpc>
              <a:buNone/>
            </a:pPr>
            <a:r>
              <a:rPr lang="en-US" sz="800" kern="0" spc="-20" dirty="0">
                <a:solidFill>
                  <a:srgbClr val="000000"/>
                </a:solidFill>
                <a:latin typeface="DM Sans ExtraBold" pitchFamily="34" charset="0"/>
                <a:ea typeface="DM Sans ExtraBold" pitchFamily="34" charset="-122"/>
                <a:cs typeface="DM Sans ExtraBold" pitchFamily="34" charset="-120"/>
              </a:rPr>
              <a:t>3</a:t>
            </a:r>
            <a:endParaRPr lang="en-US" sz="800" dirty="0"/>
          </a:p>
        </p:txBody>
      </p:sp>
      <p:sp>
        <p:nvSpPr>
          <p:cNvPr id="14" name="Text 9"/>
          <p:cNvSpPr/>
          <p:nvPr/>
        </p:nvSpPr>
        <p:spPr>
          <a:xfrm>
            <a:off x="730728" y="1989038"/>
            <a:ext cx="5245763" cy="113407"/>
          </a:xfrm>
          <a:prstGeom prst="rect">
            <a:avLst/>
          </a:prstGeom>
          <a:noFill/>
          <a:ln/>
        </p:spPr>
        <p:txBody>
          <a:bodyPr wrap="none" lIns="0" tIns="0" rIns="0" bIns="0" rtlCol="0" anchor="t"/>
          <a:lstStyle/>
          <a:p>
            <a:pPr marL="0" indent="0" algn="l">
              <a:lnSpc>
                <a:spcPct val="83000"/>
              </a:lnSpc>
              <a:buNone/>
            </a:pPr>
            <a:r>
              <a:rPr lang="en-US" sz="850" kern="0" spc="-27" dirty="0">
                <a:solidFill>
                  <a:srgbClr val="23231E"/>
                </a:solidFill>
                <a:latin typeface="DM Sans ExtraBold" pitchFamily="34" charset="0"/>
                <a:ea typeface="DM Sans ExtraBold" pitchFamily="34" charset="-122"/>
                <a:cs typeface="DM Sans ExtraBold" pitchFamily="34" charset="-120"/>
              </a:rPr>
              <a:t>Commercial Intelligence</a:t>
            </a:r>
            <a:endParaRPr lang="en-US" sz="850" dirty="0"/>
          </a:p>
        </p:txBody>
      </p:sp>
      <p:sp>
        <p:nvSpPr>
          <p:cNvPr id="15" name="Text 10"/>
          <p:cNvSpPr/>
          <p:nvPr/>
        </p:nvSpPr>
        <p:spPr>
          <a:xfrm>
            <a:off x="730728" y="2127052"/>
            <a:ext cx="5245763" cy="70048"/>
          </a:xfrm>
          <a:prstGeom prst="rect">
            <a:avLst/>
          </a:prstGeom>
          <a:noFill/>
          <a:ln/>
        </p:spPr>
        <p:txBody>
          <a:bodyPr wrap="none" lIns="0" tIns="0" rIns="0" bIns="0" rtlCol="0" anchor="t"/>
          <a:lstStyle/>
          <a:p>
            <a:pPr marL="0" indent="0" algn="l">
              <a:lnSpc>
                <a:spcPct val="68000"/>
              </a:lnSpc>
              <a:buNone/>
            </a:pPr>
            <a:r>
              <a:rPr lang="en-US" sz="650" dirty="0">
                <a:solidFill>
                  <a:srgbClr val="23231E"/>
                </a:solidFill>
                <a:latin typeface="Inter Light" pitchFamily="34" charset="0"/>
                <a:ea typeface="Inter Light" pitchFamily="34" charset="-122"/>
                <a:cs typeface="Inter Light" pitchFamily="34" charset="-120"/>
              </a:rPr>
              <a:t>Determines market worth and suggests potential buyers.</a:t>
            </a:r>
            <a:endParaRPr lang="en-US" sz="650" dirty="0"/>
          </a:p>
        </p:txBody>
      </p:sp>
      <p:pic>
        <p:nvPicPr>
          <p:cNvPr id="16"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16385" y="1614388"/>
            <a:ext cx="5443401" cy="651470"/>
          </a:xfrm>
          <a:prstGeom prst="rect">
            <a:avLst/>
          </a:prstGeom>
        </p:spPr>
      </p:pic>
      <p:sp>
        <p:nvSpPr>
          <p:cNvPr id="17" name="Text 11"/>
          <p:cNvSpPr/>
          <p:nvPr/>
        </p:nvSpPr>
        <p:spPr>
          <a:xfrm>
            <a:off x="8786345" y="1721941"/>
            <a:ext cx="103383" cy="103386"/>
          </a:xfrm>
          <a:prstGeom prst="rect">
            <a:avLst/>
          </a:prstGeom>
          <a:noFill/>
          <a:ln/>
        </p:spPr>
        <p:txBody>
          <a:bodyPr wrap="none" lIns="0" tIns="0" rIns="0" bIns="0" rtlCol="0" anchor="ctr"/>
          <a:lstStyle/>
          <a:p>
            <a:pPr marL="0" indent="0" algn="ctr">
              <a:lnSpc>
                <a:spcPct val="100000"/>
              </a:lnSpc>
              <a:buNone/>
            </a:pPr>
            <a:r>
              <a:rPr lang="en-US" sz="800" kern="0" spc="-20" dirty="0">
                <a:solidFill>
                  <a:srgbClr val="FFFFFF"/>
                </a:solidFill>
                <a:latin typeface="DM Sans ExtraBold" pitchFamily="34" charset="0"/>
                <a:ea typeface="DM Sans ExtraBold" pitchFamily="34" charset="-122"/>
                <a:cs typeface="DM Sans ExtraBold" pitchFamily="34" charset="-120"/>
              </a:rPr>
              <a:t>4</a:t>
            </a:r>
            <a:endParaRPr lang="en-US" sz="800" dirty="0"/>
          </a:p>
        </p:txBody>
      </p:sp>
      <p:sp>
        <p:nvSpPr>
          <p:cNvPr id="18" name="Text 12"/>
          <p:cNvSpPr/>
          <p:nvPr/>
        </p:nvSpPr>
        <p:spPr>
          <a:xfrm>
            <a:off x="6215205" y="1989038"/>
            <a:ext cx="5245763" cy="113407"/>
          </a:xfrm>
          <a:prstGeom prst="rect">
            <a:avLst/>
          </a:prstGeom>
          <a:noFill/>
          <a:ln/>
        </p:spPr>
        <p:txBody>
          <a:bodyPr wrap="none" lIns="0" tIns="0" rIns="0" bIns="0" rtlCol="0" anchor="t"/>
          <a:lstStyle/>
          <a:p>
            <a:pPr marL="0" indent="0" algn="l">
              <a:lnSpc>
                <a:spcPct val="83000"/>
              </a:lnSpc>
              <a:buNone/>
            </a:pPr>
            <a:r>
              <a:rPr lang="en-US" sz="850" kern="0" spc="-27" dirty="0">
                <a:solidFill>
                  <a:srgbClr val="23231E"/>
                </a:solidFill>
                <a:latin typeface="DM Sans ExtraBold" pitchFamily="34" charset="0"/>
                <a:ea typeface="DM Sans ExtraBold" pitchFamily="34" charset="-122"/>
                <a:cs typeface="DM Sans ExtraBold" pitchFamily="34" charset="-120"/>
              </a:rPr>
              <a:t>Marketplace Intelligence</a:t>
            </a:r>
            <a:endParaRPr lang="en-US" sz="850" dirty="0"/>
          </a:p>
        </p:txBody>
      </p:sp>
      <p:sp>
        <p:nvSpPr>
          <p:cNvPr id="19" name="Text 13"/>
          <p:cNvSpPr/>
          <p:nvPr/>
        </p:nvSpPr>
        <p:spPr>
          <a:xfrm>
            <a:off x="6215205" y="2127052"/>
            <a:ext cx="5245763" cy="70048"/>
          </a:xfrm>
          <a:prstGeom prst="rect">
            <a:avLst/>
          </a:prstGeom>
          <a:noFill/>
          <a:ln/>
        </p:spPr>
        <p:txBody>
          <a:bodyPr wrap="none" lIns="0" tIns="0" rIns="0" bIns="0" rtlCol="0" anchor="t"/>
          <a:lstStyle/>
          <a:p>
            <a:pPr marL="0" indent="0" algn="l">
              <a:lnSpc>
                <a:spcPct val="68000"/>
              </a:lnSpc>
              <a:buNone/>
            </a:pPr>
            <a:r>
              <a:rPr lang="en-US" sz="650" dirty="0">
                <a:solidFill>
                  <a:srgbClr val="23231E"/>
                </a:solidFill>
                <a:latin typeface="Inter Light" pitchFamily="34" charset="0"/>
                <a:ea typeface="Inter Light" pitchFamily="34" charset="-122"/>
                <a:cs typeface="Inter Light" pitchFamily="34" charset="-120"/>
              </a:rPr>
              <a:t>Predicts listing performance and optimizes for efficient transactions.</a:t>
            </a:r>
            <a:endParaRPr lang="en-US" sz="650" dirty="0"/>
          </a:p>
        </p:txBody>
      </p:sp>
      <p:sp>
        <p:nvSpPr>
          <p:cNvPr id="20" name="Text 14"/>
          <p:cNvSpPr/>
          <p:nvPr/>
        </p:nvSpPr>
        <p:spPr>
          <a:xfrm>
            <a:off x="631908" y="2357537"/>
            <a:ext cx="10927878" cy="181471"/>
          </a:xfrm>
          <a:prstGeom prst="rect">
            <a:avLst/>
          </a:prstGeom>
          <a:noFill/>
          <a:ln/>
        </p:spPr>
        <p:txBody>
          <a:bodyPr wrap="none" lIns="0" tIns="0" rIns="0" bIns="0" rtlCol="0" anchor="t"/>
          <a:lstStyle/>
          <a:p>
            <a:pPr marL="0" indent="0" algn="l">
              <a:lnSpc>
                <a:spcPct val="83000"/>
              </a:lnSpc>
              <a:buNone/>
            </a:pPr>
            <a:r>
              <a:rPr lang="en-US" sz="1400" kern="0" spc="-43" dirty="0">
                <a:solidFill>
                  <a:srgbClr val="383830"/>
                </a:solidFill>
                <a:latin typeface="DM Sans ExtraBold" pitchFamily="34" charset="0"/>
                <a:ea typeface="DM Sans ExtraBold" pitchFamily="34" charset="-122"/>
                <a:cs typeface="DM Sans ExtraBold" pitchFamily="34" charset="-120"/>
              </a:rPr>
              <a:t>Integrated Result: A Circular Journey</a:t>
            </a:r>
            <a:endParaRPr lang="en-US" sz="1400" dirty="0"/>
          </a:p>
        </p:txBody>
      </p:sp>
      <p:sp>
        <p:nvSpPr>
          <p:cNvPr id="21" name="Text 15"/>
          <p:cNvSpPr/>
          <p:nvPr/>
        </p:nvSpPr>
        <p:spPr>
          <a:xfrm>
            <a:off x="631908" y="2600623"/>
            <a:ext cx="11537463" cy="70048"/>
          </a:xfrm>
          <a:prstGeom prst="rect">
            <a:avLst/>
          </a:prstGeom>
          <a:noFill/>
          <a:ln/>
        </p:spPr>
        <p:txBody>
          <a:bodyPr wrap="none" lIns="0" tIns="0" rIns="0" bIns="0" rtlCol="0" anchor="t"/>
          <a:lstStyle/>
          <a:p>
            <a:pPr marL="0" indent="0" algn="l">
              <a:lnSpc>
                <a:spcPct val="68000"/>
              </a:lnSpc>
              <a:buNone/>
            </a:pPr>
            <a:r>
              <a:rPr lang="en-US" sz="650" dirty="0">
                <a:solidFill>
                  <a:srgbClr val="23231E"/>
                </a:solidFill>
                <a:latin typeface="Inter Light" pitchFamily="34" charset="0"/>
                <a:ea typeface="Inter Light" pitchFamily="34" charset="-122"/>
                <a:cs typeface="Inter Light" pitchFamily="34" charset="-120"/>
              </a:rPr>
              <a:t>These layers combine to create a comprehensive, data-driven workflow for textile waste upcycling:</a:t>
            </a:r>
            <a:endParaRPr lang="en-US" sz="650" dirty="0"/>
          </a:p>
        </p:txBody>
      </p:sp>
      <p:pic>
        <p:nvPicPr>
          <p:cNvPr id="22" name="Image 4" descr="preencoded.png"/>
          <p:cNvPicPr>
            <a:picLocks noChangeAspect="1"/>
          </p:cNvPicPr>
          <p:nvPr/>
        </p:nvPicPr>
        <p:blipFill>
          <a:blip r:embed="rId11"/>
          <a:stretch>
            <a:fillRect/>
          </a:stretch>
        </p:blipFill>
        <p:spPr>
          <a:xfrm>
            <a:off x="2658004" y="2716907"/>
            <a:ext cx="6875588" cy="2580084"/>
          </a:xfrm>
          <a:prstGeom prst="rect">
            <a:avLst/>
          </a:prstGeom>
        </p:spPr>
      </p:pic>
      <p:sp>
        <p:nvSpPr>
          <p:cNvPr id="23" name="Text 16"/>
          <p:cNvSpPr/>
          <p:nvPr/>
        </p:nvSpPr>
        <p:spPr>
          <a:xfrm>
            <a:off x="8213400" y="4686412"/>
            <a:ext cx="1037037" cy="168256"/>
          </a:xfrm>
          <a:prstGeom prst="rect">
            <a:avLst/>
          </a:prstGeom>
          <a:noFill/>
          <a:ln/>
        </p:spPr>
        <p:txBody>
          <a:bodyPr wrap="none" lIns="0" tIns="0" rIns="0" bIns="0" rtlCol="0" anchor="t"/>
          <a:lstStyle/>
          <a:p>
            <a:pPr marL="0" indent="0" algn="ctr">
              <a:lnSpc>
                <a:spcPct val="83000"/>
              </a:lnSpc>
              <a:buNone/>
            </a:pPr>
            <a:r>
              <a:rPr lang="en-US" sz="1300" kern="0" spc="-40" dirty="0">
                <a:solidFill>
                  <a:srgbClr val="23231E"/>
                </a:solidFill>
                <a:latin typeface="DM Sans ExtraBold" pitchFamily="34" charset="0"/>
                <a:ea typeface="DM Sans ExtraBold" pitchFamily="34" charset="-122"/>
                <a:cs typeface="DM Sans ExtraBold" pitchFamily="34" charset="-120"/>
              </a:rPr>
              <a:t>Buyer</a:t>
            </a:r>
            <a:endParaRPr lang="en-US" sz="1300" dirty="0"/>
          </a:p>
        </p:txBody>
      </p:sp>
      <p:sp>
        <p:nvSpPr>
          <p:cNvPr id="24" name="Text 17"/>
          <p:cNvSpPr/>
          <p:nvPr/>
        </p:nvSpPr>
        <p:spPr>
          <a:xfrm>
            <a:off x="6906449" y="4686412"/>
            <a:ext cx="1037037" cy="168256"/>
          </a:xfrm>
          <a:prstGeom prst="rect">
            <a:avLst/>
          </a:prstGeom>
          <a:noFill/>
          <a:ln/>
        </p:spPr>
        <p:txBody>
          <a:bodyPr wrap="none" lIns="0" tIns="0" rIns="0" bIns="0" rtlCol="0" anchor="t"/>
          <a:lstStyle/>
          <a:p>
            <a:pPr marL="0" indent="0" algn="ctr">
              <a:lnSpc>
                <a:spcPct val="83000"/>
              </a:lnSpc>
              <a:buNone/>
            </a:pPr>
            <a:r>
              <a:rPr lang="en-US" sz="1300" kern="0" spc="-40" dirty="0">
                <a:solidFill>
                  <a:srgbClr val="23231E"/>
                </a:solidFill>
                <a:latin typeface="DM Sans ExtraBold" pitchFamily="34" charset="0"/>
                <a:ea typeface="DM Sans ExtraBold" pitchFamily="34" charset="-122"/>
                <a:cs typeface="DM Sans ExtraBold" pitchFamily="34" charset="-120"/>
              </a:rPr>
              <a:t>Price</a:t>
            </a:r>
            <a:endParaRPr lang="en-US" sz="1300" dirty="0"/>
          </a:p>
        </p:txBody>
      </p:sp>
      <p:sp>
        <p:nvSpPr>
          <p:cNvPr id="25" name="Text 18"/>
          <p:cNvSpPr/>
          <p:nvPr/>
        </p:nvSpPr>
        <p:spPr>
          <a:xfrm>
            <a:off x="5606600" y="4602284"/>
            <a:ext cx="1037037" cy="336513"/>
          </a:xfrm>
          <a:prstGeom prst="rect">
            <a:avLst/>
          </a:prstGeom>
          <a:noFill/>
          <a:ln/>
        </p:spPr>
        <p:txBody>
          <a:bodyPr wrap="square" lIns="0" tIns="0" rIns="0" bIns="0" rtlCol="0" anchor="t">
            <a:normAutofit/>
          </a:bodyPr>
          <a:lstStyle/>
          <a:p>
            <a:pPr marL="0" indent="0" algn="ctr">
              <a:lnSpc>
                <a:spcPct val="83000"/>
              </a:lnSpc>
              <a:buNone/>
            </a:pPr>
            <a:r>
              <a:rPr lang="en-US" sz="1300" kern="0" spc="-40" dirty="0">
                <a:solidFill>
                  <a:srgbClr val="23231E"/>
                </a:solidFill>
                <a:latin typeface="DM Sans ExtraBold" pitchFamily="34" charset="0"/>
                <a:ea typeface="DM Sans ExtraBold" pitchFamily="34" charset="-122"/>
                <a:cs typeface="DM Sans ExtraBold" pitchFamily="34" charset="-120"/>
              </a:rPr>
              <a:t>Sustainability</a:t>
            </a:r>
            <a:endParaRPr lang="en-US" sz="1300" dirty="0"/>
          </a:p>
        </p:txBody>
      </p:sp>
      <p:sp>
        <p:nvSpPr>
          <p:cNvPr id="26" name="Text 19"/>
          <p:cNvSpPr/>
          <p:nvPr/>
        </p:nvSpPr>
        <p:spPr>
          <a:xfrm>
            <a:off x="4306752" y="4686412"/>
            <a:ext cx="1037037" cy="168256"/>
          </a:xfrm>
          <a:prstGeom prst="rect">
            <a:avLst/>
          </a:prstGeom>
          <a:noFill/>
          <a:ln/>
        </p:spPr>
        <p:txBody>
          <a:bodyPr wrap="none" lIns="0" tIns="0" rIns="0" bIns="0" rtlCol="0" anchor="t"/>
          <a:lstStyle/>
          <a:p>
            <a:pPr marL="0" indent="0" algn="ctr">
              <a:lnSpc>
                <a:spcPct val="83000"/>
              </a:lnSpc>
              <a:buNone/>
            </a:pPr>
            <a:r>
              <a:rPr lang="en-US" sz="1300" kern="0" spc="-40" dirty="0">
                <a:solidFill>
                  <a:srgbClr val="23231E"/>
                </a:solidFill>
                <a:latin typeface="DM Sans ExtraBold" pitchFamily="34" charset="0"/>
                <a:ea typeface="DM Sans ExtraBold" pitchFamily="34" charset="-122"/>
                <a:cs typeface="DM Sans ExtraBold" pitchFamily="34" charset="-120"/>
              </a:rPr>
              <a:t>AI Analysis</a:t>
            </a:r>
            <a:endParaRPr lang="en-US" sz="1300" dirty="0"/>
          </a:p>
        </p:txBody>
      </p:sp>
      <p:sp>
        <p:nvSpPr>
          <p:cNvPr id="27" name="Text 20"/>
          <p:cNvSpPr/>
          <p:nvPr/>
        </p:nvSpPr>
        <p:spPr>
          <a:xfrm>
            <a:off x="2978492" y="4602284"/>
            <a:ext cx="1037037" cy="336513"/>
          </a:xfrm>
          <a:prstGeom prst="rect">
            <a:avLst/>
          </a:prstGeom>
          <a:noFill/>
          <a:ln/>
        </p:spPr>
        <p:txBody>
          <a:bodyPr wrap="square" lIns="0" tIns="0" rIns="0" bIns="0" rtlCol="0" anchor="t">
            <a:normAutofit/>
          </a:bodyPr>
          <a:lstStyle/>
          <a:p>
            <a:pPr marL="0" indent="0" algn="ctr">
              <a:lnSpc>
                <a:spcPct val="83000"/>
              </a:lnSpc>
              <a:buNone/>
            </a:pPr>
            <a:r>
              <a:rPr lang="en-US" sz="1300" kern="0" spc="-40" dirty="0">
                <a:solidFill>
                  <a:srgbClr val="23231E"/>
                </a:solidFill>
                <a:latin typeface="DM Sans ExtraBold" pitchFamily="34" charset="0"/>
                <a:ea typeface="DM Sans ExtraBold" pitchFamily="34" charset="-122"/>
                <a:cs typeface="DM Sans ExtraBold" pitchFamily="34" charset="-120"/>
              </a:rPr>
              <a:t>Textile Waste</a:t>
            </a:r>
            <a:endParaRPr lang="en-US" sz="1300" dirty="0"/>
          </a:p>
        </p:txBody>
      </p:sp>
      <p:sp>
        <p:nvSpPr>
          <p:cNvPr id="28" name="Shape 21"/>
          <p:cNvSpPr/>
          <p:nvPr/>
        </p:nvSpPr>
        <p:spPr>
          <a:xfrm>
            <a:off x="631908" y="5343227"/>
            <a:ext cx="10927878" cy="191195"/>
          </a:xfrm>
          <a:prstGeom prst="roundRect">
            <a:avLst>
              <a:gd name="adj" fmla="val 40569"/>
            </a:avLst>
          </a:prstGeom>
          <a:solidFill>
            <a:srgbClr val="D9F2E4"/>
          </a:solidFill>
          <a:ln/>
        </p:spPr>
        <p:txBody>
          <a:bodyPr/>
          <a:lstStyle/>
          <a:p>
            <a:endParaRPr lang="en-US"/>
          </a:p>
        </p:txBody>
      </p:sp>
      <p:pic>
        <p:nvPicPr>
          <p:cNvPr id="29" name="Image 5" descr="preencoded.png"/>
          <p:cNvPicPr>
            <a:picLocks noChangeAspect="1"/>
          </p:cNvPicPr>
          <p:nvPr/>
        </p:nvPicPr>
        <p:blipFill>
          <a:blip r:embed="rId12"/>
          <a:stretch>
            <a:fillRect/>
          </a:stretch>
        </p:blipFill>
        <p:spPr>
          <a:xfrm>
            <a:off x="718028" y="5678190"/>
            <a:ext cx="107650" cy="86122"/>
          </a:xfrm>
          <a:prstGeom prst="rect">
            <a:avLst/>
          </a:prstGeom>
        </p:spPr>
      </p:pic>
      <p:sp>
        <p:nvSpPr>
          <p:cNvPr id="30" name="Text 22"/>
          <p:cNvSpPr/>
          <p:nvPr/>
        </p:nvSpPr>
        <p:spPr>
          <a:xfrm>
            <a:off x="911798" y="5405834"/>
            <a:ext cx="11171454" cy="70048"/>
          </a:xfrm>
          <a:prstGeom prst="rect">
            <a:avLst/>
          </a:prstGeom>
          <a:noFill/>
          <a:ln/>
        </p:spPr>
        <p:txBody>
          <a:bodyPr wrap="none" lIns="0" tIns="0" rIns="0" bIns="0" rtlCol="0" anchor="t"/>
          <a:lstStyle/>
          <a:p>
            <a:pPr marL="0" indent="0" algn="l">
              <a:lnSpc>
                <a:spcPct val="68000"/>
              </a:lnSpc>
              <a:buNone/>
            </a:pPr>
            <a:r>
              <a:rPr lang="en-US" sz="650" dirty="0">
                <a:solidFill>
                  <a:srgbClr val="000000"/>
                </a:solidFill>
                <a:latin typeface="Inter Light" pitchFamily="34" charset="0"/>
                <a:ea typeface="Inter Light" pitchFamily="34" charset="-122"/>
                <a:cs typeface="Inter Light" pitchFamily="34" charset="-120"/>
              </a:rPr>
              <a:t>This integrated four-layer architecture represents the core research contribution of our project.</a:t>
            </a:r>
            <a:endParaRPr lang="en-US" sz="650" dirty="0"/>
          </a:p>
        </p:txBody>
      </p:sp>
      <p:sp>
        <p:nvSpPr>
          <p:cNvPr id="31" name="Text 23"/>
          <p:cNvSpPr/>
          <p:nvPr/>
        </p:nvSpPr>
        <p:spPr>
          <a:xfrm>
            <a:off x="631908" y="5596037"/>
            <a:ext cx="10927878" cy="181471"/>
          </a:xfrm>
          <a:prstGeom prst="rect">
            <a:avLst/>
          </a:prstGeom>
          <a:noFill/>
          <a:ln/>
        </p:spPr>
        <p:txBody>
          <a:bodyPr wrap="none" lIns="0" tIns="0" rIns="0" bIns="0" rtlCol="0" anchor="t"/>
          <a:lstStyle/>
          <a:p>
            <a:pPr marL="0" indent="0" algn="l">
              <a:lnSpc>
                <a:spcPct val="83000"/>
              </a:lnSpc>
              <a:buNone/>
            </a:pPr>
            <a:r>
              <a:rPr lang="en-US" sz="1400" kern="0" spc="-43" dirty="0">
                <a:solidFill>
                  <a:srgbClr val="383830"/>
                </a:solidFill>
                <a:latin typeface="DM Sans ExtraBold" pitchFamily="34" charset="0"/>
                <a:ea typeface="DM Sans ExtraBold" pitchFamily="34" charset="-122"/>
                <a:cs typeface="DM Sans ExtraBold" pitchFamily="34" charset="-120"/>
              </a:rPr>
              <a:t>Constraints &amp; Limitations</a:t>
            </a:r>
            <a:endParaRPr lang="en-US" sz="1400" dirty="0"/>
          </a:p>
        </p:txBody>
      </p:sp>
      <p:sp>
        <p:nvSpPr>
          <p:cNvPr id="32" name="Text 24"/>
          <p:cNvSpPr/>
          <p:nvPr/>
        </p:nvSpPr>
        <p:spPr>
          <a:xfrm>
            <a:off x="631908" y="5839123"/>
            <a:ext cx="10927878" cy="492224"/>
          </a:xfrm>
          <a:prstGeom prst="rect">
            <a:avLst/>
          </a:prstGeom>
          <a:noFill/>
          <a:ln/>
        </p:spPr>
        <p:txBody>
          <a:bodyPr wrap="square" lIns="0" tIns="34473" rIns="0" bIns="0" rtlCol="0" anchor="t">
            <a:normAutofit/>
          </a:bodyPr>
          <a:lstStyle/>
          <a:p>
            <a:pPr marL="132080" indent="-132080" algn="l">
              <a:lnSpc>
                <a:spcPct val="68000"/>
              </a:lnSpc>
              <a:buSzPct val="100000"/>
              <a:buChar char="•"/>
            </a:pPr>
            <a:r>
              <a:rPr lang="en-US" sz="650" dirty="0">
                <a:solidFill>
                  <a:srgbClr val="23231E"/>
                </a:solidFill>
                <a:latin typeface="Inter Light" pitchFamily="34" charset="0"/>
                <a:ea typeface="Inter Light" pitchFamily="34" charset="-122"/>
                <a:cs typeface="Inter Light" pitchFamily="34" charset="-120"/>
              </a:rPr>
              <a:t>Limited real Sri Lankan textile transaction data available for training.</a:t>
            </a:r>
            <a:endParaRPr lang="en-US" sz="650" dirty="0"/>
          </a:p>
          <a:p>
            <a:pPr marL="132080" indent="-132080" algn="l">
              <a:lnSpc>
                <a:spcPct val="68000"/>
              </a:lnSpc>
              <a:buSzPct val="100000"/>
              <a:buChar char="•"/>
            </a:pPr>
            <a:r>
              <a:rPr lang="en-US" sz="650" dirty="0">
                <a:solidFill>
                  <a:srgbClr val="23231E"/>
                </a:solidFill>
                <a:latin typeface="Inter Light" pitchFamily="34" charset="0"/>
                <a:ea typeface="Inter Light" pitchFamily="34" charset="-122"/>
                <a:cs typeface="Inter Light" pitchFamily="34" charset="-120"/>
              </a:rPr>
              <a:t>Current dataset for predicting environmental impact is synthetic.</a:t>
            </a:r>
            <a:endParaRPr lang="en-US" sz="650" dirty="0"/>
          </a:p>
          <a:p>
            <a:pPr marL="132080" indent="-132080" algn="l">
              <a:lnSpc>
                <a:spcPct val="68000"/>
              </a:lnSpc>
              <a:buSzPct val="100000"/>
              <a:buChar char="•"/>
            </a:pPr>
            <a:r>
              <a:rPr lang="en-US" sz="650" dirty="0">
                <a:solidFill>
                  <a:srgbClr val="23231E"/>
                </a:solidFill>
                <a:latin typeface="Inter Light" pitchFamily="34" charset="0"/>
                <a:ea typeface="Inter Light" pitchFamily="34" charset="-122"/>
                <a:cs typeface="Inter Light" pitchFamily="34" charset="-120"/>
              </a:rPr>
              <a:t>Environmental estimates are highly dependent on accurate source factors.</a:t>
            </a:r>
            <a:endParaRPr lang="en-US" sz="650" dirty="0"/>
          </a:p>
          <a:p>
            <a:pPr marL="132080" indent="-132080" algn="l">
              <a:lnSpc>
                <a:spcPct val="68000"/>
              </a:lnSpc>
              <a:buSzPct val="100000"/>
              <a:buChar char="•"/>
            </a:pPr>
            <a:r>
              <a:rPr lang="en-US" sz="650" dirty="0">
                <a:solidFill>
                  <a:srgbClr val="23231E"/>
                </a:solidFill>
                <a:latin typeface="Inter Light" pitchFamily="34" charset="0"/>
                <a:ea typeface="Inter Light" pitchFamily="34" charset="-122"/>
                <a:cs typeface="Inter Light" pitchFamily="34" charset="-120"/>
              </a:rPr>
              <a:t>AI predictions require rigorous real-world validation to ensure accuracy.</a:t>
            </a:r>
            <a:endParaRPr lang="en-US" sz="650" dirty="0"/>
          </a:p>
          <a:p>
            <a:pPr marL="132080" indent="-132080" algn="l">
              <a:lnSpc>
                <a:spcPct val="68000"/>
              </a:lnSpc>
              <a:buSzPct val="100000"/>
              <a:buChar char="•"/>
            </a:pPr>
            <a:r>
              <a:rPr lang="en-US" sz="650" dirty="0">
                <a:solidFill>
                  <a:srgbClr val="23231E"/>
                </a:solidFill>
                <a:latin typeface="Inter Light" pitchFamily="34" charset="0"/>
                <a:ea typeface="Inter Light" pitchFamily="34" charset="-122"/>
                <a:cs typeface="Inter Light" pitchFamily="34" charset="-120"/>
              </a:rPr>
              <a:t>Market price and demand for upcycled textiles can fluctuate significantly.</a:t>
            </a:r>
            <a:endParaRPr lang="en-US" sz="650" dirty="0"/>
          </a:p>
          <a:p>
            <a:pPr marL="132080" indent="-132080" algn="l">
              <a:lnSpc>
                <a:spcPct val="68000"/>
              </a:lnSpc>
              <a:buSzPct val="100000"/>
              <a:buChar char="•"/>
            </a:pPr>
            <a:r>
              <a:rPr lang="en-US" sz="650" dirty="0">
                <a:solidFill>
                  <a:srgbClr val="23231E"/>
                </a:solidFill>
                <a:latin typeface="Inter Light" pitchFamily="34" charset="0"/>
                <a:ea typeface="Inter Light" pitchFamily="34" charset="-122"/>
                <a:cs typeface="Inter Light" pitchFamily="34" charset="-120"/>
              </a:rPr>
              <a:t>Real-world deployment necessitates continuous model monitoring and adaptation.</a:t>
            </a:r>
            <a:endParaRPr lang="en-US" sz="650" dirty="0"/>
          </a:p>
        </p:txBody>
      </p:sp>
      <p:grpSp>
        <p:nvGrpSpPr>
          <p:cNvPr id="33" name="Group 32">
            <a:extLst>
              <a:ext uri="{FF2B5EF4-FFF2-40B4-BE49-F238E27FC236}">
                <a16:creationId xmlns:a16="http://schemas.microsoft.com/office/drawing/2014/main" id="{BB624823-3645-8988-8042-BF09C8AC5208}"/>
              </a:ext>
            </a:extLst>
          </p:cNvPr>
          <p:cNvGrpSpPr/>
          <p:nvPr/>
        </p:nvGrpSpPr>
        <p:grpSpPr>
          <a:xfrm>
            <a:off x="10686552" y="6506574"/>
            <a:ext cx="1505131" cy="351434"/>
            <a:chOff x="2623154" y="413097"/>
            <a:chExt cx="2599719" cy="525560"/>
          </a:xfrm>
        </p:grpSpPr>
        <p:sp>
          <p:nvSpPr>
            <p:cNvPr id="34" name="Freeform 33">
              <a:extLst>
                <a:ext uri="{FF2B5EF4-FFF2-40B4-BE49-F238E27FC236}">
                  <a16:creationId xmlns:a16="http://schemas.microsoft.com/office/drawing/2014/main" id="{184BA8CB-A52D-8CB4-F421-1D2CBBA16FA7}"/>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13"/>
              <a:stretch>
                <a:fillRect l="-64" r="-64" b="1"/>
              </a:stretch>
            </a:blipFill>
          </p:spPr>
          <p:txBody>
            <a:bodyPr/>
            <a:lstStyle/>
            <a:p>
              <a:endParaRPr lang="en-US" sz="1200"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31908" y="886916"/>
            <a:ext cx="10927878" cy="475159"/>
          </a:xfrm>
          <a:prstGeom prst="rect">
            <a:avLst/>
          </a:prstGeom>
          <a:noFill/>
          <a:ln/>
        </p:spPr>
        <p:txBody>
          <a:bodyPr wrap="none" lIns="0" tIns="0" rIns="0" bIns="0" rtlCol="0" anchor="t"/>
          <a:lstStyle/>
          <a:p>
            <a:pPr marL="0" indent="0" algn="l">
              <a:lnSpc>
                <a:spcPct val="83000"/>
              </a:lnSpc>
              <a:buNone/>
            </a:pPr>
            <a:r>
              <a:rPr lang="en-US" sz="3700" kern="0" spc="-112" dirty="0">
                <a:solidFill>
                  <a:srgbClr val="383830"/>
                </a:solidFill>
                <a:latin typeface="DM Sans ExtraBold" pitchFamily="34" charset="0"/>
                <a:ea typeface="DM Sans ExtraBold" pitchFamily="34" charset="-122"/>
                <a:cs typeface="DM Sans ExtraBold" pitchFamily="34" charset="-120"/>
              </a:rPr>
              <a:t>Research Question</a:t>
            </a:r>
            <a:endParaRPr lang="en-US" sz="3700" dirty="0"/>
          </a:p>
        </p:txBody>
      </p:sp>
      <p:sp>
        <p:nvSpPr>
          <p:cNvPr id="3" name="Text 1"/>
          <p:cNvSpPr/>
          <p:nvPr/>
        </p:nvSpPr>
        <p:spPr>
          <a:xfrm>
            <a:off x="631908" y="1723132"/>
            <a:ext cx="10927878" cy="397272"/>
          </a:xfrm>
          <a:prstGeom prst="rect">
            <a:avLst/>
          </a:prstGeom>
          <a:noFill/>
          <a:ln/>
        </p:spPr>
        <p:txBody>
          <a:bodyPr wrap="square" lIns="0" tIns="0" rIns="0" bIns="0" rtlCol="0" anchor="t">
            <a:normAutofit/>
          </a:bodyPr>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How can an integrated AI-powered digital marketplace combine textile classification, sustainability assessment, commercial intelligence, and predictive marketplace analytics to support efficient and traceable textile-waste reuse in Sri Lanka?</a:t>
            </a:r>
            <a:endParaRPr lang="en-US" sz="1400" dirty="0"/>
          </a:p>
        </p:txBody>
      </p:sp>
      <p:sp>
        <p:nvSpPr>
          <p:cNvPr id="4" name="Text 2"/>
          <p:cNvSpPr/>
          <p:nvPr/>
        </p:nvSpPr>
        <p:spPr>
          <a:xfrm>
            <a:off x="631908" y="2391172"/>
            <a:ext cx="10927878" cy="380107"/>
          </a:xfrm>
          <a:prstGeom prst="rect">
            <a:avLst/>
          </a:prstGeom>
          <a:noFill/>
          <a:ln/>
        </p:spPr>
        <p:txBody>
          <a:bodyPr wrap="none" lIns="0" tIns="0" rIns="0" bIns="0" rtlCol="0" anchor="t"/>
          <a:lstStyle/>
          <a:p>
            <a:pPr marL="0" indent="0" algn="l">
              <a:lnSpc>
                <a:spcPct val="83000"/>
              </a:lnSpc>
              <a:buNone/>
            </a:pPr>
            <a:r>
              <a:rPr lang="en-US" sz="2950" kern="0" spc="-90" dirty="0">
                <a:solidFill>
                  <a:srgbClr val="383830"/>
                </a:solidFill>
                <a:latin typeface="DM Sans ExtraBold" pitchFamily="34" charset="0"/>
                <a:ea typeface="DM Sans ExtraBold" pitchFamily="34" charset="-122"/>
                <a:cs typeface="DM Sans ExtraBold" pitchFamily="34" charset="-120"/>
              </a:rPr>
              <a:t>Sub-questions</a:t>
            </a:r>
            <a:endParaRPr lang="en-US" sz="2950" dirty="0"/>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908" y="3042047"/>
            <a:ext cx="180474" cy="180479"/>
          </a:xfrm>
          <a:prstGeom prst="rect">
            <a:avLst/>
          </a:prstGeom>
        </p:spPr>
      </p:pic>
      <p:sp>
        <p:nvSpPr>
          <p:cNvPr id="6" name="Shape 3"/>
          <p:cNvSpPr/>
          <p:nvPr/>
        </p:nvSpPr>
        <p:spPr>
          <a:xfrm>
            <a:off x="631908" y="3278188"/>
            <a:ext cx="3522277" cy="25400"/>
          </a:xfrm>
          <a:prstGeom prst="rect">
            <a:avLst/>
          </a:prstGeom>
          <a:solidFill>
            <a:srgbClr val="383830"/>
          </a:solidFill>
          <a:ln/>
        </p:spPr>
        <p:txBody>
          <a:bodyPr/>
          <a:lstStyle/>
          <a:p>
            <a:endParaRPr lang="en-US"/>
          </a:p>
        </p:txBody>
      </p:sp>
      <p:sp>
        <p:nvSpPr>
          <p:cNvPr id="7" name="Text 4"/>
          <p:cNvSpPr/>
          <p:nvPr/>
        </p:nvSpPr>
        <p:spPr>
          <a:xfrm>
            <a:off x="631908" y="3419177"/>
            <a:ext cx="3522277" cy="237530"/>
          </a:xfrm>
          <a:prstGeom prst="rect">
            <a:avLst/>
          </a:prstGeom>
          <a:noFill/>
          <a:ln/>
        </p:spPr>
        <p:txBody>
          <a:bodyPr wrap="none" lIns="0" tIns="0" rIns="0" bIns="0" rtlCol="0" anchor="t"/>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Automatic Textile Classification</a:t>
            </a:r>
            <a:endParaRPr lang="en-US" sz="1850" dirty="0"/>
          </a:p>
        </p:txBody>
      </p:sp>
      <p:sp>
        <p:nvSpPr>
          <p:cNvPr id="8" name="Text 5"/>
          <p:cNvSpPr/>
          <p:nvPr/>
        </p:nvSpPr>
        <p:spPr>
          <a:xfrm>
            <a:off x="631908" y="3764955"/>
            <a:ext cx="3522277" cy="397272"/>
          </a:xfrm>
          <a:prstGeom prst="rect">
            <a:avLst/>
          </a:prstGeom>
          <a:noFill/>
          <a:ln/>
        </p:spPr>
        <p:txBody>
          <a:bodyPr wrap="square" lIns="0" tIns="0" rIns="0" bIns="0" rtlCol="0" anchor="t">
            <a:normAutofit/>
          </a:bodyPr>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How can textile waste be automatically classified from images?</a:t>
            </a:r>
            <a:endParaRPr lang="en-US" sz="1400" dirty="0"/>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34660" y="3042047"/>
            <a:ext cx="180474" cy="180479"/>
          </a:xfrm>
          <a:prstGeom prst="rect">
            <a:avLst/>
          </a:prstGeom>
        </p:spPr>
      </p:pic>
      <p:sp>
        <p:nvSpPr>
          <p:cNvPr id="10" name="Shape 6"/>
          <p:cNvSpPr/>
          <p:nvPr/>
        </p:nvSpPr>
        <p:spPr>
          <a:xfrm>
            <a:off x="4334660" y="3278188"/>
            <a:ext cx="3522277" cy="25400"/>
          </a:xfrm>
          <a:prstGeom prst="rect">
            <a:avLst/>
          </a:prstGeom>
          <a:solidFill>
            <a:srgbClr val="5E5E53"/>
          </a:solidFill>
          <a:ln/>
        </p:spPr>
        <p:txBody>
          <a:bodyPr/>
          <a:lstStyle/>
          <a:p>
            <a:endParaRPr lang="en-US"/>
          </a:p>
        </p:txBody>
      </p:sp>
      <p:sp>
        <p:nvSpPr>
          <p:cNvPr id="11" name="Text 7"/>
          <p:cNvSpPr/>
          <p:nvPr/>
        </p:nvSpPr>
        <p:spPr>
          <a:xfrm>
            <a:off x="4334660" y="3419177"/>
            <a:ext cx="3522277" cy="475059"/>
          </a:xfrm>
          <a:prstGeom prst="rect">
            <a:avLst/>
          </a:prstGeom>
          <a:noFill/>
          <a:ln/>
        </p:spPr>
        <p:txBody>
          <a:bodyPr wrap="square" lIns="0" tIns="0" rIns="0" bIns="0" rtlCol="0" anchor="t">
            <a:normAutofit lnSpcReduction="10000"/>
          </a:bodyPr>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Environmental Savings Estimation</a:t>
            </a:r>
            <a:endParaRPr lang="en-US" sz="1850" dirty="0"/>
          </a:p>
        </p:txBody>
      </p:sp>
      <p:sp>
        <p:nvSpPr>
          <p:cNvPr id="12" name="Text 8"/>
          <p:cNvSpPr/>
          <p:nvPr/>
        </p:nvSpPr>
        <p:spPr>
          <a:xfrm>
            <a:off x="4334660" y="4002484"/>
            <a:ext cx="3522277" cy="397272"/>
          </a:xfrm>
          <a:prstGeom prst="rect">
            <a:avLst/>
          </a:prstGeom>
          <a:noFill/>
          <a:ln/>
        </p:spPr>
        <p:txBody>
          <a:bodyPr wrap="square" lIns="0" tIns="0" rIns="0" bIns="0" rtlCol="0" anchor="t">
            <a:normAutofit/>
          </a:bodyPr>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How can environmental savings from reuse be estimated?</a:t>
            </a:r>
            <a:endParaRPr lang="en-US" sz="1400" dirty="0"/>
          </a:p>
        </p:txBody>
      </p:sp>
      <p:pic>
        <p:nvPicPr>
          <p:cNvPr id="13"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37411" y="3042047"/>
            <a:ext cx="180474" cy="180479"/>
          </a:xfrm>
          <a:prstGeom prst="rect">
            <a:avLst/>
          </a:prstGeom>
        </p:spPr>
      </p:pic>
      <p:sp>
        <p:nvSpPr>
          <p:cNvPr id="14" name="Shape 9"/>
          <p:cNvSpPr/>
          <p:nvPr/>
        </p:nvSpPr>
        <p:spPr>
          <a:xfrm>
            <a:off x="8037411" y="3278188"/>
            <a:ext cx="3522376" cy="25400"/>
          </a:xfrm>
          <a:prstGeom prst="rect">
            <a:avLst/>
          </a:prstGeom>
          <a:solidFill>
            <a:srgbClr val="8B8B7A"/>
          </a:solidFill>
          <a:ln/>
        </p:spPr>
        <p:txBody>
          <a:bodyPr/>
          <a:lstStyle/>
          <a:p>
            <a:endParaRPr lang="en-US"/>
          </a:p>
        </p:txBody>
      </p:sp>
      <p:sp>
        <p:nvSpPr>
          <p:cNvPr id="15" name="Text 10"/>
          <p:cNvSpPr/>
          <p:nvPr/>
        </p:nvSpPr>
        <p:spPr>
          <a:xfrm>
            <a:off x="8037411" y="3419177"/>
            <a:ext cx="3522376" cy="475059"/>
          </a:xfrm>
          <a:prstGeom prst="rect">
            <a:avLst/>
          </a:prstGeom>
          <a:noFill/>
          <a:ln/>
        </p:spPr>
        <p:txBody>
          <a:bodyPr wrap="square" lIns="0" tIns="0" rIns="0" bIns="0" rtlCol="0" anchor="t">
            <a:normAutofit lnSpcReduction="10000"/>
          </a:bodyPr>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AI-Powered Pricing &amp; Recommendation</a:t>
            </a:r>
            <a:endParaRPr lang="en-US" sz="1850" dirty="0"/>
          </a:p>
        </p:txBody>
      </p:sp>
      <p:sp>
        <p:nvSpPr>
          <p:cNvPr id="16" name="Text 11"/>
          <p:cNvSpPr/>
          <p:nvPr/>
        </p:nvSpPr>
        <p:spPr>
          <a:xfrm>
            <a:off x="8037411" y="4002484"/>
            <a:ext cx="3522376" cy="397272"/>
          </a:xfrm>
          <a:prstGeom prst="rect">
            <a:avLst/>
          </a:prstGeom>
          <a:noFill/>
          <a:ln/>
        </p:spPr>
        <p:txBody>
          <a:bodyPr wrap="square" lIns="0" tIns="0" rIns="0" bIns="0" rtlCol="0" anchor="t">
            <a:normAutofit/>
          </a:bodyPr>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How can AI support textile-waste pricing and buyer recommendation?</a:t>
            </a:r>
            <a:endParaRPr lang="en-US" sz="1400" dirty="0"/>
          </a:p>
        </p:txBody>
      </p:sp>
      <p:pic>
        <p:nvPicPr>
          <p:cNvPr id="17"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1908" y="4715570"/>
            <a:ext cx="180474" cy="180479"/>
          </a:xfrm>
          <a:prstGeom prst="rect">
            <a:avLst/>
          </a:prstGeom>
        </p:spPr>
      </p:pic>
      <p:sp>
        <p:nvSpPr>
          <p:cNvPr id="18" name="Shape 12"/>
          <p:cNvSpPr/>
          <p:nvPr/>
        </p:nvSpPr>
        <p:spPr>
          <a:xfrm>
            <a:off x="631908" y="4951710"/>
            <a:ext cx="5373652" cy="25400"/>
          </a:xfrm>
          <a:prstGeom prst="rect">
            <a:avLst/>
          </a:prstGeom>
          <a:solidFill>
            <a:srgbClr val="23231E"/>
          </a:solidFill>
          <a:ln/>
        </p:spPr>
        <p:txBody>
          <a:bodyPr/>
          <a:lstStyle/>
          <a:p>
            <a:endParaRPr lang="en-US"/>
          </a:p>
        </p:txBody>
      </p:sp>
      <p:sp>
        <p:nvSpPr>
          <p:cNvPr id="19" name="Text 13"/>
          <p:cNvSpPr/>
          <p:nvPr/>
        </p:nvSpPr>
        <p:spPr>
          <a:xfrm>
            <a:off x="631908" y="5092700"/>
            <a:ext cx="5373652" cy="237530"/>
          </a:xfrm>
          <a:prstGeom prst="rect">
            <a:avLst/>
          </a:prstGeom>
          <a:noFill/>
          <a:ln/>
        </p:spPr>
        <p:txBody>
          <a:bodyPr wrap="none" lIns="0" tIns="0" rIns="0" bIns="0" rtlCol="0" anchor="t"/>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Marketplace Behavior Prediction</a:t>
            </a:r>
            <a:endParaRPr lang="en-US" sz="1850" dirty="0"/>
          </a:p>
        </p:txBody>
      </p:sp>
      <p:sp>
        <p:nvSpPr>
          <p:cNvPr id="20" name="Text 14"/>
          <p:cNvSpPr/>
          <p:nvPr/>
        </p:nvSpPr>
        <p:spPr>
          <a:xfrm>
            <a:off x="631908" y="5438477"/>
            <a:ext cx="5373652" cy="397272"/>
          </a:xfrm>
          <a:prstGeom prst="rect">
            <a:avLst/>
          </a:prstGeom>
          <a:noFill/>
          <a:ln/>
        </p:spPr>
        <p:txBody>
          <a:bodyPr wrap="square" lIns="0" tIns="0" rIns="0" bIns="0" rtlCol="0" anchor="t">
            <a:normAutofit/>
          </a:bodyPr>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How can marketplace behavior such as listing success and sales time be predicted?</a:t>
            </a:r>
            <a:endParaRPr lang="en-US" sz="1400" dirty="0"/>
          </a:p>
        </p:txBody>
      </p:sp>
      <p:pic>
        <p:nvPicPr>
          <p:cNvPr id="21"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186035" y="4715570"/>
            <a:ext cx="180474" cy="180479"/>
          </a:xfrm>
          <a:prstGeom prst="rect">
            <a:avLst/>
          </a:prstGeom>
        </p:spPr>
      </p:pic>
      <p:sp>
        <p:nvSpPr>
          <p:cNvPr id="22" name="Shape 15"/>
          <p:cNvSpPr/>
          <p:nvPr/>
        </p:nvSpPr>
        <p:spPr>
          <a:xfrm>
            <a:off x="6186035" y="4951710"/>
            <a:ext cx="5373752" cy="25400"/>
          </a:xfrm>
          <a:prstGeom prst="rect">
            <a:avLst/>
          </a:prstGeom>
          <a:solidFill>
            <a:srgbClr val="383830"/>
          </a:solidFill>
          <a:ln/>
        </p:spPr>
        <p:txBody>
          <a:bodyPr/>
          <a:lstStyle/>
          <a:p>
            <a:endParaRPr lang="en-US"/>
          </a:p>
        </p:txBody>
      </p:sp>
      <p:sp>
        <p:nvSpPr>
          <p:cNvPr id="23" name="Text 16"/>
          <p:cNvSpPr/>
          <p:nvPr/>
        </p:nvSpPr>
        <p:spPr>
          <a:xfrm>
            <a:off x="6186035" y="5092700"/>
            <a:ext cx="5373752" cy="237530"/>
          </a:xfrm>
          <a:prstGeom prst="rect">
            <a:avLst/>
          </a:prstGeom>
          <a:noFill/>
          <a:ln/>
        </p:spPr>
        <p:txBody>
          <a:bodyPr wrap="none" lIns="0" tIns="0" rIns="0" bIns="0" rtlCol="0" anchor="t"/>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Integrated Circular Marketplace</a:t>
            </a:r>
            <a:endParaRPr lang="en-US" sz="1850" dirty="0"/>
          </a:p>
        </p:txBody>
      </p:sp>
      <p:sp>
        <p:nvSpPr>
          <p:cNvPr id="24" name="Text 17"/>
          <p:cNvSpPr/>
          <p:nvPr/>
        </p:nvSpPr>
        <p:spPr>
          <a:xfrm>
            <a:off x="6186035" y="5438477"/>
            <a:ext cx="5373752" cy="397272"/>
          </a:xfrm>
          <a:prstGeom prst="rect">
            <a:avLst/>
          </a:prstGeom>
          <a:noFill/>
          <a:ln/>
        </p:spPr>
        <p:txBody>
          <a:bodyPr wrap="square" lIns="0" tIns="0" rIns="0" bIns="0" rtlCol="0" anchor="t">
            <a:normAutofit/>
          </a:bodyPr>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How can these capabilities be integrated into one circular marketplace?</a:t>
            </a:r>
            <a:endParaRPr lang="en-US" sz="1400" dirty="0"/>
          </a:p>
        </p:txBody>
      </p:sp>
      <p:grpSp>
        <p:nvGrpSpPr>
          <p:cNvPr id="25" name="Group 24">
            <a:extLst>
              <a:ext uri="{FF2B5EF4-FFF2-40B4-BE49-F238E27FC236}">
                <a16:creationId xmlns:a16="http://schemas.microsoft.com/office/drawing/2014/main" id="{3EE85CF2-7732-3F13-D337-76D5B117E6EC}"/>
              </a:ext>
            </a:extLst>
          </p:cNvPr>
          <p:cNvGrpSpPr/>
          <p:nvPr/>
        </p:nvGrpSpPr>
        <p:grpSpPr>
          <a:xfrm>
            <a:off x="10686552" y="6506574"/>
            <a:ext cx="1505131" cy="351434"/>
            <a:chOff x="2623154" y="413097"/>
            <a:chExt cx="2599719" cy="525560"/>
          </a:xfrm>
        </p:grpSpPr>
        <p:sp>
          <p:nvSpPr>
            <p:cNvPr id="26" name="Freeform 25">
              <a:extLst>
                <a:ext uri="{FF2B5EF4-FFF2-40B4-BE49-F238E27FC236}">
                  <a16:creationId xmlns:a16="http://schemas.microsoft.com/office/drawing/2014/main" id="{FFA4B3F8-D940-9615-B386-F7910E14A98B}"/>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13"/>
              <a:stretch>
                <a:fillRect l="-64" r="-64" b="1"/>
              </a:stretch>
            </a:blipFill>
          </p:spPr>
          <p:txBody>
            <a:bodyPr/>
            <a:lstStyle/>
            <a:p>
              <a:endParaRPr lang="en-US" sz="1200" dirty="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8790" y="0"/>
                </a:moveTo>
                <a:lnTo>
                  <a:pt x="100000" y="0"/>
                </a:lnTo>
                <a:lnTo>
                  <a:pt x="100000" y="100000"/>
                </a:lnTo>
                <a:lnTo>
                  <a:pt x="13180" y="99900"/>
                </a:lnTo>
                <a:lnTo>
                  <a:pt x="8110" y="91990"/>
                </a:lnTo>
                <a:lnTo>
                  <a:pt x="4200" y="84670"/>
                </a:lnTo>
                <a:lnTo>
                  <a:pt x="2640" y="81150"/>
                </a:lnTo>
                <a:lnTo>
                  <a:pt x="1270" y="77440"/>
                </a:lnTo>
                <a:lnTo>
                  <a:pt x="490" y="74610"/>
                </a:lnTo>
                <a:lnTo>
                  <a:pt x="0" y="71480"/>
                </a:lnTo>
                <a:lnTo>
                  <a:pt x="200" y="67290"/>
                </a:lnTo>
                <a:lnTo>
                  <a:pt x="1270" y="63280"/>
                </a:lnTo>
                <a:lnTo>
                  <a:pt x="2830" y="59860"/>
                </a:lnTo>
                <a:lnTo>
                  <a:pt x="5080" y="56050"/>
                </a:lnTo>
                <a:lnTo>
                  <a:pt x="6840" y="52540"/>
                </a:lnTo>
                <a:lnTo>
                  <a:pt x="7910" y="49610"/>
                </a:lnTo>
                <a:lnTo>
                  <a:pt x="8690" y="45700"/>
                </a:lnTo>
                <a:lnTo>
                  <a:pt x="8790" y="40140"/>
                </a:lnTo>
                <a:lnTo>
                  <a:pt x="8590" y="36520"/>
                </a:lnTo>
                <a:lnTo>
                  <a:pt x="8110" y="31930"/>
                </a:lnTo>
                <a:lnTo>
                  <a:pt x="6540" y="21970"/>
                </a:lnTo>
                <a:lnTo>
                  <a:pt x="6150" y="14750"/>
                </a:lnTo>
                <a:lnTo>
                  <a:pt x="6450" y="10350"/>
                </a:lnTo>
                <a:lnTo>
                  <a:pt x="6930" y="7030"/>
                </a:lnTo>
                <a:lnTo>
                  <a:pt x="7910" y="2640"/>
                </a:lnTo>
                <a:close/>
              </a:path>
            </a:pathLst>
          </a:custGeom>
        </p:spPr>
      </p:pic>
      <p:sp>
        <p:nvSpPr>
          <p:cNvPr id="3" name="Text 0"/>
          <p:cNvSpPr/>
          <p:nvPr/>
        </p:nvSpPr>
        <p:spPr>
          <a:xfrm>
            <a:off x="631908" y="553541"/>
            <a:ext cx="6355993" cy="427633"/>
          </a:xfrm>
          <a:prstGeom prst="rect">
            <a:avLst/>
          </a:prstGeom>
          <a:noFill/>
          <a:ln/>
        </p:spPr>
        <p:txBody>
          <a:bodyPr wrap="none" lIns="0" tIns="0" rIns="0" bIns="0" rtlCol="0" anchor="t"/>
          <a:lstStyle/>
          <a:p>
            <a:pPr marL="0" indent="0" algn="l">
              <a:lnSpc>
                <a:spcPct val="83000"/>
              </a:lnSpc>
              <a:buNone/>
            </a:pPr>
            <a:r>
              <a:rPr lang="en-US" sz="3350" kern="0" spc="-101" dirty="0">
                <a:solidFill>
                  <a:srgbClr val="383830"/>
                </a:solidFill>
                <a:latin typeface="DM Sans ExtraBold" pitchFamily="34" charset="0"/>
                <a:ea typeface="DM Sans ExtraBold" pitchFamily="34" charset="-122"/>
                <a:cs typeface="DM Sans ExtraBold" pitchFamily="34" charset="-120"/>
              </a:rPr>
              <a:t>Research Gap</a:t>
            </a:r>
            <a:endParaRPr lang="en-US" sz="3350" dirty="0"/>
          </a:p>
        </p:txBody>
      </p:sp>
      <p:sp>
        <p:nvSpPr>
          <p:cNvPr id="4" name="Text 1"/>
          <p:cNvSpPr/>
          <p:nvPr/>
        </p:nvSpPr>
        <p:spPr>
          <a:xfrm>
            <a:off x="631908" y="1039614"/>
            <a:ext cx="6355993" cy="342106"/>
          </a:xfrm>
          <a:prstGeom prst="rect">
            <a:avLst/>
          </a:prstGeom>
          <a:noFill/>
          <a:ln/>
        </p:spPr>
        <p:txBody>
          <a:bodyPr wrap="none" lIns="0" tIns="0" rIns="0" bIns="0" rtlCol="0" anchor="t"/>
          <a:lstStyle/>
          <a:p>
            <a:pPr marL="0" indent="0" algn="l">
              <a:lnSpc>
                <a:spcPct val="83000"/>
              </a:lnSpc>
              <a:buNone/>
            </a:pPr>
            <a:r>
              <a:rPr lang="en-US" sz="2650" kern="0" spc="-81" dirty="0">
                <a:solidFill>
                  <a:srgbClr val="383830"/>
                </a:solidFill>
                <a:latin typeface="DM Sans ExtraBold" pitchFamily="34" charset="0"/>
                <a:ea typeface="DM Sans ExtraBold" pitchFamily="34" charset="-122"/>
                <a:cs typeface="DM Sans ExtraBold" pitchFamily="34" charset="-120"/>
              </a:rPr>
              <a:t>Existing Research</a:t>
            </a:r>
            <a:endParaRPr lang="en-US" sz="265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2859" y="1581944"/>
            <a:ext cx="3105668" cy="509389"/>
          </a:xfrm>
          <a:prstGeom prst="rect">
            <a:avLst/>
          </a:prstGeom>
        </p:spPr>
      </p:pic>
      <p:sp>
        <p:nvSpPr>
          <p:cNvPr id="6" name="Text 2"/>
          <p:cNvSpPr/>
          <p:nvPr/>
        </p:nvSpPr>
        <p:spPr>
          <a:xfrm>
            <a:off x="832424" y="1600994"/>
            <a:ext cx="2886102" cy="213816"/>
          </a:xfrm>
          <a:prstGeom prst="rect">
            <a:avLst/>
          </a:prstGeom>
          <a:noFill/>
          <a:ln/>
        </p:spPr>
        <p:txBody>
          <a:bodyPr wrap="none" lIns="0" tIns="0" rIns="0" bIns="0" rtlCol="0" anchor="t"/>
          <a:lstStyle/>
          <a:p>
            <a:pPr marL="0" indent="0" algn="l">
              <a:lnSpc>
                <a:spcPct val="83000"/>
              </a:lnSpc>
              <a:buNone/>
            </a:pPr>
            <a:r>
              <a:rPr lang="en-US" sz="1650" kern="0" spc="-51" dirty="0">
                <a:solidFill>
                  <a:srgbClr val="23231E"/>
                </a:solidFill>
                <a:latin typeface="DM Sans ExtraBold" pitchFamily="34" charset="0"/>
                <a:ea typeface="DM Sans ExtraBold" pitchFamily="34" charset="-122"/>
                <a:cs typeface="DM Sans ExtraBold" pitchFamily="34" charset="-120"/>
              </a:rPr>
              <a:t>Computer Vision</a:t>
            </a:r>
            <a:endParaRPr lang="en-US" sz="1650" dirty="0"/>
          </a:p>
        </p:txBody>
      </p:sp>
      <p:sp>
        <p:nvSpPr>
          <p:cNvPr id="7" name="Text 3"/>
          <p:cNvSpPr/>
          <p:nvPr/>
        </p:nvSpPr>
        <p:spPr>
          <a:xfrm>
            <a:off x="832424" y="1902520"/>
            <a:ext cx="2886102" cy="169763"/>
          </a:xfrm>
          <a:prstGeom prst="rect">
            <a:avLst/>
          </a:prstGeom>
          <a:noFill/>
          <a:ln/>
        </p:spPr>
        <p:txBody>
          <a:bodyPr wrap="none" lIns="0" tIns="0" rIns="0" bIns="0" rtlCol="0" anchor="t"/>
          <a:lstStyle/>
          <a:p>
            <a:pPr marL="0" indent="0" algn="l">
              <a:lnSpc>
                <a:spcPct val="87000"/>
              </a:lnSpc>
              <a:buNone/>
            </a:pPr>
            <a:r>
              <a:rPr lang="en-US" sz="1250" dirty="0">
                <a:solidFill>
                  <a:srgbClr val="23231E"/>
                </a:solidFill>
                <a:latin typeface="Inter Light" pitchFamily="34" charset="0"/>
                <a:ea typeface="Inter Light" pitchFamily="34" charset="-122"/>
                <a:cs typeface="Inter Light" pitchFamily="34" charset="-120"/>
              </a:rPr>
              <a:t>Accurate textile material identification</a:t>
            </a:r>
            <a:endParaRPr lang="en-US" sz="1250" dirty="0"/>
          </a:p>
        </p:txBody>
      </p:sp>
      <p:pic>
        <p:nvPicPr>
          <p:cNvPr id="8"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82233" y="1581944"/>
            <a:ext cx="3105668" cy="509389"/>
          </a:xfrm>
          <a:prstGeom prst="rect">
            <a:avLst/>
          </a:prstGeom>
        </p:spPr>
      </p:pic>
      <p:sp>
        <p:nvSpPr>
          <p:cNvPr id="9" name="Text 4"/>
          <p:cNvSpPr/>
          <p:nvPr/>
        </p:nvSpPr>
        <p:spPr>
          <a:xfrm>
            <a:off x="4101799" y="1600994"/>
            <a:ext cx="2886102" cy="213816"/>
          </a:xfrm>
          <a:prstGeom prst="rect">
            <a:avLst/>
          </a:prstGeom>
          <a:noFill/>
          <a:ln/>
        </p:spPr>
        <p:txBody>
          <a:bodyPr wrap="none" lIns="0" tIns="0" rIns="0" bIns="0" rtlCol="0" anchor="t"/>
          <a:lstStyle/>
          <a:p>
            <a:pPr marL="0" indent="0" algn="l">
              <a:lnSpc>
                <a:spcPct val="83000"/>
              </a:lnSpc>
              <a:buNone/>
            </a:pPr>
            <a:r>
              <a:rPr lang="en-US" sz="1650" kern="0" spc="-51" dirty="0">
                <a:solidFill>
                  <a:srgbClr val="23231E"/>
                </a:solidFill>
                <a:latin typeface="DM Sans ExtraBold" pitchFamily="34" charset="0"/>
                <a:ea typeface="DM Sans ExtraBold" pitchFamily="34" charset="-122"/>
                <a:cs typeface="DM Sans ExtraBold" pitchFamily="34" charset="-120"/>
              </a:rPr>
              <a:t>LCA / Sustainability</a:t>
            </a:r>
            <a:endParaRPr lang="en-US" sz="1650" dirty="0"/>
          </a:p>
        </p:txBody>
      </p:sp>
      <p:sp>
        <p:nvSpPr>
          <p:cNvPr id="10" name="Text 5"/>
          <p:cNvSpPr/>
          <p:nvPr/>
        </p:nvSpPr>
        <p:spPr>
          <a:xfrm>
            <a:off x="4101799" y="1902520"/>
            <a:ext cx="2886102" cy="169763"/>
          </a:xfrm>
          <a:prstGeom prst="rect">
            <a:avLst/>
          </a:prstGeom>
          <a:noFill/>
          <a:ln/>
        </p:spPr>
        <p:txBody>
          <a:bodyPr wrap="none" lIns="0" tIns="0" rIns="0" bIns="0" rtlCol="0" anchor="t"/>
          <a:lstStyle/>
          <a:p>
            <a:pPr marL="0" indent="0" algn="l">
              <a:lnSpc>
                <a:spcPct val="87000"/>
              </a:lnSpc>
              <a:buNone/>
            </a:pPr>
            <a:r>
              <a:rPr lang="en-US" sz="1250" dirty="0">
                <a:solidFill>
                  <a:srgbClr val="23231E"/>
                </a:solidFill>
                <a:latin typeface="Inter Light" pitchFamily="34" charset="0"/>
                <a:ea typeface="Inter Light" pitchFamily="34" charset="-122"/>
                <a:cs typeface="Inter Light" pitchFamily="34" charset="-120"/>
              </a:rPr>
              <a:t>Estimation of environmental impacts</a:t>
            </a:r>
            <a:endParaRPr lang="en-US" sz="1250" dirty="0"/>
          </a:p>
        </p:txBody>
      </p:sp>
      <p:pic>
        <p:nvPicPr>
          <p:cNvPr id="11"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12859" y="2345630"/>
            <a:ext cx="3105668" cy="679152"/>
          </a:xfrm>
          <a:prstGeom prst="rect">
            <a:avLst/>
          </a:prstGeom>
        </p:spPr>
      </p:pic>
      <p:sp>
        <p:nvSpPr>
          <p:cNvPr id="12" name="Text 6"/>
          <p:cNvSpPr/>
          <p:nvPr/>
        </p:nvSpPr>
        <p:spPr>
          <a:xfrm>
            <a:off x="832424" y="2364680"/>
            <a:ext cx="2886102" cy="213816"/>
          </a:xfrm>
          <a:prstGeom prst="rect">
            <a:avLst/>
          </a:prstGeom>
          <a:noFill/>
          <a:ln/>
        </p:spPr>
        <p:txBody>
          <a:bodyPr wrap="none" lIns="0" tIns="0" rIns="0" bIns="0" rtlCol="0" anchor="t"/>
          <a:lstStyle/>
          <a:p>
            <a:pPr marL="0" indent="0" algn="l">
              <a:lnSpc>
                <a:spcPct val="83000"/>
              </a:lnSpc>
              <a:buNone/>
            </a:pPr>
            <a:r>
              <a:rPr lang="en-US" sz="1650" kern="0" spc="-51" dirty="0">
                <a:solidFill>
                  <a:srgbClr val="23231E"/>
                </a:solidFill>
                <a:latin typeface="DM Sans ExtraBold" pitchFamily="34" charset="0"/>
                <a:ea typeface="DM Sans ExtraBold" pitchFamily="34" charset="-122"/>
                <a:cs typeface="DM Sans ExtraBold" pitchFamily="34" charset="-120"/>
              </a:rPr>
              <a:t>Recommendation / Pricing</a:t>
            </a:r>
            <a:endParaRPr lang="en-US" sz="1650" dirty="0"/>
          </a:p>
        </p:txBody>
      </p:sp>
      <p:sp>
        <p:nvSpPr>
          <p:cNvPr id="13" name="Text 7"/>
          <p:cNvSpPr/>
          <p:nvPr/>
        </p:nvSpPr>
        <p:spPr>
          <a:xfrm>
            <a:off x="832424" y="2666206"/>
            <a:ext cx="2886102" cy="169763"/>
          </a:xfrm>
          <a:prstGeom prst="rect">
            <a:avLst/>
          </a:prstGeom>
          <a:noFill/>
          <a:ln/>
        </p:spPr>
        <p:txBody>
          <a:bodyPr wrap="none" lIns="0" tIns="0" rIns="0" bIns="0" rtlCol="0" anchor="t"/>
          <a:lstStyle/>
          <a:p>
            <a:pPr marL="0" indent="0" algn="l">
              <a:lnSpc>
                <a:spcPct val="87000"/>
              </a:lnSpc>
              <a:buNone/>
            </a:pPr>
            <a:r>
              <a:rPr lang="en-US" sz="1250" dirty="0">
                <a:solidFill>
                  <a:srgbClr val="23231E"/>
                </a:solidFill>
                <a:latin typeface="Inter Light" pitchFamily="34" charset="0"/>
                <a:ea typeface="Inter Light" pitchFamily="34" charset="-122"/>
                <a:cs typeface="Inter Light" pitchFamily="34" charset="-120"/>
              </a:rPr>
              <a:t>Support for commercial decisions</a:t>
            </a:r>
            <a:endParaRPr lang="en-US" sz="1250" dirty="0"/>
          </a:p>
        </p:txBody>
      </p:sp>
      <p:pic>
        <p:nvPicPr>
          <p:cNvPr id="14"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882233" y="2345630"/>
            <a:ext cx="3105668" cy="679152"/>
          </a:xfrm>
          <a:prstGeom prst="rect">
            <a:avLst/>
          </a:prstGeom>
        </p:spPr>
      </p:pic>
      <p:sp>
        <p:nvSpPr>
          <p:cNvPr id="15" name="Text 8"/>
          <p:cNvSpPr/>
          <p:nvPr/>
        </p:nvSpPr>
        <p:spPr>
          <a:xfrm>
            <a:off x="4101799" y="2364680"/>
            <a:ext cx="2886102" cy="213816"/>
          </a:xfrm>
          <a:prstGeom prst="rect">
            <a:avLst/>
          </a:prstGeom>
          <a:noFill/>
          <a:ln/>
        </p:spPr>
        <p:txBody>
          <a:bodyPr wrap="none" lIns="0" tIns="0" rIns="0" bIns="0" rtlCol="0" anchor="t"/>
          <a:lstStyle/>
          <a:p>
            <a:pPr marL="0" indent="0" algn="l">
              <a:lnSpc>
                <a:spcPct val="83000"/>
              </a:lnSpc>
              <a:buNone/>
            </a:pPr>
            <a:r>
              <a:rPr lang="en-US" sz="1650" kern="0" spc="-51" dirty="0">
                <a:solidFill>
                  <a:srgbClr val="23231E"/>
                </a:solidFill>
                <a:latin typeface="DM Sans ExtraBold" pitchFamily="34" charset="0"/>
                <a:ea typeface="DM Sans ExtraBold" pitchFamily="34" charset="-122"/>
                <a:cs typeface="DM Sans ExtraBold" pitchFamily="34" charset="-120"/>
              </a:rPr>
              <a:t>Digital Marketplaces</a:t>
            </a:r>
            <a:endParaRPr lang="en-US" sz="1650" dirty="0"/>
          </a:p>
        </p:txBody>
      </p:sp>
      <p:sp>
        <p:nvSpPr>
          <p:cNvPr id="16" name="Text 9"/>
          <p:cNvSpPr/>
          <p:nvPr/>
        </p:nvSpPr>
        <p:spPr>
          <a:xfrm>
            <a:off x="4101799" y="2666206"/>
            <a:ext cx="2886102" cy="339527"/>
          </a:xfrm>
          <a:prstGeom prst="rect">
            <a:avLst/>
          </a:prstGeom>
          <a:noFill/>
          <a:ln/>
        </p:spPr>
        <p:txBody>
          <a:bodyPr wrap="square" lIns="0" tIns="0" rIns="0" bIns="0" rtlCol="0" anchor="t">
            <a:normAutofit/>
          </a:bodyPr>
          <a:lstStyle/>
          <a:p>
            <a:pPr marL="0" indent="0" algn="l">
              <a:lnSpc>
                <a:spcPct val="87000"/>
              </a:lnSpc>
              <a:buNone/>
            </a:pPr>
            <a:r>
              <a:rPr lang="en-US" sz="1250" dirty="0">
                <a:solidFill>
                  <a:srgbClr val="23231E"/>
                </a:solidFill>
                <a:latin typeface="Inter Light" pitchFamily="34" charset="0"/>
                <a:ea typeface="Inter Light" pitchFamily="34" charset="-122"/>
                <a:cs typeface="Inter Light" pitchFamily="34" charset="-120"/>
              </a:rPr>
              <a:t>Connection of textile suppliers and buyers</a:t>
            </a:r>
            <a:endParaRPr lang="en-US" sz="1250" dirty="0"/>
          </a:p>
        </p:txBody>
      </p:sp>
      <p:pic>
        <p:nvPicPr>
          <p:cNvPr id="17" name="Image 5"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12859" y="3279080"/>
            <a:ext cx="6375042" cy="509389"/>
          </a:xfrm>
          <a:prstGeom prst="rect">
            <a:avLst/>
          </a:prstGeom>
        </p:spPr>
      </p:pic>
      <p:sp>
        <p:nvSpPr>
          <p:cNvPr id="18" name="Text 10"/>
          <p:cNvSpPr/>
          <p:nvPr/>
        </p:nvSpPr>
        <p:spPr>
          <a:xfrm>
            <a:off x="832424" y="3298130"/>
            <a:ext cx="6155476" cy="213816"/>
          </a:xfrm>
          <a:prstGeom prst="rect">
            <a:avLst/>
          </a:prstGeom>
          <a:noFill/>
          <a:ln/>
        </p:spPr>
        <p:txBody>
          <a:bodyPr wrap="none" lIns="0" tIns="0" rIns="0" bIns="0" rtlCol="0" anchor="t"/>
          <a:lstStyle/>
          <a:p>
            <a:pPr marL="0" indent="0" algn="l">
              <a:lnSpc>
                <a:spcPct val="83000"/>
              </a:lnSpc>
              <a:buNone/>
            </a:pPr>
            <a:r>
              <a:rPr lang="en-US" sz="1650" kern="0" spc="-51" dirty="0">
                <a:solidFill>
                  <a:srgbClr val="23231E"/>
                </a:solidFill>
                <a:latin typeface="DM Sans ExtraBold" pitchFamily="34" charset="0"/>
                <a:ea typeface="DM Sans ExtraBold" pitchFamily="34" charset="-122"/>
                <a:cs typeface="DM Sans ExtraBold" pitchFamily="34" charset="-120"/>
              </a:rPr>
              <a:t>Predictive Analytics</a:t>
            </a:r>
            <a:endParaRPr lang="en-US" sz="1650" dirty="0"/>
          </a:p>
        </p:txBody>
      </p:sp>
      <p:sp>
        <p:nvSpPr>
          <p:cNvPr id="19" name="Text 11"/>
          <p:cNvSpPr/>
          <p:nvPr/>
        </p:nvSpPr>
        <p:spPr>
          <a:xfrm>
            <a:off x="832424" y="3599656"/>
            <a:ext cx="6155476" cy="169763"/>
          </a:xfrm>
          <a:prstGeom prst="rect">
            <a:avLst/>
          </a:prstGeom>
          <a:noFill/>
          <a:ln/>
        </p:spPr>
        <p:txBody>
          <a:bodyPr wrap="none" lIns="0" tIns="0" rIns="0" bIns="0" rtlCol="0" anchor="t"/>
          <a:lstStyle/>
          <a:p>
            <a:pPr marL="0" indent="0" algn="l">
              <a:lnSpc>
                <a:spcPct val="87000"/>
              </a:lnSpc>
              <a:buNone/>
            </a:pPr>
            <a:r>
              <a:rPr lang="en-US" sz="1250" dirty="0">
                <a:solidFill>
                  <a:srgbClr val="23231E"/>
                </a:solidFill>
                <a:latin typeface="Inter Light" pitchFamily="34" charset="0"/>
                <a:ea typeface="Inter Light" pitchFamily="34" charset="-122"/>
                <a:cs typeface="Inter Light" pitchFamily="34" charset="-120"/>
              </a:rPr>
              <a:t>Forecasting of market behavior</a:t>
            </a:r>
            <a:endParaRPr lang="en-US" sz="1250" dirty="0"/>
          </a:p>
        </p:txBody>
      </p:sp>
      <p:sp>
        <p:nvSpPr>
          <p:cNvPr id="20" name="Text 12"/>
          <p:cNvSpPr/>
          <p:nvPr/>
        </p:nvSpPr>
        <p:spPr>
          <a:xfrm>
            <a:off x="631908" y="3988693"/>
            <a:ext cx="6355993" cy="342106"/>
          </a:xfrm>
          <a:prstGeom prst="rect">
            <a:avLst/>
          </a:prstGeom>
          <a:noFill/>
          <a:ln/>
        </p:spPr>
        <p:txBody>
          <a:bodyPr wrap="none" lIns="0" tIns="0" rIns="0" bIns="0" rtlCol="0" anchor="t"/>
          <a:lstStyle/>
          <a:p>
            <a:pPr marL="0" indent="0" algn="l">
              <a:lnSpc>
                <a:spcPct val="83000"/>
              </a:lnSpc>
              <a:buNone/>
            </a:pPr>
            <a:r>
              <a:rPr lang="en-US" sz="2650" kern="0" spc="-81" dirty="0">
                <a:solidFill>
                  <a:srgbClr val="383830"/>
                </a:solidFill>
                <a:latin typeface="DM Sans ExtraBold" pitchFamily="34" charset="0"/>
                <a:ea typeface="DM Sans ExtraBold" pitchFamily="34" charset="-122"/>
                <a:cs typeface="DM Sans ExtraBold" pitchFamily="34" charset="-120"/>
              </a:rPr>
              <a:t>Missing Integration</a:t>
            </a:r>
            <a:endParaRPr lang="en-US" sz="2650" dirty="0"/>
          </a:p>
        </p:txBody>
      </p:sp>
      <p:pic>
        <p:nvPicPr>
          <p:cNvPr id="21" name="Image 6" descr="preencoded.png"/>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31908" y="4550073"/>
            <a:ext cx="6355993" cy="1754287"/>
          </a:xfrm>
          <a:prstGeom prst="rect">
            <a:avLst/>
          </a:prstGeom>
        </p:spPr>
      </p:pic>
      <p:sp>
        <p:nvSpPr>
          <p:cNvPr id="22" name="Text 13"/>
          <p:cNvSpPr/>
          <p:nvPr/>
        </p:nvSpPr>
        <p:spPr>
          <a:xfrm>
            <a:off x="889573" y="4731544"/>
            <a:ext cx="5916861" cy="213816"/>
          </a:xfrm>
          <a:prstGeom prst="rect">
            <a:avLst/>
          </a:prstGeom>
          <a:noFill/>
          <a:ln/>
        </p:spPr>
        <p:txBody>
          <a:bodyPr wrap="none" lIns="0" tIns="0" rIns="0" bIns="0" rtlCol="0" anchor="t"/>
          <a:lstStyle/>
          <a:p>
            <a:pPr marL="0" indent="0" algn="l">
              <a:lnSpc>
                <a:spcPct val="83000"/>
              </a:lnSpc>
              <a:buNone/>
            </a:pPr>
            <a:r>
              <a:rPr lang="en-US" sz="1650" kern="0" spc="-51" dirty="0">
                <a:solidFill>
                  <a:srgbClr val="23231E"/>
                </a:solidFill>
                <a:latin typeface="DM Sans ExtraBold" pitchFamily="34" charset="0"/>
                <a:ea typeface="DM Sans ExtraBold" pitchFamily="34" charset="-122"/>
                <a:cs typeface="DM Sans ExtraBold" pitchFamily="34" charset="-120"/>
              </a:rPr>
              <a:t>Integrated AI Textile Circularity Platform</a:t>
            </a:r>
            <a:endParaRPr lang="en-US" sz="1650" dirty="0"/>
          </a:p>
        </p:txBody>
      </p:sp>
      <p:sp>
        <p:nvSpPr>
          <p:cNvPr id="23" name="Text 14"/>
          <p:cNvSpPr/>
          <p:nvPr/>
        </p:nvSpPr>
        <p:spPr>
          <a:xfrm>
            <a:off x="889573" y="5033070"/>
            <a:ext cx="5916861" cy="169763"/>
          </a:xfrm>
          <a:prstGeom prst="rect">
            <a:avLst/>
          </a:prstGeom>
          <a:noFill/>
          <a:ln/>
        </p:spPr>
        <p:txBody>
          <a:bodyPr wrap="none" lIns="0" tIns="0" rIns="0" bIns="0" rtlCol="0" anchor="t"/>
          <a:lstStyle/>
          <a:p>
            <a:pPr marL="0" indent="0" algn="l">
              <a:lnSpc>
                <a:spcPct val="87000"/>
              </a:lnSpc>
              <a:buNone/>
            </a:pPr>
            <a:r>
              <a:rPr lang="en-US" sz="1250" dirty="0">
                <a:solidFill>
                  <a:srgbClr val="23231E"/>
                </a:solidFill>
                <a:latin typeface="Inter Light" pitchFamily="34" charset="0"/>
                <a:ea typeface="Inter Light" pitchFamily="34" charset="-122"/>
                <a:cs typeface="Inter Light" pitchFamily="34" charset="-120"/>
              </a:rPr>
              <a:t>Opportunity for a Sri Lanka-focused platform combining:</a:t>
            </a:r>
            <a:endParaRPr lang="en-US" sz="1250" dirty="0"/>
          </a:p>
        </p:txBody>
      </p:sp>
      <p:sp>
        <p:nvSpPr>
          <p:cNvPr id="24" name="Text 15"/>
          <p:cNvSpPr/>
          <p:nvPr/>
        </p:nvSpPr>
        <p:spPr>
          <a:xfrm>
            <a:off x="889573" y="5290542"/>
            <a:ext cx="5916861" cy="832346"/>
          </a:xfrm>
          <a:prstGeom prst="rect">
            <a:avLst/>
          </a:prstGeom>
          <a:noFill/>
          <a:ln/>
        </p:spPr>
        <p:txBody>
          <a:bodyPr wrap="square" lIns="0" tIns="64997" rIns="0" bIns="0" rtlCol="0" anchor="t">
            <a:normAutofit/>
          </a:bodyPr>
          <a:lstStyle/>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Fabric, Sustainability, Commercial, &amp; Marketplace Intelligence</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District-aware information &amp; Local pricing</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Buyer matching &amp; Traceability</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Circular-action recommendations &amp; Marketplace predictions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31908" y="572492"/>
            <a:ext cx="10927878" cy="356394"/>
          </a:xfrm>
          <a:prstGeom prst="rect">
            <a:avLst/>
          </a:prstGeom>
          <a:noFill/>
          <a:ln/>
        </p:spPr>
        <p:txBody>
          <a:bodyPr wrap="none" lIns="0" tIns="0" rIns="0" bIns="0" rtlCol="0" anchor="t"/>
          <a:lstStyle/>
          <a:p>
            <a:pPr marL="0" indent="0" algn="ctr">
              <a:lnSpc>
                <a:spcPct val="83000"/>
              </a:lnSpc>
              <a:buNone/>
            </a:pPr>
            <a:r>
              <a:rPr lang="en-US" sz="2800" kern="0" spc="-84" dirty="0">
                <a:solidFill>
                  <a:srgbClr val="383830"/>
                </a:solidFill>
                <a:latin typeface="DM Sans ExtraBold" pitchFamily="34" charset="0"/>
                <a:ea typeface="DM Sans ExtraBold" pitchFamily="34" charset="-122"/>
                <a:cs typeface="DM Sans ExtraBold" pitchFamily="34" charset="-120"/>
              </a:rPr>
              <a:t>Four Research Components</a:t>
            </a:r>
            <a:endParaRPr lang="en-US" sz="2800" dirty="0"/>
          </a:p>
        </p:txBody>
      </p:sp>
      <p:sp>
        <p:nvSpPr>
          <p:cNvPr id="3" name="Text 1"/>
          <p:cNvSpPr/>
          <p:nvPr/>
        </p:nvSpPr>
        <p:spPr>
          <a:xfrm>
            <a:off x="631908" y="1081187"/>
            <a:ext cx="10927878" cy="491728"/>
          </a:xfrm>
          <a:prstGeom prst="rect">
            <a:avLst/>
          </a:prstGeom>
          <a:noFill/>
          <a:ln/>
        </p:spPr>
        <p:txBody>
          <a:bodyPr wrap="none" lIns="0" tIns="0" rIns="0" bIns="0" rtlCol="0" anchor="t"/>
          <a:lstStyle/>
          <a:p>
            <a:pPr marL="0" indent="0" algn="ctr">
              <a:lnSpc>
                <a:spcPct val="83000"/>
              </a:lnSpc>
              <a:buNone/>
            </a:pPr>
            <a:r>
              <a:rPr lang="en-US" sz="3850" kern="0" spc="-116" dirty="0">
                <a:solidFill>
                  <a:srgbClr val="383830"/>
                </a:solidFill>
                <a:latin typeface="DM Sans ExtraBold" pitchFamily="34" charset="0"/>
                <a:ea typeface="DM Sans ExtraBold" pitchFamily="34" charset="-122"/>
                <a:cs typeface="DM Sans ExtraBold" pitchFamily="34" charset="-120"/>
              </a:rPr>
              <a:t>Driving one integrated platform</a:t>
            </a:r>
            <a:endParaRPr lang="en-US" sz="3850" dirty="0"/>
          </a:p>
        </p:txBody>
      </p:sp>
      <p:pic>
        <p:nvPicPr>
          <p:cNvPr id="4" name="Image 0" descr="preencoded.png"/>
          <p:cNvPicPr>
            <a:picLocks noChangeAspect="1"/>
          </p:cNvPicPr>
          <p:nvPr/>
        </p:nvPicPr>
        <p:blipFill>
          <a:blip r:embed="rId3"/>
          <a:stretch>
            <a:fillRect/>
          </a:stretch>
        </p:blipFill>
        <p:spPr>
          <a:xfrm>
            <a:off x="3815758" y="1725216"/>
            <a:ext cx="4560178" cy="4560193"/>
          </a:xfrm>
          <a:prstGeom prst="rect">
            <a:avLst/>
          </a:prstGeom>
        </p:spPr>
      </p:pic>
      <p:sp>
        <p:nvSpPr>
          <p:cNvPr id="5" name="Text 2"/>
          <p:cNvSpPr/>
          <p:nvPr/>
        </p:nvSpPr>
        <p:spPr>
          <a:xfrm>
            <a:off x="4258685" y="2433374"/>
            <a:ext cx="1469348" cy="388284"/>
          </a:xfrm>
          <a:prstGeom prst="rect">
            <a:avLst/>
          </a:prstGeom>
          <a:noFill/>
          <a:ln/>
        </p:spPr>
        <p:txBody>
          <a:bodyPr wrap="square" lIns="0" tIns="0" rIns="0" bIns="0" rtlCol="0" anchor="t">
            <a:normAutofit/>
          </a:bodyPr>
          <a:lstStyle/>
          <a:p>
            <a:pPr marL="0" indent="0" algn="ctr">
              <a:lnSpc>
                <a:spcPct val="83000"/>
              </a:lnSpc>
              <a:buNone/>
            </a:pPr>
            <a:r>
              <a:rPr lang="en-US" sz="1500" kern="0" spc="-46" dirty="0">
                <a:solidFill>
                  <a:srgbClr val="FFFFFF"/>
                </a:solidFill>
                <a:latin typeface="DM Sans ExtraBold" pitchFamily="34" charset="0"/>
                <a:ea typeface="DM Sans ExtraBold" pitchFamily="34" charset="-122"/>
                <a:cs typeface="DM Sans ExtraBold" pitchFamily="34" charset="-120"/>
              </a:rPr>
              <a:t>Fabric Intelligence</a:t>
            </a:r>
            <a:endParaRPr lang="en-US" sz="1500" dirty="0"/>
          </a:p>
        </p:txBody>
      </p:sp>
      <p:sp>
        <p:nvSpPr>
          <p:cNvPr id="6" name="Text 3"/>
          <p:cNvSpPr/>
          <p:nvPr/>
        </p:nvSpPr>
        <p:spPr>
          <a:xfrm>
            <a:off x="4258685" y="2887226"/>
            <a:ext cx="1469348" cy="484075"/>
          </a:xfrm>
          <a:prstGeom prst="rect">
            <a:avLst/>
          </a:prstGeom>
          <a:noFill/>
          <a:ln/>
        </p:spPr>
        <p:txBody>
          <a:bodyPr wrap="square" lIns="0" tIns="0" rIns="0" bIns="0" rtlCol="0" anchor="t">
            <a:normAutofit/>
          </a:bodyPr>
          <a:lstStyle/>
          <a:p>
            <a:pPr marL="0" indent="0" algn="ctr">
              <a:lnSpc>
                <a:spcPct val="91000"/>
              </a:lnSpc>
              <a:buNone/>
            </a:pPr>
            <a:r>
              <a:rPr lang="en-US" sz="1150" dirty="0">
                <a:solidFill>
                  <a:srgbClr val="FFFFFF"/>
                </a:solidFill>
                <a:latin typeface="Inter Light" pitchFamily="34" charset="0"/>
                <a:ea typeface="Inter Light" pitchFamily="34" charset="-122"/>
                <a:cs typeface="Inter Light" pitchFamily="34" charset="-120"/>
              </a:rPr>
              <a:t>Analyze material properties and production data.</a:t>
            </a:r>
            <a:endParaRPr lang="en-US" sz="1150" dirty="0"/>
          </a:p>
        </p:txBody>
      </p:sp>
      <p:sp>
        <p:nvSpPr>
          <p:cNvPr id="7" name="Text 4"/>
          <p:cNvSpPr/>
          <p:nvPr/>
        </p:nvSpPr>
        <p:spPr>
          <a:xfrm>
            <a:off x="6471544" y="2352695"/>
            <a:ext cx="1469348" cy="388284"/>
          </a:xfrm>
          <a:prstGeom prst="rect">
            <a:avLst/>
          </a:prstGeom>
          <a:noFill/>
          <a:ln/>
        </p:spPr>
        <p:txBody>
          <a:bodyPr wrap="square" lIns="0" tIns="0" rIns="0" bIns="0" rtlCol="0" anchor="t">
            <a:normAutofit/>
          </a:bodyPr>
          <a:lstStyle/>
          <a:p>
            <a:pPr marL="0" indent="0" algn="ctr">
              <a:lnSpc>
                <a:spcPct val="83000"/>
              </a:lnSpc>
              <a:buNone/>
            </a:pPr>
            <a:r>
              <a:rPr lang="en-US" sz="1500" kern="0" spc="-46" dirty="0">
                <a:solidFill>
                  <a:srgbClr val="FFFFFF"/>
                </a:solidFill>
                <a:latin typeface="DM Sans ExtraBold" pitchFamily="34" charset="0"/>
                <a:ea typeface="DM Sans ExtraBold" pitchFamily="34" charset="-122"/>
                <a:cs typeface="DM Sans ExtraBold" pitchFamily="34" charset="-120"/>
              </a:rPr>
              <a:t>Sustainability Intelligence</a:t>
            </a:r>
            <a:endParaRPr lang="en-US" sz="1500" dirty="0"/>
          </a:p>
        </p:txBody>
      </p:sp>
      <p:sp>
        <p:nvSpPr>
          <p:cNvPr id="8" name="Text 5"/>
          <p:cNvSpPr/>
          <p:nvPr/>
        </p:nvSpPr>
        <p:spPr>
          <a:xfrm>
            <a:off x="6471544" y="2806547"/>
            <a:ext cx="1469348" cy="645433"/>
          </a:xfrm>
          <a:prstGeom prst="rect">
            <a:avLst/>
          </a:prstGeom>
          <a:noFill/>
          <a:ln/>
        </p:spPr>
        <p:txBody>
          <a:bodyPr wrap="square" lIns="0" tIns="0" rIns="0" bIns="0" rtlCol="0" anchor="t">
            <a:normAutofit/>
          </a:bodyPr>
          <a:lstStyle/>
          <a:p>
            <a:pPr marL="0" indent="0" algn="ctr">
              <a:lnSpc>
                <a:spcPct val="91000"/>
              </a:lnSpc>
              <a:buNone/>
            </a:pPr>
            <a:r>
              <a:rPr lang="en-US" sz="1150" dirty="0">
                <a:solidFill>
                  <a:srgbClr val="FFFFFF"/>
                </a:solidFill>
                <a:latin typeface="Inter Light" pitchFamily="34" charset="0"/>
                <a:ea typeface="Inter Light" pitchFamily="34" charset="-122"/>
                <a:cs typeface="Inter Light" pitchFamily="34" charset="-120"/>
              </a:rPr>
              <a:t>Assess environmental impact and circularity metrics.</a:t>
            </a:r>
            <a:endParaRPr lang="en-US" sz="1150" dirty="0"/>
          </a:p>
        </p:txBody>
      </p:sp>
      <p:sp>
        <p:nvSpPr>
          <p:cNvPr id="9" name="Text 6"/>
          <p:cNvSpPr/>
          <p:nvPr/>
        </p:nvSpPr>
        <p:spPr>
          <a:xfrm>
            <a:off x="4258813" y="4646160"/>
            <a:ext cx="1469348" cy="388284"/>
          </a:xfrm>
          <a:prstGeom prst="rect">
            <a:avLst/>
          </a:prstGeom>
          <a:noFill/>
          <a:ln/>
        </p:spPr>
        <p:txBody>
          <a:bodyPr wrap="square" lIns="0" tIns="0" rIns="0" bIns="0" rtlCol="0" anchor="t">
            <a:normAutofit/>
          </a:bodyPr>
          <a:lstStyle/>
          <a:p>
            <a:pPr marL="0" indent="0" algn="ctr">
              <a:lnSpc>
                <a:spcPct val="83000"/>
              </a:lnSpc>
              <a:buNone/>
            </a:pPr>
            <a:r>
              <a:rPr lang="en-US" sz="1500" kern="0" spc="-46" dirty="0">
                <a:solidFill>
                  <a:srgbClr val="FFFFFF"/>
                </a:solidFill>
                <a:latin typeface="DM Sans ExtraBold" pitchFamily="34" charset="0"/>
                <a:ea typeface="DM Sans ExtraBold" pitchFamily="34" charset="-122"/>
                <a:cs typeface="DM Sans ExtraBold" pitchFamily="34" charset="-120"/>
              </a:rPr>
              <a:t>Commercial Intelligence</a:t>
            </a:r>
            <a:endParaRPr lang="en-US" sz="1500" dirty="0"/>
          </a:p>
        </p:txBody>
      </p:sp>
      <p:sp>
        <p:nvSpPr>
          <p:cNvPr id="10" name="Text 7"/>
          <p:cNvSpPr/>
          <p:nvPr/>
        </p:nvSpPr>
        <p:spPr>
          <a:xfrm>
            <a:off x="4258813" y="5100012"/>
            <a:ext cx="1469348" cy="484075"/>
          </a:xfrm>
          <a:prstGeom prst="rect">
            <a:avLst/>
          </a:prstGeom>
          <a:noFill/>
          <a:ln/>
        </p:spPr>
        <p:txBody>
          <a:bodyPr wrap="square" lIns="0" tIns="0" rIns="0" bIns="0" rtlCol="0" anchor="t">
            <a:normAutofit/>
          </a:bodyPr>
          <a:lstStyle/>
          <a:p>
            <a:pPr marL="0" indent="0" algn="ctr">
              <a:lnSpc>
                <a:spcPct val="91000"/>
              </a:lnSpc>
              <a:buNone/>
            </a:pPr>
            <a:r>
              <a:rPr lang="en-US" sz="1150" dirty="0">
                <a:solidFill>
                  <a:srgbClr val="FFFFFF"/>
                </a:solidFill>
                <a:latin typeface="Inter Light" pitchFamily="34" charset="0"/>
                <a:ea typeface="Inter Light" pitchFamily="34" charset="-122"/>
                <a:cs typeface="Inter Light" pitchFamily="34" charset="-120"/>
              </a:rPr>
              <a:t>Translate insights into market and pricing strategies.</a:t>
            </a:r>
            <a:endParaRPr lang="en-US" sz="1150" dirty="0"/>
          </a:p>
        </p:txBody>
      </p:sp>
      <p:sp>
        <p:nvSpPr>
          <p:cNvPr id="11" name="Text 8"/>
          <p:cNvSpPr/>
          <p:nvPr/>
        </p:nvSpPr>
        <p:spPr>
          <a:xfrm>
            <a:off x="6471544" y="4646160"/>
            <a:ext cx="1469348" cy="388284"/>
          </a:xfrm>
          <a:prstGeom prst="rect">
            <a:avLst/>
          </a:prstGeom>
          <a:noFill/>
          <a:ln/>
        </p:spPr>
        <p:txBody>
          <a:bodyPr wrap="square" lIns="0" tIns="0" rIns="0" bIns="0" rtlCol="0" anchor="t">
            <a:normAutofit/>
          </a:bodyPr>
          <a:lstStyle/>
          <a:p>
            <a:pPr marL="0" indent="0" algn="ctr">
              <a:lnSpc>
                <a:spcPct val="83000"/>
              </a:lnSpc>
              <a:buNone/>
            </a:pPr>
            <a:r>
              <a:rPr lang="en-US" sz="1500" kern="0" spc="-46" dirty="0">
                <a:solidFill>
                  <a:srgbClr val="FFFFFF"/>
                </a:solidFill>
                <a:latin typeface="DM Sans ExtraBold" pitchFamily="34" charset="0"/>
                <a:ea typeface="DM Sans ExtraBold" pitchFamily="34" charset="-122"/>
                <a:cs typeface="DM Sans ExtraBold" pitchFamily="34" charset="-120"/>
              </a:rPr>
              <a:t>Marketplace Intelligence</a:t>
            </a:r>
            <a:endParaRPr lang="en-US" sz="1500" dirty="0"/>
          </a:p>
        </p:txBody>
      </p:sp>
      <p:sp>
        <p:nvSpPr>
          <p:cNvPr id="12" name="Text 9"/>
          <p:cNvSpPr/>
          <p:nvPr/>
        </p:nvSpPr>
        <p:spPr>
          <a:xfrm>
            <a:off x="6471544" y="5100012"/>
            <a:ext cx="1469348" cy="484075"/>
          </a:xfrm>
          <a:prstGeom prst="rect">
            <a:avLst/>
          </a:prstGeom>
          <a:noFill/>
          <a:ln/>
        </p:spPr>
        <p:txBody>
          <a:bodyPr wrap="square" lIns="0" tIns="0" rIns="0" bIns="0" rtlCol="0" anchor="t">
            <a:normAutofit/>
          </a:bodyPr>
          <a:lstStyle/>
          <a:p>
            <a:pPr marL="0" indent="0" algn="ctr">
              <a:lnSpc>
                <a:spcPct val="91000"/>
              </a:lnSpc>
              <a:buNone/>
            </a:pPr>
            <a:r>
              <a:rPr lang="en-US" sz="1150" dirty="0">
                <a:solidFill>
                  <a:srgbClr val="FFFFFF"/>
                </a:solidFill>
                <a:latin typeface="Inter Light" pitchFamily="34" charset="0"/>
                <a:ea typeface="Inter Light" pitchFamily="34" charset="-122"/>
                <a:cs typeface="Inter Light" pitchFamily="34" charset="-120"/>
              </a:rPr>
              <a:t>Connect demand signals to product discovery.</a:t>
            </a:r>
            <a:endParaRPr lang="en-US" sz="1150" dirty="0"/>
          </a:p>
        </p:txBody>
      </p:sp>
      <p:grpSp>
        <p:nvGrpSpPr>
          <p:cNvPr id="13" name="Group 12">
            <a:extLst>
              <a:ext uri="{FF2B5EF4-FFF2-40B4-BE49-F238E27FC236}">
                <a16:creationId xmlns:a16="http://schemas.microsoft.com/office/drawing/2014/main" id="{DA146BD5-62CF-345F-F950-9991EA518542}"/>
              </a:ext>
            </a:extLst>
          </p:cNvPr>
          <p:cNvGrpSpPr/>
          <p:nvPr/>
        </p:nvGrpSpPr>
        <p:grpSpPr>
          <a:xfrm>
            <a:off x="10686552" y="6506574"/>
            <a:ext cx="1505131" cy="351434"/>
            <a:chOff x="2623154" y="413097"/>
            <a:chExt cx="2599719" cy="525560"/>
          </a:xfrm>
        </p:grpSpPr>
        <p:sp>
          <p:nvSpPr>
            <p:cNvPr id="14" name="Freeform 13">
              <a:extLst>
                <a:ext uri="{FF2B5EF4-FFF2-40B4-BE49-F238E27FC236}">
                  <a16:creationId xmlns:a16="http://schemas.microsoft.com/office/drawing/2014/main" id="{DB417E5D-CEAA-3F8B-3D8A-BA21052B479C}"/>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4"/>
              <a:stretch>
                <a:fillRect l="-64" r="-64" b="1"/>
              </a:stretch>
            </a:blipFill>
          </p:spPr>
          <p:txBody>
            <a:bodyPr/>
            <a:lstStyle/>
            <a:p>
              <a:endParaRPr lang="en-US" sz="1200" dirty="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5203794" y="2540496"/>
            <a:ext cx="6355993" cy="950317"/>
          </a:xfrm>
          <a:prstGeom prst="rect">
            <a:avLst/>
          </a:prstGeom>
          <a:noFill/>
          <a:ln/>
        </p:spPr>
        <p:txBody>
          <a:bodyPr wrap="square" lIns="0" tIns="0" rIns="0" bIns="0" rtlCol="0" anchor="t">
            <a:normAutofit lnSpcReduction="10000"/>
          </a:bodyPr>
          <a:lstStyle/>
          <a:p>
            <a:pPr marL="0" indent="0" algn="l">
              <a:lnSpc>
                <a:spcPct val="83000"/>
              </a:lnSpc>
              <a:buNone/>
            </a:pPr>
            <a:r>
              <a:rPr lang="en-US" sz="3700" kern="0" spc="-112" dirty="0">
                <a:solidFill>
                  <a:srgbClr val="383830"/>
                </a:solidFill>
                <a:latin typeface="DM Sans ExtraBold" pitchFamily="34" charset="0"/>
                <a:ea typeface="DM Sans ExtraBold" pitchFamily="34" charset="-122"/>
                <a:cs typeface="DM Sans ExtraBold" pitchFamily="34" charset="-120"/>
              </a:rPr>
              <a:t>AI Fabric Classification &amp; Condition Intelligence</a:t>
            </a:r>
            <a:endParaRPr lang="en-US" sz="3700" dirty="0"/>
          </a:p>
        </p:txBody>
      </p:sp>
      <p:sp>
        <p:nvSpPr>
          <p:cNvPr id="4" name="Text 1"/>
          <p:cNvSpPr/>
          <p:nvPr/>
        </p:nvSpPr>
        <p:spPr>
          <a:xfrm>
            <a:off x="5203794" y="3562945"/>
            <a:ext cx="6355993" cy="285055"/>
          </a:xfrm>
          <a:prstGeom prst="rect">
            <a:avLst/>
          </a:prstGeom>
          <a:noFill/>
          <a:ln/>
        </p:spPr>
        <p:txBody>
          <a:bodyPr wrap="none" lIns="0" tIns="0" rIns="0" bIns="0" rtlCol="0" anchor="t"/>
          <a:lstStyle/>
          <a:p>
            <a:pPr marL="0" indent="0" algn="l">
              <a:lnSpc>
                <a:spcPct val="83000"/>
              </a:lnSpc>
              <a:buNone/>
            </a:pPr>
            <a:r>
              <a:rPr lang="en-US" sz="2200" kern="0" spc="-67" dirty="0">
                <a:solidFill>
                  <a:srgbClr val="383830"/>
                </a:solidFill>
                <a:latin typeface="DM Sans ExtraBold" pitchFamily="34" charset="0"/>
                <a:ea typeface="DM Sans ExtraBold" pitchFamily="34" charset="-122"/>
                <a:cs typeface="DM Sans ExtraBold" pitchFamily="34" charset="-120"/>
              </a:rPr>
              <a:t>Sandeepa S.A.C. </a:t>
            </a:r>
            <a:r>
              <a:rPr lang="en-US" sz="2200" kern="0" spc="-67" dirty="0">
                <a:solidFill>
                  <a:srgbClr val="6B7280"/>
                </a:solidFill>
                <a:latin typeface="DM Sans ExtraBold" pitchFamily="34" charset="0"/>
                <a:ea typeface="DM Sans ExtraBold" pitchFamily="34" charset="-122"/>
                <a:cs typeface="DM Sans ExtraBold" pitchFamily="34" charset="-120"/>
              </a:rPr>
              <a:t>(IT22281814)</a:t>
            </a:r>
            <a:endParaRPr lang="en-US" sz="2200" dirty="0"/>
          </a:p>
        </p:txBody>
      </p:sp>
      <p:grpSp>
        <p:nvGrpSpPr>
          <p:cNvPr id="5" name="Group 4">
            <a:extLst>
              <a:ext uri="{FF2B5EF4-FFF2-40B4-BE49-F238E27FC236}">
                <a16:creationId xmlns:a16="http://schemas.microsoft.com/office/drawing/2014/main" id="{59DEC907-DD22-FA98-5FD6-8F7FF897CC5B}"/>
              </a:ext>
            </a:extLst>
          </p:cNvPr>
          <p:cNvGrpSpPr/>
          <p:nvPr/>
        </p:nvGrpSpPr>
        <p:grpSpPr>
          <a:xfrm>
            <a:off x="10686552" y="6506574"/>
            <a:ext cx="1505131" cy="351434"/>
            <a:chOff x="2623154" y="413097"/>
            <a:chExt cx="2599719" cy="525560"/>
          </a:xfrm>
        </p:grpSpPr>
        <p:sp>
          <p:nvSpPr>
            <p:cNvPr id="6" name="Freeform 5">
              <a:extLst>
                <a:ext uri="{FF2B5EF4-FFF2-40B4-BE49-F238E27FC236}">
                  <a16:creationId xmlns:a16="http://schemas.microsoft.com/office/drawing/2014/main" id="{C108CBEA-1BC6-CD01-E24C-3DE0A1701D9A}"/>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sz="1200" dirty="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31908" y="822821"/>
            <a:ext cx="10927878" cy="332581"/>
          </a:xfrm>
          <a:prstGeom prst="rect">
            <a:avLst/>
          </a:prstGeom>
          <a:noFill/>
          <a:ln/>
        </p:spPr>
        <p:txBody>
          <a:bodyPr wrap="none" lIns="0" tIns="0" rIns="0" bIns="0" rtlCol="0" anchor="t"/>
          <a:lstStyle/>
          <a:p>
            <a:pPr marL="0" indent="0" algn="l">
              <a:lnSpc>
                <a:spcPct val="83000"/>
              </a:lnSpc>
              <a:buNone/>
            </a:pPr>
            <a:r>
              <a:rPr lang="en-US" sz="2600" kern="0" spc="-79" dirty="0">
                <a:solidFill>
                  <a:srgbClr val="383830"/>
                </a:solidFill>
                <a:latin typeface="DM Sans ExtraBold" pitchFamily="34" charset="0"/>
                <a:ea typeface="DM Sans ExtraBold" pitchFamily="34" charset="-122"/>
                <a:cs typeface="DM Sans ExtraBold" pitchFamily="34" charset="-120"/>
              </a:rPr>
              <a:t>AI-Based Textile Fabric Classification &amp; Condition Intelligence</a:t>
            </a:r>
            <a:endParaRPr lang="en-US" sz="2600" dirty="0"/>
          </a:p>
        </p:txBody>
      </p:sp>
      <p:sp>
        <p:nvSpPr>
          <p:cNvPr id="3" name="Text 1"/>
          <p:cNvSpPr/>
          <p:nvPr/>
        </p:nvSpPr>
        <p:spPr>
          <a:xfrm>
            <a:off x="631908" y="1190724"/>
            <a:ext cx="10927878" cy="266105"/>
          </a:xfrm>
          <a:prstGeom prst="rect">
            <a:avLst/>
          </a:prstGeom>
          <a:noFill/>
          <a:ln/>
        </p:spPr>
        <p:txBody>
          <a:bodyPr wrap="none" lIns="0" tIns="0" rIns="0" bIns="0" rtlCol="0" anchor="t"/>
          <a:lstStyle/>
          <a:p>
            <a:pPr marL="0" indent="0" algn="l">
              <a:lnSpc>
                <a:spcPct val="83000"/>
              </a:lnSpc>
              <a:buNone/>
            </a:pPr>
            <a:r>
              <a:rPr lang="en-US" sz="2050" kern="0" spc="-63" dirty="0">
                <a:solidFill>
                  <a:srgbClr val="383830"/>
                </a:solidFill>
                <a:latin typeface="DM Sans ExtraBold" pitchFamily="34" charset="0"/>
                <a:ea typeface="DM Sans ExtraBold" pitchFamily="34" charset="-122"/>
                <a:cs typeface="DM Sans ExtraBold" pitchFamily="34" charset="-120"/>
              </a:rPr>
              <a:t>Main Objective</a:t>
            </a:r>
            <a:endParaRPr lang="en-US" sz="2050" dirty="0"/>
          </a:p>
        </p:txBody>
      </p:sp>
      <p:sp>
        <p:nvSpPr>
          <p:cNvPr id="4" name="Text 2"/>
          <p:cNvSpPr/>
          <p:nvPr/>
        </p:nvSpPr>
        <p:spPr>
          <a:xfrm>
            <a:off x="631908" y="1589484"/>
            <a:ext cx="10927878" cy="555228"/>
          </a:xfrm>
          <a:prstGeom prst="rect">
            <a:avLst/>
          </a:prstGeom>
          <a:noFill/>
          <a:ln/>
        </p:spPr>
        <p:txBody>
          <a:bodyPr wrap="square" lIns="0" tIns="0" rIns="0" bIns="0" rtlCol="0" anchor="t"/>
          <a:lstStyle/>
          <a:p>
            <a:pPr marL="0" indent="0" algn="l">
              <a:lnSpc>
                <a:spcPct val="78000"/>
              </a:lnSpc>
              <a:spcAft>
                <a:spcPts val="750"/>
              </a:spcAft>
              <a:buNone/>
            </a:pPr>
            <a:endParaRPr lang="en-US" sz="950" dirty="0"/>
          </a:p>
          <a:p>
            <a:pPr marL="0" indent="0" algn="l">
              <a:lnSpc>
                <a:spcPct val="78000"/>
              </a:lnSpc>
              <a:spcAft>
                <a:spcPts val="750"/>
              </a:spcAft>
              <a:buNone/>
            </a:pPr>
            <a:r>
              <a:rPr lang="en-US" sz="950" dirty="0">
                <a:solidFill>
                  <a:srgbClr val="23231E"/>
                </a:solidFill>
                <a:latin typeface="Inter Light" pitchFamily="34" charset="0"/>
                <a:ea typeface="Inter Light" pitchFamily="34" charset="-122"/>
                <a:cs typeface="Inter Light" pitchFamily="34" charset="-120"/>
              </a:rPr>
              <a:t>This research component leverages advanced AI to meticulously analyze textile waste, providing critical insights into its composition and usability for circular economy applications.</a:t>
            </a:r>
            <a:endParaRPr lang="en-US" sz="950" dirty="0"/>
          </a:p>
          <a:p>
            <a:pPr marL="0" indent="0" algn="l">
              <a:lnSpc>
                <a:spcPct val="78000"/>
              </a:lnSpc>
              <a:buNone/>
            </a:pPr>
            <a:r>
              <a:rPr lang="en-US" sz="950" dirty="0">
                <a:solidFill>
                  <a:srgbClr val="23231E"/>
                </a:solidFill>
                <a:latin typeface="Inter Light" pitchFamily="34" charset="0"/>
                <a:ea typeface="Inter Light" pitchFamily="34" charset="-122"/>
                <a:cs typeface="Inter Light" pitchFamily="34" charset="-120"/>
              </a:rPr>
              <a:t>Our solution utilizes an </a:t>
            </a:r>
            <a:r>
              <a:rPr lang="en-US" sz="950" b="1" dirty="0">
                <a:solidFill>
                  <a:srgbClr val="23231E"/>
                </a:solidFill>
                <a:latin typeface="Inter Bold" pitchFamily="34" charset="0"/>
                <a:ea typeface="Inter Bold" pitchFamily="34" charset="-122"/>
                <a:cs typeface="Inter Bold" pitchFamily="34" charset="-120"/>
              </a:rPr>
              <a:t>EfficientNet-B3 16-class classifier</a:t>
            </a:r>
            <a:r>
              <a:rPr lang="en-US" sz="950" dirty="0">
                <a:solidFill>
                  <a:srgbClr val="23231E"/>
                </a:solidFill>
                <a:latin typeface="Inter Light" pitchFamily="34" charset="0"/>
                <a:ea typeface="Inter Light" pitchFamily="34" charset="-122"/>
                <a:cs typeface="Inter Light" pitchFamily="34" charset="-120"/>
              </a:rPr>
              <a:t> to achieve high-precision textile identification.</a:t>
            </a:r>
            <a:endParaRPr lang="en-US" sz="950" dirty="0"/>
          </a:p>
        </p:txBody>
      </p:sp>
      <p:sp>
        <p:nvSpPr>
          <p:cNvPr id="5" name="Text 3"/>
          <p:cNvSpPr/>
          <p:nvPr/>
        </p:nvSpPr>
        <p:spPr>
          <a:xfrm>
            <a:off x="631908" y="2277368"/>
            <a:ext cx="10927878" cy="266105"/>
          </a:xfrm>
          <a:prstGeom prst="rect">
            <a:avLst/>
          </a:prstGeom>
          <a:noFill/>
          <a:ln/>
        </p:spPr>
        <p:txBody>
          <a:bodyPr wrap="none" lIns="0" tIns="0" rIns="0" bIns="0" rtlCol="0" anchor="t"/>
          <a:lstStyle/>
          <a:p>
            <a:pPr marL="0" indent="0" algn="l">
              <a:lnSpc>
                <a:spcPct val="83000"/>
              </a:lnSpc>
              <a:buNone/>
            </a:pPr>
            <a:r>
              <a:rPr lang="en-US" sz="2050" kern="0" spc="-63" dirty="0">
                <a:solidFill>
                  <a:srgbClr val="383830"/>
                </a:solidFill>
                <a:latin typeface="DM Sans ExtraBold" pitchFamily="34" charset="0"/>
                <a:ea typeface="DM Sans ExtraBold" pitchFamily="34" charset="-122"/>
                <a:cs typeface="DM Sans ExtraBold" pitchFamily="34" charset="-120"/>
              </a:rPr>
              <a:t>Key Outputs</a:t>
            </a:r>
            <a:endParaRPr lang="en-US" sz="2050" dirty="0"/>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908" y="2676128"/>
            <a:ext cx="5419689" cy="1100138"/>
          </a:xfrm>
          <a:prstGeom prst="rect">
            <a:avLst/>
          </a:prstGeom>
        </p:spPr>
      </p:pic>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65852" y="2789833"/>
            <a:ext cx="151602" cy="151606"/>
          </a:xfrm>
          <a:prstGeom prst="rect">
            <a:avLst/>
          </a:prstGeom>
        </p:spPr>
      </p:pic>
      <p:sp>
        <p:nvSpPr>
          <p:cNvPr id="8" name="Text 4"/>
          <p:cNvSpPr/>
          <p:nvPr/>
        </p:nvSpPr>
        <p:spPr>
          <a:xfrm>
            <a:off x="770910" y="3181548"/>
            <a:ext cx="5141685" cy="166291"/>
          </a:xfrm>
          <a:prstGeom prst="rect">
            <a:avLst/>
          </a:prstGeom>
          <a:noFill/>
          <a:ln/>
        </p:spPr>
        <p:txBody>
          <a:bodyPr wrap="none" lIns="0" tIns="0" rIns="0" bIns="0" rtlCol="0" anchor="t"/>
          <a:lstStyle/>
          <a:p>
            <a:pPr marL="0" indent="0" algn="l">
              <a:lnSpc>
                <a:spcPct val="83000"/>
              </a:lnSpc>
              <a:buNone/>
            </a:pPr>
            <a:r>
              <a:rPr lang="en-US" sz="1300" kern="0" spc="-39" dirty="0">
                <a:solidFill>
                  <a:srgbClr val="23231E"/>
                </a:solidFill>
                <a:latin typeface="DM Sans ExtraBold" pitchFamily="34" charset="0"/>
                <a:ea typeface="DM Sans ExtraBold" pitchFamily="34" charset="-122"/>
                <a:cs typeface="DM Sans ExtraBold" pitchFamily="34" charset="-120"/>
              </a:rPr>
              <a:t>Fabric Type</a:t>
            </a:r>
            <a:endParaRPr lang="en-US" sz="1300" dirty="0"/>
          </a:p>
        </p:txBody>
      </p:sp>
      <p:sp>
        <p:nvSpPr>
          <p:cNvPr id="9" name="Text 5"/>
          <p:cNvSpPr/>
          <p:nvPr/>
        </p:nvSpPr>
        <p:spPr>
          <a:xfrm>
            <a:off x="770910" y="3400921"/>
            <a:ext cx="5141685" cy="236339"/>
          </a:xfrm>
          <a:prstGeom prst="rect">
            <a:avLst/>
          </a:prstGeom>
          <a:noFill/>
          <a:ln/>
        </p:spPr>
        <p:txBody>
          <a:bodyPr wrap="square" lIns="0" tIns="0" rIns="0" bIns="0" rtlCol="0" anchor="t">
            <a:normAutofit/>
          </a:bodyPr>
          <a:lstStyle/>
          <a:p>
            <a:pPr marL="0" indent="0" algn="l">
              <a:lnSpc>
                <a:spcPct val="78000"/>
              </a:lnSpc>
              <a:buNone/>
            </a:pPr>
            <a:r>
              <a:rPr lang="en-US" sz="950" dirty="0">
                <a:solidFill>
                  <a:srgbClr val="23231E"/>
                </a:solidFill>
                <a:latin typeface="Inter Light" pitchFamily="34" charset="0"/>
                <a:ea typeface="Inter Light" pitchFamily="34" charset="-122"/>
                <a:cs typeface="Inter Light" pitchFamily="34" charset="-120"/>
              </a:rPr>
              <a:t>Precise identification of material composition (e.g., cotton, polyester, blends) using computer vision.</a:t>
            </a:r>
            <a:endParaRPr lang="en-US" sz="95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39999" y="2676128"/>
            <a:ext cx="5419788" cy="1100138"/>
          </a:xfrm>
          <a:prstGeom prst="rect">
            <a:avLst/>
          </a:prstGeom>
        </p:spPr>
      </p:pic>
      <p:pic>
        <p:nvPicPr>
          <p:cNvPr id="1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774042" y="2789833"/>
            <a:ext cx="151602" cy="151606"/>
          </a:xfrm>
          <a:prstGeom prst="rect">
            <a:avLst/>
          </a:prstGeom>
        </p:spPr>
      </p:pic>
      <p:sp>
        <p:nvSpPr>
          <p:cNvPr id="12" name="Text 6"/>
          <p:cNvSpPr/>
          <p:nvPr/>
        </p:nvSpPr>
        <p:spPr>
          <a:xfrm>
            <a:off x="6279001" y="3181548"/>
            <a:ext cx="5141784" cy="166291"/>
          </a:xfrm>
          <a:prstGeom prst="rect">
            <a:avLst/>
          </a:prstGeom>
          <a:noFill/>
          <a:ln/>
        </p:spPr>
        <p:txBody>
          <a:bodyPr wrap="none" lIns="0" tIns="0" rIns="0" bIns="0" rtlCol="0" anchor="t"/>
          <a:lstStyle/>
          <a:p>
            <a:pPr marL="0" indent="0" algn="l">
              <a:lnSpc>
                <a:spcPct val="83000"/>
              </a:lnSpc>
              <a:buNone/>
            </a:pPr>
            <a:r>
              <a:rPr lang="en-US" sz="1300" kern="0" spc="-39" dirty="0">
                <a:solidFill>
                  <a:srgbClr val="23231E"/>
                </a:solidFill>
                <a:latin typeface="DM Sans ExtraBold" pitchFamily="34" charset="0"/>
                <a:ea typeface="DM Sans ExtraBold" pitchFamily="34" charset="-122"/>
                <a:cs typeface="DM Sans ExtraBold" pitchFamily="34" charset="-120"/>
              </a:rPr>
              <a:t>Classification Confidence</a:t>
            </a:r>
            <a:endParaRPr lang="en-US" sz="1300" dirty="0"/>
          </a:p>
        </p:txBody>
      </p:sp>
      <p:sp>
        <p:nvSpPr>
          <p:cNvPr id="13" name="Text 7"/>
          <p:cNvSpPr/>
          <p:nvPr/>
        </p:nvSpPr>
        <p:spPr>
          <a:xfrm>
            <a:off x="6279001" y="3400921"/>
            <a:ext cx="5141784" cy="118170"/>
          </a:xfrm>
          <a:prstGeom prst="rect">
            <a:avLst/>
          </a:prstGeom>
          <a:noFill/>
          <a:ln/>
        </p:spPr>
        <p:txBody>
          <a:bodyPr wrap="none" lIns="0" tIns="0" rIns="0" bIns="0" rtlCol="0" anchor="t"/>
          <a:lstStyle/>
          <a:p>
            <a:pPr marL="0" indent="0" algn="l">
              <a:lnSpc>
                <a:spcPct val="78000"/>
              </a:lnSpc>
              <a:buNone/>
            </a:pPr>
            <a:r>
              <a:rPr lang="en-US" sz="950" dirty="0">
                <a:solidFill>
                  <a:srgbClr val="23231E"/>
                </a:solidFill>
                <a:latin typeface="Inter Light" pitchFamily="34" charset="0"/>
                <a:ea typeface="Inter Light" pitchFamily="34" charset="-122"/>
                <a:cs typeface="Inter Light" pitchFamily="34" charset="-120"/>
              </a:rPr>
              <a:t>A probabilistic score indicating the accuracy of the identified fabric type.</a:t>
            </a:r>
            <a:endParaRPr lang="en-US" sz="950" dirty="0"/>
          </a:p>
        </p:txBody>
      </p:sp>
      <p:pic>
        <p:nvPicPr>
          <p:cNvPr id="14"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1908" y="3864670"/>
            <a:ext cx="5419689" cy="1100138"/>
          </a:xfrm>
          <a:prstGeom prst="rect">
            <a:avLst/>
          </a:prstGeom>
        </p:spPr>
      </p:pic>
      <p:pic>
        <p:nvPicPr>
          <p:cNvPr id="15"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265852" y="3978374"/>
            <a:ext cx="151602" cy="151606"/>
          </a:xfrm>
          <a:prstGeom prst="rect">
            <a:avLst/>
          </a:prstGeom>
        </p:spPr>
      </p:pic>
      <p:sp>
        <p:nvSpPr>
          <p:cNvPr id="16" name="Text 8"/>
          <p:cNvSpPr/>
          <p:nvPr/>
        </p:nvSpPr>
        <p:spPr>
          <a:xfrm>
            <a:off x="770910" y="4370090"/>
            <a:ext cx="5141685" cy="166291"/>
          </a:xfrm>
          <a:prstGeom prst="rect">
            <a:avLst/>
          </a:prstGeom>
          <a:noFill/>
          <a:ln/>
        </p:spPr>
        <p:txBody>
          <a:bodyPr wrap="none" lIns="0" tIns="0" rIns="0" bIns="0" rtlCol="0" anchor="t"/>
          <a:lstStyle/>
          <a:p>
            <a:pPr marL="0" indent="0" algn="l">
              <a:lnSpc>
                <a:spcPct val="83000"/>
              </a:lnSpc>
              <a:buNone/>
            </a:pPr>
            <a:r>
              <a:rPr lang="en-US" sz="1300" kern="0" spc="-39" dirty="0">
                <a:solidFill>
                  <a:srgbClr val="23231E"/>
                </a:solidFill>
                <a:latin typeface="DM Sans ExtraBold" pitchFamily="34" charset="0"/>
                <a:ea typeface="DM Sans ExtraBold" pitchFamily="34" charset="-122"/>
                <a:cs typeface="DM Sans ExtraBold" pitchFamily="34" charset="-120"/>
              </a:rPr>
              <a:t>Defect Area</a:t>
            </a:r>
            <a:endParaRPr lang="en-US" sz="1300" dirty="0"/>
          </a:p>
        </p:txBody>
      </p:sp>
      <p:sp>
        <p:nvSpPr>
          <p:cNvPr id="17" name="Text 9"/>
          <p:cNvSpPr/>
          <p:nvPr/>
        </p:nvSpPr>
        <p:spPr>
          <a:xfrm>
            <a:off x="770910" y="4589463"/>
            <a:ext cx="5141685" cy="118170"/>
          </a:xfrm>
          <a:prstGeom prst="rect">
            <a:avLst/>
          </a:prstGeom>
          <a:noFill/>
          <a:ln/>
        </p:spPr>
        <p:txBody>
          <a:bodyPr wrap="none" lIns="0" tIns="0" rIns="0" bIns="0" rtlCol="0" anchor="t"/>
          <a:lstStyle/>
          <a:p>
            <a:pPr marL="0" indent="0" algn="l">
              <a:lnSpc>
                <a:spcPct val="78000"/>
              </a:lnSpc>
              <a:buNone/>
            </a:pPr>
            <a:r>
              <a:rPr lang="en-US" sz="950" dirty="0">
                <a:solidFill>
                  <a:srgbClr val="23231E"/>
                </a:solidFill>
                <a:latin typeface="Inter Light" pitchFamily="34" charset="0"/>
                <a:ea typeface="Inter Light" pitchFamily="34" charset="-122"/>
                <a:cs typeface="Inter Light" pitchFamily="34" charset="-120"/>
              </a:rPr>
              <a:t>Pinpointing specific areas of damage, stains, or wear on the textile.</a:t>
            </a:r>
            <a:endParaRPr lang="en-US" sz="950" dirty="0"/>
          </a:p>
        </p:txBody>
      </p:sp>
      <p:pic>
        <p:nvPicPr>
          <p:cNvPr id="18" name="Image 6"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139999" y="3864670"/>
            <a:ext cx="5419788" cy="1100138"/>
          </a:xfrm>
          <a:prstGeom prst="rect">
            <a:avLst/>
          </a:prstGeom>
        </p:spPr>
      </p:pic>
      <p:pic>
        <p:nvPicPr>
          <p:cNvPr id="19" name="Image 7" descr="preencoded.png"/>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774042" y="3978374"/>
            <a:ext cx="151602" cy="151606"/>
          </a:xfrm>
          <a:prstGeom prst="rect">
            <a:avLst/>
          </a:prstGeom>
        </p:spPr>
      </p:pic>
      <p:sp>
        <p:nvSpPr>
          <p:cNvPr id="20" name="Text 10"/>
          <p:cNvSpPr/>
          <p:nvPr/>
        </p:nvSpPr>
        <p:spPr>
          <a:xfrm>
            <a:off x="6279001" y="4370090"/>
            <a:ext cx="5141784" cy="166291"/>
          </a:xfrm>
          <a:prstGeom prst="rect">
            <a:avLst/>
          </a:prstGeom>
          <a:noFill/>
          <a:ln/>
        </p:spPr>
        <p:txBody>
          <a:bodyPr wrap="none" lIns="0" tIns="0" rIns="0" bIns="0" rtlCol="0" anchor="t"/>
          <a:lstStyle/>
          <a:p>
            <a:pPr marL="0" indent="0" algn="l">
              <a:lnSpc>
                <a:spcPct val="83000"/>
              </a:lnSpc>
              <a:buNone/>
            </a:pPr>
            <a:r>
              <a:rPr lang="en-US" sz="1300" kern="0" spc="-39" dirty="0">
                <a:solidFill>
                  <a:srgbClr val="23231E"/>
                </a:solidFill>
                <a:latin typeface="DM Sans ExtraBold" pitchFamily="34" charset="0"/>
                <a:ea typeface="DM Sans ExtraBold" pitchFamily="34" charset="-122"/>
                <a:cs typeface="DM Sans ExtraBold" pitchFamily="34" charset="-120"/>
              </a:rPr>
              <a:t>Health / Quality Score</a:t>
            </a:r>
            <a:endParaRPr lang="en-US" sz="1300" dirty="0"/>
          </a:p>
        </p:txBody>
      </p:sp>
      <p:sp>
        <p:nvSpPr>
          <p:cNvPr id="21" name="Text 11"/>
          <p:cNvSpPr/>
          <p:nvPr/>
        </p:nvSpPr>
        <p:spPr>
          <a:xfrm>
            <a:off x="6279001" y="4589463"/>
            <a:ext cx="5141784" cy="236339"/>
          </a:xfrm>
          <a:prstGeom prst="rect">
            <a:avLst/>
          </a:prstGeom>
          <a:noFill/>
          <a:ln/>
        </p:spPr>
        <p:txBody>
          <a:bodyPr wrap="square" lIns="0" tIns="0" rIns="0" bIns="0" rtlCol="0" anchor="t">
            <a:normAutofit/>
          </a:bodyPr>
          <a:lstStyle/>
          <a:p>
            <a:pPr marL="0" indent="0" algn="l">
              <a:lnSpc>
                <a:spcPct val="78000"/>
              </a:lnSpc>
              <a:buNone/>
            </a:pPr>
            <a:r>
              <a:rPr lang="en-US" sz="950" dirty="0">
                <a:solidFill>
                  <a:srgbClr val="23231E"/>
                </a:solidFill>
                <a:latin typeface="Inter Light" pitchFamily="34" charset="0"/>
                <a:ea typeface="Inter Light" pitchFamily="34" charset="-122"/>
                <a:cs typeface="Inter Light" pitchFamily="34" charset="-120"/>
              </a:rPr>
              <a:t>An overall assessment of the textile's condition, determining its suitability for various reuse pathways.</a:t>
            </a:r>
            <a:endParaRPr lang="en-US" sz="950" dirty="0"/>
          </a:p>
        </p:txBody>
      </p:sp>
      <p:pic>
        <p:nvPicPr>
          <p:cNvPr id="22" name="Image 8" descr="preencoded.png"/>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31908" y="5053211"/>
            <a:ext cx="5419689" cy="981968"/>
          </a:xfrm>
          <a:prstGeom prst="rect">
            <a:avLst/>
          </a:prstGeom>
        </p:spPr>
      </p:pic>
      <p:pic>
        <p:nvPicPr>
          <p:cNvPr id="23" name="Image 9" descr="preencoded.png"/>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3265852" y="5166916"/>
            <a:ext cx="151602" cy="151606"/>
          </a:xfrm>
          <a:prstGeom prst="rect">
            <a:avLst/>
          </a:prstGeom>
        </p:spPr>
      </p:pic>
      <p:sp>
        <p:nvSpPr>
          <p:cNvPr id="24" name="Text 12"/>
          <p:cNvSpPr/>
          <p:nvPr/>
        </p:nvSpPr>
        <p:spPr>
          <a:xfrm>
            <a:off x="770910" y="5558631"/>
            <a:ext cx="5141685" cy="166291"/>
          </a:xfrm>
          <a:prstGeom prst="rect">
            <a:avLst/>
          </a:prstGeom>
          <a:noFill/>
          <a:ln/>
        </p:spPr>
        <p:txBody>
          <a:bodyPr wrap="none" lIns="0" tIns="0" rIns="0" bIns="0" rtlCol="0" anchor="t"/>
          <a:lstStyle/>
          <a:p>
            <a:pPr marL="0" indent="0" algn="l">
              <a:lnSpc>
                <a:spcPct val="83000"/>
              </a:lnSpc>
              <a:buNone/>
            </a:pPr>
            <a:r>
              <a:rPr lang="en-US" sz="1300" kern="0" spc="-39" dirty="0">
                <a:solidFill>
                  <a:srgbClr val="23231E"/>
                </a:solidFill>
                <a:latin typeface="DM Sans ExtraBold" pitchFamily="34" charset="0"/>
                <a:ea typeface="DM Sans ExtraBold" pitchFamily="34" charset="-122"/>
                <a:cs typeface="DM Sans ExtraBold" pitchFamily="34" charset="-120"/>
              </a:rPr>
              <a:t>Repairability</a:t>
            </a:r>
            <a:endParaRPr lang="en-US" sz="1300" dirty="0"/>
          </a:p>
        </p:txBody>
      </p:sp>
      <p:sp>
        <p:nvSpPr>
          <p:cNvPr id="25" name="Text 13"/>
          <p:cNvSpPr/>
          <p:nvPr/>
        </p:nvSpPr>
        <p:spPr>
          <a:xfrm>
            <a:off x="770910" y="5778004"/>
            <a:ext cx="5141685" cy="118170"/>
          </a:xfrm>
          <a:prstGeom prst="rect">
            <a:avLst/>
          </a:prstGeom>
          <a:noFill/>
          <a:ln/>
        </p:spPr>
        <p:txBody>
          <a:bodyPr wrap="none" lIns="0" tIns="0" rIns="0" bIns="0" rtlCol="0" anchor="t"/>
          <a:lstStyle/>
          <a:p>
            <a:pPr marL="0" indent="0" algn="l">
              <a:lnSpc>
                <a:spcPct val="78000"/>
              </a:lnSpc>
              <a:buNone/>
            </a:pPr>
            <a:r>
              <a:rPr lang="en-US" sz="950" dirty="0">
                <a:solidFill>
                  <a:srgbClr val="23231E"/>
                </a:solidFill>
                <a:latin typeface="Inter Light" pitchFamily="34" charset="0"/>
                <a:ea typeface="Inter Light" pitchFamily="34" charset="-122"/>
                <a:cs typeface="Inter Light" pitchFamily="34" charset="-120"/>
              </a:rPr>
              <a:t>An evaluation of whether the textile can be repaired and the estimated effort required.</a:t>
            </a:r>
            <a:endParaRPr lang="en-US" sz="950" dirty="0"/>
          </a:p>
        </p:txBody>
      </p:sp>
      <p:pic>
        <p:nvPicPr>
          <p:cNvPr id="26" name="Image 10" descr="preencoded.png"/>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139999" y="5053211"/>
            <a:ext cx="5419788" cy="981968"/>
          </a:xfrm>
          <a:prstGeom prst="rect">
            <a:avLst/>
          </a:prstGeom>
        </p:spPr>
      </p:pic>
      <p:pic>
        <p:nvPicPr>
          <p:cNvPr id="27" name="Image 11" descr="preencoded.png"/>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8774042" y="5166916"/>
            <a:ext cx="151602" cy="151606"/>
          </a:xfrm>
          <a:prstGeom prst="rect">
            <a:avLst/>
          </a:prstGeom>
        </p:spPr>
      </p:pic>
      <p:sp>
        <p:nvSpPr>
          <p:cNvPr id="28" name="Text 14"/>
          <p:cNvSpPr/>
          <p:nvPr/>
        </p:nvSpPr>
        <p:spPr>
          <a:xfrm>
            <a:off x="6279001" y="5558631"/>
            <a:ext cx="5141784" cy="166291"/>
          </a:xfrm>
          <a:prstGeom prst="rect">
            <a:avLst/>
          </a:prstGeom>
          <a:noFill/>
          <a:ln/>
        </p:spPr>
        <p:txBody>
          <a:bodyPr wrap="none" lIns="0" tIns="0" rIns="0" bIns="0" rtlCol="0" anchor="t"/>
          <a:lstStyle/>
          <a:p>
            <a:pPr marL="0" indent="0" algn="l">
              <a:lnSpc>
                <a:spcPct val="83000"/>
              </a:lnSpc>
              <a:buNone/>
            </a:pPr>
            <a:r>
              <a:rPr lang="en-US" sz="1300" kern="0" spc="-39" dirty="0">
                <a:solidFill>
                  <a:srgbClr val="23231E"/>
                </a:solidFill>
                <a:latin typeface="DM Sans ExtraBold" pitchFamily="34" charset="0"/>
                <a:ea typeface="DM Sans ExtraBold" pitchFamily="34" charset="-122"/>
                <a:cs typeface="DM Sans ExtraBold" pitchFamily="34" charset="-120"/>
              </a:rPr>
              <a:t>Remaining Lifespan</a:t>
            </a:r>
            <a:endParaRPr lang="en-US" sz="1300" dirty="0"/>
          </a:p>
        </p:txBody>
      </p:sp>
      <p:sp>
        <p:nvSpPr>
          <p:cNvPr id="29" name="Text 15"/>
          <p:cNvSpPr/>
          <p:nvPr/>
        </p:nvSpPr>
        <p:spPr>
          <a:xfrm>
            <a:off x="6279001" y="5778004"/>
            <a:ext cx="5141784" cy="118170"/>
          </a:xfrm>
          <a:prstGeom prst="rect">
            <a:avLst/>
          </a:prstGeom>
          <a:noFill/>
          <a:ln/>
        </p:spPr>
        <p:txBody>
          <a:bodyPr wrap="none" lIns="0" tIns="0" rIns="0" bIns="0" rtlCol="0" anchor="t"/>
          <a:lstStyle/>
          <a:p>
            <a:pPr marL="0" indent="0" algn="l">
              <a:lnSpc>
                <a:spcPct val="78000"/>
              </a:lnSpc>
              <a:buNone/>
            </a:pPr>
            <a:r>
              <a:rPr lang="en-US" sz="950" dirty="0">
                <a:solidFill>
                  <a:srgbClr val="23231E"/>
                </a:solidFill>
                <a:latin typeface="Inter Light" pitchFamily="34" charset="0"/>
                <a:ea typeface="Inter Light" pitchFamily="34" charset="-122"/>
                <a:cs typeface="Inter Light" pitchFamily="34" charset="-120"/>
              </a:rPr>
              <a:t>Prediction of how much usable life is left in the textile, guiding reuse decisions.</a:t>
            </a:r>
            <a:endParaRPr lang="en-US" sz="950" dirty="0"/>
          </a:p>
        </p:txBody>
      </p:sp>
      <p:grpSp>
        <p:nvGrpSpPr>
          <p:cNvPr id="30" name="Group 29">
            <a:extLst>
              <a:ext uri="{FF2B5EF4-FFF2-40B4-BE49-F238E27FC236}">
                <a16:creationId xmlns:a16="http://schemas.microsoft.com/office/drawing/2014/main" id="{7FA9F5F1-7F75-794D-B00C-8227AA99DEB0}"/>
              </a:ext>
            </a:extLst>
          </p:cNvPr>
          <p:cNvGrpSpPr/>
          <p:nvPr/>
        </p:nvGrpSpPr>
        <p:grpSpPr>
          <a:xfrm>
            <a:off x="10686552" y="6506574"/>
            <a:ext cx="1505131" cy="351434"/>
            <a:chOff x="2623154" y="413097"/>
            <a:chExt cx="2599719" cy="525560"/>
          </a:xfrm>
        </p:grpSpPr>
        <p:sp>
          <p:nvSpPr>
            <p:cNvPr id="31" name="Freeform 30">
              <a:extLst>
                <a:ext uri="{FF2B5EF4-FFF2-40B4-BE49-F238E27FC236}">
                  <a16:creationId xmlns:a16="http://schemas.microsoft.com/office/drawing/2014/main" id="{DB619FDA-E54A-C3E1-67B7-48D14977452F}"/>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27"/>
              <a:stretch>
                <a:fillRect l="-64" r="-64" b="1"/>
              </a:stretch>
            </a:blipFill>
          </p:spPr>
          <p:txBody>
            <a:bodyPr/>
            <a:lstStyle/>
            <a:p>
              <a:endParaRPr lang="en-US" sz="1200" dirty="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0"/>
            <a:ext cx="12191695" cy="1895673"/>
          </a:xfrm>
          <a:custGeom>
            <a:avLst/>
            <a:gdLst/>
            <a:ahLst/>
            <a:cxnLst/>
            <a:rect l="0" t="0" r="100000" b="100000"/>
            <a:pathLst>
              <a:path w="100000" h="100000">
                <a:moveTo>
                  <a:pt x="0" y="0"/>
                </a:moveTo>
                <a:lnTo>
                  <a:pt x="100000" y="0"/>
                </a:lnTo>
                <a:lnTo>
                  <a:pt x="100000" y="86720"/>
                </a:lnTo>
                <a:lnTo>
                  <a:pt x="96000" y="89450"/>
                </a:lnTo>
                <a:lnTo>
                  <a:pt x="91990" y="91890"/>
                </a:lnTo>
                <a:lnTo>
                  <a:pt x="84670" y="95800"/>
                </a:lnTo>
                <a:lnTo>
                  <a:pt x="81150" y="97360"/>
                </a:lnTo>
                <a:lnTo>
                  <a:pt x="77150" y="98830"/>
                </a:lnTo>
                <a:lnTo>
                  <a:pt x="74610" y="99510"/>
                </a:lnTo>
                <a:lnTo>
                  <a:pt x="71480" y="100000"/>
                </a:lnTo>
                <a:lnTo>
                  <a:pt x="67290" y="99800"/>
                </a:lnTo>
                <a:lnTo>
                  <a:pt x="63280" y="98730"/>
                </a:lnTo>
                <a:lnTo>
                  <a:pt x="60060" y="97270"/>
                </a:lnTo>
                <a:lnTo>
                  <a:pt x="56050" y="94920"/>
                </a:lnTo>
                <a:lnTo>
                  <a:pt x="52540" y="93160"/>
                </a:lnTo>
                <a:lnTo>
                  <a:pt x="48540" y="91800"/>
                </a:lnTo>
                <a:lnTo>
                  <a:pt x="45700" y="91310"/>
                </a:lnTo>
                <a:lnTo>
                  <a:pt x="40040" y="91210"/>
                </a:lnTo>
                <a:lnTo>
                  <a:pt x="36520" y="91410"/>
                </a:lnTo>
                <a:lnTo>
                  <a:pt x="31150" y="91990"/>
                </a:lnTo>
                <a:lnTo>
                  <a:pt x="21970" y="93460"/>
                </a:lnTo>
                <a:lnTo>
                  <a:pt x="14750" y="93850"/>
                </a:lnTo>
                <a:lnTo>
                  <a:pt x="11330" y="93650"/>
                </a:lnTo>
                <a:lnTo>
                  <a:pt x="7030" y="93070"/>
                </a:lnTo>
                <a:lnTo>
                  <a:pt x="2640" y="92090"/>
                </a:lnTo>
                <a:lnTo>
                  <a:pt x="0" y="91210"/>
                </a:lnTo>
                <a:close/>
              </a:path>
            </a:pathLst>
          </a:custGeom>
        </p:spPr>
      </p:pic>
      <p:sp>
        <p:nvSpPr>
          <p:cNvPr id="3" name="Text 0"/>
          <p:cNvSpPr/>
          <p:nvPr/>
        </p:nvSpPr>
        <p:spPr>
          <a:xfrm>
            <a:off x="631908" y="2464792"/>
            <a:ext cx="10927878" cy="380107"/>
          </a:xfrm>
          <a:prstGeom prst="rect">
            <a:avLst/>
          </a:prstGeom>
          <a:noFill/>
          <a:ln/>
        </p:spPr>
        <p:txBody>
          <a:bodyPr wrap="none" lIns="0" tIns="0" rIns="0" bIns="0" rtlCol="0" anchor="t"/>
          <a:lstStyle/>
          <a:p>
            <a:pPr marL="0" indent="0" algn="l">
              <a:lnSpc>
                <a:spcPct val="83000"/>
              </a:lnSpc>
              <a:buNone/>
            </a:pPr>
            <a:r>
              <a:rPr lang="en-US" sz="2950" kern="0" spc="-90" dirty="0">
                <a:solidFill>
                  <a:srgbClr val="383830"/>
                </a:solidFill>
                <a:latin typeface="DM Sans ExtraBold" pitchFamily="34" charset="0"/>
                <a:ea typeface="DM Sans ExtraBold" pitchFamily="34" charset="-122"/>
                <a:cs typeface="DM Sans ExtraBold" pitchFamily="34" charset="-120"/>
              </a:rPr>
              <a:t>The Challenge of Textile Identification &amp; Grading</a:t>
            </a:r>
            <a:endParaRPr lang="en-US" sz="2950" dirty="0"/>
          </a:p>
        </p:txBody>
      </p:sp>
      <p:sp>
        <p:nvSpPr>
          <p:cNvPr id="4" name="Text 1"/>
          <p:cNvSpPr/>
          <p:nvPr/>
        </p:nvSpPr>
        <p:spPr>
          <a:xfrm>
            <a:off x="631908" y="2891036"/>
            <a:ext cx="10927878" cy="304105"/>
          </a:xfrm>
          <a:prstGeom prst="rect">
            <a:avLst/>
          </a:prstGeom>
          <a:noFill/>
          <a:ln/>
        </p:spPr>
        <p:txBody>
          <a:bodyPr wrap="none" lIns="0" tIns="0" rIns="0" bIns="0" rtlCol="0" anchor="t"/>
          <a:lstStyle/>
          <a:p>
            <a:pPr marL="0" indent="0" algn="l">
              <a:lnSpc>
                <a:spcPct val="83000"/>
              </a:lnSpc>
              <a:buNone/>
            </a:pPr>
            <a:r>
              <a:rPr lang="en-US" sz="2350" kern="0" spc="-72" dirty="0">
                <a:solidFill>
                  <a:srgbClr val="383830"/>
                </a:solidFill>
                <a:latin typeface="DM Sans ExtraBold" pitchFamily="34" charset="0"/>
                <a:ea typeface="DM Sans ExtraBold" pitchFamily="34" charset="-122"/>
                <a:cs typeface="DM Sans ExtraBold" pitchFamily="34" charset="-120"/>
              </a:rPr>
              <a:t>Current Problem: Uncategorized Waste</a:t>
            </a:r>
            <a:endParaRPr lang="en-US" sz="2350" dirty="0"/>
          </a:p>
        </p:txBody>
      </p:sp>
      <p:sp>
        <p:nvSpPr>
          <p:cNvPr id="5" name="Text 2"/>
          <p:cNvSpPr/>
          <p:nvPr/>
        </p:nvSpPr>
        <p:spPr>
          <a:xfrm>
            <a:off x="631908" y="3368377"/>
            <a:ext cx="10927878" cy="693043"/>
          </a:xfrm>
          <a:prstGeom prst="rect">
            <a:avLst/>
          </a:prstGeom>
          <a:noFill/>
          <a:ln/>
        </p:spPr>
        <p:txBody>
          <a:bodyPr wrap="square" lIns="0" tIns="57775" rIns="0" bIns="0" rtlCol="0" anchor="t">
            <a:normAutofit/>
          </a:bodyPr>
          <a:lstStyle/>
          <a:p>
            <a:pPr marL="223520" indent="-223520" algn="l">
              <a:lnSpc>
                <a:spcPct val="82000"/>
              </a:lnSpc>
              <a:buSzPct val="100000"/>
              <a:buChar char="•"/>
            </a:pPr>
            <a:r>
              <a:rPr lang="en-US" sz="1100" dirty="0">
                <a:solidFill>
                  <a:srgbClr val="23231E"/>
                </a:solidFill>
                <a:latin typeface="Inter Light" pitchFamily="34" charset="0"/>
                <a:ea typeface="Inter Light" pitchFamily="34" charset="-122"/>
                <a:cs typeface="Inter Light" pitchFamily="34" charset="-120"/>
              </a:rPr>
              <a:t>Textile waste arrives as diverse materials, often mixed.</a:t>
            </a:r>
            <a:endParaRPr lang="en-US" sz="1100" dirty="0"/>
          </a:p>
          <a:p>
            <a:pPr marL="223520" indent="-223520" algn="l">
              <a:lnSpc>
                <a:spcPct val="82000"/>
              </a:lnSpc>
              <a:buSzPct val="100000"/>
              <a:buChar char="•"/>
            </a:pPr>
            <a:r>
              <a:rPr lang="en-US" sz="1100" dirty="0">
                <a:solidFill>
                  <a:srgbClr val="23231E"/>
                </a:solidFill>
                <a:latin typeface="Inter Light" pitchFamily="34" charset="0"/>
                <a:ea typeface="Inter Light" pitchFamily="34" charset="-122"/>
                <a:cs typeface="Inter Light" pitchFamily="34" charset="-120"/>
              </a:rPr>
              <a:t>Variations in fabric types, blends, and colors are common.</a:t>
            </a:r>
            <a:endParaRPr lang="en-US" sz="1100" dirty="0"/>
          </a:p>
          <a:p>
            <a:pPr marL="223520" indent="-223520" algn="l">
              <a:lnSpc>
                <a:spcPct val="82000"/>
              </a:lnSpc>
              <a:buSzPct val="100000"/>
              <a:buChar char="•"/>
            </a:pPr>
            <a:r>
              <a:rPr lang="en-US" sz="1100" dirty="0">
                <a:solidFill>
                  <a:srgbClr val="23231E"/>
                </a:solidFill>
                <a:latin typeface="Inter Light" pitchFamily="34" charset="0"/>
                <a:ea typeface="Inter Light" pitchFamily="34" charset="-122"/>
                <a:cs typeface="Inter Light" pitchFamily="34" charset="-120"/>
              </a:rPr>
              <a:t>Wide range of quality levels, from pristine to heavily damaged.</a:t>
            </a:r>
            <a:endParaRPr lang="en-US" sz="1100" dirty="0"/>
          </a:p>
          <a:p>
            <a:pPr marL="223520" indent="-223520" algn="l">
              <a:lnSpc>
                <a:spcPct val="82000"/>
              </a:lnSpc>
              <a:buSzPct val="100000"/>
              <a:buChar char="•"/>
            </a:pPr>
            <a:r>
              <a:rPr lang="en-US" sz="1100" dirty="0">
                <a:solidFill>
                  <a:srgbClr val="23231E"/>
                </a:solidFill>
                <a:latin typeface="Inter Light" pitchFamily="34" charset="0"/>
                <a:ea typeface="Inter Light" pitchFamily="34" charset="-122"/>
                <a:cs typeface="Inter Light" pitchFamily="34" charset="-120"/>
              </a:rPr>
              <a:t>Different degrees of contamination (e.g., oil, dyes, dirt).</a:t>
            </a:r>
            <a:endParaRPr lang="en-US" sz="1100" dirty="0"/>
          </a:p>
        </p:txBody>
      </p:sp>
      <p:sp>
        <p:nvSpPr>
          <p:cNvPr id="6" name="Text 3"/>
          <p:cNvSpPr/>
          <p:nvPr/>
        </p:nvSpPr>
        <p:spPr>
          <a:xfrm>
            <a:off x="631908" y="4234656"/>
            <a:ext cx="10927878" cy="304105"/>
          </a:xfrm>
          <a:prstGeom prst="rect">
            <a:avLst/>
          </a:prstGeom>
          <a:noFill/>
          <a:ln/>
        </p:spPr>
        <p:txBody>
          <a:bodyPr wrap="none" lIns="0" tIns="0" rIns="0" bIns="0" rtlCol="0" anchor="t"/>
          <a:lstStyle/>
          <a:p>
            <a:pPr marL="0" indent="0" algn="l">
              <a:lnSpc>
                <a:spcPct val="83000"/>
              </a:lnSpc>
              <a:buNone/>
            </a:pPr>
            <a:r>
              <a:rPr lang="en-US" sz="2350" kern="0" spc="-72" dirty="0">
                <a:solidFill>
                  <a:srgbClr val="383830"/>
                </a:solidFill>
                <a:latin typeface="DM Sans ExtraBold" pitchFamily="34" charset="0"/>
                <a:ea typeface="DM Sans ExtraBold" pitchFamily="34" charset="-122"/>
                <a:cs typeface="DM Sans ExtraBold" pitchFamily="34" charset="-120"/>
              </a:rPr>
              <a:t>Manual Assessment: Inefficient &amp; Inaccurate</a:t>
            </a:r>
            <a:endParaRPr lang="en-US" sz="2350" dirty="0"/>
          </a:p>
        </p:txBody>
      </p:sp>
      <p:sp>
        <p:nvSpPr>
          <p:cNvPr id="7" name="Text 4"/>
          <p:cNvSpPr/>
          <p:nvPr/>
        </p:nvSpPr>
        <p:spPr>
          <a:xfrm>
            <a:off x="631908" y="4711998"/>
            <a:ext cx="10927878" cy="693043"/>
          </a:xfrm>
          <a:prstGeom prst="rect">
            <a:avLst/>
          </a:prstGeom>
          <a:noFill/>
          <a:ln/>
        </p:spPr>
        <p:txBody>
          <a:bodyPr wrap="square" lIns="0" tIns="57775" rIns="0" bIns="0" rtlCol="0" anchor="t">
            <a:normAutofit/>
          </a:bodyPr>
          <a:lstStyle/>
          <a:p>
            <a:pPr marL="223520" indent="-223520" algn="l">
              <a:lnSpc>
                <a:spcPct val="82000"/>
              </a:lnSpc>
              <a:buSzPct val="100000"/>
              <a:buChar char="•"/>
            </a:pPr>
            <a:r>
              <a:rPr lang="en-US" sz="1100" dirty="0">
                <a:solidFill>
                  <a:srgbClr val="23231E"/>
                </a:solidFill>
                <a:latin typeface="Inter Light" pitchFamily="34" charset="0"/>
                <a:ea typeface="Inter Light" pitchFamily="34" charset="-122"/>
                <a:cs typeface="Inter Light" pitchFamily="34" charset="-120"/>
              </a:rPr>
              <a:t>Time-consuming process for large volumes of waste.</a:t>
            </a:r>
            <a:endParaRPr lang="en-US" sz="1100" dirty="0"/>
          </a:p>
          <a:p>
            <a:pPr marL="223520" indent="-223520" algn="l">
              <a:lnSpc>
                <a:spcPct val="82000"/>
              </a:lnSpc>
              <a:buSzPct val="100000"/>
              <a:buChar char="•"/>
            </a:pPr>
            <a:r>
              <a:rPr lang="en-US" sz="1100" dirty="0">
                <a:solidFill>
                  <a:srgbClr val="23231E"/>
                </a:solidFill>
                <a:latin typeface="Inter Light" pitchFamily="34" charset="0"/>
                <a:ea typeface="Inter Light" pitchFamily="34" charset="-122"/>
                <a:cs typeface="Inter Light" pitchFamily="34" charset="-120"/>
              </a:rPr>
              <a:t>Highly subjective, leading to inconsistent grading.</a:t>
            </a:r>
            <a:endParaRPr lang="en-US" sz="1100" dirty="0"/>
          </a:p>
          <a:p>
            <a:pPr marL="223520" indent="-223520" algn="l">
              <a:lnSpc>
                <a:spcPct val="82000"/>
              </a:lnSpc>
              <a:buSzPct val="100000"/>
              <a:buChar char="•"/>
            </a:pPr>
            <a:r>
              <a:rPr lang="en-US" sz="1100" dirty="0">
                <a:solidFill>
                  <a:srgbClr val="23231E"/>
                </a:solidFill>
                <a:latin typeface="Inter Light" pitchFamily="34" charset="0"/>
                <a:ea typeface="Inter Light" pitchFamily="34" charset="-122"/>
                <a:cs typeface="Inter Light" pitchFamily="34" charset="-120"/>
              </a:rPr>
              <a:t>Difficult to standardize quality metrics across different assessors.</a:t>
            </a:r>
            <a:endParaRPr lang="en-US" sz="1100" dirty="0"/>
          </a:p>
          <a:p>
            <a:pPr marL="223520" indent="-223520" algn="l">
              <a:lnSpc>
                <a:spcPct val="82000"/>
              </a:lnSpc>
              <a:buSzPct val="100000"/>
              <a:buChar char="•"/>
            </a:pPr>
            <a:r>
              <a:rPr lang="en-US" sz="1100" dirty="0">
                <a:solidFill>
                  <a:srgbClr val="23231E"/>
                </a:solidFill>
                <a:latin typeface="Inter Light" pitchFamily="34" charset="0"/>
                <a:ea typeface="Inter Light" pitchFamily="34" charset="-122"/>
                <a:cs typeface="Inter Light" pitchFamily="34" charset="-120"/>
              </a:rPr>
              <a:t>Does not scale effectively with increasing waste quantities.</a:t>
            </a:r>
            <a:endParaRPr lang="en-US" sz="1100" dirty="0"/>
          </a:p>
        </p:txBody>
      </p:sp>
      <p:sp>
        <p:nvSpPr>
          <p:cNvPr id="8" name="Text 5"/>
          <p:cNvSpPr/>
          <p:nvPr/>
        </p:nvSpPr>
        <p:spPr>
          <a:xfrm>
            <a:off x="631908" y="5578277"/>
            <a:ext cx="10927878" cy="304105"/>
          </a:xfrm>
          <a:prstGeom prst="rect">
            <a:avLst/>
          </a:prstGeom>
          <a:noFill/>
          <a:ln/>
        </p:spPr>
        <p:txBody>
          <a:bodyPr wrap="none" lIns="0" tIns="0" rIns="0" bIns="0" rtlCol="0" anchor="t"/>
          <a:lstStyle/>
          <a:p>
            <a:pPr marL="0" indent="0" algn="l">
              <a:lnSpc>
                <a:spcPct val="83000"/>
              </a:lnSpc>
              <a:buNone/>
            </a:pPr>
            <a:r>
              <a:rPr lang="en-US" sz="2350" kern="0" spc="-72" dirty="0">
                <a:solidFill>
                  <a:srgbClr val="383830"/>
                </a:solidFill>
                <a:latin typeface="DM Sans ExtraBold" pitchFamily="34" charset="0"/>
                <a:ea typeface="DM Sans ExtraBold" pitchFamily="34" charset="-122"/>
                <a:cs typeface="DM Sans ExtraBold" pitchFamily="34" charset="-120"/>
              </a:rPr>
              <a:t>Research Need</a:t>
            </a:r>
            <a:endParaRPr lang="en-US" sz="2350" dirty="0"/>
          </a:p>
        </p:txBody>
      </p:sp>
      <p:sp>
        <p:nvSpPr>
          <p:cNvPr id="9" name="Text 6"/>
          <p:cNvSpPr/>
          <p:nvPr/>
        </p:nvSpPr>
        <p:spPr>
          <a:xfrm>
            <a:off x="631908" y="6055618"/>
            <a:ext cx="11537463" cy="142974"/>
          </a:xfrm>
          <a:prstGeom prst="rect">
            <a:avLst/>
          </a:prstGeom>
          <a:noFill/>
          <a:ln/>
        </p:spPr>
        <p:txBody>
          <a:bodyPr wrap="none" lIns="0" tIns="0" rIns="0" bIns="0" rtlCol="0" anchor="t"/>
          <a:lstStyle/>
          <a:p>
            <a:pPr marL="0" indent="0" algn="l">
              <a:lnSpc>
                <a:spcPct val="82000"/>
              </a:lnSpc>
              <a:buNone/>
            </a:pPr>
            <a:r>
              <a:rPr lang="en-US" sz="1100" dirty="0">
                <a:solidFill>
                  <a:srgbClr val="23231E"/>
                </a:solidFill>
                <a:latin typeface="Inter Light" pitchFamily="34" charset="0"/>
                <a:ea typeface="Inter Light" pitchFamily="34" charset="-122"/>
                <a:cs typeface="Inter Light" pitchFamily="34" charset="-120"/>
              </a:rPr>
              <a:t>There is a critical need for an automated, image-based system that can reliably identify and grade textile waste to facilitate efficient reuse and recycling.</a:t>
            </a:r>
            <a:endParaRPr lang="en-US" sz="1100" dirty="0"/>
          </a:p>
        </p:txBody>
      </p:sp>
      <p:grpSp>
        <p:nvGrpSpPr>
          <p:cNvPr id="10" name="Group 9">
            <a:extLst>
              <a:ext uri="{FF2B5EF4-FFF2-40B4-BE49-F238E27FC236}">
                <a16:creationId xmlns:a16="http://schemas.microsoft.com/office/drawing/2014/main" id="{653C7FEB-7F4B-08C9-1631-4139B5157A50}"/>
              </a:ext>
            </a:extLst>
          </p:cNvPr>
          <p:cNvGrpSpPr/>
          <p:nvPr/>
        </p:nvGrpSpPr>
        <p:grpSpPr>
          <a:xfrm>
            <a:off x="10686552" y="6506574"/>
            <a:ext cx="1505131" cy="351434"/>
            <a:chOff x="2623154" y="413097"/>
            <a:chExt cx="2599719" cy="525560"/>
          </a:xfrm>
        </p:grpSpPr>
        <p:sp>
          <p:nvSpPr>
            <p:cNvPr id="11" name="Freeform 10">
              <a:extLst>
                <a:ext uri="{FF2B5EF4-FFF2-40B4-BE49-F238E27FC236}">
                  <a16:creationId xmlns:a16="http://schemas.microsoft.com/office/drawing/2014/main" id="{B447302B-625C-1430-31F9-1EAF19A2BD39}"/>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4"/>
              <a:stretch>
                <a:fillRect l="-64" r="-64" b="1"/>
              </a:stretch>
            </a:blipFill>
          </p:spPr>
          <p:txBody>
            <a:bodyPr/>
            <a:lstStyle/>
            <a:p>
              <a:endParaRPr lang="en-US" sz="1200" dirty="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31908" y="512465"/>
            <a:ext cx="10927878" cy="265410"/>
          </a:xfrm>
          <a:prstGeom prst="rect">
            <a:avLst/>
          </a:prstGeom>
          <a:noFill/>
          <a:ln/>
        </p:spPr>
        <p:txBody>
          <a:bodyPr wrap="none" lIns="0" tIns="0" rIns="0" bIns="0" rtlCol="0" anchor="t"/>
          <a:lstStyle/>
          <a:p>
            <a:pPr marL="0" indent="0" algn="l">
              <a:lnSpc>
                <a:spcPct val="83000"/>
              </a:lnSpc>
              <a:buNone/>
            </a:pPr>
            <a:r>
              <a:rPr lang="en-US" sz="2050" kern="0" spc="-63" dirty="0">
                <a:solidFill>
                  <a:srgbClr val="383830"/>
                </a:solidFill>
                <a:latin typeface="DM Sans ExtraBold" pitchFamily="34" charset="0"/>
                <a:ea typeface="DM Sans ExtraBold" pitchFamily="34" charset="-122"/>
                <a:cs typeface="DM Sans ExtraBold" pitchFamily="34" charset="-120"/>
              </a:rPr>
              <a:t>Proposed Solution</a:t>
            </a:r>
            <a:endParaRPr lang="en-US" sz="2050" dirty="0"/>
          </a:p>
        </p:txBody>
      </p:sp>
      <p:sp>
        <p:nvSpPr>
          <p:cNvPr id="3" name="Text 1"/>
          <p:cNvSpPr/>
          <p:nvPr/>
        </p:nvSpPr>
        <p:spPr>
          <a:xfrm>
            <a:off x="631908" y="800398"/>
            <a:ext cx="10927878" cy="212328"/>
          </a:xfrm>
          <a:prstGeom prst="rect">
            <a:avLst/>
          </a:prstGeom>
          <a:noFill/>
          <a:ln/>
        </p:spPr>
        <p:txBody>
          <a:bodyPr wrap="none" lIns="0" tIns="0" rIns="0" bIns="0" rtlCol="0" anchor="t"/>
          <a:lstStyle/>
          <a:p>
            <a:pPr marL="0" indent="0" algn="l">
              <a:lnSpc>
                <a:spcPct val="83000"/>
              </a:lnSpc>
              <a:buNone/>
            </a:pPr>
            <a:r>
              <a:rPr lang="en-US" sz="1650" kern="0" spc="-50" dirty="0">
                <a:solidFill>
                  <a:srgbClr val="383830"/>
                </a:solidFill>
                <a:latin typeface="DM Sans ExtraBold" pitchFamily="34" charset="0"/>
                <a:ea typeface="DM Sans ExtraBold" pitchFamily="34" charset="-122"/>
                <a:cs typeface="DM Sans ExtraBold" pitchFamily="34" charset="-120"/>
              </a:rPr>
              <a:t>AI Fabric Intelligence Pipeline</a:t>
            </a:r>
            <a:endParaRPr lang="en-US" sz="1650" dirty="0"/>
          </a:p>
        </p:txBody>
      </p:sp>
      <p:sp>
        <p:nvSpPr>
          <p:cNvPr id="4" name="Text 2"/>
          <p:cNvSpPr/>
          <p:nvPr/>
        </p:nvSpPr>
        <p:spPr>
          <a:xfrm>
            <a:off x="631908" y="1097161"/>
            <a:ext cx="11537463" cy="86320"/>
          </a:xfrm>
          <a:prstGeom prst="rect">
            <a:avLst/>
          </a:prstGeom>
          <a:noFill/>
          <a:ln/>
        </p:spPr>
        <p:txBody>
          <a:bodyPr wrap="none" lIns="0" tIns="0" rIns="0" bIns="0" rtlCol="0" anchor="t"/>
          <a:lstStyle/>
          <a:p>
            <a:pPr marL="0" indent="0" algn="l">
              <a:lnSpc>
                <a:spcPct val="71000"/>
              </a:lnSpc>
              <a:buNone/>
            </a:pPr>
            <a:r>
              <a:rPr lang="en-US" sz="750" dirty="0">
                <a:solidFill>
                  <a:srgbClr val="23231E"/>
                </a:solidFill>
                <a:latin typeface="Inter Light" pitchFamily="34" charset="0"/>
                <a:ea typeface="Inter Light" pitchFamily="34" charset="-122"/>
                <a:cs typeface="Inter Light" pitchFamily="34" charset="-120"/>
              </a:rPr>
              <a:t>Our solution employs a sophisticated AI pipeline to comprehensively analyze textile waste, providing detailed insights for effective upcycling.</a:t>
            </a:r>
            <a:endParaRPr lang="en-US" sz="750" dirty="0"/>
          </a:p>
        </p:txBody>
      </p:sp>
      <p:pic>
        <p:nvPicPr>
          <p:cNvPr id="5" name="Image 0" descr="preencoded.png"/>
          <p:cNvPicPr>
            <a:picLocks noChangeAspect="1"/>
          </p:cNvPicPr>
          <p:nvPr/>
        </p:nvPicPr>
        <p:blipFill>
          <a:blip r:embed="rId3"/>
          <a:stretch>
            <a:fillRect/>
          </a:stretch>
        </p:blipFill>
        <p:spPr>
          <a:xfrm>
            <a:off x="2544302" y="1246783"/>
            <a:ext cx="7103091" cy="3068141"/>
          </a:xfrm>
          <a:prstGeom prst="rect">
            <a:avLst/>
          </a:prstGeom>
        </p:spPr>
      </p:pic>
      <p:sp>
        <p:nvSpPr>
          <p:cNvPr id="6" name="Text 3"/>
          <p:cNvSpPr/>
          <p:nvPr/>
        </p:nvSpPr>
        <p:spPr>
          <a:xfrm>
            <a:off x="4239327" y="3419244"/>
            <a:ext cx="1054657" cy="323566"/>
          </a:xfrm>
          <a:prstGeom prst="rect">
            <a:avLst/>
          </a:prstGeom>
          <a:noFill/>
          <a:ln/>
        </p:spPr>
        <p:txBody>
          <a:bodyPr wrap="square" lIns="0" tIns="0" rIns="0" bIns="0" rtlCol="0" anchor="t">
            <a:normAutofit/>
          </a:bodyPr>
          <a:lstStyle/>
          <a:p>
            <a:pPr marL="0" indent="0" algn="ctr">
              <a:lnSpc>
                <a:spcPct val="83000"/>
              </a:lnSpc>
              <a:buNone/>
            </a:pPr>
            <a:r>
              <a:rPr lang="en-US" sz="1250" kern="0" spc="-38" dirty="0">
                <a:solidFill>
                  <a:srgbClr val="23231E"/>
                </a:solidFill>
                <a:latin typeface="DM Sans ExtraBold" pitchFamily="34" charset="0"/>
                <a:ea typeface="DM Sans ExtraBold" pitchFamily="34" charset="-122"/>
                <a:cs typeface="DM Sans ExtraBold" pitchFamily="34" charset="-120"/>
              </a:rPr>
              <a:t>Preprocessing</a:t>
            </a:r>
            <a:endParaRPr lang="en-US" sz="1250" dirty="0"/>
          </a:p>
        </p:txBody>
      </p:sp>
      <p:sp>
        <p:nvSpPr>
          <p:cNvPr id="7" name="Text 4"/>
          <p:cNvSpPr/>
          <p:nvPr/>
        </p:nvSpPr>
        <p:spPr>
          <a:xfrm>
            <a:off x="4239327" y="3797448"/>
            <a:ext cx="1054657" cy="239473"/>
          </a:xfrm>
          <a:prstGeom prst="rect">
            <a:avLst/>
          </a:prstGeom>
          <a:noFill/>
          <a:ln/>
        </p:spPr>
        <p:txBody>
          <a:bodyPr wrap="square" lIns="0" tIns="0" rIns="0" bIns="0" rtlCol="0" anchor="t">
            <a:normAutofit/>
          </a:bodyPr>
          <a:lstStyle/>
          <a:p>
            <a:pPr marL="0" indent="0" algn="ctr">
              <a:lnSpc>
                <a:spcPct val="81000"/>
              </a:lnSpc>
              <a:buNone/>
            </a:pPr>
            <a:r>
              <a:rPr lang="en-US" sz="950" dirty="0">
                <a:solidFill>
                  <a:srgbClr val="23231E"/>
                </a:solidFill>
                <a:latin typeface="Inter Light" pitchFamily="34" charset="0"/>
                <a:ea typeface="Inter Light" pitchFamily="34" charset="-122"/>
                <a:cs typeface="Inter Light" pitchFamily="34" charset="-120"/>
              </a:rPr>
              <a:t>Clean and normalize image</a:t>
            </a:r>
            <a:endParaRPr lang="en-US" sz="950" dirty="0"/>
          </a:p>
        </p:txBody>
      </p:sp>
      <p:sp>
        <p:nvSpPr>
          <p:cNvPr id="8" name="Text 5"/>
          <p:cNvSpPr/>
          <p:nvPr/>
        </p:nvSpPr>
        <p:spPr>
          <a:xfrm>
            <a:off x="6947413" y="3419244"/>
            <a:ext cx="1054657" cy="323566"/>
          </a:xfrm>
          <a:prstGeom prst="rect">
            <a:avLst/>
          </a:prstGeom>
          <a:noFill/>
          <a:ln/>
        </p:spPr>
        <p:txBody>
          <a:bodyPr wrap="square" lIns="0" tIns="0" rIns="0" bIns="0" rtlCol="0" anchor="t">
            <a:normAutofit/>
          </a:bodyPr>
          <a:lstStyle/>
          <a:p>
            <a:pPr marL="0" indent="0" algn="ctr">
              <a:lnSpc>
                <a:spcPct val="83000"/>
              </a:lnSpc>
              <a:buNone/>
            </a:pPr>
            <a:r>
              <a:rPr lang="en-US" sz="1250" kern="0" spc="-38" dirty="0">
                <a:solidFill>
                  <a:srgbClr val="383830"/>
                </a:solidFill>
                <a:latin typeface="DM Sans ExtraBold" pitchFamily="34" charset="0"/>
                <a:ea typeface="DM Sans ExtraBold" pitchFamily="34" charset="-122"/>
                <a:cs typeface="DM Sans ExtraBold" pitchFamily="34" charset="-120"/>
              </a:rPr>
              <a:t>Defect Detection</a:t>
            </a:r>
            <a:endParaRPr lang="en-US" sz="1250" dirty="0"/>
          </a:p>
        </p:txBody>
      </p:sp>
      <p:sp>
        <p:nvSpPr>
          <p:cNvPr id="9" name="Text 6"/>
          <p:cNvSpPr/>
          <p:nvPr/>
        </p:nvSpPr>
        <p:spPr>
          <a:xfrm>
            <a:off x="6947413" y="3797448"/>
            <a:ext cx="1054657" cy="239473"/>
          </a:xfrm>
          <a:prstGeom prst="rect">
            <a:avLst/>
          </a:prstGeom>
          <a:noFill/>
          <a:ln/>
        </p:spPr>
        <p:txBody>
          <a:bodyPr wrap="square" lIns="0" tIns="0" rIns="0" bIns="0" rtlCol="0" anchor="t">
            <a:normAutofit/>
          </a:bodyPr>
          <a:lstStyle/>
          <a:p>
            <a:pPr marL="0" indent="0" algn="ctr">
              <a:lnSpc>
                <a:spcPct val="81000"/>
              </a:lnSpc>
              <a:buNone/>
            </a:pPr>
            <a:r>
              <a:rPr lang="en-US" sz="950" dirty="0">
                <a:solidFill>
                  <a:srgbClr val="23231E"/>
                </a:solidFill>
                <a:latin typeface="Inter Light" pitchFamily="34" charset="0"/>
                <a:ea typeface="Inter Light" pitchFamily="34" charset="-122"/>
                <a:cs typeface="Inter Light" pitchFamily="34" charset="-120"/>
              </a:rPr>
              <a:t>Locate flaws and stains</a:t>
            </a:r>
            <a:endParaRPr lang="en-US" sz="950" dirty="0"/>
          </a:p>
        </p:txBody>
      </p:sp>
      <p:sp>
        <p:nvSpPr>
          <p:cNvPr id="10" name="Text 7"/>
          <p:cNvSpPr/>
          <p:nvPr/>
        </p:nvSpPr>
        <p:spPr>
          <a:xfrm>
            <a:off x="2888646" y="1523632"/>
            <a:ext cx="1054656" cy="161783"/>
          </a:xfrm>
          <a:prstGeom prst="rect">
            <a:avLst/>
          </a:prstGeom>
          <a:noFill/>
          <a:ln/>
        </p:spPr>
        <p:txBody>
          <a:bodyPr wrap="none" lIns="0" tIns="0" rIns="0" bIns="0" rtlCol="0" anchor="t"/>
          <a:lstStyle/>
          <a:p>
            <a:pPr marL="0" indent="0" algn="ctr">
              <a:lnSpc>
                <a:spcPct val="83000"/>
              </a:lnSpc>
              <a:buNone/>
            </a:pPr>
            <a:r>
              <a:rPr lang="en-US" sz="1250" kern="0" spc="-38" dirty="0">
                <a:solidFill>
                  <a:srgbClr val="23231E"/>
                </a:solidFill>
                <a:latin typeface="DM Sans ExtraBold" pitchFamily="34" charset="0"/>
                <a:ea typeface="DM Sans ExtraBold" pitchFamily="34" charset="-122"/>
                <a:cs typeface="DM Sans ExtraBold" pitchFamily="34" charset="-120"/>
              </a:rPr>
              <a:t>Upload Image</a:t>
            </a:r>
            <a:endParaRPr lang="en-US" sz="1250" dirty="0"/>
          </a:p>
        </p:txBody>
      </p:sp>
      <p:sp>
        <p:nvSpPr>
          <p:cNvPr id="11" name="Text 8"/>
          <p:cNvSpPr/>
          <p:nvPr/>
        </p:nvSpPr>
        <p:spPr>
          <a:xfrm>
            <a:off x="2888646" y="1740054"/>
            <a:ext cx="1054656" cy="239473"/>
          </a:xfrm>
          <a:prstGeom prst="rect">
            <a:avLst/>
          </a:prstGeom>
          <a:noFill/>
          <a:ln/>
        </p:spPr>
        <p:txBody>
          <a:bodyPr wrap="square" lIns="0" tIns="0" rIns="0" bIns="0" rtlCol="0" anchor="t">
            <a:normAutofit/>
          </a:bodyPr>
          <a:lstStyle/>
          <a:p>
            <a:pPr marL="0" indent="0" algn="ctr">
              <a:lnSpc>
                <a:spcPct val="81000"/>
              </a:lnSpc>
              <a:buNone/>
            </a:pPr>
            <a:r>
              <a:rPr lang="en-US" sz="950" dirty="0">
                <a:solidFill>
                  <a:srgbClr val="23231E"/>
                </a:solidFill>
                <a:latin typeface="Inter Light" pitchFamily="34" charset="0"/>
                <a:ea typeface="Inter Light" pitchFamily="34" charset="-122"/>
                <a:cs typeface="Inter Light" pitchFamily="34" charset="-120"/>
              </a:rPr>
              <a:t>Submit textile photo</a:t>
            </a:r>
            <a:endParaRPr lang="en-US" sz="950" dirty="0"/>
          </a:p>
        </p:txBody>
      </p:sp>
      <p:sp>
        <p:nvSpPr>
          <p:cNvPr id="12" name="Text 9"/>
          <p:cNvSpPr/>
          <p:nvPr/>
        </p:nvSpPr>
        <p:spPr>
          <a:xfrm>
            <a:off x="8257863" y="1523632"/>
            <a:ext cx="1054657" cy="323566"/>
          </a:xfrm>
          <a:prstGeom prst="rect">
            <a:avLst/>
          </a:prstGeom>
          <a:noFill/>
          <a:ln/>
        </p:spPr>
        <p:txBody>
          <a:bodyPr wrap="square" lIns="0" tIns="0" rIns="0" bIns="0" rtlCol="0" anchor="t">
            <a:normAutofit/>
          </a:bodyPr>
          <a:lstStyle/>
          <a:p>
            <a:pPr marL="0" indent="0" algn="ctr">
              <a:lnSpc>
                <a:spcPct val="83000"/>
              </a:lnSpc>
              <a:buNone/>
            </a:pPr>
            <a:r>
              <a:rPr lang="en-US" sz="1250" kern="0" spc="-38" dirty="0">
                <a:solidFill>
                  <a:srgbClr val="23231E"/>
                </a:solidFill>
                <a:latin typeface="DM Sans ExtraBold" pitchFamily="34" charset="0"/>
                <a:ea typeface="DM Sans ExtraBold" pitchFamily="34" charset="-122"/>
                <a:cs typeface="DM Sans ExtraBold" pitchFamily="34" charset="-120"/>
              </a:rPr>
              <a:t>Condition &amp; Score</a:t>
            </a:r>
            <a:endParaRPr lang="en-US" sz="1250" dirty="0"/>
          </a:p>
        </p:txBody>
      </p:sp>
      <p:sp>
        <p:nvSpPr>
          <p:cNvPr id="13" name="Text 10"/>
          <p:cNvSpPr/>
          <p:nvPr/>
        </p:nvSpPr>
        <p:spPr>
          <a:xfrm>
            <a:off x="8257863" y="1901837"/>
            <a:ext cx="1054657" cy="239473"/>
          </a:xfrm>
          <a:prstGeom prst="rect">
            <a:avLst/>
          </a:prstGeom>
          <a:noFill/>
          <a:ln/>
        </p:spPr>
        <p:txBody>
          <a:bodyPr wrap="square" lIns="0" tIns="0" rIns="0" bIns="0" rtlCol="0" anchor="t">
            <a:normAutofit/>
          </a:bodyPr>
          <a:lstStyle/>
          <a:p>
            <a:pPr marL="0" indent="0" algn="ctr">
              <a:lnSpc>
                <a:spcPct val="81000"/>
              </a:lnSpc>
              <a:buNone/>
            </a:pPr>
            <a:r>
              <a:rPr lang="en-US" sz="950" dirty="0">
                <a:solidFill>
                  <a:srgbClr val="23231E"/>
                </a:solidFill>
                <a:latin typeface="Inter Light" pitchFamily="34" charset="0"/>
                <a:ea typeface="Inter Light" pitchFamily="34" charset="-122"/>
                <a:cs typeface="Inter Light" pitchFamily="34" charset="-120"/>
              </a:rPr>
              <a:t>Assess health and score</a:t>
            </a:r>
            <a:endParaRPr lang="en-US" sz="950" dirty="0"/>
          </a:p>
        </p:txBody>
      </p:sp>
      <p:sp>
        <p:nvSpPr>
          <p:cNvPr id="14" name="Text 11"/>
          <p:cNvSpPr/>
          <p:nvPr/>
        </p:nvSpPr>
        <p:spPr>
          <a:xfrm>
            <a:off x="5610178" y="1523632"/>
            <a:ext cx="1054657" cy="161783"/>
          </a:xfrm>
          <a:prstGeom prst="rect">
            <a:avLst/>
          </a:prstGeom>
          <a:noFill/>
          <a:ln/>
        </p:spPr>
        <p:txBody>
          <a:bodyPr wrap="none" lIns="0" tIns="0" rIns="0" bIns="0" rtlCol="0" anchor="t"/>
          <a:lstStyle/>
          <a:p>
            <a:pPr marL="0" indent="0" algn="ctr">
              <a:lnSpc>
                <a:spcPct val="83000"/>
              </a:lnSpc>
              <a:buNone/>
            </a:pPr>
            <a:r>
              <a:rPr lang="en-US" sz="1250" kern="0" spc="-38" dirty="0">
                <a:solidFill>
                  <a:srgbClr val="383830"/>
                </a:solidFill>
                <a:latin typeface="DM Sans ExtraBold" pitchFamily="34" charset="0"/>
                <a:ea typeface="DM Sans ExtraBold" pitchFamily="34" charset="-122"/>
                <a:cs typeface="DM Sans ExtraBold" pitchFamily="34" charset="-120"/>
              </a:rPr>
              <a:t>Classification</a:t>
            </a:r>
            <a:endParaRPr lang="en-US" sz="1250" dirty="0"/>
          </a:p>
        </p:txBody>
      </p:sp>
      <p:sp>
        <p:nvSpPr>
          <p:cNvPr id="15" name="Text 12"/>
          <p:cNvSpPr/>
          <p:nvPr/>
        </p:nvSpPr>
        <p:spPr>
          <a:xfrm>
            <a:off x="5610178" y="1740054"/>
            <a:ext cx="1054657" cy="239473"/>
          </a:xfrm>
          <a:prstGeom prst="rect">
            <a:avLst/>
          </a:prstGeom>
          <a:noFill/>
          <a:ln/>
        </p:spPr>
        <p:txBody>
          <a:bodyPr wrap="square" lIns="0" tIns="0" rIns="0" bIns="0" rtlCol="0" anchor="t">
            <a:normAutofit/>
          </a:bodyPr>
          <a:lstStyle/>
          <a:p>
            <a:pPr marL="0" indent="0" algn="ctr">
              <a:lnSpc>
                <a:spcPct val="81000"/>
              </a:lnSpc>
              <a:buNone/>
            </a:pPr>
            <a:r>
              <a:rPr lang="en-US" sz="950" dirty="0">
                <a:solidFill>
                  <a:srgbClr val="23231E"/>
                </a:solidFill>
                <a:latin typeface="Inter Light" pitchFamily="34" charset="0"/>
                <a:ea typeface="Inter Light" pitchFamily="34" charset="-122"/>
                <a:cs typeface="Inter Light" pitchFamily="34" charset="-120"/>
              </a:rPr>
              <a:t>Identify fabric type</a:t>
            </a:r>
            <a:endParaRPr lang="en-US" sz="950" dirty="0"/>
          </a:p>
        </p:txBody>
      </p:sp>
      <p:sp>
        <p:nvSpPr>
          <p:cNvPr id="16" name="Text 13"/>
          <p:cNvSpPr/>
          <p:nvPr/>
        </p:nvSpPr>
        <p:spPr>
          <a:xfrm>
            <a:off x="631908" y="4434483"/>
            <a:ext cx="4223438" cy="159246"/>
          </a:xfrm>
          <a:prstGeom prst="rect">
            <a:avLst/>
          </a:prstGeom>
          <a:noFill/>
          <a:ln/>
        </p:spPr>
        <p:txBody>
          <a:bodyPr wrap="none" lIns="0" tIns="0" rIns="0" bIns="0" rtlCol="0" anchor="t"/>
          <a:lstStyle/>
          <a:p>
            <a:pPr marL="0" indent="0" algn="l">
              <a:lnSpc>
                <a:spcPct val="83000"/>
              </a:lnSpc>
              <a:buNone/>
            </a:pPr>
            <a:r>
              <a:rPr lang="en-US" sz="1250" kern="0" spc="-38" dirty="0">
                <a:solidFill>
                  <a:srgbClr val="383830"/>
                </a:solidFill>
                <a:latin typeface="DM Sans ExtraBold" pitchFamily="34" charset="0"/>
                <a:ea typeface="DM Sans ExtraBold" pitchFamily="34" charset="-122"/>
                <a:cs typeface="DM Sans ExtraBold" pitchFamily="34" charset="-120"/>
              </a:rPr>
              <a:t>Underlying Model</a:t>
            </a:r>
            <a:endParaRPr lang="en-US" sz="1250" dirty="0"/>
          </a:p>
        </p:txBody>
      </p:sp>
      <p:sp>
        <p:nvSpPr>
          <p:cNvPr id="17" name="Text 14"/>
          <p:cNvSpPr/>
          <p:nvPr/>
        </p:nvSpPr>
        <p:spPr>
          <a:xfrm>
            <a:off x="631908" y="4649986"/>
            <a:ext cx="4223438" cy="172641"/>
          </a:xfrm>
          <a:prstGeom prst="rect">
            <a:avLst/>
          </a:prstGeom>
          <a:noFill/>
          <a:ln/>
        </p:spPr>
        <p:txBody>
          <a:bodyPr wrap="square" lIns="0" tIns="0" rIns="0" bIns="0" rtlCol="0" anchor="t">
            <a:normAutofit/>
          </a:bodyPr>
          <a:lstStyle/>
          <a:p>
            <a:pPr marL="0" indent="0" algn="l">
              <a:lnSpc>
                <a:spcPct val="71000"/>
              </a:lnSpc>
              <a:buNone/>
            </a:pPr>
            <a:r>
              <a:rPr lang="en-US" sz="750" dirty="0">
                <a:solidFill>
                  <a:srgbClr val="23231E"/>
                </a:solidFill>
                <a:latin typeface="Inter Light" pitchFamily="34" charset="0"/>
                <a:ea typeface="Inter Light" pitchFamily="34" charset="-122"/>
                <a:cs typeface="Inter Light" pitchFamily="34" charset="-120"/>
              </a:rPr>
              <a:t>At the core of our classification system is an </a:t>
            </a:r>
            <a:r>
              <a:rPr lang="en-US" sz="750" b="1" dirty="0">
                <a:solidFill>
                  <a:srgbClr val="23231E"/>
                </a:solidFill>
                <a:latin typeface="Inter Bold" pitchFamily="34" charset="0"/>
                <a:ea typeface="Inter Bold" pitchFamily="34" charset="-122"/>
                <a:cs typeface="Inter Bold" pitchFamily="34" charset="-120"/>
              </a:rPr>
              <a:t>EfficientNet-B3</a:t>
            </a:r>
            <a:r>
              <a:rPr lang="en-US" sz="750" dirty="0">
                <a:solidFill>
                  <a:srgbClr val="23231E"/>
                </a:solidFill>
                <a:latin typeface="Inter Light" pitchFamily="34" charset="0"/>
                <a:ea typeface="Inter Light" pitchFamily="34" charset="-122"/>
                <a:cs typeface="Inter Light" pitchFamily="34" charset="-120"/>
              </a:rPr>
              <a:t> model, fine-tuned for textile analysis.</a:t>
            </a:r>
            <a:endParaRPr lang="en-US" sz="750" dirty="0"/>
          </a:p>
        </p:txBody>
      </p:sp>
      <p:sp>
        <p:nvSpPr>
          <p:cNvPr id="18" name="Text 15"/>
          <p:cNvSpPr/>
          <p:nvPr/>
        </p:nvSpPr>
        <p:spPr>
          <a:xfrm>
            <a:off x="5107753" y="4434483"/>
            <a:ext cx="6458285" cy="159246"/>
          </a:xfrm>
          <a:prstGeom prst="rect">
            <a:avLst/>
          </a:prstGeom>
          <a:noFill/>
          <a:ln/>
        </p:spPr>
        <p:txBody>
          <a:bodyPr wrap="none" lIns="0" tIns="0" rIns="0" bIns="0" rtlCol="0" anchor="t"/>
          <a:lstStyle/>
          <a:p>
            <a:pPr marL="0" indent="0" algn="l">
              <a:lnSpc>
                <a:spcPct val="83000"/>
              </a:lnSpc>
              <a:buNone/>
            </a:pPr>
            <a:r>
              <a:rPr lang="en-US" sz="1250" kern="0" spc="-38" dirty="0">
                <a:solidFill>
                  <a:srgbClr val="383830"/>
                </a:solidFill>
                <a:latin typeface="DM Sans ExtraBold" pitchFamily="34" charset="0"/>
                <a:ea typeface="DM Sans ExtraBold" pitchFamily="34" charset="-122"/>
                <a:cs typeface="DM Sans ExtraBold" pitchFamily="34" charset="-120"/>
              </a:rPr>
              <a:t>16 Fabric Classes Detected</a:t>
            </a:r>
            <a:endParaRPr lang="en-US" sz="1250" dirty="0"/>
          </a:p>
        </p:txBody>
      </p:sp>
      <p:sp>
        <p:nvSpPr>
          <p:cNvPr id="19" name="Text 16"/>
          <p:cNvSpPr/>
          <p:nvPr/>
        </p:nvSpPr>
        <p:spPr>
          <a:xfrm>
            <a:off x="5107753" y="4649986"/>
            <a:ext cx="6458285" cy="1675805"/>
          </a:xfrm>
          <a:prstGeom prst="rect">
            <a:avLst/>
          </a:prstGeom>
          <a:noFill/>
          <a:ln/>
        </p:spPr>
        <p:txBody>
          <a:bodyPr wrap="square" lIns="0" tIns="40341" rIns="0" bIns="0" rtlCol="0" anchor="t">
            <a:normAutofit/>
          </a:bodyPr>
          <a:lstStyle/>
          <a:p>
            <a:pPr marL="152400" indent="-152400" algn="l">
              <a:lnSpc>
                <a:spcPct val="71000"/>
              </a:lnSpc>
              <a:buSzPct val="100000"/>
              <a:buChar char="•"/>
            </a:pPr>
            <a:r>
              <a:rPr lang="en-US" sz="750" dirty="0">
                <a:solidFill>
                  <a:srgbClr val="23231E"/>
                </a:solidFill>
                <a:latin typeface="Inter Light" pitchFamily="34" charset="0"/>
                <a:ea typeface="Inter Light" pitchFamily="34" charset="-122"/>
                <a:cs typeface="Inter Light" pitchFamily="34" charset="-120"/>
              </a:rPr>
              <a:t>Blended</a:t>
            </a:r>
            <a:endParaRPr lang="en-US" sz="750" dirty="0"/>
          </a:p>
          <a:p>
            <a:pPr marL="152400" indent="-152400" algn="l">
              <a:lnSpc>
                <a:spcPct val="71000"/>
              </a:lnSpc>
              <a:buSzPct val="100000"/>
              <a:buChar char="•"/>
            </a:pPr>
            <a:r>
              <a:rPr lang="en-US" sz="750" dirty="0">
                <a:solidFill>
                  <a:srgbClr val="23231E"/>
                </a:solidFill>
                <a:latin typeface="Inter Light" pitchFamily="34" charset="0"/>
                <a:ea typeface="Inter Light" pitchFamily="34" charset="-122"/>
                <a:cs typeface="Inter Light" pitchFamily="34" charset="-120"/>
              </a:rPr>
              <a:t>Chenille</a:t>
            </a:r>
            <a:endParaRPr lang="en-US" sz="750" dirty="0"/>
          </a:p>
          <a:p>
            <a:pPr marL="152400" indent="-152400" algn="l">
              <a:lnSpc>
                <a:spcPct val="71000"/>
              </a:lnSpc>
              <a:buSzPct val="100000"/>
              <a:buChar char="•"/>
            </a:pPr>
            <a:r>
              <a:rPr lang="en-US" sz="750" dirty="0">
                <a:solidFill>
                  <a:srgbClr val="23231E"/>
                </a:solidFill>
                <a:latin typeface="Inter Light" pitchFamily="34" charset="0"/>
                <a:ea typeface="Inter Light" pitchFamily="34" charset="-122"/>
                <a:cs typeface="Inter Light" pitchFamily="34" charset="-120"/>
              </a:rPr>
              <a:t>Corduroy</a:t>
            </a:r>
            <a:endParaRPr lang="en-US" sz="750" dirty="0"/>
          </a:p>
          <a:p>
            <a:pPr marL="152400" indent="-152400" algn="l">
              <a:lnSpc>
                <a:spcPct val="71000"/>
              </a:lnSpc>
              <a:buSzPct val="100000"/>
              <a:buChar char="•"/>
            </a:pPr>
            <a:r>
              <a:rPr lang="en-US" sz="750" dirty="0">
                <a:solidFill>
                  <a:srgbClr val="23231E"/>
                </a:solidFill>
                <a:latin typeface="Inter Light" pitchFamily="34" charset="0"/>
                <a:ea typeface="Inter Light" pitchFamily="34" charset="-122"/>
                <a:cs typeface="Inter Light" pitchFamily="34" charset="-120"/>
              </a:rPr>
              <a:t>Cotton</a:t>
            </a:r>
            <a:endParaRPr lang="en-US" sz="750" dirty="0"/>
          </a:p>
          <a:p>
            <a:pPr marL="152400" indent="-152400" algn="l">
              <a:lnSpc>
                <a:spcPct val="71000"/>
              </a:lnSpc>
              <a:buSzPct val="100000"/>
              <a:buChar char="•"/>
            </a:pPr>
            <a:r>
              <a:rPr lang="en-US" sz="750" dirty="0">
                <a:solidFill>
                  <a:srgbClr val="23231E"/>
                </a:solidFill>
                <a:latin typeface="Inter Light" pitchFamily="34" charset="0"/>
                <a:ea typeface="Inter Light" pitchFamily="34" charset="-122"/>
                <a:cs typeface="Inter Light" pitchFamily="34" charset="-120"/>
              </a:rPr>
              <a:t>Crepe</a:t>
            </a:r>
            <a:endParaRPr lang="en-US" sz="750" dirty="0"/>
          </a:p>
          <a:p>
            <a:pPr marL="152400" indent="-152400" algn="l">
              <a:lnSpc>
                <a:spcPct val="71000"/>
              </a:lnSpc>
              <a:buSzPct val="100000"/>
              <a:buChar char="•"/>
            </a:pPr>
            <a:r>
              <a:rPr lang="en-US" sz="750" dirty="0">
                <a:solidFill>
                  <a:srgbClr val="23231E"/>
                </a:solidFill>
                <a:latin typeface="Inter Light" pitchFamily="34" charset="0"/>
                <a:ea typeface="Inter Light" pitchFamily="34" charset="-122"/>
                <a:cs typeface="Inter Light" pitchFamily="34" charset="-120"/>
              </a:rPr>
              <a:t>Denim</a:t>
            </a:r>
            <a:endParaRPr lang="en-US" sz="750" dirty="0"/>
          </a:p>
          <a:p>
            <a:pPr marL="152400" indent="-152400" algn="l">
              <a:lnSpc>
                <a:spcPct val="71000"/>
              </a:lnSpc>
              <a:buSzPct val="100000"/>
              <a:buChar char="•"/>
            </a:pPr>
            <a:r>
              <a:rPr lang="en-US" sz="750" dirty="0">
                <a:solidFill>
                  <a:srgbClr val="23231E"/>
                </a:solidFill>
                <a:latin typeface="Inter Light" pitchFamily="34" charset="0"/>
                <a:ea typeface="Inter Light" pitchFamily="34" charset="-122"/>
                <a:cs typeface="Inter Light" pitchFamily="34" charset="-120"/>
              </a:rPr>
              <a:t>Fleece</a:t>
            </a:r>
            <a:endParaRPr lang="en-US" sz="750" dirty="0"/>
          </a:p>
          <a:p>
            <a:pPr marL="152400" indent="-152400" algn="l">
              <a:lnSpc>
                <a:spcPct val="71000"/>
              </a:lnSpc>
              <a:buSzPct val="100000"/>
              <a:buChar char="•"/>
            </a:pPr>
            <a:r>
              <a:rPr lang="en-US" sz="750" dirty="0">
                <a:solidFill>
                  <a:srgbClr val="23231E"/>
                </a:solidFill>
                <a:latin typeface="Inter Light" pitchFamily="34" charset="0"/>
                <a:ea typeface="Inter Light" pitchFamily="34" charset="-122"/>
                <a:cs typeface="Inter Light" pitchFamily="34" charset="-120"/>
              </a:rPr>
              <a:t>Leather</a:t>
            </a:r>
            <a:endParaRPr lang="en-US" sz="750" dirty="0"/>
          </a:p>
          <a:p>
            <a:pPr marL="152400" indent="-152400" algn="l">
              <a:lnSpc>
                <a:spcPct val="71000"/>
              </a:lnSpc>
              <a:buSzPct val="100000"/>
              <a:buChar char="•"/>
            </a:pPr>
            <a:r>
              <a:rPr lang="en-US" sz="750" dirty="0">
                <a:solidFill>
                  <a:srgbClr val="23231E"/>
                </a:solidFill>
                <a:latin typeface="Inter Light" pitchFamily="34" charset="0"/>
                <a:ea typeface="Inter Light" pitchFamily="34" charset="-122"/>
                <a:cs typeface="Inter Light" pitchFamily="34" charset="-120"/>
              </a:rPr>
              <a:t>Linen</a:t>
            </a:r>
            <a:endParaRPr lang="en-US" sz="750" dirty="0"/>
          </a:p>
          <a:p>
            <a:pPr marL="152400" indent="-152400" algn="l">
              <a:lnSpc>
                <a:spcPct val="71000"/>
              </a:lnSpc>
              <a:buSzPct val="100000"/>
              <a:buChar char="•"/>
            </a:pPr>
            <a:r>
              <a:rPr lang="en-US" sz="750" dirty="0">
                <a:solidFill>
                  <a:srgbClr val="23231E"/>
                </a:solidFill>
                <a:latin typeface="Inter Light" pitchFamily="34" charset="0"/>
                <a:ea typeface="Inter Light" pitchFamily="34" charset="-122"/>
                <a:cs typeface="Inter Light" pitchFamily="34" charset="-120"/>
              </a:rPr>
              <a:t>Nylon</a:t>
            </a:r>
            <a:endParaRPr lang="en-US" sz="750" dirty="0"/>
          </a:p>
          <a:p>
            <a:pPr marL="152400" indent="-152400" algn="l">
              <a:lnSpc>
                <a:spcPct val="71000"/>
              </a:lnSpc>
              <a:buSzPct val="100000"/>
              <a:buChar char="•"/>
            </a:pPr>
            <a:r>
              <a:rPr lang="en-US" sz="750" dirty="0">
                <a:solidFill>
                  <a:srgbClr val="23231E"/>
                </a:solidFill>
                <a:latin typeface="Inter Light" pitchFamily="34" charset="0"/>
                <a:ea typeface="Inter Light" pitchFamily="34" charset="-122"/>
                <a:cs typeface="Inter Light" pitchFamily="34" charset="-120"/>
              </a:rPr>
              <a:t>Polyester</a:t>
            </a:r>
            <a:endParaRPr lang="en-US" sz="750" dirty="0"/>
          </a:p>
          <a:p>
            <a:pPr marL="152400" indent="-152400" algn="l">
              <a:lnSpc>
                <a:spcPct val="71000"/>
              </a:lnSpc>
              <a:buSzPct val="100000"/>
              <a:buChar char="•"/>
            </a:pPr>
            <a:r>
              <a:rPr lang="en-US" sz="750" dirty="0">
                <a:solidFill>
                  <a:srgbClr val="23231E"/>
                </a:solidFill>
                <a:latin typeface="Inter Light" pitchFamily="34" charset="0"/>
                <a:ea typeface="Inter Light" pitchFamily="34" charset="-122"/>
                <a:cs typeface="Inter Light" pitchFamily="34" charset="-120"/>
              </a:rPr>
              <a:t>Satin</a:t>
            </a:r>
            <a:endParaRPr lang="en-US" sz="750" dirty="0"/>
          </a:p>
          <a:p>
            <a:pPr marL="152400" indent="-152400" algn="l">
              <a:lnSpc>
                <a:spcPct val="71000"/>
              </a:lnSpc>
              <a:buSzPct val="100000"/>
              <a:buChar char="•"/>
            </a:pPr>
            <a:r>
              <a:rPr lang="en-US" sz="750" dirty="0">
                <a:solidFill>
                  <a:srgbClr val="23231E"/>
                </a:solidFill>
                <a:latin typeface="Inter Light" pitchFamily="34" charset="0"/>
                <a:ea typeface="Inter Light" pitchFamily="34" charset="-122"/>
                <a:cs typeface="Inter Light" pitchFamily="34" charset="-120"/>
              </a:rPr>
              <a:t>Silk</a:t>
            </a:r>
            <a:endParaRPr lang="en-US" sz="750" dirty="0"/>
          </a:p>
          <a:p>
            <a:pPr marL="152400" indent="-152400" algn="l">
              <a:lnSpc>
                <a:spcPct val="71000"/>
              </a:lnSpc>
              <a:buSzPct val="100000"/>
              <a:buChar char="•"/>
            </a:pPr>
            <a:r>
              <a:rPr lang="en-US" sz="750" dirty="0">
                <a:solidFill>
                  <a:srgbClr val="23231E"/>
                </a:solidFill>
                <a:latin typeface="Inter Light" pitchFamily="34" charset="0"/>
                <a:ea typeface="Inter Light" pitchFamily="34" charset="-122"/>
                <a:cs typeface="Inter Light" pitchFamily="34" charset="-120"/>
              </a:rPr>
              <a:t>Terrycloth</a:t>
            </a:r>
            <a:endParaRPr lang="en-US" sz="750" dirty="0"/>
          </a:p>
          <a:p>
            <a:pPr marL="152400" indent="-152400" algn="l">
              <a:lnSpc>
                <a:spcPct val="71000"/>
              </a:lnSpc>
              <a:buSzPct val="100000"/>
              <a:buChar char="•"/>
            </a:pPr>
            <a:r>
              <a:rPr lang="en-US" sz="750" dirty="0">
                <a:solidFill>
                  <a:srgbClr val="23231E"/>
                </a:solidFill>
                <a:latin typeface="Inter Light" pitchFamily="34" charset="0"/>
                <a:ea typeface="Inter Light" pitchFamily="34" charset="-122"/>
                <a:cs typeface="Inter Light" pitchFamily="34" charset="-120"/>
              </a:rPr>
              <a:t>Viscose</a:t>
            </a:r>
            <a:endParaRPr lang="en-US" sz="750" dirty="0"/>
          </a:p>
          <a:p>
            <a:pPr marL="152400" indent="-152400" algn="l">
              <a:lnSpc>
                <a:spcPct val="71000"/>
              </a:lnSpc>
              <a:buSzPct val="100000"/>
              <a:buChar char="•"/>
            </a:pPr>
            <a:r>
              <a:rPr lang="en-US" sz="750" dirty="0">
                <a:solidFill>
                  <a:srgbClr val="23231E"/>
                </a:solidFill>
                <a:latin typeface="Inter Light" pitchFamily="34" charset="0"/>
                <a:ea typeface="Inter Light" pitchFamily="34" charset="-122"/>
                <a:cs typeface="Inter Light" pitchFamily="34" charset="-120"/>
              </a:rPr>
              <a:t>Wool</a:t>
            </a:r>
            <a:endParaRPr lang="en-US" sz="750" dirty="0"/>
          </a:p>
        </p:txBody>
      </p:sp>
      <p:grpSp>
        <p:nvGrpSpPr>
          <p:cNvPr id="20" name="Group 19">
            <a:extLst>
              <a:ext uri="{FF2B5EF4-FFF2-40B4-BE49-F238E27FC236}">
                <a16:creationId xmlns:a16="http://schemas.microsoft.com/office/drawing/2014/main" id="{A4776443-D288-2C10-7557-C2864B9D2CDB}"/>
              </a:ext>
            </a:extLst>
          </p:cNvPr>
          <p:cNvGrpSpPr/>
          <p:nvPr/>
        </p:nvGrpSpPr>
        <p:grpSpPr>
          <a:xfrm>
            <a:off x="10686552" y="6506574"/>
            <a:ext cx="1505131" cy="351434"/>
            <a:chOff x="2623154" y="413097"/>
            <a:chExt cx="2599719" cy="525560"/>
          </a:xfrm>
        </p:grpSpPr>
        <p:sp>
          <p:nvSpPr>
            <p:cNvPr id="21" name="Freeform 20">
              <a:extLst>
                <a:ext uri="{FF2B5EF4-FFF2-40B4-BE49-F238E27FC236}">
                  <a16:creationId xmlns:a16="http://schemas.microsoft.com/office/drawing/2014/main" id="{8524308F-8D2E-D947-4ED7-92AE8E97C7F1}"/>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4"/>
              <a:stretch>
                <a:fillRect l="-64" r="-64" b="1"/>
              </a:stretch>
            </a:blipFill>
          </p:spPr>
          <p:txBody>
            <a:bodyPr/>
            <a:lstStyle/>
            <a:p>
              <a:endParaRPr lang="en-US" sz="1200" dirty="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31908" y="642144"/>
            <a:ext cx="10927878" cy="451346"/>
          </a:xfrm>
          <a:prstGeom prst="rect">
            <a:avLst/>
          </a:prstGeom>
          <a:noFill/>
          <a:ln/>
        </p:spPr>
        <p:txBody>
          <a:bodyPr wrap="none" lIns="0" tIns="0" rIns="0" bIns="0" rtlCol="0" anchor="t"/>
          <a:lstStyle/>
          <a:p>
            <a:pPr marL="0" indent="0" algn="l">
              <a:lnSpc>
                <a:spcPct val="83000"/>
              </a:lnSpc>
              <a:buNone/>
            </a:pPr>
            <a:r>
              <a:rPr lang="en-US" sz="3550" kern="0" spc="-107" dirty="0">
                <a:solidFill>
                  <a:srgbClr val="383830"/>
                </a:solidFill>
                <a:latin typeface="DM Sans ExtraBold" pitchFamily="34" charset="0"/>
                <a:ea typeface="DM Sans ExtraBold" pitchFamily="34" charset="-122"/>
                <a:cs typeface="DM Sans ExtraBold" pitchFamily="34" charset="-120"/>
              </a:rPr>
              <a:t>Research Comparison</a:t>
            </a:r>
            <a:endParaRPr lang="en-US" sz="3550" dirty="0"/>
          </a:p>
        </p:txBody>
      </p:sp>
      <p:sp>
        <p:nvSpPr>
          <p:cNvPr id="3" name="Text 1"/>
          <p:cNvSpPr/>
          <p:nvPr/>
        </p:nvSpPr>
        <p:spPr>
          <a:xfrm>
            <a:off x="631908" y="1158577"/>
            <a:ext cx="10927878" cy="361057"/>
          </a:xfrm>
          <a:prstGeom prst="rect">
            <a:avLst/>
          </a:prstGeom>
          <a:noFill/>
          <a:ln/>
        </p:spPr>
        <p:txBody>
          <a:bodyPr wrap="none" lIns="0" tIns="0" rIns="0" bIns="0" rtlCol="0" anchor="t"/>
          <a:lstStyle/>
          <a:p>
            <a:pPr marL="0" indent="0" algn="l">
              <a:lnSpc>
                <a:spcPct val="83000"/>
              </a:lnSpc>
              <a:buNone/>
            </a:pPr>
            <a:r>
              <a:rPr lang="en-US" sz="2800" kern="0" spc="-85" dirty="0">
                <a:solidFill>
                  <a:srgbClr val="383830"/>
                </a:solidFill>
                <a:latin typeface="DM Sans ExtraBold" pitchFamily="34" charset="0"/>
                <a:ea typeface="DM Sans ExtraBold" pitchFamily="34" charset="-122"/>
                <a:cs typeface="DM Sans ExtraBold" pitchFamily="34" charset="-120"/>
              </a:rPr>
              <a:t>Existing Approaches &amp; Limitations</a:t>
            </a:r>
            <a:endParaRPr lang="en-US" sz="28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908" y="1764010"/>
            <a:ext cx="3533984" cy="2089845"/>
          </a:xfrm>
          <a:prstGeom prst="rect">
            <a:avLst/>
          </a:prstGeom>
        </p:spPr>
      </p:pic>
      <p:sp>
        <p:nvSpPr>
          <p:cNvPr id="5" name="Text 2"/>
          <p:cNvSpPr/>
          <p:nvPr/>
        </p:nvSpPr>
        <p:spPr>
          <a:xfrm>
            <a:off x="898602" y="1954510"/>
            <a:ext cx="3076796" cy="225723"/>
          </a:xfrm>
          <a:prstGeom prst="rect">
            <a:avLst/>
          </a:prstGeom>
          <a:noFill/>
          <a:ln/>
        </p:spPr>
        <p:txBody>
          <a:bodyPr wrap="none" lIns="0" tIns="0" rIns="0" bIns="0" rtlCol="0" anchor="t"/>
          <a:lstStyle/>
          <a:p>
            <a:pPr marL="0" indent="0" algn="l">
              <a:lnSpc>
                <a:spcPct val="83000"/>
              </a:lnSpc>
              <a:buNone/>
            </a:pPr>
            <a:r>
              <a:rPr lang="en-US" sz="1750" kern="0" spc="-53" dirty="0">
                <a:solidFill>
                  <a:srgbClr val="23231E"/>
                </a:solidFill>
                <a:latin typeface="DM Sans ExtraBold" pitchFamily="34" charset="0"/>
                <a:ea typeface="DM Sans ExtraBold" pitchFamily="34" charset="-122"/>
                <a:cs typeface="DM Sans ExtraBold" pitchFamily="34" charset="-120"/>
              </a:rPr>
              <a:t>Textile Image Classification</a:t>
            </a:r>
            <a:endParaRPr lang="en-US" sz="1750" dirty="0"/>
          </a:p>
        </p:txBody>
      </p:sp>
      <p:sp>
        <p:nvSpPr>
          <p:cNvPr id="6" name="Text 3"/>
          <p:cNvSpPr/>
          <p:nvPr/>
        </p:nvSpPr>
        <p:spPr>
          <a:xfrm>
            <a:off x="898602" y="2277963"/>
            <a:ext cx="3076796" cy="1201440"/>
          </a:xfrm>
          <a:prstGeom prst="rect">
            <a:avLst/>
          </a:prstGeom>
          <a:noFill/>
          <a:ln/>
        </p:spPr>
        <p:txBody>
          <a:bodyPr wrap="square" lIns="0" tIns="0" rIns="0" bIns="0" rtlCol="0" anchor="t">
            <a:normAutofit/>
          </a:bodyPr>
          <a:lstStyle/>
          <a:p>
            <a:pPr marL="0" indent="0" algn="l">
              <a:lnSpc>
                <a:spcPct val="89000"/>
              </a:lnSpc>
              <a:spcAft>
                <a:spcPts val="750"/>
              </a:spcAft>
              <a:buNone/>
            </a:pPr>
            <a:r>
              <a:rPr lang="en-US" sz="1350" dirty="0">
                <a:solidFill>
                  <a:srgbClr val="23231E"/>
                </a:solidFill>
                <a:latin typeface="Inter Light" pitchFamily="34" charset="0"/>
                <a:ea typeface="Inter Light" pitchFamily="34" charset="-122"/>
                <a:cs typeface="Inter Light" pitchFamily="34" charset="-120"/>
              </a:rPr>
              <a:t>Uses computer vision to classify textile/material images.</a:t>
            </a:r>
            <a:endParaRPr lang="en-US" sz="1350" dirty="0"/>
          </a:p>
          <a:p>
            <a:pPr marL="0" indent="0" algn="l">
              <a:lnSpc>
                <a:spcPct val="89000"/>
              </a:lnSpc>
              <a:buNone/>
            </a:pPr>
            <a:r>
              <a:rPr lang="en-US" sz="1350" b="1" dirty="0">
                <a:solidFill>
                  <a:srgbClr val="23231E"/>
                </a:solidFill>
                <a:latin typeface="Inter Bold" pitchFamily="34" charset="0"/>
                <a:ea typeface="Inter Bold" pitchFamily="34" charset="-122"/>
                <a:cs typeface="Inter Bold" pitchFamily="34" charset="-120"/>
              </a:rPr>
              <a:t>Limitation:</a:t>
            </a:r>
            <a:r>
              <a:rPr lang="en-US" sz="1350" dirty="0">
                <a:solidFill>
                  <a:srgbClr val="23231E"/>
                </a:solidFill>
                <a:latin typeface="Inter Light" pitchFamily="34" charset="0"/>
                <a:ea typeface="Inter Light" pitchFamily="34" charset="-122"/>
                <a:cs typeface="Inter Light" pitchFamily="34" charset="-120"/>
              </a:rPr>
              <a:t> Primarily focuses on material recognition, often lacking condition assessment or marketplace integration.</a:t>
            </a:r>
            <a:endParaRPr lang="en-US" sz="135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28806" y="1764010"/>
            <a:ext cx="3533984" cy="2089845"/>
          </a:xfrm>
          <a:prstGeom prst="rect">
            <a:avLst/>
          </a:prstGeom>
        </p:spPr>
      </p:pic>
      <p:sp>
        <p:nvSpPr>
          <p:cNvPr id="8" name="Text 4"/>
          <p:cNvSpPr/>
          <p:nvPr/>
        </p:nvSpPr>
        <p:spPr>
          <a:xfrm>
            <a:off x="4595499" y="1954510"/>
            <a:ext cx="3076796" cy="225723"/>
          </a:xfrm>
          <a:prstGeom prst="rect">
            <a:avLst/>
          </a:prstGeom>
          <a:noFill/>
          <a:ln/>
        </p:spPr>
        <p:txBody>
          <a:bodyPr wrap="none" lIns="0" tIns="0" rIns="0" bIns="0" rtlCol="0" anchor="t"/>
          <a:lstStyle/>
          <a:p>
            <a:pPr marL="0" indent="0" algn="l">
              <a:lnSpc>
                <a:spcPct val="83000"/>
              </a:lnSpc>
              <a:buNone/>
            </a:pPr>
            <a:r>
              <a:rPr lang="en-US" sz="1750" kern="0" spc="-53" dirty="0">
                <a:solidFill>
                  <a:srgbClr val="23231E"/>
                </a:solidFill>
                <a:latin typeface="DM Sans ExtraBold" pitchFamily="34" charset="0"/>
                <a:ea typeface="DM Sans ExtraBold" pitchFamily="34" charset="-122"/>
                <a:cs typeface="DM Sans ExtraBold" pitchFamily="34" charset="-120"/>
              </a:rPr>
              <a:t>Textile Defect Detection</a:t>
            </a:r>
            <a:endParaRPr lang="en-US" sz="1750" dirty="0"/>
          </a:p>
        </p:txBody>
      </p:sp>
      <p:sp>
        <p:nvSpPr>
          <p:cNvPr id="9" name="Text 5"/>
          <p:cNvSpPr/>
          <p:nvPr/>
        </p:nvSpPr>
        <p:spPr>
          <a:xfrm>
            <a:off x="4595499" y="2277963"/>
            <a:ext cx="3076796" cy="1201440"/>
          </a:xfrm>
          <a:prstGeom prst="rect">
            <a:avLst/>
          </a:prstGeom>
          <a:noFill/>
          <a:ln/>
        </p:spPr>
        <p:txBody>
          <a:bodyPr wrap="square" lIns="0" tIns="0" rIns="0" bIns="0" rtlCol="0" anchor="t">
            <a:normAutofit/>
          </a:bodyPr>
          <a:lstStyle/>
          <a:p>
            <a:pPr marL="0" indent="0" algn="l">
              <a:lnSpc>
                <a:spcPct val="89000"/>
              </a:lnSpc>
              <a:spcAft>
                <a:spcPts val="750"/>
              </a:spcAft>
              <a:buNone/>
            </a:pPr>
            <a:r>
              <a:rPr lang="en-US" sz="1350" dirty="0">
                <a:solidFill>
                  <a:srgbClr val="23231E"/>
                </a:solidFill>
                <a:latin typeface="Inter Light" pitchFamily="34" charset="0"/>
                <a:ea typeface="Inter Light" pitchFamily="34" charset="-122"/>
                <a:cs typeface="Inter Light" pitchFamily="34" charset="-120"/>
              </a:rPr>
              <a:t>Employs computer vision for detecting defects like tears, stains, and wear.</a:t>
            </a:r>
            <a:endParaRPr lang="en-US" sz="1350" dirty="0"/>
          </a:p>
          <a:p>
            <a:pPr marL="0" indent="0" algn="l">
              <a:lnSpc>
                <a:spcPct val="89000"/>
              </a:lnSpc>
              <a:buNone/>
            </a:pPr>
            <a:r>
              <a:rPr lang="en-US" sz="1350" b="1" dirty="0">
                <a:solidFill>
                  <a:srgbClr val="23231E"/>
                </a:solidFill>
                <a:latin typeface="Inter Bold" pitchFamily="34" charset="0"/>
                <a:ea typeface="Inter Bold" pitchFamily="34" charset="-122"/>
                <a:cs typeface="Inter Bold" pitchFamily="34" charset="-120"/>
              </a:rPr>
              <a:t>Limitation:</a:t>
            </a:r>
            <a:r>
              <a:rPr lang="en-US" sz="1350" dirty="0">
                <a:solidFill>
                  <a:srgbClr val="23231E"/>
                </a:solidFill>
                <a:latin typeface="Inter Light" pitchFamily="34" charset="0"/>
                <a:ea typeface="Inter Light" pitchFamily="34" charset="-122"/>
                <a:cs typeface="Inter Light" pitchFamily="34" charset="-120"/>
              </a:rPr>
              <a:t> Defect analysis is typically siloed and separate from broader marketplace intelligence or sustainability metrics.</a:t>
            </a:r>
            <a:endParaRPr lang="en-US" sz="135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25703" y="1764010"/>
            <a:ext cx="3533984" cy="2089845"/>
          </a:xfrm>
          <a:prstGeom prst="rect">
            <a:avLst/>
          </a:prstGeom>
        </p:spPr>
      </p:pic>
      <p:sp>
        <p:nvSpPr>
          <p:cNvPr id="11" name="Text 6"/>
          <p:cNvSpPr/>
          <p:nvPr/>
        </p:nvSpPr>
        <p:spPr>
          <a:xfrm>
            <a:off x="8292396" y="1954510"/>
            <a:ext cx="3076796" cy="225723"/>
          </a:xfrm>
          <a:prstGeom prst="rect">
            <a:avLst/>
          </a:prstGeom>
          <a:noFill/>
          <a:ln/>
        </p:spPr>
        <p:txBody>
          <a:bodyPr wrap="none" lIns="0" tIns="0" rIns="0" bIns="0" rtlCol="0" anchor="t"/>
          <a:lstStyle/>
          <a:p>
            <a:pPr marL="0" indent="0" algn="l">
              <a:lnSpc>
                <a:spcPct val="83000"/>
              </a:lnSpc>
              <a:buNone/>
            </a:pPr>
            <a:r>
              <a:rPr lang="en-US" sz="1750" kern="0" spc="-53" dirty="0">
                <a:solidFill>
                  <a:srgbClr val="23231E"/>
                </a:solidFill>
                <a:latin typeface="DM Sans ExtraBold" pitchFamily="34" charset="0"/>
                <a:ea typeface="DM Sans ExtraBold" pitchFamily="34" charset="-122"/>
                <a:cs typeface="DM Sans ExtraBold" pitchFamily="34" charset="-120"/>
              </a:rPr>
              <a:t>Textile Material Datasets</a:t>
            </a:r>
            <a:endParaRPr lang="en-US" sz="1750" dirty="0"/>
          </a:p>
        </p:txBody>
      </p:sp>
      <p:sp>
        <p:nvSpPr>
          <p:cNvPr id="12" name="Text 7"/>
          <p:cNvSpPr/>
          <p:nvPr/>
        </p:nvSpPr>
        <p:spPr>
          <a:xfrm>
            <a:off x="8292396" y="2277963"/>
            <a:ext cx="3076796" cy="1385391"/>
          </a:xfrm>
          <a:prstGeom prst="rect">
            <a:avLst/>
          </a:prstGeom>
          <a:noFill/>
          <a:ln/>
        </p:spPr>
        <p:txBody>
          <a:bodyPr wrap="square" lIns="0" tIns="0" rIns="0" bIns="0" rtlCol="0" anchor="t">
            <a:normAutofit/>
          </a:bodyPr>
          <a:lstStyle/>
          <a:p>
            <a:pPr marL="0" indent="0" algn="l">
              <a:lnSpc>
                <a:spcPct val="89000"/>
              </a:lnSpc>
              <a:spcAft>
                <a:spcPts val="750"/>
              </a:spcAft>
              <a:buNone/>
            </a:pPr>
            <a:r>
              <a:rPr lang="en-US" sz="1350" dirty="0">
                <a:solidFill>
                  <a:srgbClr val="23231E"/>
                </a:solidFill>
                <a:latin typeface="Inter Light" pitchFamily="34" charset="0"/>
                <a:ea typeface="Inter Light" pitchFamily="34" charset="-122"/>
                <a:cs typeface="Inter Light" pitchFamily="34" charset="-120"/>
              </a:rPr>
              <a:t>Large datasets support classification and defect detection research, improving model accuracy.</a:t>
            </a:r>
            <a:endParaRPr lang="en-US" sz="1350" dirty="0"/>
          </a:p>
          <a:p>
            <a:pPr marL="0" indent="0" algn="l">
              <a:lnSpc>
                <a:spcPct val="89000"/>
              </a:lnSpc>
              <a:buNone/>
            </a:pPr>
            <a:r>
              <a:rPr lang="en-US" sz="1350" b="1" dirty="0">
                <a:solidFill>
                  <a:srgbClr val="23231E"/>
                </a:solidFill>
                <a:latin typeface="Inter Bold" pitchFamily="34" charset="0"/>
                <a:ea typeface="Inter Bold" pitchFamily="34" charset="-122"/>
                <a:cs typeface="Inter Bold" pitchFamily="34" charset="-120"/>
              </a:rPr>
              <a:t>Limitation:</a:t>
            </a:r>
            <a:r>
              <a:rPr lang="en-US" sz="1350" dirty="0">
                <a:solidFill>
                  <a:srgbClr val="23231E"/>
                </a:solidFill>
                <a:latin typeface="Inter Light" pitchFamily="34" charset="0"/>
                <a:ea typeface="Inter Light" pitchFamily="34" charset="-122"/>
                <a:cs typeface="Inter Light" pitchFamily="34" charset="-120"/>
              </a:rPr>
              <a:t> Not specifically integrated with Sri Lankan textile-waste marketplace workflows, limiting local applicability and direct impact.</a:t>
            </a:r>
            <a:endParaRPr lang="en-US" sz="1350" dirty="0"/>
          </a:p>
        </p:txBody>
      </p:sp>
      <p:sp>
        <p:nvSpPr>
          <p:cNvPr id="13" name="Text 8"/>
          <p:cNvSpPr/>
          <p:nvPr/>
        </p:nvSpPr>
        <p:spPr>
          <a:xfrm>
            <a:off x="631908" y="4098230"/>
            <a:ext cx="10927878" cy="361057"/>
          </a:xfrm>
          <a:prstGeom prst="rect">
            <a:avLst/>
          </a:prstGeom>
          <a:noFill/>
          <a:ln/>
        </p:spPr>
        <p:txBody>
          <a:bodyPr wrap="none" lIns="0" tIns="0" rIns="0" bIns="0" rtlCol="0" anchor="t"/>
          <a:lstStyle/>
          <a:p>
            <a:pPr marL="0" indent="0" algn="l">
              <a:lnSpc>
                <a:spcPct val="83000"/>
              </a:lnSpc>
              <a:buNone/>
            </a:pPr>
            <a:r>
              <a:rPr lang="en-US" sz="2800" kern="0" spc="-85" dirty="0">
                <a:solidFill>
                  <a:srgbClr val="383830"/>
                </a:solidFill>
                <a:latin typeface="DM Sans ExtraBold" pitchFamily="34" charset="0"/>
                <a:ea typeface="DM Sans ExtraBold" pitchFamily="34" charset="-122"/>
                <a:cs typeface="DM Sans ExtraBold" pitchFamily="34" charset="-120"/>
              </a:rPr>
              <a:t>TexCycle AI: Our Integrated System</a:t>
            </a:r>
            <a:endParaRPr lang="en-US" sz="2800" dirty="0"/>
          </a:p>
        </p:txBody>
      </p:sp>
      <p:sp>
        <p:nvSpPr>
          <p:cNvPr id="14" name="Text 9"/>
          <p:cNvSpPr/>
          <p:nvPr/>
        </p:nvSpPr>
        <p:spPr>
          <a:xfrm>
            <a:off x="631908" y="4703663"/>
            <a:ext cx="10927878" cy="906661"/>
          </a:xfrm>
          <a:prstGeom prst="rect">
            <a:avLst/>
          </a:prstGeom>
          <a:noFill/>
          <a:ln/>
        </p:spPr>
        <p:txBody>
          <a:bodyPr wrap="square" lIns="0" tIns="68608" rIns="0" bIns="0" rtlCol="0" anchor="t">
            <a:normAutofit/>
          </a:bodyPr>
          <a:lstStyle/>
          <a:p>
            <a:pPr marL="274320" indent="-274320" algn="l">
              <a:lnSpc>
                <a:spcPct val="89000"/>
              </a:lnSpc>
              <a:buSzPct val="100000"/>
              <a:buChar char="•"/>
            </a:pPr>
            <a:r>
              <a:rPr lang="en-US" sz="1350" dirty="0">
                <a:solidFill>
                  <a:srgbClr val="23231E"/>
                </a:solidFill>
                <a:latin typeface="Inter Light" pitchFamily="34" charset="0"/>
                <a:ea typeface="Inter Light" pitchFamily="34" charset="-122"/>
                <a:cs typeface="Inter Light" pitchFamily="34" charset="-120"/>
              </a:rPr>
              <a:t>Comprehensive Fabric Classification</a:t>
            </a:r>
            <a:endParaRPr lang="en-US" sz="1350" dirty="0"/>
          </a:p>
          <a:p>
            <a:pPr marL="274320" indent="-274320" algn="l">
              <a:lnSpc>
                <a:spcPct val="89000"/>
              </a:lnSpc>
              <a:buSzPct val="100000"/>
              <a:buChar char="•"/>
            </a:pPr>
            <a:r>
              <a:rPr lang="en-US" sz="1350" dirty="0">
                <a:solidFill>
                  <a:srgbClr val="23231E"/>
                </a:solidFill>
                <a:latin typeface="Inter Light" pitchFamily="34" charset="0"/>
                <a:ea typeface="Inter Light" pitchFamily="34" charset="-122"/>
                <a:cs typeface="Inter Light" pitchFamily="34" charset="-120"/>
              </a:rPr>
              <a:t>Detailed Defect Analysis</a:t>
            </a:r>
            <a:endParaRPr lang="en-US" sz="1350" dirty="0"/>
          </a:p>
          <a:p>
            <a:pPr marL="274320" indent="-274320" algn="l">
              <a:lnSpc>
                <a:spcPct val="89000"/>
              </a:lnSpc>
              <a:buSzPct val="100000"/>
              <a:buChar char="•"/>
            </a:pPr>
            <a:r>
              <a:rPr lang="en-US" sz="1350" dirty="0">
                <a:solidFill>
                  <a:srgbClr val="23231E"/>
                </a:solidFill>
                <a:latin typeface="Inter Light" pitchFamily="34" charset="0"/>
                <a:ea typeface="Inter Light" pitchFamily="34" charset="-122"/>
                <a:cs typeface="Inter Light" pitchFamily="34" charset="-120"/>
              </a:rPr>
              <a:t>Overall Condition Assessment</a:t>
            </a:r>
            <a:endParaRPr lang="en-US" sz="1350" dirty="0"/>
          </a:p>
          <a:p>
            <a:pPr marL="274320" indent="-274320" algn="l">
              <a:lnSpc>
                <a:spcPct val="89000"/>
              </a:lnSpc>
              <a:buSzPct val="100000"/>
              <a:buChar char="•"/>
            </a:pPr>
            <a:r>
              <a:rPr lang="en-US" sz="1350" dirty="0">
                <a:solidFill>
                  <a:srgbClr val="23231E"/>
                </a:solidFill>
                <a:latin typeface="Inter Light" pitchFamily="34" charset="0"/>
                <a:ea typeface="Inter Light" pitchFamily="34" charset="-122"/>
                <a:cs typeface="Inter Light" pitchFamily="34" charset="-120"/>
              </a:rPr>
              <a:t>Seamless Marketplace Integration</a:t>
            </a:r>
            <a:endParaRPr lang="en-US" sz="1350" dirty="0"/>
          </a:p>
        </p:txBody>
      </p:sp>
      <p:grpSp>
        <p:nvGrpSpPr>
          <p:cNvPr id="15" name="Group 14">
            <a:extLst>
              <a:ext uri="{FF2B5EF4-FFF2-40B4-BE49-F238E27FC236}">
                <a16:creationId xmlns:a16="http://schemas.microsoft.com/office/drawing/2014/main" id="{65A16221-2A03-455F-85D6-1E21B2C86C35}"/>
              </a:ext>
            </a:extLst>
          </p:cNvPr>
          <p:cNvGrpSpPr/>
          <p:nvPr/>
        </p:nvGrpSpPr>
        <p:grpSpPr>
          <a:xfrm>
            <a:off x="10686552" y="6506574"/>
            <a:ext cx="1505131" cy="351434"/>
            <a:chOff x="2623154" y="413097"/>
            <a:chExt cx="2599719" cy="525560"/>
          </a:xfrm>
        </p:grpSpPr>
        <p:sp>
          <p:nvSpPr>
            <p:cNvPr id="16" name="Freeform 15">
              <a:extLst>
                <a:ext uri="{FF2B5EF4-FFF2-40B4-BE49-F238E27FC236}">
                  <a16:creationId xmlns:a16="http://schemas.microsoft.com/office/drawing/2014/main" id="{33A75F0F-CB42-FEFD-7F7F-65BFB7750330}"/>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9"/>
              <a:stretch>
                <a:fillRect l="-64" r="-64" b="1"/>
              </a:stretch>
            </a:blipFill>
          </p:spPr>
          <p:txBody>
            <a:bodyPr/>
            <a:lstStyle/>
            <a:p>
              <a:endParaRPr lang="en-US" sz="1200" dirty="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31908" y="508298"/>
            <a:ext cx="10927878" cy="452834"/>
          </a:xfrm>
          <a:prstGeom prst="rect">
            <a:avLst/>
          </a:prstGeom>
          <a:noFill/>
          <a:ln/>
        </p:spPr>
        <p:txBody>
          <a:bodyPr wrap="none" lIns="0" tIns="0" rIns="0" bIns="0" rtlCol="0" anchor="t"/>
          <a:lstStyle/>
          <a:p>
            <a:pPr marL="0" indent="0" algn="l">
              <a:lnSpc>
                <a:spcPct val="83000"/>
              </a:lnSpc>
              <a:buNone/>
            </a:pPr>
            <a:r>
              <a:rPr lang="en-US" sz="3550" kern="0" spc="-107" dirty="0">
                <a:solidFill>
                  <a:srgbClr val="383830"/>
                </a:solidFill>
                <a:latin typeface="DM Sans ExtraBold" pitchFamily="34" charset="0"/>
                <a:ea typeface="DM Sans ExtraBold" pitchFamily="34" charset="-122"/>
                <a:cs typeface="DM Sans ExtraBold" pitchFamily="34" charset="-120"/>
              </a:rPr>
              <a:t>Latest Technologies Used</a:t>
            </a:r>
            <a:endParaRPr lang="en-US" sz="355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908" y="1207095"/>
            <a:ext cx="5381887" cy="2610346"/>
          </a:xfrm>
          <a:prstGeom prst="rect">
            <a:avLst/>
          </a:prstGeom>
        </p:spPr>
      </p:pic>
      <p:pic>
        <p:nvPicPr>
          <p:cNvPr id="4"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193772" y="1355229"/>
            <a:ext cx="258062" cy="258068"/>
          </a:xfrm>
          <a:prstGeom prst="rect">
            <a:avLst/>
          </a:prstGeom>
        </p:spPr>
      </p:pic>
      <p:sp>
        <p:nvSpPr>
          <p:cNvPr id="5" name="Text 1"/>
          <p:cNvSpPr/>
          <p:nvPr/>
        </p:nvSpPr>
        <p:spPr>
          <a:xfrm>
            <a:off x="822999" y="1906389"/>
            <a:ext cx="4999706" cy="226417"/>
          </a:xfrm>
          <a:prstGeom prst="rect">
            <a:avLst/>
          </a:prstGeom>
          <a:noFill/>
          <a:ln/>
        </p:spPr>
        <p:txBody>
          <a:bodyPr wrap="none" lIns="0" tIns="0" rIns="0" bIns="0" rtlCol="0" anchor="t"/>
          <a:lstStyle/>
          <a:p>
            <a:pPr marL="0" indent="0" algn="l">
              <a:lnSpc>
                <a:spcPct val="83000"/>
              </a:lnSpc>
              <a:buNone/>
            </a:pPr>
            <a:r>
              <a:rPr lang="en-US" sz="1750" kern="0" spc="-53" dirty="0">
                <a:solidFill>
                  <a:srgbClr val="23231E"/>
                </a:solidFill>
                <a:latin typeface="DM Sans ExtraBold" pitchFamily="34" charset="0"/>
                <a:ea typeface="DM Sans ExtraBold" pitchFamily="34" charset="-122"/>
                <a:cs typeface="DM Sans ExtraBold" pitchFamily="34" charset="-120"/>
              </a:rPr>
              <a:t>Artificial Intelligence &amp; Deep Learning</a:t>
            </a:r>
            <a:endParaRPr lang="en-US" sz="1750" dirty="0"/>
          </a:p>
        </p:txBody>
      </p:sp>
      <p:sp>
        <p:nvSpPr>
          <p:cNvPr id="6" name="Text 2"/>
          <p:cNvSpPr/>
          <p:nvPr/>
        </p:nvSpPr>
        <p:spPr>
          <a:xfrm>
            <a:off x="822999" y="2231132"/>
            <a:ext cx="4999706" cy="1395214"/>
          </a:xfrm>
          <a:prstGeom prst="rect">
            <a:avLst/>
          </a:prstGeom>
          <a:noFill/>
          <a:ln/>
        </p:spPr>
        <p:txBody>
          <a:bodyPr wrap="square" lIns="0" tIns="68834" rIns="0" bIns="0" rtlCol="0" anchor="t">
            <a:normAutofit/>
          </a:bodyPr>
          <a:lstStyle/>
          <a:p>
            <a:pPr marL="274320" indent="-274320" algn="l">
              <a:lnSpc>
                <a:spcPct val="90000"/>
              </a:lnSpc>
              <a:buSzPct val="100000"/>
              <a:buChar char="•"/>
            </a:pPr>
            <a:r>
              <a:rPr lang="en-US" sz="1350" dirty="0">
                <a:solidFill>
                  <a:srgbClr val="23231E"/>
                </a:solidFill>
                <a:latin typeface="Inter Light" pitchFamily="34" charset="0"/>
                <a:ea typeface="Inter Light" pitchFamily="34" charset="-122"/>
                <a:cs typeface="Inter Light" pitchFamily="34" charset="-120"/>
              </a:rPr>
              <a:t>CNN</a:t>
            </a:r>
            <a:endParaRPr lang="en-US" sz="1350" dirty="0"/>
          </a:p>
          <a:p>
            <a:pPr marL="274320" indent="-274320" algn="l">
              <a:lnSpc>
                <a:spcPct val="90000"/>
              </a:lnSpc>
              <a:buSzPct val="100000"/>
              <a:buChar char="•"/>
            </a:pPr>
            <a:r>
              <a:rPr lang="en-US" sz="1350" dirty="0">
                <a:solidFill>
                  <a:srgbClr val="23231E"/>
                </a:solidFill>
                <a:latin typeface="Inter Light" pitchFamily="34" charset="0"/>
                <a:ea typeface="Inter Light" pitchFamily="34" charset="-122"/>
                <a:cs typeface="Inter Light" pitchFamily="34" charset="-120"/>
              </a:rPr>
              <a:t>Transfer Learning</a:t>
            </a:r>
            <a:endParaRPr lang="en-US" sz="1350" dirty="0"/>
          </a:p>
          <a:p>
            <a:pPr marL="274320" indent="-274320" algn="l">
              <a:lnSpc>
                <a:spcPct val="90000"/>
              </a:lnSpc>
              <a:buSzPct val="100000"/>
              <a:buChar char="•"/>
            </a:pPr>
            <a:r>
              <a:rPr lang="en-US" sz="1350" dirty="0">
                <a:solidFill>
                  <a:srgbClr val="23231E"/>
                </a:solidFill>
                <a:latin typeface="Inter Light" pitchFamily="34" charset="0"/>
                <a:ea typeface="Inter Light" pitchFamily="34" charset="-122"/>
                <a:cs typeface="Inter Light" pitchFamily="34" charset="-120"/>
              </a:rPr>
              <a:t>Computer Vision</a:t>
            </a:r>
            <a:endParaRPr lang="en-US" sz="1350" dirty="0"/>
          </a:p>
          <a:p>
            <a:pPr marL="274320" indent="-274320" algn="l">
              <a:lnSpc>
                <a:spcPct val="90000"/>
              </a:lnSpc>
              <a:buSzPct val="100000"/>
              <a:buChar char="•"/>
            </a:pPr>
            <a:r>
              <a:rPr lang="en-US" sz="1350" dirty="0">
                <a:solidFill>
                  <a:srgbClr val="23231E"/>
                </a:solidFill>
                <a:latin typeface="Inter Light" pitchFamily="34" charset="0"/>
                <a:ea typeface="Inter Light" pitchFamily="34" charset="-122"/>
                <a:cs typeface="Inter Light" pitchFamily="34" charset="-120"/>
              </a:rPr>
              <a:t>Image preprocessing</a:t>
            </a:r>
            <a:endParaRPr lang="en-US" sz="1350" dirty="0"/>
          </a:p>
          <a:p>
            <a:pPr marL="274320" indent="-274320" algn="l">
              <a:lnSpc>
                <a:spcPct val="90000"/>
              </a:lnSpc>
              <a:buSzPct val="100000"/>
              <a:buChar char="•"/>
            </a:pPr>
            <a:r>
              <a:rPr lang="en-US" sz="1350" dirty="0">
                <a:solidFill>
                  <a:srgbClr val="23231E"/>
                </a:solidFill>
                <a:latin typeface="Inter Light" pitchFamily="34" charset="0"/>
                <a:ea typeface="Inter Light" pitchFamily="34" charset="-122"/>
                <a:cs typeface="Inter Light" pitchFamily="34" charset="-120"/>
              </a:rPr>
              <a:t>Fabric classification</a:t>
            </a:r>
            <a:endParaRPr lang="en-US" sz="1350" dirty="0"/>
          </a:p>
          <a:p>
            <a:pPr marL="274320" indent="-274320" algn="l">
              <a:lnSpc>
                <a:spcPct val="90000"/>
              </a:lnSpc>
              <a:buSzPct val="100000"/>
              <a:buChar char="•"/>
            </a:pPr>
            <a:r>
              <a:rPr lang="en-US" sz="1350" dirty="0">
                <a:solidFill>
                  <a:srgbClr val="23231E"/>
                </a:solidFill>
                <a:latin typeface="Inter Light" pitchFamily="34" charset="0"/>
                <a:ea typeface="Inter Light" pitchFamily="34" charset="-122"/>
                <a:cs typeface="Inter Light" pitchFamily="34" charset="-120"/>
              </a:rPr>
              <a:t>Defect detection</a:t>
            </a:r>
            <a:endParaRPr lang="en-US" sz="1350" dirty="0"/>
          </a:p>
        </p:txBody>
      </p:sp>
      <p:pic>
        <p:nvPicPr>
          <p:cNvPr id="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77800" y="1207095"/>
            <a:ext cx="5381986" cy="2610346"/>
          </a:xfrm>
          <a:prstGeom prst="rect">
            <a:avLst/>
          </a:prstGeom>
        </p:spPr>
      </p:pic>
      <p:pic>
        <p:nvPicPr>
          <p:cNvPr id="8"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739763" y="1355229"/>
            <a:ext cx="258062" cy="258068"/>
          </a:xfrm>
          <a:prstGeom prst="rect">
            <a:avLst/>
          </a:prstGeom>
        </p:spPr>
      </p:pic>
      <p:sp>
        <p:nvSpPr>
          <p:cNvPr id="9" name="Text 3"/>
          <p:cNvSpPr/>
          <p:nvPr/>
        </p:nvSpPr>
        <p:spPr>
          <a:xfrm>
            <a:off x="6368891" y="1906389"/>
            <a:ext cx="4999805" cy="226417"/>
          </a:xfrm>
          <a:prstGeom prst="rect">
            <a:avLst/>
          </a:prstGeom>
          <a:noFill/>
          <a:ln/>
        </p:spPr>
        <p:txBody>
          <a:bodyPr wrap="none" lIns="0" tIns="0" rIns="0" bIns="0" rtlCol="0" anchor="t"/>
          <a:lstStyle/>
          <a:p>
            <a:pPr marL="0" indent="0" algn="l">
              <a:lnSpc>
                <a:spcPct val="83000"/>
              </a:lnSpc>
              <a:buNone/>
            </a:pPr>
            <a:r>
              <a:rPr lang="en-US" sz="1750" kern="0" spc="-53" dirty="0">
                <a:solidFill>
                  <a:srgbClr val="23231E"/>
                </a:solidFill>
                <a:latin typeface="DM Sans ExtraBold" pitchFamily="34" charset="0"/>
                <a:ea typeface="DM Sans ExtraBold" pitchFamily="34" charset="-122"/>
                <a:cs typeface="DM Sans ExtraBold" pitchFamily="34" charset="-120"/>
              </a:rPr>
              <a:t>Model</a:t>
            </a:r>
            <a:endParaRPr lang="en-US" sz="1750" dirty="0"/>
          </a:p>
        </p:txBody>
      </p:sp>
      <p:sp>
        <p:nvSpPr>
          <p:cNvPr id="10" name="Text 4"/>
          <p:cNvSpPr/>
          <p:nvPr/>
        </p:nvSpPr>
        <p:spPr>
          <a:xfrm>
            <a:off x="6368891" y="2231132"/>
            <a:ext cx="4999805" cy="184745"/>
          </a:xfrm>
          <a:prstGeom prst="rect">
            <a:avLst/>
          </a:prstGeom>
          <a:noFill/>
          <a:ln/>
        </p:spPr>
        <p:txBody>
          <a:bodyPr wrap="none" lIns="0" tIns="0" rIns="0" bIns="0" rtlCol="0" anchor="t"/>
          <a:lstStyle/>
          <a:p>
            <a:pPr marL="0" indent="0" algn="l">
              <a:lnSpc>
                <a:spcPct val="90000"/>
              </a:lnSpc>
              <a:buNone/>
            </a:pPr>
            <a:r>
              <a:rPr lang="en-US" sz="1350" dirty="0">
                <a:solidFill>
                  <a:srgbClr val="23231E"/>
                </a:solidFill>
                <a:latin typeface="Inter Light" pitchFamily="34" charset="0"/>
                <a:ea typeface="Inter Light" pitchFamily="34" charset="-122"/>
                <a:cs typeface="Inter Light" pitchFamily="34" charset="-120"/>
              </a:rPr>
              <a:t>EfficientNet-B3</a:t>
            </a:r>
            <a:endParaRPr lang="en-US" sz="1350" dirty="0"/>
          </a:p>
        </p:txBody>
      </p:sp>
      <p:pic>
        <p:nvPicPr>
          <p:cNvPr id="11"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1908" y="3981450"/>
            <a:ext cx="5381887" cy="2368252"/>
          </a:xfrm>
          <a:prstGeom prst="rect">
            <a:avLst/>
          </a:prstGeom>
        </p:spPr>
      </p:pic>
      <p:pic>
        <p:nvPicPr>
          <p:cNvPr id="12"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93772" y="4129584"/>
            <a:ext cx="258062" cy="258068"/>
          </a:xfrm>
          <a:prstGeom prst="rect">
            <a:avLst/>
          </a:prstGeom>
        </p:spPr>
      </p:pic>
      <p:sp>
        <p:nvSpPr>
          <p:cNvPr id="13" name="Text 5"/>
          <p:cNvSpPr/>
          <p:nvPr/>
        </p:nvSpPr>
        <p:spPr>
          <a:xfrm>
            <a:off x="822999" y="4680744"/>
            <a:ext cx="4999706" cy="226417"/>
          </a:xfrm>
          <a:prstGeom prst="rect">
            <a:avLst/>
          </a:prstGeom>
          <a:noFill/>
          <a:ln/>
        </p:spPr>
        <p:txBody>
          <a:bodyPr wrap="none" lIns="0" tIns="0" rIns="0" bIns="0" rtlCol="0" anchor="t"/>
          <a:lstStyle/>
          <a:p>
            <a:pPr marL="0" indent="0" algn="l">
              <a:lnSpc>
                <a:spcPct val="83000"/>
              </a:lnSpc>
              <a:buNone/>
            </a:pPr>
            <a:r>
              <a:rPr lang="en-US" sz="1750" kern="0" spc="-53" dirty="0">
                <a:solidFill>
                  <a:srgbClr val="23231E"/>
                </a:solidFill>
                <a:latin typeface="DM Sans ExtraBold" pitchFamily="34" charset="0"/>
                <a:ea typeface="DM Sans ExtraBold" pitchFamily="34" charset="-122"/>
                <a:cs typeface="DM Sans ExtraBold" pitchFamily="34" charset="-120"/>
              </a:rPr>
              <a:t>Supporting Technology</a:t>
            </a:r>
            <a:endParaRPr lang="en-US" sz="1750" dirty="0"/>
          </a:p>
        </p:txBody>
      </p:sp>
      <p:sp>
        <p:nvSpPr>
          <p:cNvPr id="14" name="Text 6"/>
          <p:cNvSpPr/>
          <p:nvPr/>
        </p:nvSpPr>
        <p:spPr>
          <a:xfrm>
            <a:off x="822999" y="5005487"/>
            <a:ext cx="4999706" cy="1153120"/>
          </a:xfrm>
          <a:prstGeom prst="rect">
            <a:avLst/>
          </a:prstGeom>
          <a:noFill/>
          <a:ln/>
        </p:spPr>
        <p:txBody>
          <a:bodyPr wrap="square" lIns="0" tIns="68834" rIns="0" bIns="0" rtlCol="0" anchor="t">
            <a:normAutofit/>
          </a:bodyPr>
          <a:lstStyle/>
          <a:p>
            <a:pPr marL="274320" indent="-274320" algn="l">
              <a:lnSpc>
                <a:spcPct val="90000"/>
              </a:lnSpc>
              <a:buSzPct val="100000"/>
              <a:buChar char="•"/>
            </a:pPr>
            <a:r>
              <a:rPr lang="en-US" sz="1350" dirty="0">
                <a:solidFill>
                  <a:srgbClr val="23231E"/>
                </a:solidFill>
                <a:latin typeface="Inter Light" pitchFamily="34" charset="0"/>
                <a:ea typeface="Inter Light" pitchFamily="34" charset="-122"/>
                <a:cs typeface="Inter Light" pitchFamily="34" charset="-120"/>
              </a:rPr>
              <a:t>Python</a:t>
            </a:r>
            <a:endParaRPr lang="en-US" sz="1350" dirty="0"/>
          </a:p>
          <a:p>
            <a:pPr marL="274320" indent="-274320" algn="l">
              <a:lnSpc>
                <a:spcPct val="90000"/>
              </a:lnSpc>
              <a:buSzPct val="100000"/>
              <a:buChar char="•"/>
            </a:pPr>
            <a:r>
              <a:rPr lang="en-US" sz="1350" dirty="0">
                <a:solidFill>
                  <a:srgbClr val="23231E"/>
                </a:solidFill>
                <a:latin typeface="Inter Light" pitchFamily="34" charset="0"/>
                <a:ea typeface="Inter Light" pitchFamily="34" charset="-122"/>
                <a:cs typeface="Inter Light" pitchFamily="34" charset="-120"/>
              </a:rPr>
              <a:t>PyTorch / ML environment</a:t>
            </a:r>
            <a:endParaRPr lang="en-US" sz="1350" dirty="0"/>
          </a:p>
          <a:p>
            <a:pPr marL="274320" indent="-274320" algn="l">
              <a:lnSpc>
                <a:spcPct val="90000"/>
              </a:lnSpc>
              <a:buSzPct val="100000"/>
              <a:buChar char="•"/>
            </a:pPr>
            <a:r>
              <a:rPr lang="en-US" sz="1350" dirty="0">
                <a:solidFill>
                  <a:srgbClr val="23231E"/>
                </a:solidFill>
                <a:latin typeface="Inter Light" pitchFamily="34" charset="0"/>
                <a:ea typeface="Inter Light" pitchFamily="34" charset="-122"/>
                <a:cs typeface="Inter Light" pitchFamily="34" charset="-120"/>
              </a:rPr>
              <a:t>FastAPI</a:t>
            </a:r>
            <a:endParaRPr lang="en-US" sz="1350" dirty="0"/>
          </a:p>
          <a:p>
            <a:pPr marL="274320" indent="-274320" algn="l">
              <a:lnSpc>
                <a:spcPct val="90000"/>
              </a:lnSpc>
              <a:buSzPct val="100000"/>
              <a:buChar char="•"/>
            </a:pPr>
            <a:r>
              <a:rPr lang="en-US" sz="1350" dirty="0">
                <a:solidFill>
                  <a:srgbClr val="23231E"/>
                </a:solidFill>
                <a:latin typeface="Inter Light" pitchFamily="34" charset="0"/>
                <a:ea typeface="Inter Light" pitchFamily="34" charset="-122"/>
                <a:cs typeface="Inter Light" pitchFamily="34" charset="-120"/>
              </a:rPr>
              <a:t>REST API</a:t>
            </a:r>
            <a:endParaRPr lang="en-US" sz="1350" dirty="0"/>
          </a:p>
          <a:p>
            <a:pPr marL="274320" indent="-274320" algn="l">
              <a:lnSpc>
                <a:spcPct val="90000"/>
              </a:lnSpc>
              <a:buSzPct val="100000"/>
              <a:buChar char="•"/>
            </a:pPr>
            <a:r>
              <a:rPr lang="en-US" sz="1350" dirty="0">
                <a:solidFill>
                  <a:srgbClr val="23231E"/>
                </a:solidFill>
                <a:latin typeface="Inter Light" pitchFamily="34" charset="0"/>
                <a:ea typeface="Inter Light" pitchFamily="34" charset="-122"/>
                <a:cs typeface="Inter Light" pitchFamily="34" charset="-120"/>
              </a:rPr>
              <a:t>React frontend</a:t>
            </a:r>
            <a:endParaRPr lang="en-US" sz="1350" dirty="0"/>
          </a:p>
        </p:txBody>
      </p:sp>
      <p:pic>
        <p:nvPicPr>
          <p:cNvPr id="15" name="Image 6"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177800" y="3981450"/>
            <a:ext cx="5381986" cy="2368252"/>
          </a:xfrm>
          <a:prstGeom prst="rect">
            <a:avLst/>
          </a:prstGeom>
        </p:spPr>
      </p:pic>
      <p:pic>
        <p:nvPicPr>
          <p:cNvPr id="16" name="Image 7" descr="preencoded.png"/>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739763" y="4129584"/>
            <a:ext cx="258062" cy="258068"/>
          </a:xfrm>
          <a:prstGeom prst="rect">
            <a:avLst/>
          </a:prstGeom>
        </p:spPr>
      </p:pic>
      <p:sp>
        <p:nvSpPr>
          <p:cNvPr id="17" name="Text 7"/>
          <p:cNvSpPr/>
          <p:nvPr/>
        </p:nvSpPr>
        <p:spPr>
          <a:xfrm>
            <a:off x="6368891" y="4680744"/>
            <a:ext cx="4999805" cy="226417"/>
          </a:xfrm>
          <a:prstGeom prst="rect">
            <a:avLst/>
          </a:prstGeom>
          <a:noFill/>
          <a:ln/>
        </p:spPr>
        <p:txBody>
          <a:bodyPr wrap="none" lIns="0" tIns="0" rIns="0" bIns="0" rtlCol="0" anchor="t"/>
          <a:lstStyle/>
          <a:p>
            <a:pPr marL="0" indent="0" algn="l">
              <a:lnSpc>
                <a:spcPct val="83000"/>
              </a:lnSpc>
              <a:buNone/>
            </a:pPr>
            <a:r>
              <a:rPr lang="en-US" sz="1750" kern="0" spc="-53" dirty="0">
                <a:solidFill>
                  <a:srgbClr val="23231E"/>
                </a:solidFill>
                <a:latin typeface="DM Sans ExtraBold" pitchFamily="34" charset="0"/>
                <a:ea typeface="DM Sans ExtraBold" pitchFamily="34" charset="-122"/>
                <a:cs typeface="DM Sans ExtraBold" pitchFamily="34" charset="-120"/>
              </a:rPr>
              <a:t>Key Domains</a:t>
            </a:r>
            <a:endParaRPr lang="en-US" sz="1750" dirty="0"/>
          </a:p>
        </p:txBody>
      </p:sp>
      <p:sp>
        <p:nvSpPr>
          <p:cNvPr id="18" name="Text 8"/>
          <p:cNvSpPr/>
          <p:nvPr/>
        </p:nvSpPr>
        <p:spPr>
          <a:xfrm>
            <a:off x="6368891" y="5005487"/>
            <a:ext cx="4999805" cy="1153120"/>
          </a:xfrm>
          <a:prstGeom prst="rect">
            <a:avLst/>
          </a:prstGeom>
          <a:noFill/>
          <a:ln/>
        </p:spPr>
        <p:txBody>
          <a:bodyPr wrap="square" lIns="0" tIns="68834" rIns="0" bIns="0" rtlCol="0" anchor="t">
            <a:normAutofit/>
          </a:bodyPr>
          <a:lstStyle/>
          <a:p>
            <a:pPr marL="274320" indent="-274320" algn="l">
              <a:lnSpc>
                <a:spcPct val="90000"/>
              </a:lnSpc>
              <a:buSzPct val="100000"/>
              <a:buChar char="•"/>
            </a:pPr>
            <a:r>
              <a:rPr lang="en-US" sz="1350" dirty="0">
                <a:solidFill>
                  <a:srgbClr val="23231E"/>
                </a:solidFill>
                <a:latin typeface="Inter Light" pitchFamily="34" charset="0"/>
                <a:ea typeface="Inter Light" pitchFamily="34" charset="-122"/>
                <a:cs typeface="Inter Light" pitchFamily="34" charset="-120"/>
              </a:rPr>
              <a:t>Computer Vision</a:t>
            </a:r>
            <a:endParaRPr lang="en-US" sz="1350" dirty="0"/>
          </a:p>
          <a:p>
            <a:pPr marL="274320" indent="-274320" algn="l">
              <a:lnSpc>
                <a:spcPct val="90000"/>
              </a:lnSpc>
              <a:buSzPct val="100000"/>
              <a:buChar char="•"/>
            </a:pPr>
            <a:r>
              <a:rPr lang="en-US" sz="1350" dirty="0">
                <a:solidFill>
                  <a:srgbClr val="23231E"/>
                </a:solidFill>
                <a:latin typeface="Inter Light" pitchFamily="34" charset="0"/>
                <a:ea typeface="Inter Light" pitchFamily="34" charset="-122"/>
                <a:cs typeface="Inter Light" pitchFamily="34" charset="-120"/>
              </a:rPr>
              <a:t>Deep Learning</a:t>
            </a:r>
            <a:endParaRPr lang="en-US" sz="1350" dirty="0"/>
          </a:p>
          <a:p>
            <a:pPr marL="274320" indent="-274320" algn="l">
              <a:lnSpc>
                <a:spcPct val="90000"/>
              </a:lnSpc>
              <a:buSzPct val="100000"/>
              <a:buChar char="•"/>
            </a:pPr>
            <a:r>
              <a:rPr lang="en-US" sz="1350" dirty="0">
                <a:solidFill>
                  <a:srgbClr val="23231E"/>
                </a:solidFill>
                <a:latin typeface="Inter Light" pitchFamily="34" charset="0"/>
                <a:ea typeface="Inter Light" pitchFamily="34" charset="-122"/>
                <a:cs typeface="Inter Light" pitchFamily="34" charset="-120"/>
              </a:rPr>
              <a:t>Textile Material Science</a:t>
            </a:r>
            <a:endParaRPr lang="en-US" sz="1350" dirty="0"/>
          </a:p>
          <a:p>
            <a:pPr marL="274320" indent="-274320" algn="l">
              <a:lnSpc>
                <a:spcPct val="90000"/>
              </a:lnSpc>
              <a:buSzPct val="100000"/>
              <a:buChar char="•"/>
            </a:pPr>
            <a:r>
              <a:rPr lang="en-US" sz="1350" dirty="0">
                <a:solidFill>
                  <a:srgbClr val="23231E"/>
                </a:solidFill>
                <a:latin typeface="Inter Light" pitchFamily="34" charset="0"/>
                <a:ea typeface="Inter Light" pitchFamily="34" charset="-122"/>
                <a:cs typeface="Inter Light" pitchFamily="34" charset="-120"/>
              </a:rPr>
              <a:t>Image Processing</a:t>
            </a:r>
            <a:endParaRPr lang="en-US" sz="1350" dirty="0"/>
          </a:p>
          <a:p>
            <a:pPr marL="274320" indent="-274320" algn="l">
              <a:lnSpc>
                <a:spcPct val="90000"/>
              </a:lnSpc>
              <a:buSzPct val="100000"/>
              <a:buChar char="•"/>
            </a:pPr>
            <a:r>
              <a:rPr lang="en-US" sz="1350" dirty="0">
                <a:solidFill>
                  <a:srgbClr val="23231E"/>
                </a:solidFill>
                <a:latin typeface="Inter Light" pitchFamily="34" charset="0"/>
                <a:ea typeface="Inter Light" pitchFamily="34" charset="-122"/>
                <a:cs typeface="Inter Light" pitchFamily="34" charset="-120"/>
              </a:rPr>
              <a:t>Machine Learning</a:t>
            </a:r>
            <a:endParaRPr lang="en-US" sz="1350" dirty="0"/>
          </a:p>
        </p:txBody>
      </p:sp>
      <p:grpSp>
        <p:nvGrpSpPr>
          <p:cNvPr id="19" name="Group 18">
            <a:extLst>
              <a:ext uri="{FF2B5EF4-FFF2-40B4-BE49-F238E27FC236}">
                <a16:creationId xmlns:a16="http://schemas.microsoft.com/office/drawing/2014/main" id="{91825389-9641-BB4C-2576-79F0E65A86B4}"/>
              </a:ext>
            </a:extLst>
          </p:cNvPr>
          <p:cNvGrpSpPr/>
          <p:nvPr/>
        </p:nvGrpSpPr>
        <p:grpSpPr>
          <a:xfrm>
            <a:off x="10686552" y="6506574"/>
            <a:ext cx="1505131" cy="351434"/>
            <a:chOff x="2623154" y="413097"/>
            <a:chExt cx="2599719" cy="525560"/>
          </a:xfrm>
        </p:grpSpPr>
        <p:sp>
          <p:nvSpPr>
            <p:cNvPr id="20" name="Freeform 19">
              <a:extLst>
                <a:ext uri="{FF2B5EF4-FFF2-40B4-BE49-F238E27FC236}">
                  <a16:creationId xmlns:a16="http://schemas.microsoft.com/office/drawing/2014/main" id="{83C1A521-C84A-6AA6-D520-7F9506E7D12B}"/>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19"/>
              <a:stretch>
                <a:fillRect l="-64" r="-64" b="1"/>
              </a:stretch>
            </a:blipFill>
          </p:spPr>
          <p:txBody>
            <a:bodyPr/>
            <a:lstStyle/>
            <a:p>
              <a:endParaRPr lang="en-US" sz="1200" dirty="0"/>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8790" y="0"/>
                </a:moveTo>
                <a:lnTo>
                  <a:pt x="100000" y="0"/>
                </a:lnTo>
                <a:lnTo>
                  <a:pt x="100000" y="100000"/>
                </a:lnTo>
                <a:lnTo>
                  <a:pt x="13180" y="99900"/>
                </a:lnTo>
                <a:lnTo>
                  <a:pt x="8110" y="91990"/>
                </a:lnTo>
                <a:lnTo>
                  <a:pt x="4200" y="84670"/>
                </a:lnTo>
                <a:lnTo>
                  <a:pt x="2640" y="81150"/>
                </a:lnTo>
                <a:lnTo>
                  <a:pt x="1270" y="77440"/>
                </a:lnTo>
                <a:lnTo>
                  <a:pt x="490" y="74610"/>
                </a:lnTo>
                <a:lnTo>
                  <a:pt x="0" y="71480"/>
                </a:lnTo>
                <a:lnTo>
                  <a:pt x="200" y="67290"/>
                </a:lnTo>
                <a:lnTo>
                  <a:pt x="1270" y="63280"/>
                </a:lnTo>
                <a:lnTo>
                  <a:pt x="2830" y="59860"/>
                </a:lnTo>
                <a:lnTo>
                  <a:pt x="5080" y="56050"/>
                </a:lnTo>
                <a:lnTo>
                  <a:pt x="6840" y="52540"/>
                </a:lnTo>
                <a:lnTo>
                  <a:pt x="7910" y="49610"/>
                </a:lnTo>
                <a:lnTo>
                  <a:pt x="8690" y="45700"/>
                </a:lnTo>
                <a:lnTo>
                  <a:pt x="8790" y="40140"/>
                </a:lnTo>
                <a:lnTo>
                  <a:pt x="8590" y="36520"/>
                </a:lnTo>
                <a:lnTo>
                  <a:pt x="8110" y="31930"/>
                </a:lnTo>
                <a:lnTo>
                  <a:pt x="6540" y="21970"/>
                </a:lnTo>
                <a:lnTo>
                  <a:pt x="6150" y="14750"/>
                </a:lnTo>
                <a:lnTo>
                  <a:pt x="6450" y="10350"/>
                </a:lnTo>
                <a:lnTo>
                  <a:pt x="6930" y="7030"/>
                </a:lnTo>
                <a:lnTo>
                  <a:pt x="7910" y="2640"/>
                </a:lnTo>
                <a:close/>
              </a:path>
            </a:pathLst>
          </a:custGeom>
        </p:spPr>
      </p:pic>
      <p:sp>
        <p:nvSpPr>
          <p:cNvPr id="3" name="Text 0"/>
          <p:cNvSpPr/>
          <p:nvPr/>
        </p:nvSpPr>
        <p:spPr>
          <a:xfrm>
            <a:off x="631908" y="540742"/>
            <a:ext cx="6355993" cy="403820"/>
          </a:xfrm>
          <a:prstGeom prst="rect">
            <a:avLst/>
          </a:prstGeom>
          <a:noFill/>
          <a:ln/>
        </p:spPr>
        <p:txBody>
          <a:bodyPr wrap="none" lIns="0" tIns="0" rIns="0" bIns="0" rtlCol="0" anchor="t"/>
          <a:lstStyle/>
          <a:p>
            <a:pPr marL="0" indent="0" algn="l">
              <a:lnSpc>
                <a:spcPct val="83000"/>
              </a:lnSpc>
              <a:buNone/>
            </a:pPr>
            <a:r>
              <a:rPr lang="en-US" sz="3150" kern="0" spc="-95" dirty="0">
                <a:solidFill>
                  <a:srgbClr val="383830"/>
                </a:solidFill>
                <a:latin typeface="DM Sans ExtraBold" pitchFamily="34" charset="0"/>
                <a:ea typeface="DM Sans ExtraBold" pitchFamily="34" charset="-122"/>
                <a:cs typeface="DM Sans ExtraBold" pitchFamily="34" charset="-120"/>
              </a:rPr>
              <a:t>Evaluation and Validation</a:t>
            </a:r>
            <a:endParaRPr lang="en-US" sz="3150" dirty="0"/>
          </a:p>
        </p:txBody>
      </p:sp>
      <p:sp>
        <p:nvSpPr>
          <p:cNvPr id="4" name="Text 1"/>
          <p:cNvSpPr/>
          <p:nvPr/>
        </p:nvSpPr>
        <p:spPr>
          <a:xfrm>
            <a:off x="631908" y="996652"/>
            <a:ext cx="6355993" cy="242292"/>
          </a:xfrm>
          <a:prstGeom prst="rect">
            <a:avLst/>
          </a:prstGeom>
          <a:noFill/>
          <a:ln/>
        </p:spPr>
        <p:txBody>
          <a:bodyPr wrap="none" lIns="0" tIns="0" rIns="0" bIns="0" rtlCol="0" anchor="t"/>
          <a:lstStyle/>
          <a:p>
            <a:pPr marL="0" indent="0" algn="l">
              <a:lnSpc>
                <a:spcPct val="83000"/>
              </a:lnSpc>
              <a:buNone/>
            </a:pPr>
            <a:r>
              <a:rPr lang="en-US" sz="1900" kern="0" spc="-57" dirty="0">
                <a:solidFill>
                  <a:srgbClr val="383830"/>
                </a:solidFill>
                <a:latin typeface="DM Sans ExtraBold" pitchFamily="34" charset="0"/>
                <a:ea typeface="DM Sans ExtraBold" pitchFamily="34" charset="-122"/>
                <a:cs typeface="DM Sans ExtraBold" pitchFamily="34" charset="-120"/>
              </a:rPr>
              <a:t>Model Evaluation Metrics</a:t>
            </a:r>
            <a:endParaRPr lang="en-US" sz="190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2859" y="1415554"/>
            <a:ext cx="3115490" cy="832445"/>
          </a:xfrm>
          <a:prstGeom prst="rect">
            <a:avLst/>
          </a:prstGeom>
        </p:spPr>
      </p:pic>
      <p:sp>
        <p:nvSpPr>
          <p:cNvPr id="6" name="Text 2"/>
          <p:cNvSpPr/>
          <p:nvPr/>
        </p:nvSpPr>
        <p:spPr>
          <a:xfrm>
            <a:off x="823396" y="1434604"/>
            <a:ext cx="2904953" cy="403820"/>
          </a:xfrm>
          <a:prstGeom prst="rect">
            <a:avLst/>
          </a:prstGeom>
          <a:noFill/>
          <a:ln/>
        </p:spPr>
        <p:txBody>
          <a:bodyPr wrap="square" lIns="0" tIns="0" rIns="0" bIns="0" rtlCol="0" anchor="t">
            <a:normAutofit/>
          </a:bodyPr>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Accuracy, Precision, Recall, F1 Score</a:t>
            </a:r>
            <a:endParaRPr lang="en-US" sz="1550" dirty="0"/>
          </a:p>
        </p:txBody>
      </p:sp>
      <p:sp>
        <p:nvSpPr>
          <p:cNvPr id="7" name="Text 3"/>
          <p:cNvSpPr/>
          <p:nvPr/>
        </p:nvSpPr>
        <p:spPr>
          <a:xfrm>
            <a:off x="823396" y="1916609"/>
            <a:ext cx="2904953" cy="312341"/>
          </a:xfrm>
          <a:prstGeom prst="rect">
            <a:avLst/>
          </a:prstGeom>
          <a:noFill/>
          <a:ln/>
        </p:spPr>
        <p:txBody>
          <a:bodyPr wrap="square" lIns="0" tIns="0" rIns="0" bIns="0" rtlCol="0" anchor="t">
            <a:normAutofit/>
          </a:bodyPr>
          <a:lstStyle/>
          <a:p>
            <a:pPr marL="0" indent="0" algn="l">
              <a:lnSpc>
                <a:spcPct val="85000"/>
              </a:lnSpc>
              <a:buNone/>
            </a:pPr>
            <a:r>
              <a:rPr lang="en-US" sz="1200" dirty="0">
                <a:solidFill>
                  <a:srgbClr val="23231E"/>
                </a:solidFill>
                <a:latin typeface="Inter Light" pitchFamily="34" charset="0"/>
                <a:ea typeface="Inter Light" pitchFamily="34" charset="-122"/>
                <a:cs typeface="Inter Light" pitchFamily="34" charset="-120"/>
              </a:rPr>
              <a:t>Standard metrics for comprehensive classification performance assessment.</a:t>
            </a:r>
            <a:endParaRPr lang="en-US" sz="1200" dirty="0"/>
          </a:p>
        </p:txBody>
      </p:sp>
      <p:pic>
        <p:nvPicPr>
          <p:cNvPr id="8"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72312" y="1415554"/>
            <a:ext cx="3115589" cy="832445"/>
          </a:xfrm>
          <a:prstGeom prst="rect">
            <a:avLst/>
          </a:prstGeom>
        </p:spPr>
      </p:pic>
      <p:sp>
        <p:nvSpPr>
          <p:cNvPr id="9" name="Text 4"/>
          <p:cNvSpPr/>
          <p:nvPr/>
        </p:nvSpPr>
        <p:spPr>
          <a:xfrm>
            <a:off x="4082849" y="1434604"/>
            <a:ext cx="2905052" cy="201910"/>
          </a:xfrm>
          <a:prstGeom prst="rect">
            <a:avLst/>
          </a:prstGeom>
          <a:noFill/>
          <a:ln/>
        </p:spPr>
        <p:txBody>
          <a:bodyPr wrap="none" lIns="0" tIns="0" rIns="0" bIns="0" rtlCol="0" anchor="t"/>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Confusion Matrix</a:t>
            </a:r>
            <a:endParaRPr lang="en-US" sz="1550" dirty="0"/>
          </a:p>
        </p:txBody>
      </p:sp>
      <p:sp>
        <p:nvSpPr>
          <p:cNvPr id="10" name="Text 5"/>
          <p:cNvSpPr/>
          <p:nvPr/>
        </p:nvSpPr>
        <p:spPr>
          <a:xfrm>
            <a:off x="4082849" y="1714698"/>
            <a:ext cx="2905052" cy="312341"/>
          </a:xfrm>
          <a:prstGeom prst="rect">
            <a:avLst/>
          </a:prstGeom>
          <a:noFill/>
          <a:ln/>
        </p:spPr>
        <p:txBody>
          <a:bodyPr wrap="square" lIns="0" tIns="0" rIns="0" bIns="0" rtlCol="0" anchor="t">
            <a:normAutofit/>
          </a:bodyPr>
          <a:lstStyle/>
          <a:p>
            <a:pPr marL="0" indent="0" algn="l">
              <a:lnSpc>
                <a:spcPct val="85000"/>
              </a:lnSpc>
              <a:buNone/>
            </a:pPr>
            <a:r>
              <a:rPr lang="en-US" sz="1200" dirty="0">
                <a:solidFill>
                  <a:srgbClr val="23231E"/>
                </a:solidFill>
                <a:latin typeface="Inter Light" pitchFamily="34" charset="0"/>
                <a:ea typeface="Inter Light" pitchFamily="34" charset="-122"/>
                <a:cs typeface="Inter Light" pitchFamily="34" charset="-120"/>
              </a:rPr>
              <a:t>Detailed breakdown of classification outcomes for each fabric class.</a:t>
            </a:r>
            <a:endParaRPr lang="en-US" sz="1200" dirty="0"/>
          </a:p>
        </p:txBody>
      </p:sp>
      <p:pic>
        <p:nvPicPr>
          <p:cNvPr id="11"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12859" y="2470745"/>
            <a:ext cx="6375042" cy="474365"/>
          </a:xfrm>
          <a:prstGeom prst="rect">
            <a:avLst/>
          </a:prstGeom>
        </p:spPr>
      </p:pic>
      <p:sp>
        <p:nvSpPr>
          <p:cNvPr id="12" name="Text 6"/>
          <p:cNvSpPr/>
          <p:nvPr/>
        </p:nvSpPr>
        <p:spPr>
          <a:xfrm>
            <a:off x="823396" y="2489795"/>
            <a:ext cx="6164505" cy="201910"/>
          </a:xfrm>
          <a:prstGeom prst="rect">
            <a:avLst/>
          </a:prstGeom>
          <a:noFill/>
          <a:ln/>
        </p:spPr>
        <p:txBody>
          <a:bodyPr wrap="none" lIns="0" tIns="0" rIns="0" bIns="0" rtlCol="0" anchor="t"/>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Confidence Analysis</a:t>
            </a:r>
            <a:endParaRPr lang="en-US" sz="1550" dirty="0"/>
          </a:p>
        </p:txBody>
      </p:sp>
      <p:sp>
        <p:nvSpPr>
          <p:cNvPr id="13" name="Text 7"/>
          <p:cNvSpPr/>
          <p:nvPr/>
        </p:nvSpPr>
        <p:spPr>
          <a:xfrm>
            <a:off x="823396" y="2769890"/>
            <a:ext cx="6164505" cy="156170"/>
          </a:xfrm>
          <a:prstGeom prst="rect">
            <a:avLst/>
          </a:prstGeom>
          <a:noFill/>
          <a:ln/>
        </p:spPr>
        <p:txBody>
          <a:bodyPr wrap="none" lIns="0" tIns="0" rIns="0" bIns="0" rtlCol="0" anchor="t"/>
          <a:lstStyle/>
          <a:p>
            <a:pPr marL="0" indent="0" algn="l">
              <a:lnSpc>
                <a:spcPct val="85000"/>
              </a:lnSpc>
              <a:buNone/>
            </a:pPr>
            <a:r>
              <a:rPr lang="en-US" sz="1200" dirty="0">
                <a:solidFill>
                  <a:srgbClr val="23231E"/>
                </a:solidFill>
                <a:latin typeface="Inter Light" pitchFamily="34" charset="0"/>
                <a:ea typeface="Inter Light" pitchFamily="34" charset="-122"/>
                <a:cs typeface="Inter Light" pitchFamily="34" charset="-120"/>
              </a:rPr>
              <a:t>Evaluation of the model's prediction certainty, crucial for real-world application.</a:t>
            </a:r>
            <a:endParaRPr lang="en-US" sz="1200" dirty="0"/>
          </a:p>
        </p:txBody>
      </p:sp>
      <p:sp>
        <p:nvSpPr>
          <p:cNvPr id="14" name="Text 8"/>
          <p:cNvSpPr/>
          <p:nvPr/>
        </p:nvSpPr>
        <p:spPr>
          <a:xfrm>
            <a:off x="631908" y="3121720"/>
            <a:ext cx="6355993" cy="242292"/>
          </a:xfrm>
          <a:prstGeom prst="rect">
            <a:avLst/>
          </a:prstGeom>
          <a:noFill/>
          <a:ln/>
        </p:spPr>
        <p:txBody>
          <a:bodyPr wrap="none" lIns="0" tIns="0" rIns="0" bIns="0" rtlCol="0" anchor="t"/>
          <a:lstStyle/>
          <a:p>
            <a:pPr marL="0" indent="0" algn="l">
              <a:lnSpc>
                <a:spcPct val="83000"/>
              </a:lnSpc>
              <a:buNone/>
            </a:pPr>
            <a:r>
              <a:rPr lang="en-US" sz="1900" kern="0" spc="-57" dirty="0">
                <a:solidFill>
                  <a:srgbClr val="383830"/>
                </a:solidFill>
                <a:latin typeface="DM Sans ExtraBold" pitchFamily="34" charset="0"/>
                <a:ea typeface="DM Sans ExtraBold" pitchFamily="34" charset="-122"/>
                <a:cs typeface="DM Sans ExtraBold" pitchFamily="34" charset="-120"/>
              </a:rPr>
              <a:t>Defect Analysis Metrics</a:t>
            </a:r>
            <a:endParaRPr lang="en-US" sz="1900" dirty="0"/>
          </a:p>
        </p:txBody>
      </p:sp>
      <p:sp>
        <p:nvSpPr>
          <p:cNvPr id="15" name="Text 9"/>
          <p:cNvSpPr/>
          <p:nvPr/>
        </p:nvSpPr>
        <p:spPr>
          <a:xfrm>
            <a:off x="631908" y="3559671"/>
            <a:ext cx="6355993" cy="357981"/>
          </a:xfrm>
          <a:prstGeom prst="rect">
            <a:avLst/>
          </a:prstGeom>
          <a:noFill/>
          <a:ln/>
        </p:spPr>
        <p:txBody>
          <a:bodyPr wrap="square" lIns="0" tIns="61386" rIns="0" bIns="0" rtlCol="0" anchor="t">
            <a:normAutofit lnSpcReduction="10000"/>
          </a:bodyPr>
          <a:lstStyle/>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Defect detection quality </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Accuracy of defect-area estimation</a:t>
            </a:r>
            <a:endParaRPr lang="en-US" sz="1200" dirty="0"/>
          </a:p>
        </p:txBody>
      </p:sp>
      <p:sp>
        <p:nvSpPr>
          <p:cNvPr id="16" name="Text 10"/>
          <p:cNvSpPr/>
          <p:nvPr/>
        </p:nvSpPr>
        <p:spPr>
          <a:xfrm>
            <a:off x="631908" y="4113312"/>
            <a:ext cx="6355993" cy="242292"/>
          </a:xfrm>
          <a:prstGeom prst="rect">
            <a:avLst/>
          </a:prstGeom>
          <a:noFill/>
          <a:ln/>
        </p:spPr>
        <p:txBody>
          <a:bodyPr wrap="none" lIns="0" tIns="0" rIns="0" bIns="0" rtlCol="0" anchor="t"/>
          <a:lstStyle/>
          <a:p>
            <a:pPr marL="0" indent="0" algn="l">
              <a:lnSpc>
                <a:spcPct val="83000"/>
              </a:lnSpc>
              <a:buNone/>
            </a:pPr>
            <a:r>
              <a:rPr lang="en-US" sz="1900" kern="0" spc="-57" dirty="0">
                <a:solidFill>
                  <a:srgbClr val="383830"/>
                </a:solidFill>
                <a:latin typeface="DM Sans ExtraBold" pitchFamily="34" charset="0"/>
                <a:ea typeface="DM Sans ExtraBold" pitchFamily="34" charset="-122"/>
                <a:cs typeface="DM Sans ExtraBold" pitchFamily="34" charset="-120"/>
              </a:rPr>
              <a:t>Data Utilized</a:t>
            </a:r>
            <a:endParaRPr lang="en-US" sz="1900" dirty="0"/>
          </a:p>
        </p:txBody>
      </p:sp>
      <p:sp>
        <p:nvSpPr>
          <p:cNvPr id="17" name="Text 11"/>
          <p:cNvSpPr/>
          <p:nvPr/>
        </p:nvSpPr>
        <p:spPr>
          <a:xfrm>
            <a:off x="631908" y="4551263"/>
            <a:ext cx="6355993" cy="761603"/>
          </a:xfrm>
          <a:prstGeom prst="rect">
            <a:avLst/>
          </a:prstGeom>
          <a:noFill/>
          <a:ln/>
        </p:spPr>
        <p:txBody>
          <a:bodyPr wrap="square" lIns="0" tIns="61386" rIns="0" bIns="0" rtlCol="0" anchor="t">
            <a:normAutofit/>
          </a:bodyPr>
          <a:lstStyle/>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Proprietary textile image dataset</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Locally collected textile samples from Sri Lanka</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Public textile datasets (where applicable)</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Augmented training images for model robustness</a:t>
            </a:r>
            <a:endParaRPr lang="en-US" sz="1200" dirty="0"/>
          </a:p>
        </p:txBody>
      </p:sp>
      <p:sp>
        <p:nvSpPr>
          <p:cNvPr id="18" name="Text 12"/>
          <p:cNvSpPr/>
          <p:nvPr/>
        </p:nvSpPr>
        <p:spPr>
          <a:xfrm>
            <a:off x="631908" y="5508526"/>
            <a:ext cx="6355993" cy="242292"/>
          </a:xfrm>
          <a:prstGeom prst="rect">
            <a:avLst/>
          </a:prstGeom>
          <a:noFill/>
          <a:ln/>
        </p:spPr>
        <p:txBody>
          <a:bodyPr wrap="none" lIns="0" tIns="0" rIns="0" bIns="0" rtlCol="0" anchor="t"/>
          <a:lstStyle/>
          <a:p>
            <a:pPr marL="0" indent="0" algn="l">
              <a:lnSpc>
                <a:spcPct val="83000"/>
              </a:lnSpc>
              <a:buNone/>
            </a:pPr>
            <a:r>
              <a:rPr lang="en-US" sz="1900" kern="0" spc="-57" dirty="0">
                <a:solidFill>
                  <a:srgbClr val="383830"/>
                </a:solidFill>
                <a:latin typeface="DM Sans ExtraBold" pitchFamily="34" charset="0"/>
                <a:ea typeface="DM Sans ExtraBold" pitchFamily="34" charset="-122"/>
                <a:cs typeface="DM Sans ExtraBold" pitchFamily="34" charset="-120"/>
              </a:rPr>
              <a:t>Current Implementation</a:t>
            </a:r>
            <a:endParaRPr lang="en-US" sz="1900" dirty="0"/>
          </a:p>
        </p:txBody>
      </p:sp>
      <p:sp>
        <p:nvSpPr>
          <p:cNvPr id="19" name="Text 13"/>
          <p:cNvSpPr/>
          <p:nvPr/>
        </p:nvSpPr>
        <p:spPr>
          <a:xfrm>
            <a:off x="631908" y="5946477"/>
            <a:ext cx="6355993" cy="370681"/>
          </a:xfrm>
          <a:prstGeom prst="rect">
            <a:avLst/>
          </a:prstGeom>
          <a:noFill/>
          <a:ln/>
        </p:spPr>
        <p:txBody>
          <a:bodyPr wrap="square" lIns="0" tIns="61386" rIns="0" bIns="0" rtlCol="0" anchor="t">
            <a:normAutofit lnSpcReduction="10000"/>
          </a:bodyPr>
          <a:lstStyle/>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Fabric Classifier: </a:t>
            </a:r>
            <a:r>
              <a:rPr lang="en-US" sz="1200" dirty="0">
                <a:solidFill>
                  <a:srgbClr val="23231E"/>
                </a:solidFill>
                <a:highlight>
                  <a:srgbClr val="F2F2F2"/>
                </a:highlight>
                <a:latin typeface="Consolas" pitchFamily="34" charset="0"/>
                <a:ea typeface="Consolas" pitchFamily="34" charset="-122"/>
                <a:cs typeface="Consolas" pitchFamily="34" charset="-120"/>
              </a:rPr>
              <a:t>EfficientNet-B3</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Defect Model: </a:t>
            </a:r>
            <a:r>
              <a:rPr lang="en-US" sz="1200" dirty="0">
                <a:solidFill>
                  <a:srgbClr val="23231E"/>
                </a:solidFill>
                <a:highlight>
                  <a:srgbClr val="F2F2F2"/>
                </a:highlight>
                <a:latin typeface="Consolas" pitchFamily="34" charset="0"/>
                <a:ea typeface="Consolas" pitchFamily="34" charset="-122"/>
                <a:cs typeface="Consolas" pitchFamily="34" charset="-120"/>
              </a:rPr>
              <a:t>defect_unet.pth</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8790" y="0"/>
                </a:moveTo>
                <a:lnTo>
                  <a:pt x="100000" y="0"/>
                </a:lnTo>
                <a:lnTo>
                  <a:pt x="100000" y="100000"/>
                </a:lnTo>
                <a:lnTo>
                  <a:pt x="13180" y="99900"/>
                </a:lnTo>
                <a:lnTo>
                  <a:pt x="8110" y="91990"/>
                </a:lnTo>
                <a:lnTo>
                  <a:pt x="4200" y="84670"/>
                </a:lnTo>
                <a:lnTo>
                  <a:pt x="2640" y="81150"/>
                </a:lnTo>
                <a:lnTo>
                  <a:pt x="1270" y="77440"/>
                </a:lnTo>
                <a:lnTo>
                  <a:pt x="490" y="74610"/>
                </a:lnTo>
                <a:lnTo>
                  <a:pt x="0" y="71480"/>
                </a:lnTo>
                <a:lnTo>
                  <a:pt x="200" y="67290"/>
                </a:lnTo>
                <a:lnTo>
                  <a:pt x="1270" y="63280"/>
                </a:lnTo>
                <a:lnTo>
                  <a:pt x="2830" y="59860"/>
                </a:lnTo>
                <a:lnTo>
                  <a:pt x="5080" y="56050"/>
                </a:lnTo>
                <a:lnTo>
                  <a:pt x="6840" y="52540"/>
                </a:lnTo>
                <a:lnTo>
                  <a:pt x="7910" y="49610"/>
                </a:lnTo>
                <a:lnTo>
                  <a:pt x="8690" y="45700"/>
                </a:lnTo>
                <a:lnTo>
                  <a:pt x="8790" y="40140"/>
                </a:lnTo>
                <a:lnTo>
                  <a:pt x="8590" y="36520"/>
                </a:lnTo>
                <a:lnTo>
                  <a:pt x="8110" y="31930"/>
                </a:lnTo>
                <a:lnTo>
                  <a:pt x="6540" y="21970"/>
                </a:lnTo>
                <a:lnTo>
                  <a:pt x="6150" y="14750"/>
                </a:lnTo>
                <a:lnTo>
                  <a:pt x="6450" y="10350"/>
                </a:lnTo>
                <a:lnTo>
                  <a:pt x="6930" y="7030"/>
                </a:lnTo>
                <a:lnTo>
                  <a:pt x="7910" y="2640"/>
                </a:lnTo>
                <a:close/>
              </a:path>
            </a:pathLst>
          </a:custGeom>
        </p:spPr>
      </p:pic>
      <p:sp>
        <p:nvSpPr>
          <p:cNvPr id="3" name="Text 0"/>
          <p:cNvSpPr/>
          <p:nvPr/>
        </p:nvSpPr>
        <p:spPr>
          <a:xfrm>
            <a:off x="631908" y="764282"/>
            <a:ext cx="6355993" cy="380107"/>
          </a:xfrm>
          <a:prstGeom prst="rect">
            <a:avLst/>
          </a:prstGeom>
          <a:noFill/>
          <a:ln/>
        </p:spPr>
        <p:txBody>
          <a:bodyPr wrap="none" lIns="0" tIns="0" rIns="0" bIns="0" rtlCol="0" anchor="t"/>
          <a:lstStyle/>
          <a:p>
            <a:pPr marL="0" indent="0" algn="l">
              <a:lnSpc>
                <a:spcPct val="83000"/>
              </a:lnSpc>
              <a:buNone/>
            </a:pPr>
            <a:r>
              <a:rPr lang="en-US" sz="2950" kern="0" spc="-90" dirty="0">
                <a:solidFill>
                  <a:srgbClr val="383830"/>
                </a:solidFill>
                <a:latin typeface="DM Sans ExtraBold" pitchFamily="34" charset="0"/>
                <a:ea typeface="DM Sans ExtraBold" pitchFamily="34" charset="-122"/>
                <a:cs typeface="DM Sans ExtraBold" pitchFamily="34" charset="-120"/>
              </a:rPr>
              <a:t>Real-World Usage Scenario</a:t>
            </a:r>
            <a:endParaRPr lang="en-US" sz="2950" dirty="0"/>
          </a:p>
        </p:txBody>
      </p:sp>
      <p:sp>
        <p:nvSpPr>
          <p:cNvPr id="4" name="Text 1"/>
          <p:cNvSpPr/>
          <p:nvPr/>
        </p:nvSpPr>
        <p:spPr>
          <a:xfrm>
            <a:off x="631908" y="1317625"/>
            <a:ext cx="6355993" cy="285948"/>
          </a:xfrm>
          <a:prstGeom prst="rect">
            <a:avLst/>
          </a:prstGeom>
          <a:noFill/>
          <a:ln/>
        </p:spPr>
        <p:txBody>
          <a:bodyPr wrap="square" lIns="0" tIns="0" rIns="0" bIns="0" rtlCol="0" anchor="t">
            <a:normAutofit/>
          </a:bodyPr>
          <a:lstStyle/>
          <a:p>
            <a:pPr marL="0" indent="0" algn="l">
              <a:lnSpc>
                <a:spcPct val="82000"/>
              </a:lnSpc>
              <a:buNone/>
            </a:pPr>
            <a:r>
              <a:rPr lang="en-US" sz="1100" dirty="0">
                <a:solidFill>
                  <a:srgbClr val="23231E"/>
                </a:solidFill>
                <a:latin typeface="Inter Light" pitchFamily="34" charset="0"/>
                <a:ea typeface="Inter Light" pitchFamily="34" charset="-122"/>
                <a:cs typeface="Inter Light" pitchFamily="34" charset="-120"/>
              </a:rPr>
              <a:t>Understanding the journey of textile waste through the TexCycle AI platform, from raw input to actionable insights.</a:t>
            </a:r>
            <a:endParaRPr lang="en-US" sz="1100" dirty="0"/>
          </a:p>
        </p:txBody>
      </p:sp>
      <p:pic>
        <p:nvPicPr>
          <p:cNvPr id="5" name="Image 1" descr="preencoded.png"/>
          <p:cNvPicPr>
            <a:picLocks noChangeAspect="1"/>
          </p:cNvPicPr>
          <p:nvPr/>
        </p:nvPicPr>
        <p:blipFill>
          <a:blip r:embed="rId4"/>
          <a:stretch>
            <a:fillRect/>
          </a:stretch>
        </p:blipFill>
        <p:spPr>
          <a:xfrm>
            <a:off x="631908" y="1733550"/>
            <a:ext cx="722096" cy="1086644"/>
          </a:xfrm>
          <a:prstGeom prst="rect">
            <a:avLst/>
          </a:prstGeom>
        </p:spPr>
      </p:pic>
      <p:sp>
        <p:nvSpPr>
          <p:cNvPr id="6" name="Text 2"/>
          <p:cNvSpPr/>
          <p:nvPr/>
        </p:nvSpPr>
        <p:spPr>
          <a:xfrm>
            <a:off x="1469492" y="1877913"/>
            <a:ext cx="5518409" cy="190103"/>
          </a:xfrm>
          <a:prstGeom prst="rect">
            <a:avLst/>
          </a:prstGeom>
          <a:noFill/>
          <a:ln/>
        </p:spPr>
        <p:txBody>
          <a:bodyPr wrap="none" lIns="0" tIns="0" rIns="0" bIns="0" rtlCol="0" anchor="t"/>
          <a:lstStyle/>
          <a:p>
            <a:pPr marL="0" indent="0" algn="l">
              <a:lnSpc>
                <a:spcPct val="83000"/>
              </a:lnSpc>
              <a:buNone/>
            </a:pPr>
            <a:r>
              <a:rPr lang="en-US" sz="1450" kern="0" spc="-45" dirty="0">
                <a:solidFill>
                  <a:srgbClr val="23231E"/>
                </a:solidFill>
                <a:latin typeface="DM Sans ExtraBold" pitchFamily="34" charset="0"/>
                <a:ea typeface="DM Sans ExtraBold" pitchFamily="34" charset="-122"/>
                <a:cs typeface="DM Sans ExtraBold" pitchFamily="34" charset="-120"/>
              </a:rPr>
              <a:t>Seller Input</a:t>
            </a:r>
            <a:endParaRPr lang="en-US" sz="1450" dirty="0"/>
          </a:p>
        </p:txBody>
      </p:sp>
      <p:sp>
        <p:nvSpPr>
          <p:cNvPr id="7" name="Text 3"/>
          <p:cNvSpPr/>
          <p:nvPr/>
        </p:nvSpPr>
        <p:spPr>
          <a:xfrm>
            <a:off x="1469492" y="2137271"/>
            <a:ext cx="5518409" cy="326330"/>
          </a:xfrm>
          <a:prstGeom prst="rect">
            <a:avLst/>
          </a:prstGeom>
          <a:noFill/>
          <a:ln/>
        </p:spPr>
        <p:txBody>
          <a:bodyPr wrap="square" lIns="0" tIns="57775" rIns="0" bIns="0" rtlCol="0" anchor="t">
            <a:normAutofit lnSpcReduction="10000"/>
          </a:bodyPr>
          <a:lstStyle/>
          <a:p>
            <a:pPr marL="223520" indent="-223520" algn="l">
              <a:lnSpc>
                <a:spcPct val="82000"/>
              </a:lnSpc>
              <a:buSzPct val="100000"/>
              <a:buChar char="•"/>
            </a:pPr>
            <a:r>
              <a:rPr lang="en-US" sz="1100" dirty="0">
                <a:solidFill>
                  <a:srgbClr val="23231E"/>
                </a:solidFill>
                <a:latin typeface="Inter Light" pitchFamily="34" charset="0"/>
                <a:ea typeface="Inter Light" pitchFamily="34" charset="-122"/>
                <a:cs typeface="Inter Light" pitchFamily="34" charset="-120"/>
              </a:rPr>
              <a:t>Textile image(s)</a:t>
            </a:r>
            <a:endParaRPr lang="en-US" sz="1100" dirty="0"/>
          </a:p>
          <a:p>
            <a:pPr marL="223520" indent="-223520" algn="l">
              <a:lnSpc>
                <a:spcPct val="82000"/>
              </a:lnSpc>
              <a:buSzPct val="100000"/>
              <a:buChar char="•"/>
            </a:pPr>
            <a:r>
              <a:rPr lang="en-US" sz="1100" dirty="0">
                <a:solidFill>
                  <a:srgbClr val="23231E"/>
                </a:solidFill>
                <a:latin typeface="Inter Light" pitchFamily="34" charset="0"/>
                <a:ea typeface="Inter Light" pitchFamily="34" charset="-122"/>
                <a:cs typeface="Inter Light" pitchFamily="34" charset="-120"/>
              </a:rPr>
              <a:t>Basic textile information</a:t>
            </a:r>
            <a:endParaRPr lang="en-US" sz="1100" dirty="0"/>
          </a:p>
        </p:txBody>
      </p:sp>
      <p:sp>
        <p:nvSpPr>
          <p:cNvPr id="8" name="Text 4"/>
          <p:cNvSpPr/>
          <p:nvPr/>
        </p:nvSpPr>
        <p:spPr>
          <a:xfrm>
            <a:off x="1469492" y="2532856"/>
            <a:ext cx="5518409" cy="142974"/>
          </a:xfrm>
          <a:prstGeom prst="rect">
            <a:avLst/>
          </a:prstGeom>
          <a:noFill/>
          <a:ln/>
        </p:spPr>
        <p:txBody>
          <a:bodyPr wrap="none" lIns="0" tIns="0" rIns="0" bIns="0" rtlCol="0" anchor="t"/>
          <a:lstStyle/>
          <a:p>
            <a:pPr marL="0" indent="0" algn="l">
              <a:lnSpc>
                <a:spcPct val="82000"/>
              </a:lnSpc>
              <a:buNone/>
            </a:pPr>
            <a:r>
              <a:rPr lang="en-US" sz="1100" dirty="0">
                <a:solidFill>
                  <a:srgbClr val="23231E"/>
                </a:solidFill>
                <a:latin typeface="Inter Light" pitchFamily="34" charset="0"/>
                <a:ea typeface="Inter Light" pitchFamily="34" charset="-122"/>
                <a:cs typeface="Inter Light" pitchFamily="34" charset="-120"/>
              </a:rPr>
              <a:t>A seller provides visual data and minimal descriptive details of the textile waste.</a:t>
            </a:r>
            <a:endParaRPr lang="en-US" sz="1100" dirty="0"/>
          </a:p>
        </p:txBody>
      </p:sp>
      <p:pic>
        <p:nvPicPr>
          <p:cNvPr id="9" name="Image 2" descr="preencoded.png"/>
          <p:cNvPicPr>
            <a:picLocks noChangeAspect="1"/>
          </p:cNvPicPr>
          <p:nvPr/>
        </p:nvPicPr>
        <p:blipFill>
          <a:blip r:embed="rId5"/>
          <a:stretch>
            <a:fillRect/>
          </a:stretch>
        </p:blipFill>
        <p:spPr>
          <a:xfrm>
            <a:off x="631908" y="2820194"/>
            <a:ext cx="722096" cy="1453356"/>
          </a:xfrm>
          <a:prstGeom prst="rect">
            <a:avLst/>
          </a:prstGeom>
        </p:spPr>
      </p:pic>
      <p:sp>
        <p:nvSpPr>
          <p:cNvPr id="10" name="Text 5"/>
          <p:cNvSpPr/>
          <p:nvPr/>
        </p:nvSpPr>
        <p:spPr>
          <a:xfrm>
            <a:off x="1469492" y="2964557"/>
            <a:ext cx="5518409" cy="190103"/>
          </a:xfrm>
          <a:prstGeom prst="rect">
            <a:avLst/>
          </a:prstGeom>
          <a:noFill/>
          <a:ln/>
        </p:spPr>
        <p:txBody>
          <a:bodyPr wrap="none" lIns="0" tIns="0" rIns="0" bIns="0" rtlCol="0" anchor="t"/>
          <a:lstStyle/>
          <a:p>
            <a:pPr marL="0" indent="0" algn="l">
              <a:lnSpc>
                <a:spcPct val="83000"/>
              </a:lnSpc>
              <a:buNone/>
            </a:pPr>
            <a:r>
              <a:rPr lang="en-US" sz="1450" kern="0" spc="-45" dirty="0">
                <a:solidFill>
                  <a:srgbClr val="23231E"/>
                </a:solidFill>
                <a:latin typeface="DM Sans ExtraBold" pitchFamily="34" charset="0"/>
                <a:ea typeface="DM Sans ExtraBold" pitchFamily="34" charset="-122"/>
                <a:cs typeface="DM Sans ExtraBold" pitchFamily="34" charset="-120"/>
              </a:rPr>
              <a:t>AI Processing</a:t>
            </a:r>
            <a:endParaRPr lang="en-US" sz="1450" dirty="0"/>
          </a:p>
        </p:txBody>
      </p:sp>
      <p:sp>
        <p:nvSpPr>
          <p:cNvPr id="11" name="Text 6"/>
          <p:cNvSpPr/>
          <p:nvPr/>
        </p:nvSpPr>
        <p:spPr>
          <a:xfrm>
            <a:off x="1469492" y="3223915"/>
            <a:ext cx="5518409" cy="693043"/>
          </a:xfrm>
          <a:prstGeom prst="rect">
            <a:avLst/>
          </a:prstGeom>
          <a:noFill/>
          <a:ln/>
        </p:spPr>
        <p:txBody>
          <a:bodyPr wrap="square" lIns="0" tIns="57775" rIns="0" bIns="0" rtlCol="0" anchor="t">
            <a:normAutofit/>
          </a:bodyPr>
          <a:lstStyle/>
          <a:p>
            <a:pPr marL="223520" indent="-223520" algn="l">
              <a:lnSpc>
                <a:spcPct val="82000"/>
              </a:lnSpc>
              <a:buSzPct val="100000"/>
              <a:buChar char="•"/>
            </a:pPr>
            <a:r>
              <a:rPr lang="en-US" sz="1100" dirty="0">
                <a:solidFill>
                  <a:srgbClr val="23231E"/>
                </a:solidFill>
                <a:latin typeface="Inter Light" pitchFamily="34" charset="0"/>
                <a:ea typeface="Inter Light" pitchFamily="34" charset="-122"/>
                <a:cs typeface="Inter Light" pitchFamily="34" charset="-120"/>
              </a:rPr>
              <a:t>Identifies fabric type</a:t>
            </a:r>
            <a:endParaRPr lang="en-US" sz="1100" dirty="0"/>
          </a:p>
          <a:p>
            <a:pPr marL="223520" indent="-223520" algn="l">
              <a:lnSpc>
                <a:spcPct val="82000"/>
              </a:lnSpc>
              <a:buSzPct val="100000"/>
              <a:buChar char="•"/>
            </a:pPr>
            <a:r>
              <a:rPr lang="en-US" sz="1100" dirty="0">
                <a:solidFill>
                  <a:srgbClr val="23231E"/>
                </a:solidFill>
                <a:latin typeface="Inter Light" pitchFamily="34" charset="0"/>
                <a:ea typeface="Inter Light" pitchFamily="34" charset="-122"/>
                <a:cs typeface="Inter Light" pitchFamily="34" charset="-120"/>
              </a:rPr>
              <a:t>Detects visible defects</a:t>
            </a:r>
            <a:endParaRPr lang="en-US" sz="1100" dirty="0"/>
          </a:p>
          <a:p>
            <a:pPr marL="223520" indent="-223520" algn="l">
              <a:lnSpc>
                <a:spcPct val="82000"/>
              </a:lnSpc>
              <a:buSzPct val="100000"/>
              <a:buChar char="•"/>
            </a:pPr>
            <a:r>
              <a:rPr lang="en-US" sz="1100" dirty="0">
                <a:solidFill>
                  <a:srgbClr val="23231E"/>
                </a:solidFill>
                <a:latin typeface="Inter Light" pitchFamily="34" charset="0"/>
                <a:ea typeface="Inter Light" pitchFamily="34" charset="-122"/>
                <a:cs typeface="Inter Light" pitchFamily="34" charset="-120"/>
              </a:rPr>
              <a:t>Estimates condition &amp; health score</a:t>
            </a:r>
            <a:endParaRPr lang="en-US" sz="1100" dirty="0"/>
          </a:p>
          <a:p>
            <a:pPr marL="223520" indent="-223520" algn="l">
              <a:lnSpc>
                <a:spcPct val="82000"/>
              </a:lnSpc>
              <a:buSzPct val="100000"/>
              <a:buChar char="•"/>
            </a:pPr>
            <a:r>
              <a:rPr lang="en-US" sz="1100" dirty="0">
                <a:solidFill>
                  <a:srgbClr val="23231E"/>
                </a:solidFill>
                <a:latin typeface="Inter Light" pitchFamily="34" charset="0"/>
                <a:ea typeface="Inter Light" pitchFamily="34" charset="-122"/>
                <a:cs typeface="Inter Light" pitchFamily="34" charset="-120"/>
              </a:rPr>
              <a:t>Estimates repairability &amp; remaining lifespan</a:t>
            </a:r>
            <a:endParaRPr lang="en-US" sz="1100" dirty="0"/>
          </a:p>
        </p:txBody>
      </p:sp>
      <p:sp>
        <p:nvSpPr>
          <p:cNvPr id="12" name="Text 7"/>
          <p:cNvSpPr/>
          <p:nvPr/>
        </p:nvSpPr>
        <p:spPr>
          <a:xfrm>
            <a:off x="1469492" y="3986213"/>
            <a:ext cx="5518409" cy="142974"/>
          </a:xfrm>
          <a:prstGeom prst="rect">
            <a:avLst/>
          </a:prstGeom>
          <a:noFill/>
          <a:ln/>
        </p:spPr>
        <p:txBody>
          <a:bodyPr wrap="none" lIns="0" tIns="0" rIns="0" bIns="0" rtlCol="0" anchor="t"/>
          <a:lstStyle/>
          <a:p>
            <a:pPr marL="0" indent="0" algn="l">
              <a:lnSpc>
                <a:spcPct val="82000"/>
              </a:lnSpc>
              <a:buNone/>
            </a:pPr>
            <a:r>
              <a:rPr lang="en-US" sz="1100" dirty="0">
                <a:solidFill>
                  <a:srgbClr val="23231E"/>
                </a:solidFill>
                <a:latin typeface="Inter Light" pitchFamily="34" charset="0"/>
                <a:ea typeface="Inter Light" pitchFamily="34" charset="-122"/>
                <a:cs typeface="Inter Light" pitchFamily="34" charset="-120"/>
              </a:rPr>
              <a:t>Our AI model analyzes the input to generate comprehensive insights.</a:t>
            </a:r>
            <a:endParaRPr lang="en-US" sz="1100" dirty="0"/>
          </a:p>
        </p:txBody>
      </p:sp>
      <p:pic>
        <p:nvPicPr>
          <p:cNvPr id="13" name="Image 3" descr="preencoded.png"/>
          <p:cNvPicPr>
            <a:picLocks noChangeAspect="1"/>
          </p:cNvPicPr>
          <p:nvPr/>
        </p:nvPicPr>
        <p:blipFill>
          <a:blip r:embed="rId6"/>
          <a:stretch>
            <a:fillRect/>
          </a:stretch>
        </p:blipFill>
        <p:spPr>
          <a:xfrm>
            <a:off x="631908" y="4273550"/>
            <a:ext cx="722096" cy="1820069"/>
          </a:xfrm>
          <a:prstGeom prst="rect">
            <a:avLst/>
          </a:prstGeom>
        </p:spPr>
      </p:pic>
      <p:sp>
        <p:nvSpPr>
          <p:cNvPr id="14" name="Text 8"/>
          <p:cNvSpPr/>
          <p:nvPr/>
        </p:nvSpPr>
        <p:spPr>
          <a:xfrm>
            <a:off x="1469492" y="4417913"/>
            <a:ext cx="5518409" cy="190103"/>
          </a:xfrm>
          <a:prstGeom prst="rect">
            <a:avLst/>
          </a:prstGeom>
          <a:noFill/>
          <a:ln/>
        </p:spPr>
        <p:txBody>
          <a:bodyPr wrap="none" lIns="0" tIns="0" rIns="0" bIns="0" rtlCol="0" anchor="t"/>
          <a:lstStyle/>
          <a:p>
            <a:pPr marL="0" indent="0" algn="l">
              <a:lnSpc>
                <a:spcPct val="83000"/>
              </a:lnSpc>
              <a:buNone/>
            </a:pPr>
            <a:r>
              <a:rPr lang="en-US" sz="1450" kern="0" spc="-45" dirty="0">
                <a:solidFill>
                  <a:srgbClr val="23231E"/>
                </a:solidFill>
                <a:latin typeface="DM Sans ExtraBold" pitchFamily="34" charset="0"/>
                <a:ea typeface="DM Sans ExtraBold" pitchFamily="34" charset="-122"/>
                <a:cs typeface="DM Sans ExtraBold" pitchFamily="34" charset="-120"/>
              </a:rPr>
              <a:t>AI Output</a:t>
            </a:r>
            <a:endParaRPr lang="en-US" sz="1450" dirty="0"/>
          </a:p>
        </p:txBody>
      </p:sp>
      <p:sp>
        <p:nvSpPr>
          <p:cNvPr id="15" name="Text 9"/>
          <p:cNvSpPr/>
          <p:nvPr/>
        </p:nvSpPr>
        <p:spPr>
          <a:xfrm>
            <a:off x="1469492" y="4677271"/>
            <a:ext cx="5518409" cy="1059755"/>
          </a:xfrm>
          <a:prstGeom prst="rect">
            <a:avLst/>
          </a:prstGeom>
          <a:noFill/>
          <a:ln/>
        </p:spPr>
        <p:txBody>
          <a:bodyPr wrap="square" lIns="0" tIns="57775" rIns="0" bIns="0" rtlCol="0" anchor="t">
            <a:normAutofit/>
          </a:bodyPr>
          <a:lstStyle/>
          <a:p>
            <a:pPr marL="223520" indent="-223520" algn="l">
              <a:lnSpc>
                <a:spcPct val="82000"/>
              </a:lnSpc>
              <a:buSzPct val="100000"/>
              <a:buChar char="•"/>
            </a:pPr>
            <a:r>
              <a:rPr lang="en-US" sz="1100" dirty="0">
                <a:solidFill>
                  <a:srgbClr val="23231E"/>
                </a:solidFill>
                <a:latin typeface="Inter Light" pitchFamily="34" charset="0"/>
                <a:ea typeface="Inter Light" pitchFamily="34" charset="-122"/>
                <a:cs typeface="Inter Light" pitchFamily="34" charset="-120"/>
              </a:rPr>
              <a:t>Fabric: Cotton</a:t>
            </a:r>
            <a:endParaRPr lang="en-US" sz="1100" dirty="0"/>
          </a:p>
          <a:p>
            <a:pPr marL="223520" indent="-223520" algn="l">
              <a:lnSpc>
                <a:spcPct val="82000"/>
              </a:lnSpc>
              <a:buSzPct val="100000"/>
              <a:buChar char="•"/>
            </a:pPr>
            <a:r>
              <a:rPr lang="en-US" sz="1100" dirty="0">
                <a:solidFill>
                  <a:srgbClr val="23231E"/>
                </a:solidFill>
                <a:latin typeface="Inter Light" pitchFamily="34" charset="0"/>
                <a:ea typeface="Inter Light" pitchFamily="34" charset="-122"/>
                <a:cs typeface="Inter Light" pitchFamily="34" charset="-120"/>
              </a:rPr>
              <a:t>Confidence: 95%</a:t>
            </a:r>
            <a:endParaRPr lang="en-US" sz="1100" dirty="0"/>
          </a:p>
          <a:p>
            <a:pPr marL="223520" indent="-223520" algn="l">
              <a:lnSpc>
                <a:spcPct val="82000"/>
              </a:lnSpc>
              <a:buSzPct val="100000"/>
              <a:buChar char="•"/>
            </a:pPr>
            <a:r>
              <a:rPr lang="en-US" sz="1100" dirty="0">
                <a:solidFill>
                  <a:srgbClr val="23231E"/>
                </a:solidFill>
                <a:latin typeface="Inter Light" pitchFamily="34" charset="0"/>
                <a:ea typeface="Inter Light" pitchFamily="34" charset="-122"/>
                <a:cs typeface="Inter Light" pitchFamily="34" charset="-120"/>
              </a:rPr>
              <a:t>Health Score: 85</a:t>
            </a:r>
            <a:endParaRPr lang="en-US" sz="1100" dirty="0"/>
          </a:p>
          <a:p>
            <a:pPr marL="223520" indent="-223520" algn="l">
              <a:lnSpc>
                <a:spcPct val="82000"/>
              </a:lnSpc>
              <a:buSzPct val="100000"/>
              <a:buChar char="•"/>
            </a:pPr>
            <a:r>
              <a:rPr lang="en-US" sz="1100" dirty="0">
                <a:solidFill>
                  <a:srgbClr val="23231E"/>
                </a:solidFill>
                <a:latin typeface="Inter Light" pitchFamily="34" charset="0"/>
                <a:ea typeface="Inter Light" pitchFamily="34" charset="-122"/>
                <a:cs typeface="Inter Light" pitchFamily="34" charset="-120"/>
              </a:rPr>
              <a:t>Defect Area: 5%</a:t>
            </a:r>
            <a:endParaRPr lang="en-US" sz="1100" dirty="0"/>
          </a:p>
          <a:p>
            <a:pPr marL="223520" indent="-223520" algn="l">
              <a:lnSpc>
                <a:spcPct val="82000"/>
              </a:lnSpc>
              <a:buSzPct val="100000"/>
              <a:buChar char="•"/>
            </a:pPr>
            <a:r>
              <a:rPr lang="en-US" sz="1100" dirty="0">
                <a:solidFill>
                  <a:srgbClr val="23231E"/>
                </a:solidFill>
                <a:latin typeface="Inter Light" pitchFamily="34" charset="0"/>
                <a:ea typeface="Inter Light" pitchFamily="34" charset="-122"/>
                <a:cs typeface="Inter Light" pitchFamily="34" charset="-120"/>
              </a:rPr>
              <a:t>Repairability: High</a:t>
            </a:r>
            <a:endParaRPr lang="en-US" sz="1100" dirty="0"/>
          </a:p>
          <a:p>
            <a:pPr marL="223520" indent="-223520" algn="l">
              <a:lnSpc>
                <a:spcPct val="82000"/>
              </a:lnSpc>
              <a:buSzPct val="100000"/>
              <a:buChar char="•"/>
            </a:pPr>
            <a:r>
              <a:rPr lang="en-US" sz="1100" dirty="0">
                <a:solidFill>
                  <a:srgbClr val="23231E"/>
                </a:solidFill>
                <a:latin typeface="Inter Light" pitchFamily="34" charset="0"/>
                <a:ea typeface="Inter Light" pitchFamily="34" charset="-122"/>
                <a:cs typeface="Inter Light" pitchFamily="34" charset="-120"/>
              </a:rPr>
              <a:t>Remaining Lifespan: 3 years</a:t>
            </a:r>
            <a:endParaRPr lang="en-US" sz="1100" dirty="0"/>
          </a:p>
        </p:txBody>
      </p:sp>
      <p:sp>
        <p:nvSpPr>
          <p:cNvPr id="16" name="Text 10"/>
          <p:cNvSpPr/>
          <p:nvPr/>
        </p:nvSpPr>
        <p:spPr>
          <a:xfrm>
            <a:off x="1469492" y="5806281"/>
            <a:ext cx="5518409" cy="142974"/>
          </a:xfrm>
          <a:prstGeom prst="rect">
            <a:avLst/>
          </a:prstGeom>
          <a:noFill/>
          <a:ln/>
        </p:spPr>
        <p:txBody>
          <a:bodyPr wrap="none" lIns="0" tIns="0" rIns="0" bIns="0" rtlCol="0" anchor="t"/>
          <a:lstStyle/>
          <a:p>
            <a:pPr marL="0" indent="0" algn="l">
              <a:lnSpc>
                <a:spcPct val="82000"/>
              </a:lnSpc>
              <a:buNone/>
            </a:pPr>
            <a:r>
              <a:rPr lang="en-US" sz="1100" dirty="0">
                <a:solidFill>
                  <a:srgbClr val="23231E"/>
                </a:solidFill>
                <a:latin typeface="Inter Light" pitchFamily="34" charset="0"/>
                <a:ea typeface="Inter Light" pitchFamily="34" charset="-122"/>
                <a:cs typeface="Inter Light" pitchFamily="34" charset="-120"/>
              </a:rPr>
              <a:t>Actionable data is provided, enabling informed decisions for reuse and recycling.</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p:nvPr/>
        </p:nvSpPr>
        <p:spPr>
          <a:xfrm>
            <a:off x="5203794" y="2326680"/>
            <a:ext cx="6355993" cy="1425476"/>
          </a:xfrm>
          <a:prstGeom prst="rect">
            <a:avLst/>
          </a:prstGeom>
          <a:noFill/>
          <a:ln/>
        </p:spPr>
        <p:txBody>
          <a:bodyPr wrap="square" lIns="0" tIns="0" rIns="0" bIns="0" rtlCol="0" anchor="t">
            <a:normAutofit/>
          </a:bodyPr>
          <a:lstStyle/>
          <a:p>
            <a:pPr marL="0" indent="0" algn="l">
              <a:lnSpc>
                <a:spcPct val="83000"/>
              </a:lnSpc>
              <a:buNone/>
            </a:pPr>
            <a:r>
              <a:rPr lang="en-US" sz="3700" kern="0" spc="-112" dirty="0">
                <a:solidFill>
                  <a:srgbClr val="383830"/>
                </a:solidFill>
                <a:latin typeface="DM Sans ExtraBold" pitchFamily="34" charset="0"/>
                <a:ea typeface="DM Sans ExtraBold" pitchFamily="34" charset="-122"/>
                <a:cs typeface="DM Sans ExtraBold" pitchFamily="34" charset="-120"/>
              </a:rPr>
              <a:t>Sustainability Intelligence &amp; Environmental Impact Prediction</a:t>
            </a:r>
            <a:endParaRPr lang="en-US" sz="3700" dirty="0"/>
          </a:p>
        </p:txBody>
      </p:sp>
      <p:sp>
        <p:nvSpPr>
          <p:cNvPr id="4" name="Text 1"/>
          <p:cNvSpPr/>
          <p:nvPr/>
        </p:nvSpPr>
        <p:spPr>
          <a:xfrm>
            <a:off x="5203794" y="3824288"/>
            <a:ext cx="6355993" cy="237530"/>
          </a:xfrm>
          <a:prstGeom prst="rect">
            <a:avLst/>
          </a:prstGeom>
          <a:noFill/>
          <a:ln/>
        </p:spPr>
        <p:txBody>
          <a:bodyPr wrap="none" lIns="0" tIns="0" rIns="0" bIns="0" rtlCol="0" anchor="t"/>
          <a:lstStyle/>
          <a:p>
            <a:pPr marL="0" indent="0" algn="l">
              <a:lnSpc>
                <a:spcPct val="83000"/>
              </a:lnSpc>
              <a:buNone/>
            </a:pPr>
            <a:r>
              <a:rPr lang="en-US" sz="1850" kern="0" spc="-56" dirty="0">
                <a:solidFill>
                  <a:srgbClr val="383830"/>
                </a:solidFill>
                <a:latin typeface="DM Sans ExtraBold" pitchFamily="34" charset="0"/>
                <a:ea typeface="DM Sans ExtraBold" pitchFamily="34" charset="-122"/>
                <a:cs typeface="DM Sans ExtraBold" pitchFamily="34" charset="-120"/>
              </a:rPr>
              <a:t>Siriwardhana N.S.T.N.</a:t>
            </a:r>
            <a:endParaRPr lang="en-US" sz="1850" dirty="0"/>
          </a:p>
        </p:txBody>
      </p:sp>
      <p:sp>
        <p:nvSpPr>
          <p:cNvPr id="5" name="Text 2"/>
          <p:cNvSpPr/>
          <p:nvPr/>
        </p:nvSpPr>
        <p:spPr>
          <a:xfrm>
            <a:off x="5203794" y="4332585"/>
            <a:ext cx="6965577" cy="198636"/>
          </a:xfrm>
          <a:prstGeom prst="rect">
            <a:avLst/>
          </a:prstGeom>
          <a:noFill/>
          <a:ln/>
        </p:spPr>
        <p:txBody>
          <a:bodyPr wrap="none" lIns="0" tIns="0" rIns="0" bIns="0" rtlCol="0" anchor="t"/>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IT22215338</a:t>
            </a:r>
            <a:endParaRPr lang="en-US" sz="1400" dirty="0"/>
          </a:p>
        </p:txBody>
      </p:sp>
      <p:grpSp>
        <p:nvGrpSpPr>
          <p:cNvPr id="6" name="Group 5">
            <a:extLst>
              <a:ext uri="{FF2B5EF4-FFF2-40B4-BE49-F238E27FC236}">
                <a16:creationId xmlns:a16="http://schemas.microsoft.com/office/drawing/2014/main" id="{767DB070-039E-DF18-2B80-68B80795BF56}"/>
              </a:ext>
            </a:extLst>
          </p:cNvPr>
          <p:cNvGrpSpPr/>
          <p:nvPr/>
        </p:nvGrpSpPr>
        <p:grpSpPr>
          <a:xfrm>
            <a:off x="10686552" y="6506574"/>
            <a:ext cx="1505131" cy="351434"/>
            <a:chOff x="2623154" y="413097"/>
            <a:chExt cx="2599719" cy="525560"/>
          </a:xfrm>
        </p:grpSpPr>
        <p:sp>
          <p:nvSpPr>
            <p:cNvPr id="7" name="Freeform 6">
              <a:extLst>
                <a:ext uri="{FF2B5EF4-FFF2-40B4-BE49-F238E27FC236}">
                  <a16:creationId xmlns:a16="http://schemas.microsoft.com/office/drawing/2014/main" id="{D0D0EF1B-CE26-420F-353E-B02416FA3108}"/>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sz="1200" dirty="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31908" y="527745"/>
            <a:ext cx="10927878" cy="289520"/>
          </a:xfrm>
          <a:prstGeom prst="rect">
            <a:avLst/>
          </a:prstGeom>
          <a:noFill/>
          <a:ln/>
        </p:spPr>
        <p:txBody>
          <a:bodyPr wrap="none" lIns="0" tIns="0" rIns="0" bIns="0" rtlCol="0" anchor="t"/>
          <a:lstStyle/>
          <a:p>
            <a:pPr marL="0" indent="0" algn="l">
              <a:lnSpc>
                <a:spcPct val="83000"/>
              </a:lnSpc>
              <a:buNone/>
            </a:pPr>
            <a:r>
              <a:rPr lang="en-US" sz="2250" kern="0" spc="-68" dirty="0">
                <a:solidFill>
                  <a:srgbClr val="383830"/>
                </a:solidFill>
                <a:latin typeface="DM Sans ExtraBold" pitchFamily="34" charset="0"/>
                <a:ea typeface="DM Sans ExtraBold" pitchFamily="34" charset="-122"/>
                <a:cs typeface="DM Sans ExtraBold" pitchFamily="34" charset="-120"/>
              </a:rPr>
              <a:t>Environmental Impact Prediction</a:t>
            </a:r>
            <a:endParaRPr lang="en-US" sz="2250" dirty="0"/>
          </a:p>
        </p:txBody>
      </p:sp>
      <p:sp>
        <p:nvSpPr>
          <p:cNvPr id="3" name="Text 1"/>
          <p:cNvSpPr/>
          <p:nvPr/>
        </p:nvSpPr>
        <p:spPr>
          <a:xfrm>
            <a:off x="631908" y="917773"/>
            <a:ext cx="11537463" cy="97334"/>
          </a:xfrm>
          <a:prstGeom prst="rect">
            <a:avLst/>
          </a:prstGeom>
          <a:noFill/>
          <a:ln/>
        </p:spPr>
        <p:txBody>
          <a:bodyPr wrap="none" lIns="0" tIns="0" rIns="0" bIns="0" rtlCol="0" anchor="t"/>
          <a:lstStyle/>
          <a:p>
            <a:pPr marL="0" indent="0" algn="l">
              <a:lnSpc>
                <a:spcPct val="74000"/>
              </a:lnSpc>
              <a:buNone/>
            </a:pPr>
            <a:r>
              <a:rPr lang="en-US" sz="850" dirty="0">
                <a:solidFill>
                  <a:srgbClr val="23231E"/>
                </a:solidFill>
                <a:latin typeface="Inter Light" pitchFamily="34" charset="0"/>
                <a:ea typeface="Inter Light" pitchFamily="34" charset="-122"/>
                <a:cs typeface="Inter Light" pitchFamily="34" charset="-120"/>
              </a:rPr>
              <a:t>This research component focuses on quantifying the positive environmental externalities generated by textile reuse.</a:t>
            </a:r>
            <a:endParaRPr lang="en-US" sz="850" dirty="0"/>
          </a:p>
        </p:txBody>
      </p:sp>
      <p:sp>
        <p:nvSpPr>
          <p:cNvPr id="4" name="Text 2"/>
          <p:cNvSpPr/>
          <p:nvPr/>
        </p:nvSpPr>
        <p:spPr>
          <a:xfrm>
            <a:off x="631908" y="1115616"/>
            <a:ext cx="10927878" cy="173732"/>
          </a:xfrm>
          <a:prstGeom prst="rect">
            <a:avLst/>
          </a:prstGeom>
          <a:noFill/>
          <a:ln/>
        </p:spPr>
        <p:txBody>
          <a:bodyPr wrap="none" lIns="0" tIns="0" rIns="0" bIns="0" rtlCol="0" anchor="t"/>
          <a:lstStyle/>
          <a:p>
            <a:pPr marL="0" indent="0" algn="l">
              <a:lnSpc>
                <a:spcPct val="83000"/>
              </a:lnSpc>
              <a:buNone/>
            </a:pPr>
            <a:r>
              <a:rPr lang="en-US" sz="1350" kern="0" spc="-41" dirty="0">
                <a:solidFill>
                  <a:srgbClr val="383830"/>
                </a:solidFill>
                <a:latin typeface="DM Sans ExtraBold" pitchFamily="34" charset="0"/>
                <a:ea typeface="DM Sans ExtraBold" pitchFamily="34" charset="-122"/>
                <a:cs typeface="DM Sans ExtraBold" pitchFamily="34" charset="-120"/>
              </a:rPr>
              <a:t>Main Question</a:t>
            </a:r>
            <a:endParaRPr lang="en-US" sz="1350" dirty="0"/>
          </a:p>
        </p:txBody>
      </p:sp>
      <p:sp>
        <p:nvSpPr>
          <p:cNvPr id="5" name="Text 3"/>
          <p:cNvSpPr/>
          <p:nvPr/>
        </p:nvSpPr>
        <p:spPr>
          <a:xfrm>
            <a:off x="631908" y="1389856"/>
            <a:ext cx="11537463" cy="97334"/>
          </a:xfrm>
          <a:prstGeom prst="rect">
            <a:avLst/>
          </a:prstGeom>
          <a:noFill/>
          <a:ln/>
        </p:spPr>
        <p:txBody>
          <a:bodyPr wrap="none" lIns="0" tIns="0" rIns="0" bIns="0" rtlCol="0" anchor="t"/>
          <a:lstStyle/>
          <a:p>
            <a:pPr marL="0" indent="0" algn="l">
              <a:lnSpc>
                <a:spcPct val="74000"/>
              </a:lnSpc>
              <a:buNone/>
            </a:pPr>
            <a:r>
              <a:rPr lang="en-US" sz="850" dirty="0">
                <a:solidFill>
                  <a:srgbClr val="23231E"/>
                </a:solidFill>
                <a:latin typeface="Inter Light" pitchFamily="34" charset="0"/>
                <a:ea typeface="Inter Light" pitchFamily="34" charset="-122"/>
                <a:cs typeface="Inter Light" pitchFamily="34" charset="-120"/>
              </a:rPr>
              <a:t>What measurable environmental value does textile reuse provide within the Sri Lankan context?</a:t>
            </a:r>
            <a:endParaRPr lang="en-US" sz="850" dirty="0"/>
          </a:p>
        </p:txBody>
      </p:sp>
      <p:sp>
        <p:nvSpPr>
          <p:cNvPr id="6" name="Text 4"/>
          <p:cNvSpPr/>
          <p:nvPr/>
        </p:nvSpPr>
        <p:spPr>
          <a:xfrm>
            <a:off x="631908" y="1587698"/>
            <a:ext cx="10927878" cy="173732"/>
          </a:xfrm>
          <a:prstGeom prst="rect">
            <a:avLst/>
          </a:prstGeom>
          <a:noFill/>
          <a:ln/>
        </p:spPr>
        <p:txBody>
          <a:bodyPr wrap="none" lIns="0" tIns="0" rIns="0" bIns="0" rtlCol="0" anchor="t"/>
          <a:lstStyle/>
          <a:p>
            <a:pPr marL="0" indent="0" algn="l">
              <a:lnSpc>
                <a:spcPct val="83000"/>
              </a:lnSpc>
              <a:buNone/>
            </a:pPr>
            <a:r>
              <a:rPr lang="en-US" sz="1350" kern="0" spc="-41" dirty="0">
                <a:solidFill>
                  <a:srgbClr val="383830"/>
                </a:solidFill>
                <a:latin typeface="DM Sans ExtraBold" pitchFamily="34" charset="0"/>
                <a:ea typeface="DM Sans ExtraBold" pitchFamily="34" charset="-122"/>
                <a:cs typeface="DM Sans ExtraBold" pitchFamily="34" charset="-120"/>
              </a:rPr>
              <a:t>Key Outputs</a:t>
            </a:r>
            <a:endParaRPr lang="en-US" sz="1350" dirty="0"/>
          </a:p>
        </p:txBody>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908" y="1861939"/>
            <a:ext cx="10927878" cy="660102"/>
          </a:xfrm>
          <a:prstGeom prst="rect">
            <a:avLst/>
          </a:prstGeom>
        </p:spPr>
      </p:pic>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2122" y="2109490"/>
            <a:ext cx="164997" cy="165001"/>
          </a:xfrm>
          <a:prstGeom prst="rect">
            <a:avLst/>
          </a:prstGeom>
        </p:spPr>
      </p:pic>
      <p:sp>
        <p:nvSpPr>
          <p:cNvPr id="9" name="Text 5"/>
          <p:cNvSpPr/>
          <p:nvPr/>
        </p:nvSpPr>
        <p:spPr>
          <a:xfrm>
            <a:off x="1151603" y="1984573"/>
            <a:ext cx="10285552" cy="144760"/>
          </a:xfrm>
          <a:prstGeom prst="rect">
            <a:avLst/>
          </a:prstGeom>
          <a:noFill/>
          <a:ln/>
        </p:spPr>
        <p:txBody>
          <a:bodyPr wrap="none" lIns="0" tIns="0" rIns="0" bIns="0" rtlCol="0" anchor="t"/>
          <a:lstStyle/>
          <a:p>
            <a:pPr marL="0" indent="0" algn="l">
              <a:lnSpc>
                <a:spcPct val="83000"/>
              </a:lnSpc>
              <a:buNone/>
            </a:pPr>
            <a:r>
              <a:rPr lang="en-US" sz="1100" kern="0" spc="-34" dirty="0">
                <a:solidFill>
                  <a:srgbClr val="23231E"/>
                </a:solidFill>
                <a:latin typeface="DM Sans ExtraBold" pitchFamily="34" charset="0"/>
                <a:ea typeface="DM Sans ExtraBold" pitchFamily="34" charset="-122"/>
                <a:cs typeface="DM Sans ExtraBold" pitchFamily="34" charset="-120"/>
              </a:rPr>
              <a:t>CO₂ Saving</a:t>
            </a:r>
            <a:endParaRPr lang="en-US" sz="1100" dirty="0"/>
          </a:p>
        </p:txBody>
      </p:sp>
      <p:sp>
        <p:nvSpPr>
          <p:cNvPr id="10" name="Text 6"/>
          <p:cNvSpPr/>
          <p:nvPr/>
        </p:nvSpPr>
        <p:spPr>
          <a:xfrm>
            <a:off x="1151603" y="2169517"/>
            <a:ext cx="10285552" cy="97334"/>
          </a:xfrm>
          <a:prstGeom prst="rect">
            <a:avLst/>
          </a:prstGeom>
          <a:noFill/>
          <a:ln/>
        </p:spPr>
        <p:txBody>
          <a:bodyPr wrap="none" lIns="0" tIns="0" rIns="0" bIns="0" rtlCol="0" anchor="t"/>
          <a:lstStyle/>
          <a:p>
            <a:pPr marL="0" indent="0" algn="l">
              <a:lnSpc>
                <a:spcPct val="74000"/>
              </a:lnSpc>
              <a:buNone/>
            </a:pPr>
            <a:r>
              <a:rPr lang="en-US" sz="850" dirty="0">
                <a:solidFill>
                  <a:srgbClr val="23231E"/>
                </a:solidFill>
                <a:latin typeface="Inter Light" pitchFamily="34" charset="0"/>
                <a:ea typeface="Inter Light" pitchFamily="34" charset="-122"/>
                <a:cs typeface="Inter Light" pitchFamily="34" charset="-120"/>
              </a:rPr>
              <a:t>Quantifying the reduction in carbon dioxide emissions achieved through reuse.</a:t>
            </a:r>
            <a:endParaRPr lang="en-US" sz="850" dirty="0"/>
          </a:p>
        </p:txBody>
      </p:sp>
      <p:pic>
        <p:nvPicPr>
          <p:cNvPr id="11"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1908" y="2589014"/>
            <a:ext cx="10927878" cy="660102"/>
          </a:xfrm>
          <a:prstGeom prst="rect">
            <a:avLst/>
          </a:prstGeom>
        </p:spPr>
      </p:pic>
      <p:pic>
        <p:nvPicPr>
          <p:cNvPr id="1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2122" y="2836565"/>
            <a:ext cx="164997" cy="165001"/>
          </a:xfrm>
          <a:prstGeom prst="rect">
            <a:avLst/>
          </a:prstGeom>
        </p:spPr>
      </p:pic>
      <p:sp>
        <p:nvSpPr>
          <p:cNvPr id="13" name="Text 7"/>
          <p:cNvSpPr/>
          <p:nvPr/>
        </p:nvSpPr>
        <p:spPr>
          <a:xfrm>
            <a:off x="1151603" y="2711648"/>
            <a:ext cx="10285552" cy="144760"/>
          </a:xfrm>
          <a:prstGeom prst="rect">
            <a:avLst/>
          </a:prstGeom>
          <a:noFill/>
          <a:ln/>
        </p:spPr>
        <p:txBody>
          <a:bodyPr wrap="none" lIns="0" tIns="0" rIns="0" bIns="0" rtlCol="0" anchor="t"/>
          <a:lstStyle/>
          <a:p>
            <a:pPr marL="0" indent="0" algn="l">
              <a:lnSpc>
                <a:spcPct val="83000"/>
              </a:lnSpc>
              <a:buNone/>
            </a:pPr>
            <a:r>
              <a:rPr lang="en-US" sz="1100" kern="0" spc="-34" dirty="0">
                <a:solidFill>
                  <a:srgbClr val="23231E"/>
                </a:solidFill>
                <a:latin typeface="DM Sans ExtraBold" pitchFamily="34" charset="0"/>
                <a:ea typeface="DM Sans ExtraBold" pitchFamily="34" charset="-122"/>
                <a:cs typeface="DM Sans ExtraBold" pitchFamily="34" charset="-120"/>
              </a:rPr>
              <a:t>Water Saving</a:t>
            </a:r>
            <a:endParaRPr lang="en-US" sz="1100" dirty="0"/>
          </a:p>
        </p:txBody>
      </p:sp>
      <p:sp>
        <p:nvSpPr>
          <p:cNvPr id="14" name="Text 8"/>
          <p:cNvSpPr/>
          <p:nvPr/>
        </p:nvSpPr>
        <p:spPr>
          <a:xfrm>
            <a:off x="1151603" y="2896592"/>
            <a:ext cx="10285552" cy="97334"/>
          </a:xfrm>
          <a:prstGeom prst="rect">
            <a:avLst/>
          </a:prstGeom>
          <a:noFill/>
          <a:ln/>
        </p:spPr>
        <p:txBody>
          <a:bodyPr wrap="none" lIns="0" tIns="0" rIns="0" bIns="0" rtlCol="0" anchor="t"/>
          <a:lstStyle/>
          <a:p>
            <a:pPr marL="0" indent="0" algn="l">
              <a:lnSpc>
                <a:spcPct val="74000"/>
              </a:lnSpc>
              <a:buNone/>
            </a:pPr>
            <a:r>
              <a:rPr lang="en-US" sz="850" dirty="0">
                <a:solidFill>
                  <a:srgbClr val="23231E"/>
                </a:solidFill>
                <a:latin typeface="Inter Light" pitchFamily="34" charset="0"/>
                <a:ea typeface="Inter Light" pitchFamily="34" charset="-122"/>
                <a:cs typeface="Inter Light" pitchFamily="34" charset="-120"/>
              </a:rPr>
              <a:t>Measuring the amount of water conserved by diverting textiles from disposal.</a:t>
            </a:r>
            <a:endParaRPr lang="en-US" sz="850" dirty="0"/>
          </a:p>
        </p:txBody>
      </p:sp>
      <p:pic>
        <p:nvPicPr>
          <p:cNvPr id="1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1908" y="3316089"/>
            <a:ext cx="10927878" cy="660102"/>
          </a:xfrm>
          <a:prstGeom prst="rect">
            <a:avLst/>
          </a:prstGeom>
        </p:spPr>
      </p:pic>
      <p:pic>
        <p:nvPicPr>
          <p:cNvPr id="16"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82122" y="3563640"/>
            <a:ext cx="164997" cy="165001"/>
          </a:xfrm>
          <a:prstGeom prst="rect">
            <a:avLst/>
          </a:prstGeom>
        </p:spPr>
      </p:pic>
      <p:sp>
        <p:nvSpPr>
          <p:cNvPr id="17" name="Text 9"/>
          <p:cNvSpPr/>
          <p:nvPr/>
        </p:nvSpPr>
        <p:spPr>
          <a:xfrm>
            <a:off x="1151603" y="3438723"/>
            <a:ext cx="10285552" cy="144760"/>
          </a:xfrm>
          <a:prstGeom prst="rect">
            <a:avLst/>
          </a:prstGeom>
          <a:noFill/>
          <a:ln/>
        </p:spPr>
        <p:txBody>
          <a:bodyPr wrap="none" lIns="0" tIns="0" rIns="0" bIns="0" rtlCol="0" anchor="t"/>
          <a:lstStyle/>
          <a:p>
            <a:pPr marL="0" indent="0" algn="l">
              <a:lnSpc>
                <a:spcPct val="83000"/>
              </a:lnSpc>
              <a:buNone/>
            </a:pPr>
            <a:r>
              <a:rPr lang="en-US" sz="1100" kern="0" spc="-34" dirty="0">
                <a:solidFill>
                  <a:srgbClr val="23231E"/>
                </a:solidFill>
                <a:latin typeface="DM Sans ExtraBold" pitchFamily="34" charset="0"/>
                <a:ea typeface="DM Sans ExtraBold" pitchFamily="34" charset="-122"/>
                <a:cs typeface="DM Sans ExtraBold" pitchFamily="34" charset="-120"/>
              </a:rPr>
              <a:t>Green Score</a:t>
            </a:r>
            <a:endParaRPr lang="en-US" sz="1100" dirty="0"/>
          </a:p>
        </p:txBody>
      </p:sp>
      <p:sp>
        <p:nvSpPr>
          <p:cNvPr id="18" name="Text 10"/>
          <p:cNvSpPr/>
          <p:nvPr/>
        </p:nvSpPr>
        <p:spPr>
          <a:xfrm>
            <a:off x="1151603" y="3623667"/>
            <a:ext cx="10285552" cy="97334"/>
          </a:xfrm>
          <a:prstGeom prst="rect">
            <a:avLst/>
          </a:prstGeom>
          <a:noFill/>
          <a:ln/>
        </p:spPr>
        <p:txBody>
          <a:bodyPr wrap="none" lIns="0" tIns="0" rIns="0" bIns="0" rtlCol="0" anchor="t"/>
          <a:lstStyle/>
          <a:p>
            <a:pPr marL="0" indent="0" algn="l">
              <a:lnSpc>
                <a:spcPct val="74000"/>
              </a:lnSpc>
              <a:buNone/>
            </a:pPr>
            <a:r>
              <a:rPr lang="en-US" sz="850" dirty="0">
                <a:solidFill>
                  <a:srgbClr val="23231E"/>
                </a:solidFill>
                <a:latin typeface="Inter Light" pitchFamily="34" charset="0"/>
                <a:ea typeface="Inter Light" pitchFamily="34" charset="-122"/>
                <a:cs typeface="Inter Light" pitchFamily="34" charset="-120"/>
              </a:rPr>
              <a:t>A composite index reflecting the overall environmental benefit of a reused textile.</a:t>
            </a:r>
            <a:endParaRPr lang="en-US" sz="850" dirty="0"/>
          </a:p>
        </p:txBody>
      </p:sp>
      <p:pic>
        <p:nvPicPr>
          <p:cNvPr id="19" name="Image 6"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31908" y="4043164"/>
            <a:ext cx="10927878" cy="660102"/>
          </a:xfrm>
          <a:prstGeom prst="rect">
            <a:avLst/>
          </a:prstGeom>
        </p:spPr>
      </p:pic>
      <p:pic>
        <p:nvPicPr>
          <p:cNvPr id="20" name="Image 7" descr="preencoded.png"/>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82122" y="4290715"/>
            <a:ext cx="164997" cy="165001"/>
          </a:xfrm>
          <a:prstGeom prst="rect">
            <a:avLst/>
          </a:prstGeom>
        </p:spPr>
      </p:pic>
      <p:sp>
        <p:nvSpPr>
          <p:cNvPr id="21" name="Text 11"/>
          <p:cNvSpPr/>
          <p:nvPr/>
        </p:nvSpPr>
        <p:spPr>
          <a:xfrm>
            <a:off x="1151603" y="4165798"/>
            <a:ext cx="10285552" cy="144760"/>
          </a:xfrm>
          <a:prstGeom prst="rect">
            <a:avLst/>
          </a:prstGeom>
          <a:noFill/>
          <a:ln/>
        </p:spPr>
        <p:txBody>
          <a:bodyPr wrap="none" lIns="0" tIns="0" rIns="0" bIns="0" rtlCol="0" anchor="t"/>
          <a:lstStyle/>
          <a:p>
            <a:pPr marL="0" indent="0" algn="l">
              <a:lnSpc>
                <a:spcPct val="83000"/>
              </a:lnSpc>
              <a:buNone/>
            </a:pPr>
            <a:r>
              <a:rPr lang="en-US" sz="1100" kern="0" spc="-34" dirty="0">
                <a:solidFill>
                  <a:srgbClr val="23231E"/>
                </a:solidFill>
                <a:latin typeface="DM Sans ExtraBold" pitchFamily="34" charset="0"/>
                <a:ea typeface="DM Sans ExtraBold" pitchFamily="34" charset="-122"/>
                <a:cs typeface="DM Sans ExtraBold" pitchFamily="34" charset="-120"/>
              </a:rPr>
              <a:t>Sustainability Score</a:t>
            </a:r>
            <a:endParaRPr lang="en-US" sz="1100" dirty="0"/>
          </a:p>
        </p:txBody>
      </p:sp>
      <p:sp>
        <p:nvSpPr>
          <p:cNvPr id="22" name="Text 12"/>
          <p:cNvSpPr/>
          <p:nvPr/>
        </p:nvSpPr>
        <p:spPr>
          <a:xfrm>
            <a:off x="1151603" y="4350742"/>
            <a:ext cx="10285552" cy="97334"/>
          </a:xfrm>
          <a:prstGeom prst="rect">
            <a:avLst/>
          </a:prstGeom>
          <a:noFill/>
          <a:ln/>
        </p:spPr>
        <p:txBody>
          <a:bodyPr wrap="none" lIns="0" tIns="0" rIns="0" bIns="0" rtlCol="0" anchor="t"/>
          <a:lstStyle/>
          <a:p>
            <a:pPr marL="0" indent="0" algn="l">
              <a:lnSpc>
                <a:spcPct val="74000"/>
              </a:lnSpc>
              <a:buNone/>
            </a:pPr>
            <a:r>
              <a:rPr lang="en-US" sz="850" dirty="0">
                <a:solidFill>
                  <a:srgbClr val="23231E"/>
                </a:solidFill>
                <a:latin typeface="Inter Light" pitchFamily="34" charset="0"/>
                <a:ea typeface="Inter Light" pitchFamily="34" charset="-122"/>
                <a:cs typeface="Inter Light" pitchFamily="34" charset="-120"/>
              </a:rPr>
              <a:t>An assessment of a textile's contribution to circular economy principles.</a:t>
            </a:r>
            <a:endParaRPr lang="en-US" sz="850" dirty="0"/>
          </a:p>
        </p:txBody>
      </p:sp>
      <p:pic>
        <p:nvPicPr>
          <p:cNvPr id="23" name="Image 8"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908" y="4770239"/>
            <a:ext cx="10927878" cy="660102"/>
          </a:xfrm>
          <a:prstGeom prst="rect">
            <a:avLst/>
          </a:prstGeom>
        </p:spPr>
      </p:pic>
      <p:pic>
        <p:nvPicPr>
          <p:cNvPr id="24" name="Image 9" descr="preencoded.png"/>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82122" y="5017790"/>
            <a:ext cx="164997" cy="165001"/>
          </a:xfrm>
          <a:prstGeom prst="rect">
            <a:avLst/>
          </a:prstGeom>
        </p:spPr>
      </p:pic>
      <p:sp>
        <p:nvSpPr>
          <p:cNvPr id="25" name="Text 13"/>
          <p:cNvSpPr/>
          <p:nvPr/>
        </p:nvSpPr>
        <p:spPr>
          <a:xfrm>
            <a:off x="1151603" y="4892873"/>
            <a:ext cx="10285552" cy="144760"/>
          </a:xfrm>
          <a:prstGeom prst="rect">
            <a:avLst/>
          </a:prstGeom>
          <a:noFill/>
          <a:ln/>
        </p:spPr>
        <p:txBody>
          <a:bodyPr wrap="none" lIns="0" tIns="0" rIns="0" bIns="0" rtlCol="0" anchor="t"/>
          <a:lstStyle/>
          <a:p>
            <a:pPr marL="0" indent="0" algn="l">
              <a:lnSpc>
                <a:spcPct val="83000"/>
              </a:lnSpc>
              <a:buNone/>
            </a:pPr>
            <a:r>
              <a:rPr lang="en-US" sz="1100" kern="0" spc="-34" dirty="0">
                <a:solidFill>
                  <a:srgbClr val="23231E"/>
                </a:solidFill>
                <a:latin typeface="DM Sans ExtraBold" pitchFamily="34" charset="0"/>
                <a:ea typeface="DM Sans ExtraBold" pitchFamily="34" charset="-122"/>
                <a:cs typeface="DM Sans ExtraBold" pitchFamily="34" charset="-120"/>
              </a:rPr>
              <a:t>Circular-Action Recommendation</a:t>
            </a:r>
            <a:endParaRPr lang="en-US" sz="1100" dirty="0"/>
          </a:p>
        </p:txBody>
      </p:sp>
      <p:sp>
        <p:nvSpPr>
          <p:cNvPr id="26" name="Text 14"/>
          <p:cNvSpPr/>
          <p:nvPr/>
        </p:nvSpPr>
        <p:spPr>
          <a:xfrm>
            <a:off x="1151603" y="5077817"/>
            <a:ext cx="10285552" cy="97334"/>
          </a:xfrm>
          <a:prstGeom prst="rect">
            <a:avLst/>
          </a:prstGeom>
          <a:noFill/>
          <a:ln/>
        </p:spPr>
        <p:txBody>
          <a:bodyPr wrap="none" lIns="0" tIns="0" rIns="0" bIns="0" rtlCol="0" anchor="t"/>
          <a:lstStyle/>
          <a:p>
            <a:pPr marL="0" indent="0" algn="l">
              <a:lnSpc>
                <a:spcPct val="74000"/>
              </a:lnSpc>
              <a:buNone/>
            </a:pPr>
            <a:r>
              <a:rPr lang="en-US" sz="850" dirty="0">
                <a:solidFill>
                  <a:srgbClr val="23231E"/>
                </a:solidFill>
                <a:latin typeface="Inter Light" pitchFamily="34" charset="0"/>
                <a:ea typeface="Inter Light" pitchFamily="34" charset="-122"/>
                <a:cs typeface="Inter Light" pitchFamily="34" charset="-120"/>
              </a:rPr>
              <a:t>Guidance on the most impactful reuse or recycling pathway for a given textile.</a:t>
            </a:r>
            <a:endParaRPr lang="en-US" sz="850" dirty="0"/>
          </a:p>
        </p:txBody>
      </p:sp>
      <p:pic>
        <p:nvPicPr>
          <p:cNvPr id="27" name="Image 10"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1908" y="5497314"/>
            <a:ext cx="10927878" cy="660102"/>
          </a:xfrm>
          <a:prstGeom prst="rect">
            <a:avLst/>
          </a:prstGeom>
        </p:spPr>
      </p:pic>
      <p:pic>
        <p:nvPicPr>
          <p:cNvPr id="28" name="Image 11" descr="preencoded.png"/>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82122" y="5744865"/>
            <a:ext cx="164997" cy="165001"/>
          </a:xfrm>
          <a:prstGeom prst="rect">
            <a:avLst/>
          </a:prstGeom>
        </p:spPr>
      </p:pic>
      <p:sp>
        <p:nvSpPr>
          <p:cNvPr id="29" name="Text 15"/>
          <p:cNvSpPr/>
          <p:nvPr/>
        </p:nvSpPr>
        <p:spPr>
          <a:xfrm>
            <a:off x="1151603" y="5619948"/>
            <a:ext cx="10285552" cy="144760"/>
          </a:xfrm>
          <a:prstGeom prst="rect">
            <a:avLst/>
          </a:prstGeom>
          <a:noFill/>
          <a:ln/>
        </p:spPr>
        <p:txBody>
          <a:bodyPr wrap="none" lIns="0" tIns="0" rIns="0" bIns="0" rtlCol="0" anchor="t"/>
          <a:lstStyle/>
          <a:p>
            <a:pPr marL="0" indent="0" algn="l">
              <a:lnSpc>
                <a:spcPct val="83000"/>
              </a:lnSpc>
              <a:buNone/>
            </a:pPr>
            <a:r>
              <a:rPr lang="en-US" sz="1100" kern="0" spc="-34" dirty="0">
                <a:solidFill>
                  <a:srgbClr val="23231E"/>
                </a:solidFill>
                <a:latin typeface="DM Sans ExtraBold" pitchFamily="34" charset="0"/>
                <a:ea typeface="DM Sans ExtraBold" pitchFamily="34" charset="-122"/>
                <a:cs typeface="DM Sans ExtraBold" pitchFamily="34" charset="-120"/>
              </a:rPr>
              <a:t>Scenario Comparison</a:t>
            </a:r>
            <a:endParaRPr lang="en-US" sz="1100" dirty="0"/>
          </a:p>
        </p:txBody>
      </p:sp>
      <p:sp>
        <p:nvSpPr>
          <p:cNvPr id="30" name="Text 16"/>
          <p:cNvSpPr/>
          <p:nvPr/>
        </p:nvSpPr>
        <p:spPr>
          <a:xfrm>
            <a:off x="1151603" y="5804892"/>
            <a:ext cx="10285552" cy="97334"/>
          </a:xfrm>
          <a:prstGeom prst="rect">
            <a:avLst/>
          </a:prstGeom>
          <a:noFill/>
          <a:ln/>
        </p:spPr>
        <p:txBody>
          <a:bodyPr wrap="none" lIns="0" tIns="0" rIns="0" bIns="0" rtlCol="0" anchor="t"/>
          <a:lstStyle/>
          <a:p>
            <a:pPr marL="0" indent="0" algn="l">
              <a:lnSpc>
                <a:spcPct val="74000"/>
              </a:lnSpc>
              <a:buNone/>
            </a:pPr>
            <a:r>
              <a:rPr lang="en-US" sz="850" dirty="0">
                <a:solidFill>
                  <a:srgbClr val="23231E"/>
                </a:solidFill>
                <a:latin typeface="Inter Light" pitchFamily="34" charset="0"/>
                <a:ea typeface="Inter Light" pitchFamily="34" charset="-122"/>
                <a:cs typeface="Inter Light" pitchFamily="34" charset="-120"/>
              </a:rPr>
              <a:t>Analysis of environmental impacts across different end-of-life scenarios.</a:t>
            </a:r>
            <a:endParaRPr lang="en-US" sz="850" dirty="0"/>
          </a:p>
        </p:txBody>
      </p:sp>
      <p:grpSp>
        <p:nvGrpSpPr>
          <p:cNvPr id="31" name="Group 30">
            <a:extLst>
              <a:ext uri="{FF2B5EF4-FFF2-40B4-BE49-F238E27FC236}">
                <a16:creationId xmlns:a16="http://schemas.microsoft.com/office/drawing/2014/main" id="{34D4A58E-D8C5-8BBF-3879-65CC462AA811}"/>
              </a:ext>
            </a:extLst>
          </p:cNvPr>
          <p:cNvGrpSpPr/>
          <p:nvPr/>
        </p:nvGrpSpPr>
        <p:grpSpPr>
          <a:xfrm>
            <a:off x="10686552" y="6506574"/>
            <a:ext cx="1505131" cy="351434"/>
            <a:chOff x="2623154" y="413097"/>
            <a:chExt cx="2599719" cy="525560"/>
          </a:xfrm>
        </p:grpSpPr>
        <p:sp>
          <p:nvSpPr>
            <p:cNvPr id="32" name="Freeform 31">
              <a:extLst>
                <a:ext uri="{FF2B5EF4-FFF2-40B4-BE49-F238E27FC236}">
                  <a16:creationId xmlns:a16="http://schemas.microsoft.com/office/drawing/2014/main" id="{7CF38D75-4980-3074-F25E-61F96E4F25B8}"/>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23"/>
              <a:stretch>
                <a:fillRect l="-64" r="-64" b="1"/>
              </a:stretch>
            </a:blipFill>
          </p:spPr>
          <p:txBody>
            <a:bodyPr/>
            <a:lstStyle/>
            <a:p>
              <a:endParaRPr lang="en-US" sz="1200" dirty="0"/>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0"/>
            <a:ext cx="12191695" cy="1749425"/>
          </a:xfrm>
          <a:custGeom>
            <a:avLst/>
            <a:gdLst/>
            <a:ahLst/>
            <a:cxnLst/>
            <a:rect l="0" t="0" r="100000" b="100000"/>
            <a:pathLst>
              <a:path w="100000" h="100000">
                <a:moveTo>
                  <a:pt x="0" y="0"/>
                </a:moveTo>
                <a:lnTo>
                  <a:pt x="100000" y="0"/>
                </a:lnTo>
                <a:lnTo>
                  <a:pt x="100000" y="86720"/>
                </a:lnTo>
                <a:lnTo>
                  <a:pt x="96000" y="89450"/>
                </a:lnTo>
                <a:lnTo>
                  <a:pt x="91990" y="91890"/>
                </a:lnTo>
                <a:lnTo>
                  <a:pt x="84670" y="95800"/>
                </a:lnTo>
                <a:lnTo>
                  <a:pt x="81150" y="97360"/>
                </a:lnTo>
                <a:lnTo>
                  <a:pt x="77150" y="98830"/>
                </a:lnTo>
                <a:lnTo>
                  <a:pt x="74610" y="99510"/>
                </a:lnTo>
                <a:lnTo>
                  <a:pt x="71480" y="100000"/>
                </a:lnTo>
                <a:lnTo>
                  <a:pt x="67290" y="99800"/>
                </a:lnTo>
                <a:lnTo>
                  <a:pt x="63280" y="98730"/>
                </a:lnTo>
                <a:lnTo>
                  <a:pt x="60060" y="97270"/>
                </a:lnTo>
                <a:lnTo>
                  <a:pt x="56050" y="94920"/>
                </a:lnTo>
                <a:lnTo>
                  <a:pt x="52540" y="93160"/>
                </a:lnTo>
                <a:lnTo>
                  <a:pt x="48540" y="91800"/>
                </a:lnTo>
                <a:lnTo>
                  <a:pt x="45700" y="91310"/>
                </a:lnTo>
                <a:lnTo>
                  <a:pt x="40040" y="91210"/>
                </a:lnTo>
                <a:lnTo>
                  <a:pt x="36520" y="91410"/>
                </a:lnTo>
                <a:lnTo>
                  <a:pt x="31150" y="91990"/>
                </a:lnTo>
                <a:lnTo>
                  <a:pt x="21970" y="93460"/>
                </a:lnTo>
                <a:lnTo>
                  <a:pt x="14750" y="93850"/>
                </a:lnTo>
                <a:lnTo>
                  <a:pt x="11330" y="93650"/>
                </a:lnTo>
                <a:lnTo>
                  <a:pt x="7030" y="93070"/>
                </a:lnTo>
                <a:lnTo>
                  <a:pt x="2640" y="92090"/>
                </a:lnTo>
                <a:lnTo>
                  <a:pt x="0" y="91210"/>
                </a:lnTo>
                <a:close/>
              </a:path>
            </a:pathLst>
          </a:custGeom>
        </p:spPr>
      </p:pic>
      <p:sp>
        <p:nvSpPr>
          <p:cNvPr id="3" name="Text 0"/>
          <p:cNvSpPr/>
          <p:nvPr/>
        </p:nvSpPr>
        <p:spPr>
          <a:xfrm>
            <a:off x="631908" y="2214364"/>
            <a:ext cx="10927878" cy="350738"/>
          </a:xfrm>
          <a:prstGeom prst="rect">
            <a:avLst/>
          </a:prstGeom>
          <a:noFill/>
          <a:ln/>
        </p:spPr>
        <p:txBody>
          <a:bodyPr wrap="none" lIns="0" tIns="0" rIns="0" bIns="0" rtlCol="0" anchor="t"/>
          <a:lstStyle/>
          <a:p>
            <a:pPr marL="0" indent="0" algn="l">
              <a:lnSpc>
                <a:spcPct val="83000"/>
              </a:lnSpc>
              <a:buNone/>
            </a:pPr>
            <a:r>
              <a:rPr lang="en-US" sz="2750" kern="0" spc="-83" dirty="0">
                <a:solidFill>
                  <a:srgbClr val="383830"/>
                </a:solidFill>
                <a:latin typeface="DM Sans ExtraBold" pitchFamily="34" charset="0"/>
                <a:ea typeface="DM Sans ExtraBold" pitchFamily="34" charset="-122"/>
                <a:cs typeface="DM Sans ExtraBold" pitchFamily="34" charset="-120"/>
              </a:rPr>
              <a:t>The Environmental Cost of Textile Waste</a:t>
            </a:r>
            <a:endParaRPr lang="en-US" sz="2750" dirty="0"/>
          </a:p>
        </p:txBody>
      </p:sp>
      <p:sp>
        <p:nvSpPr>
          <p:cNvPr id="4" name="Text 1"/>
          <p:cNvSpPr/>
          <p:nvPr/>
        </p:nvSpPr>
        <p:spPr>
          <a:xfrm>
            <a:off x="631908" y="2712641"/>
            <a:ext cx="11537463" cy="127298"/>
          </a:xfrm>
          <a:prstGeom prst="rect">
            <a:avLst/>
          </a:prstGeom>
          <a:noFill/>
          <a:ln/>
        </p:spPr>
        <p:txBody>
          <a:bodyPr wrap="none" lIns="0" tIns="0" rIns="0" bIns="0" rtlCol="0" anchor="t"/>
          <a:lstStyle/>
          <a:p>
            <a:pPr marL="0" indent="0" algn="l">
              <a:lnSpc>
                <a:spcPct val="80000"/>
              </a:lnSpc>
              <a:buNone/>
            </a:pPr>
            <a:r>
              <a:rPr lang="en-US" sz="1000" dirty="0">
                <a:solidFill>
                  <a:srgbClr val="23231E"/>
                </a:solidFill>
                <a:latin typeface="Inter Light" pitchFamily="34" charset="0"/>
                <a:ea typeface="Inter Light" pitchFamily="34" charset="-122"/>
                <a:cs typeface="Inter Light" pitchFamily="34" charset="-120"/>
              </a:rPr>
              <a:t>When reusable textile materials are discarded, it leads to a cascade of negative environmental and economic impacts:</a:t>
            </a:r>
            <a:endParaRPr lang="en-US" sz="100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1908" y="2950567"/>
            <a:ext cx="10927878" cy="666353"/>
          </a:xfrm>
          <a:prstGeom prst="rect">
            <a:avLst/>
          </a:prstGeom>
        </p:spPr>
      </p:pic>
      <p:sp>
        <p:nvSpPr>
          <p:cNvPr id="6" name="Text 2"/>
          <p:cNvSpPr/>
          <p:nvPr/>
        </p:nvSpPr>
        <p:spPr>
          <a:xfrm>
            <a:off x="860403" y="3102868"/>
            <a:ext cx="10547086" cy="175419"/>
          </a:xfrm>
          <a:prstGeom prst="rect">
            <a:avLst/>
          </a:prstGeom>
          <a:noFill/>
          <a:ln/>
        </p:spPr>
        <p:txBody>
          <a:bodyPr wrap="none" lIns="0" tIns="0" rIns="0" bIns="0" rtlCol="0" anchor="t"/>
          <a:lstStyle/>
          <a:p>
            <a:pPr marL="0" indent="0" algn="l">
              <a:lnSpc>
                <a:spcPct val="83000"/>
              </a:lnSpc>
              <a:buNone/>
            </a:pPr>
            <a:r>
              <a:rPr lang="en-US" sz="1350" kern="0" spc="-41" dirty="0">
                <a:solidFill>
                  <a:srgbClr val="23231E"/>
                </a:solidFill>
                <a:latin typeface="DM Sans ExtraBold" pitchFamily="34" charset="0"/>
                <a:ea typeface="DM Sans ExtraBold" pitchFamily="34" charset="-122"/>
                <a:cs typeface="DM Sans ExtraBold" pitchFamily="34" charset="-120"/>
              </a:rPr>
              <a:t>Lost Material Value</a:t>
            </a:r>
            <a:endParaRPr lang="en-US" sz="1350" dirty="0"/>
          </a:p>
        </p:txBody>
      </p:sp>
      <p:sp>
        <p:nvSpPr>
          <p:cNvPr id="7" name="Text 3"/>
          <p:cNvSpPr/>
          <p:nvPr/>
        </p:nvSpPr>
        <p:spPr>
          <a:xfrm>
            <a:off x="860403" y="3337322"/>
            <a:ext cx="10547086" cy="127298"/>
          </a:xfrm>
          <a:prstGeom prst="rect">
            <a:avLst/>
          </a:prstGeom>
          <a:noFill/>
          <a:ln/>
        </p:spPr>
        <p:txBody>
          <a:bodyPr wrap="none" lIns="0" tIns="0" rIns="0" bIns="0" rtlCol="0" anchor="t"/>
          <a:lstStyle/>
          <a:p>
            <a:pPr marL="0" indent="0" algn="l">
              <a:lnSpc>
                <a:spcPct val="80000"/>
              </a:lnSpc>
              <a:buNone/>
            </a:pPr>
            <a:r>
              <a:rPr lang="en-US" sz="1000" dirty="0">
                <a:solidFill>
                  <a:srgbClr val="23231E"/>
                </a:solidFill>
                <a:latin typeface="Inter Light" pitchFamily="34" charset="0"/>
                <a:ea typeface="Inter Light" pitchFamily="34" charset="-122"/>
                <a:cs typeface="Inter Light" pitchFamily="34" charset="-120"/>
              </a:rPr>
              <a:t>The inherent value and potential of textile resources are permanently lost, contributing to a linear 'take-make-dispose' economy.</a:t>
            </a:r>
            <a:endParaRPr lang="en-US" sz="1000" dirty="0"/>
          </a:p>
        </p:txBody>
      </p:sp>
      <p:pic>
        <p:nvPicPr>
          <p:cNvPr id="8"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1908" y="3715246"/>
            <a:ext cx="10927878" cy="666353"/>
          </a:xfrm>
          <a:prstGeom prst="rect">
            <a:avLst/>
          </a:prstGeom>
        </p:spPr>
      </p:pic>
      <p:sp>
        <p:nvSpPr>
          <p:cNvPr id="9" name="Text 4"/>
          <p:cNvSpPr/>
          <p:nvPr/>
        </p:nvSpPr>
        <p:spPr>
          <a:xfrm>
            <a:off x="860403" y="3867547"/>
            <a:ext cx="10547086" cy="175419"/>
          </a:xfrm>
          <a:prstGeom prst="rect">
            <a:avLst/>
          </a:prstGeom>
          <a:noFill/>
          <a:ln/>
        </p:spPr>
        <p:txBody>
          <a:bodyPr wrap="none" lIns="0" tIns="0" rIns="0" bIns="0" rtlCol="0" anchor="t"/>
          <a:lstStyle/>
          <a:p>
            <a:pPr marL="0" indent="0" algn="l">
              <a:lnSpc>
                <a:spcPct val="83000"/>
              </a:lnSpc>
              <a:buNone/>
            </a:pPr>
            <a:r>
              <a:rPr lang="en-US" sz="1350" kern="0" spc="-41" dirty="0">
                <a:solidFill>
                  <a:srgbClr val="23231E"/>
                </a:solidFill>
                <a:latin typeface="DM Sans ExtraBold" pitchFamily="34" charset="0"/>
                <a:ea typeface="DM Sans ExtraBold" pitchFamily="34" charset="-122"/>
                <a:cs typeface="DM Sans ExtraBold" pitchFamily="34" charset="-120"/>
              </a:rPr>
              <a:t>New Raw Material Demand</a:t>
            </a:r>
            <a:endParaRPr lang="en-US" sz="1350" dirty="0"/>
          </a:p>
        </p:txBody>
      </p:sp>
      <p:sp>
        <p:nvSpPr>
          <p:cNvPr id="10" name="Text 5"/>
          <p:cNvSpPr/>
          <p:nvPr/>
        </p:nvSpPr>
        <p:spPr>
          <a:xfrm>
            <a:off x="860403" y="4102001"/>
            <a:ext cx="10547086" cy="127298"/>
          </a:xfrm>
          <a:prstGeom prst="rect">
            <a:avLst/>
          </a:prstGeom>
          <a:noFill/>
          <a:ln/>
        </p:spPr>
        <p:txBody>
          <a:bodyPr wrap="none" lIns="0" tIns="0" rIns="0" bIns="0" rtlCol="0" anchor="t"/>
          <a:lstStyle/>
          <a:p>
            <a:pPr marL="0" indent="0" algn="l">
              <a:lnSpc>
                <a:spcPct val="80000"/>
              </a:lnSpc>
              <a:buNone/>
            </a:pPr>
            <a:r>
              <a:rPr lang="en-US" sz="1000" dirty="0">
                <a:solidFill>
                  <a:srgbClr val="23231E"/>
                </a:solidFill>
                <a:latin typeface="Inter Light" pitchFamily="34" charset="0"/>
                <a:ea typeface="Inter Light" pitchFamily="34" charset="-122"/>
                <a:cs typeface="Inter Light" pitchFamily="34" charset="-120"/>
              </a:rPr>
              <a:t>The continuous production of new textiles requires significant virgin resources, such as water, land, and energy, straining natural ecosystems.</a:t>
            </a:r>
            <a:endParaRPr lang="en-US" sz="1000" dirty="0"/>
          </a:p>
        </p:txBody>
      </p:sp>
      <p:pic>
        <p:nvPicPr>
          <p:cNvPr id="11"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1908" y="4479925"/>
            <a:ext cx="10927878" cy="666353"/>
          </a:xfrm>
          <a:prstGeom prst="rect">
            <a:avLst/>
          </a:prstGeom>
        </p:spPr>
      </p:pic>
      <p:sp>
        <p:nvSpPr>
          <p:cNvPr id="12" name="Text 6"/>
          <p:cNvSpPr/>
          <p:nvPr/>
        </p:nvSpPr>
        <p:spPr>
          <a:xfrm>
            <a:off x="860403" y="4632226"/>
            <a:ext cx="10547086" cy="175419"/>
          </a:xfrm>
          <a:prstGeom prst="rect">
            <a:avLst/>
          </a:prstGeom>
          <a:noFill/>
          <a:ln/>
        </p:spPr>
        <p:txBody>
          <a:bodyPr wrap="none" lIns="0" tIns="0" rIns="0" bIns="0" rtlCol="0" anchor="t"/>
          <a:lstStyle/>
          <a:p>
            <a:pPr marL="0" indent="0" algn="l">
              <a:lnSpc>
                <a:spcPct val="83000"/>
              </a:lnSpc>
              <a:buNone/>
            </a:pPr>
            <a:r>
              <a:rPr lang="en-US" sz="1350" kern="0" spc="-41" dirty="0">
                <a:solidFill>
                  <a:srgbClr val="23231E"/>
                </a:solidFill>
                <a:latin typeface="DM Sans ExtraBold" pitchFamily="34" charset="0"/>
                <a:ea typeface="DM Sans ExtraBold" pitchFamily="34" charset="-122"/>
                <a:cs typeface="DM Sans ExtraBold" pitchFamily="34" charset="-120"/>
              </a:rPr>
              <a:t>Additional Environmental Impacts</a:t>
            </a:r>
            <a:endParaRPr lang="en-US" sz="1350" dirty="0"/>
          </a:p>
        </p:txBody>
      </p:sp>
      <p:sp>
        <p:nvSpPr>
          <p:cNvPr id="13" name="Text 7"/>
          <p:cNvSpPr/>
          <p:nvPr/>
        </p:nvSpPr>
        <p:spPr>
          <a:xfrm>
            <a:off x="860403" y="4866680"/>
            <a:ext cx="10547086" cy="127298"/>
          </a:xfrm>
          <a:prstGeom prst="rect">
            <a:avLst/>
          </a:prstGeom>
          <a:noFill/>
          <a:ln/>
        </p:spPr>
        <p:txBody>
          <a:bodyPr wrap="none" lIns="0" tIns="0" rIns="0" bIns="0" rtlCol="0" anchor="t"/>
          <a:lstStyle/>
          <a:p>
            <a:pPr marL="0" indent="0" algn="l">
              <a:lnSpc>
                <a:spcPct val="80000"/>
              </a:lnSpc>
              <a:buNone/>
            </a:pPr>
            <a:r>
              <a:rPr lang="en-US" sz="1000" dirty="0">
                <a:solidFill>
                  <a:srgbClr val="23231E"/>
                </a:solidFill>
                <a:latin typeface="Inter Light" pitchFamily="34" charset="0"/>
                <a:ea typeface="Inter Light" pitchFamily="34" charset="-122"/>
                <a:cs typeface="Inter Light" pitchFamily="34" charset="-120"/>
              </a:rPr>
              <a:t>Disposal methods, particularly landfilling, contribute to greenhouse gas emissions and pollution of soil and water bodies.</a:t>
            </a:r>
            <a:endParaRPr lang="en-US" sz="1000" dirty="0"/>
          </a:p>
        </p:txBody>
      </p:sp>
      <p:sp>
        <p:nvSpPr>
          <p:cNvPr id="14" name="Text 8"/>
          <p:cNvSpPr/>
          <p:nvPr/>
        </p:nvSpPr>
        <p:spPr>
          <a:xfrm>
            <a:off x="631908" y="5293816"/>
            <a:ext cx="10927878" cy="280591"/>
          </a:xfrm>
          <a:prstGeom prst="rect">
            <a:avLst/>
          </a:prstGeom>
          <a:noFill/>
          <a:ln/>
        </p:spPr>
        <p:txBody>
          <a:bodyPr wrap="none" lIns="0" tIns="0" rIns="0" bIns="0" rtlCol="0" anchor="t"/>
          <a:lstStyle/>
          <a:p>
            <a:pPr marL="0" indent="0" algn="l">
              <a:lnSpc>
                <a:spcPct val="83000"/>
              </a:lnSpc>
              <a:buNone/>
            </a:pPr>
            <a:r>
              <a:rPr lang="en-US" sz="2200" kern="0" spc="-66" dirty="0">
                <a:solidFill>
                  <a:srgbClr val="383830"/>
                </a:solidFill>
                <a:latin typeface="DM Sans ExtraBold" pitchFamily="34" charset="0"/>
                <a:ea typeface="DM Sans ExtraBold" pitchFamily="34" charset="-122"/>
                <a:cs typeface="DM Sans ExtraBold" pitchFamily="34" charset="-120"/>
              </a:rPr>
              <a:t>The Marketplace Gap</a:t>
            </a:r>
            <a:endParaRPr lang="en-US" sz="2200" dirty="0"/>
          </a:p>
        </p:txBody>
      </p:sp>
      <p:sp>
        <p:nvSpPr>
          <p:cNvPr id="15" name="Text 9"/>
          <p:cNvSpPr/>
          <p:nvPr/>
        </p:nvSpPr>
        <p:spPr>
          <a:xfrm>
            <a:off x="631908" y="5820271"/>
            <a:ext cx="5301324" cy="175419"/>
          </a:xfrm>
          <a:prstGeom prst="rect">
            <a:avLst/>
          </a:prstGeom>
          <a:noFill/>
          <a:ln/>
        </p:spPr>
        <p:txBody>
          <a:bodyPr wrap="none" lIns="0" tIns="0" rIns="0" bIns="0" rtlCol="0" anchor="t"/>
          <a:lstStyle/>
          <a:p>
            <a:pPr marL="0" indent="0" algn="l">
              <a:lnSpc>
                <a:spcPct val="83000"/>
              </a:lnSpc>
              <a:buNone/>
            </a:pPr>
            <a:r>
              <a:rPr lang="en-US" sz="1350" kern="0" spc="-41" dirty="0">
                <a:solidFill>
                  <a:srgbClr val="383830"/>
                </a:solidFill>
                <a:latin typeface="DM Sans ExtraBold" pitchFamily="34" charset="0"/>
                <a:ea typeface="DM Sans ExtraBold" pitchFamily="34" charset="-122"/>
                <a:cs typeface="DM Sans ExtraBold" pitchFamily="34" charset="-120"/>
              </a:rPr>
              <a:t>Current Problem</a:t>
            </a:r>
            <a:endParaRPr lang="en-US" sz="1350" dirty="0"/>
          </a:p>
        </p:txBody>
      </p:sp>
      <p:sp>
        <p:nvSpPr>
          <p:cNvPr id="16" name="Text 10"/>
          <p:cNvSpPr/>
          <p:nvPr/>
        </p:nvSpPr>
        <p:spPr>
          <a:xfrm>
            <a:off x="631908" y="6094016"/>
            <a:ext cx="5910908" cy="127298"/>
          </a:xfrm>
          <a:prstGeom prst="rect">
            <a:avLst/>
          </a:prstGeom>
          <a:noFill/>
          <a:ln/>
        </p:spPr>
        <p:txBody>
          <a:bodyPr wrap="none" lIns="0" tIns="0" rIns="0" bIns="0" rtlCol="0" anchor="t"/>
          <a:lstStyle/>
          <a:p>
            <a:pPr marL="0" indent="0" algn="l">
              <a:lnSpc>
                <a:spcPct val="80000"/>
              </a:lnSpc>
              <a:buNone/>
            </a:pPr>
            <a:r>
              <a:rPr lang="en-US" sz="1000" dirty="0">
                <a:solidFill>
                  <a:srgbClr val="23231E"/>
                </a:solidFill>
                <a:latin typeface="Inter Light" pitchFamily="34" charset="0"/>
                <a:ea typeface="Inter Light" pitchFamily="34" charset="-122"/>
                <a:cs typeface="Inter Light" pitchFamily="34" charset="-120"/>
              </a:rPr>
              <a:t>Traditional marketplace listings typically only address: </a:t>
            </a:r>
            <a:endParaRPr lang="en-US" sz="1000" dirty="0"/>
          </a:p>
        </p:txBody>
      </p:sp>
      <p:sp>
        <p:nvSpPr>
          <p:cNvPr id="17" name="Text 11"/>
          <p:cNvSpPr/>
          <p:nvPr/>
        </p:nvSpPr>
        <p:spPr>
          <a:xfrm>
            <a:off x="6264813" y="5820271"/>
            <a:ext cx="5301324" cy="175419"/>
          </a:xfrm>
          <a:prstGeom prst="rect">
            <a:avLst/>
          </a:prstGeom>
          <a:noFill/>
          <a:ln/>
        </p:spPr>
        <p:txBody>
          <a:bodyPr wrap="none" lIns="0" tIns="0" rIns="0" bIns="0" rtlCol="0" anchor="t"/>
          <a:lstStyle/>
          <a:p>
            <a:pPr marL="0" indent="0" algn="l">
              <a:lnSpc>
                <a:spcPct val="83000"/>
              </a:lnSpc>
              <a:buNone/>
            </a:pPr>
            <a:r>
              <a:rPr lang="en-US" sz="1350" kern="0" spc="-41" dirty="0">
                <a:solidFill>
                  <a:srgbClr val="383830"/>
                </a:solidFill>
                <a:latin typeface="DM Sans ExtraBold" pitchFamily="34" charset="0"/>
                <a:ea typeface="DM Sans ExtraBold" pitchFamily="34" charset="-122"/>
                <a:cs typeface="DM Sans ExtraBold" pitchFamily="34" charset="-120"/>
              </a:rPr>
              <a:t>TexCycle AI's Value</a:t>
            </a:r>
            <a:endParaRPr lang="en-US" sz="1350" dirty="0"/>
          </a:p>
        </p:txBody>
      </p:sp>
      <p:sp>
        <p:nvSpPr>
          <p:cNvPr id="18" name="Text 12"/>
          <p:cNvSpPr/>
          <p:nvPr/>
        </p:nvSpPr>
        <p:spPr>
          <a:xfrm>
            <a:off x="6264813" y="6094016"/>
            <a:ext cx="5910908" cy="127298"/>
          </a:xfrm>
          <a:prstGeom prst="rect">
            <a:avLst/>
          </a:prstGeom>
          <a:noFill/>
          <a:ln/>
        </p:spPr>
        <p:txBody>
          <a:bodyPr wrap="none" lIns="0" tIns="0" rIns="0" bIns="0" rtlCol="0" anchor="t"/>
          <a:lstStyle/>
          <a:p>
            <a:pPr marL="0" indent="0" algn="l">
              <a:lnSpc>
                <a:spcPct val="80000"/>
              </a:lnSpc>
              <a:buNone/>
            </a:pPr>
            <a:r>
              <a:rPr lang="en-US" sz="1000" dirty="0">
                <a:solidFill>
                  <a:srgbClr val="23231E"/>
                </a:solidFill>
                <a:latin typeface="Inter Light" pitchFamily="34" charset="0"/>
                <a:ea typeface="Inter Light" pitchFamily="34" charset="-122"/>
                <a:cs typeface="Inter Light" pitchFamily="34" charset="-120"/>
              </a:rPr>
              <a:t>TexCycle AI expands this by additionally asking: </a:t>
            </a:r>
            <a:endParaRPr lang="en-US" sz="1000" dirty="0"/>
          </a:p>
        </p:txBody>
      </p:sp>
      <p:grpSp>
        <p:nvGrpSpPr>
          <p:cNvPr id="19" name="Group 18">
            <a:extLst>
              <a:ext uri="{FF2B5EF4-FFF2-40B4-BE49-F238E27FC236}">
                <a16:creationId xmlns:a16="http://schemas.microsoft.com/office/drawing/2014/main" id="{6EA0AAC0-F25B-21DA-2634-F53B6591F166}"/>
              </a:ext>
            </a:extLst>
          </p:cNvPr>
          <p:cNvGrpSpPr/>
          <p:nvPr/>
        </p:nvGrpSpPr>
        <p:grpSpPr>
          <a:xfrm>
            <a:off x="10686552" y="6506574"/>
            <a:ext cx="1505131" cy="351434"/>
            <a:chOff x="2623154" y="413097"/>
            <a:chExt cx="2599719" cy="525560"/>
          </a:xfrm>
        </p:grpSpPr>
        <p:sp>
          <p:nvSpPr>
            <p:cNvPr id="20" name="Freeform 19">
              <a:extLst>
                <a:ext uri="{FF2B5EF4-FFF2-40B4-BE49-F238E27FC236}">
                  <a16:creationId xmlns:a16="http://schemas.microsoft.com/office/drawing/2014/main" id="{5A8B8B88-240D-6E9C-3944-A4A3C51F0AEC}"/>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10"/>
              <a:stretch>
                <a:fillRect l="-64" r="-64" b="1"/>
              </a:stretch>
            </a:blipFill>
          </p:spPr>
          <p:txBody>
            <a:bodyPr/>
            <a:lstStyle/>
            <a:p>
              <a:endParaRPr lang="en-US" sz="1200" dirty="0"/>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631908" y="885230"/>
            <a:ext cx="1767240" cy="274241"/>
          </a:xfrm>
          <a:prstGeom prst="roundRect">
            <a:avLst>
              <a:gd name="adj" fmla="val 47401"/>
            </a:avLst>
          </a:prstGeom>
          <a:solidFill>
            <a:srgbClr val="D9F2E4"/>
          </a:solidFill>
          <a:ln/>
        </p:spPr>
        <p:txBody>
          <a:bodyPr/>
          <a:lstStyle/>
          <a:p>
            <a:endParaRPr lang="en-US"/>
          </a:p>
        </p:txBody>
      </p:sp>
      <p:sp>
        <p:nvSpPr>
          <p:cNvPr id="3" name="Text 1"/>
          <p:cNvSpPr/>
          <p:nvPr/>
        </p:nvSpPr>
        <p:spPr>
          <a:xfrm>
            <a:off x="740153" y="939304"/>
            <a:ext cx="2160335" cy="166092"/>
          </a:xfrm>
          <a:prstGeom prst="rect">
            <a:avLst/>
          </a:prstGeom>
          <a:noFill/>
          <a:ln/>
        </p:spPr>
        <p:txBody>
          <a:bodyPr wrap="none" lIns="0" tIns="0" rIns="0" bIns="0" rtlCol="0" anchor="t"/>
          <a:lstStyle/>
          <a:p>
            <a:pPr marL="0" indent="0" algn="l">
              <a:lnSpc>
                <a:spcPct val="96000"/>
              </a:lnSpc>
              <a:buNone/>
            </a:pPr>
            <a:r>
              <a:rPr lang="en-US" sz="1100" dirty="0">
                <a:solidFill>
                  <a:srgbClr val="23231E"/>
                </a:solidFill>
                <a:latin typeface="Inter Light" pitchFamily="34" charset="0"/>
                <a:ea typeface="Inter Light" pitchFamily="34" charset="-122"/>
                <a:cs typeface="Inter Light" pitchFamily="34" charset="-120"/>
              </a:rPr>
              <a:t>PROPOSED SOLUTION</a:t>
            </a:r>
            <a:endParaRPr lang="en-US" sz="1100" dirty="0"/>
          </a:p>
        </p:txBody>
      </p:sp>
      <p:sp>
        <p:nvSpPr>
          <p:cNvPr id="4" name="Text 2"/>
          <p:cNvSpPr/>
          <p:nvPr/>
        </p:nvSpPr>
        <p:spPr>
          <a:xfrm>
            <a:off x="631908" y="1231602"/>
            <a:ext cx="10927878" cy="475159"/>
          </a:xfrm>
          <a:prstGeom prst="rect">
            <a:avLst/>
          </a:prstGeom>
          <a:noFill/>
          <a:ln/>
        </p:spPr>
        <p:txBody>
          <a:bodyPr wrap="none" lIns="0" tIns="0" rIns="0" bIns="0" rtlCol="0" anchor="t"/>
          <a:lstStyle/>
          <a:p>
            <a:pPr marL="0" indent="0" algn="l">
              <a:lnSpc>
                <a:spcPct val="83000"/>
              </a:lnSpc>
              <a:buNone/>
            </a:pPr>
            <a:r>
              <a:rPr lang="en-US" sz="3700" kern="0" spc="-112" dirty="0">
                <a:solidFill>
                  <a:srgbClr val="383830"/>
                </a:solidFill>
                <a:latin typeface="DM Sans ExtraBold" pitchFamily="34" charset="0"/>
                <a:ea typeface="DM Sans ExtraBold" pitchFamily="34" charset="-122"/>
                <a:cs typeface="DM Sans ExtraBold" pitchFamily="34" charset="-120"/>
              </a:rPr>
              <a:t>Sustainability Intelligence Pipeline</a:t>
            </a:r>
            <a:endParaRPr lang="en-US" sz="3700" dirty="0"/>
          </a:p>
        </p:txBody>
      </p:sp>
      <p:sp>
        <p:nvSpPr>
          <p:cNvPr id="5" name="Text 3"/>
          <p:cNvSpPr/>
          <p:nvPr/>
        </p:nvSpPr>
        <p:spPr>
          <a:xfrm>
            <a:off x="631908" y="2139950"/>
            <a:ext cx="4106760" cy="1950145"/>
          </a:xfrm>
          <a:prstGeom prst="rect">
            <a:avLst/>
          </a:prstGeom>
          <a:noFill/>
          <a:ln/>
        </p:spPr>
        <p:txBody>
          <a:bodyPr wrap="square" lIns="0" tIns="0" rIns="0" bIns="0" rtlCol="0" anchor="t">
            <a:normAutofit/>
          </a:bodyPr>
          <a:lstStyle/>
          <a:p>
            <a:pPr marL="0" indent="0" algn="l">
              <a:lnSpc>
                <a:spcPct val="92000"/>
              </a:lnSpc>
              <a:spcAft>
                <a:spcPts val="1250"/>
              </a:spcAft>
              <a:buNone/>
            </a:pPr>
            <a:r>
              <a:rPr lang="en-US" sz="1400" dirty="0">
                <a:solidFill>
                  <a:srgbClr val="23231E"/>
                </a:solidFill>
                <a:latin typeface="Inter Light" pitchFamily="34" charset="0"/>
                <a:ea typeface="Inter Light" pitchFamily="34" charset="-122"/>
                <a:cs typeface="Inter Light" pitchFamily="34" charset="-120"/>
              </a:rPr>
              <a:t>Our Sustainability Intelligence Pipeline is designed to transform raw textile information into actionable environmental insights, guiding the most sustainable end-of-life choices for textile waste.</a:t>
            </a:r>
            <a:endParaRPr lang="en-US" sz="1400" dirty="0"/>
          </a:p>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This systematic process ensures that every textile item receives a tailored recommendation, maximizing its environmental value and minimizing waste.</a:t>
            </a:r>
            <a:endParaRPr lang="en-US" sz="1400" dirty="0"/>
          </a:p>
        </p:txBody>
      </p:sp>
      <p:pic>
        <p:nvPicPr>
          <p:cNvPr id="6" name="Image 0" descr="preencoded.png"/>
          <p:cNvPicPr>
            <a:picLocks noChangeAspect="1"/>
          </p:cNvPicPr>
          <p:nvPr/>
        </p:nvPicPr>
        <p:blipFill>
          <a:blip r:embed="rId3"/>
          <a:stretch>
            <a:fillRect/>
          </a:stretch>
        </p:blipFill>
        <p:spPr>
          <a:xfrm>
            <a:off x="5185538" y="2180630"/>
            <a:ext cx="6380499" cy="3589040"/>
          </a:xfrm>
          <a:prstGeom prst="rect">
            <a:avLst/>
          </a:prstGeom>
        </p:spPr>
      </p:pic>
      <p:grpSp>
        <p:nvGrpSpPr>
          <p:cNvPr id="7" name="Group 6">
            <a:extLst>
              <a:ext uri="{FF2B5EF4-FFF2-40B4-BE49-F238E27FC236}">
                <a16:creationId xmlns:a16="http://schemas.microsoft.com/office/drawing/2014/main" id="{F2F0EB8F-756F-C954-9FE7-C1FE7B3E3898}"/>
              </a:ext>
            </a:extLst>
          </p:cNvPr>
          <p:cNvGrpSpPr/>
          <p:nvPr/>
        </p:nvGrpSpPr>
        <p:grpSpPr>
          <a:xfrm>
            <a:off x="10686552" y="6506574"/>
            <a:ext cx="1505131" cy="351434"/>
            <a:chOff x="2623154" y="413097"/>
            <a:chExt cx="2599719" cy="525560"/>
          </a:xfrm>
        </p:grpSpPr>
        <p:sp>
          <p:nvSpPr>
            <p:cNvPr id="8" name="Freeform 7">
              <a:extLst>
                <a:ext uri="{FF2B5EF4-FFF2-40B4-BE49-F238E27FC236}">
                  <a16:creationId xmlns:a16="http://schemas.microsoft.com/office/drawing/2014/main" id="{19665641-29EE-B4DD-0D89-CEF761113E55}"/>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4"/>
              <a:stretch>
                <a:fillRect l="-64" r="-64" b="1"/>
              </a:stretch>
            </a:blipFill>
          </p:spPr>
          <p:txBody>
            <a:bodyPr/>
            <a:lstStyle/>
            <a:p>
              <a:endParaRPr lang="en-US" sz="1200" dirty="0"/>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31908" y="565646"/>
            <a:ext cx="10927878" cy="403820"/>
          </a:xfrm>
          <a:prstGeom prst="rect">
            <a:avLst/>
          </a:prstGeom>
          <a:noFill/>
          <a:ln/>
        </p:spPr>
        <p:txBody>
          <a:bodyPr wrap="none" lIns="0" tIns="0" rIns="0" bIns="0" rtlCol="0" anchor="t"/>
          <a:lstStyle/>
          <a:p>
            <a:pPr marL="0" indent="0" algn="l">
              <a:lnSpc>
                <a:spcPct val="83000"/>
              </a:lnSpc>
              <a:buNone/>
            </a:pPr>
            <a:r>
              <a:rPr lang="en-US" sz="3150" kern="0" spc="-95" dirty="0">
                <a:solidFill>
                  <a:srgbClr val="383830"/>
                </a:solidFill>
                <a:latin typeface="DM Sans ExtraBold" pitchFamily="34" charset="0"/>
                <a:ea typeface="DM Sans ExtraBold" pitchFamily="34" charset="-122"/>
                <a:cs typeface="DM Sans ExtraBold" pitchFamily="34" charset="-120"/>
              </a:rPr>
              <a:t>Research Comparison &amp; The Gap</a:t>
            </a:r>
            <a:endParaRPr lang="en-US" sz="3150" dirty="0"/>
          </a:p>
        </p:txBody>
      </p:sp>
      <p:sp>
        <p:nvSpPr>
          <p:cNvPr id="3" name="Text 1"/>
          <p:cNvSpPr/>
          <p:nvPr/>
        </p:nvSpPr>
        <p:spPr>
          <a:xfrm>
            <a:off x="631908" y="1165126"/>
            <a:ext cx="11537463" cy="156170"/>
          </a:xfrm>
          <a:prstGeom prst="rect">
            <a:avLst/>
          </a:prstGeom>
          <a:noFill/>
          <a:ln/>
        </p:spPr>
        <p:txBody>
          <a:bodyPr wrap="none" lIns="0" tIns="0" rIns="0" bIns="0" rtlCol="0" anchor="t"/>
          <a:lstStyle/>
          <a:p>
            <a:pPr marL="0" indent="0" algn="l">
              <a:lnSpc>
                <a:spcPct val="85000"/>
              </a:lnSpc>
              <a:buNone/>
            </a:pPr>
            <a:r>
              <a:rPr lang="en-US" sz="1200" dirty="0">
                <a:solidFill>
                  <a:srgbClr val="23231E"/>
                </a:solidFill>
                <a:latin typeface="Inter Light" pitchFamily="34" charset="0"/>
                <a:ea typeface="Inter Light" pitchFamily="34" charset="-122"/>
                <a:cs typeface="Inter Light" pitchFamily="34" charset="-120"/>
              </a:rPr>
              <a:t>Existing solutions address parts of the textile sustainability challenge, but a critical integration remains unfulfilled.</a:t>
            </a:r>
            <a:endParaRPr lang="en-US" sz="12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908" y="1468041"/>
            <a:ext cx="10927878" cy="1015504"/>
          </a:xfrm>
          <a:prstGeom prst="rect">
            <a:avLst/>
          </a:prstGeom>
        </p:spPr>
      </p:pic>
      <p:sp>
        <p:nvSpPr>
          <p:cNvPr id="5" name="Text 2"/>
          <p:cNvSpPr/>
          <p:nvPr/>
        </p:nvSpPr>
        <p:spPr>
          <a:xfrm>
            <a:off x="1395179" y="1640483"/>
            <a:ext cx="9992170" cy="201910"/>
          </a:xfrm>
          <a:prstGeom prst="rect">
            <a:avLst/>
          </a:prstGeom>
          <a:noFill/>
          <a:ln/>
        </p:spPr>
        <p:txBody>
          <a:bodyPr wrap="none" lIns="0" tIns="0" rIns="0" bIns="0" rtlCol="0" anchor="t"/>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Research A: Lifecycle Assessment</a:t>
            </a:r>
            <a:endParaRPr lang="en-US" sz="1550" dirty="0"/>
          </a:p>
        </p:txBody>
      </p:sp>
      <p:sp>
        <p:nvSpPr>
          <p:cNvPr id="6" name="Text 3"/>
          <p:cNvSpPr/>
          <p:nvPr/>
        </p:nvSpPr>
        <p:spPr>
          <a:xfrm>
            <a:off x="1395179" y="1920577"/>
            <a:ext cx="9992170" cy="390525"/>
          </a:xfrm>
          <a:prstGeom prst="rect">
            <a:avLst/>
          </a:prstGeom>
          <a:noFill/>
          <a:ln/>
        </p:spPr>
        <p:txBody>
          <a:bodyPr wrap="square" lIns="0" tIns="0" rIns="0" bIns="0" rtlCol="0" anchor="t"/>
          <a:lstStyle/>
          <a:p>
            <a:pPr marL="0" indent="0" algn="l">
              <a:lnSpc>
                <a:spcPct val="85000"/>
              </a:lnSpc>
              <a:spcAft>
                <a:spcPts val="600"/>
              </a:spcAft>
              <a:buNone/>
            </a:pPr>
            <a:r>
              <a:rPr lang="en-US" sz="1200" dirty="0">
                <a:solidFill>
                  <a:srgbClr val="23231E"/>
                </a:solidFill>
                <a:latin typeface="Inter Light" pitchFamily="34" charset="0"/>
                <a:ea typeface="Inter Light" pitchFamily="34" charset="-122"/>
                <a:cs typeface="Inter Light" pitchFamily="34" charset="-120"/>
              </a:rPr>
              <a:t>Provides environmental impact information for textile materials.</a:t>
            </a:r>
            <a:endParaRPr lang="en-US" sz="1200" dirty="0"/>
          </a:p>
          <a:p>
            <a:pPr marL="0" indent="0" algn="l">
              <a:lnSpc>
                <a:spcPct val="85000"/>
              </a:lnSpc>
              <a:buNone/>
            </a:pPr>
            <a:r>
              <a:rPr lang="en-US" sz="1200" b="1" dirty="0">
                <a:solidFill>
                  <a:srgbClr val="23231E"/>
                </a:solidFill>
                <a:latin typeface="Inter Bold" pitchFamily="34" charset="0"/>
                <a:ea typeface="Inter Bold" pitchFamily="34" charset="-122"/>
                <a:cs typeface="Inter Bold" pitchFamily="34" charset="-120"/>
              </a:rPr>
              <a:t>Limitation:</a:t>
            </a:r>
            <a:r>
              <a:rPr lang="en-US" sz="1200" dirty="0">
                <a:solidFill>
                  <a:srgbClr val="23231E"/>
                </a:solidFill>
                <a:latin typeface="Inter Light" pitchFamily="34" charset="0"/>
                <a:ea typeface="Inter Light" pitchFamily="34" charset="-122"/>
                <a:cs typeface="Inter Light" pitchFamily="34" charset="-120"/>
              </a:rPr>
              <a:t> Usually provides assessment data rather than an interactive marketplace decision layer.</a:t>
            </a:r>
            <a:endParaRPr lang="en-US" sz="120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1908" y="2613918"/>
            <a:ext cx="10927878" cy="1015504"/>
          </a:xfrm>
          <a:prstGeom prst="rect">
            <a:avLst/>
          </a:prstGeom>
        </p:spPr>
      </p:pic>
      <p:sp>
        <p:nvSpPr>
          <p:cNvPr id="8" name="Text 4"/>
          <p:cNvSpPr/>
          <p:nvPr/>
        </p:nvSpPr>
        <p:spPr>
          <a:xfrm>
            <a:off x="1395179" y="2786360"/>
            <a:ext cx="9992170" cy="201910"/>
          </a:xfrm>
          <a:prstGeom prst="rect">
            <a:avLst/>
          </a:prstGeom>
          <a:noFill/>
          <a:ln/>
        </p:spPr>
        <p:txBody>
          <a:bodyPr wrap="none" lIns="0" tIns="0" rIns="0" bIns="0" rtlCol="0" anchor="t"/>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Research B: Textile Sustainability Assessment</a:t>
            </a:r>
            <a:endParaRPr lang="en-US" sz="1550" dirty="0"/>
          </a:p>
        </p:txBody>
      </p:sp>
      <p:sp>
        <p:nvSpPr>
          <p:cNvPr id="9" name="Text 5"/>
          <p:cNvSpPr/>
          <p:nvPr/>
        </p:nvSpPr>
        <p:spPr>
          <a:xfrm>
            <a:off x="1395179" y="3066455"/>
            <a:ext cx="9992170" cy="390525"/>
          </a:xfrm>
          <a:prstGeom prst="rect">
            <a:avLst/>
          </a:prstGeom>
          <a:noFill/>
          <a:ln/>
        </p:spPr>
        <p:txBody>
          <a:bodyPr wrap="square" lIns="0" tIns="0" rIns="0" bIns="0" rtlCol="0" anchor="t"/>
          <a:lstStyle/>
          <a:p>
            <a:pPr marL="0" indent="0" algn="l">
              <a:lnSpc>
                <a:spcPct val="85000"/>
              </a:lnSpc>
              <a:spcAft>
                <a:spcPts val="600"/>
              </a:spcAft>
              <a:buNone/>
            </a:pPr>
            <a:r>
              <a:rPr lang="en-US" sz="1200" dirty="0">
                <a:solidFill>
                  <a:srgbClr val="23231E"/>
                </a:solidFill>
                <a:latin typeface="Inter Light" pitchFamily="34" charset="0"/>
                <a:ea typeface="Inter Light" pitchFamily="34" charset="-122"/>
                <a:cs typeface="Inter Light" pitchFamily="34" charset="-120"/>
              </a:rPr>
              <a:t>Evaluates environmental impacts of textile materials.</a:t>
            </a:r>
            <a:endParaRPr lang="en-US" sz="1200" dirty="0"/>
          </a:p>
          <a:p>
            <a:pPr marL="0" indent="0" algn="l">
              <a:lnSpc>
                <a:spcPct val="85000"/>
              </a:lnSpc>
              <a:buNone/>
            </a:pPr>
            <a:r>
              <a:rPr lang="en-US" sz="1200" b="1" dirty="0">
                <a:solidFill>
                  <a:srgbClr val="23231E"/>
                </a:solidFill>
                <a:latin typeface="Inter Bold" pitchFamily="34" charset="0"/>
                <a:ea typeface="Inter Bold" pitchFamily="34" charset="-122"/>
                <a:cs typeface="Inter Bold" pitchFamily="34" charset="-120"/>
              </a:rPr>
              <a:t>Limitation:</a:t>
            </a:r>
            <a:r>
              <a:rPr lang="en-US" sz="1200" dirty="0">
                <a:solidFill>
                  <a:srgbClr val="23231E"/>
                </a:solidFill>
                <a:latin typeface="Inter Light" pitchFamily="34" charset="0"/>
                <a:ea typeface="Inter Light" pitchFamily="34" charset="-122"/>
                <a:cs typeface="Inter Light" pitchFamily="34" charset="-120"/>
              </a:rPr>
              <a:t> Not necessarily integrated with individual marketplace listings and buyer/seller decisions.</a:t>
            </a:r>
            <a:endParaRPr lang="en-US" sz="120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1908" y="3759795"/>
            <a:ext cx="10927878" cy="1015504"/>
          </a:xfrm>
          <a:prstGeom prst="rect">
            <a:avLst/>
          </a:prstGeom>
        </p:spPr>
      </p:pic>
      <p:sp>
        <p:nvSpPr>
          <p:cNvPr id="11" name="Text 6"/>
          <p:cNvSpPr/>
          <p:nvPr/>
        </p:nvSpPr>
        <p:spPr>
          <a:xfrm>
            <a:off x="1395179" y="3932238"/>
            <a:ext cx="9992170" cy="201910"/>
          </a:xfrm>
          <a:prstGeom prst="rect">
            <a:avLst/>
          </a:prstGeom>
          <a:noFill/>
          <a:ln/>
        </p:spPr>
        <p:txBody>
          <a:bodyPr wrap="none" lIns="0" tIns="0" rIns="0" bIns="0" rtlCol="0" anchor="t"/>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Research C: Digital Circular Platforms</a:t>
            </a:r>
            <a:endParaRPr lang="en-US" sz="1550" dirty="0"/>
          </a:p>
        </p:txBody>
      </p:sp>
      <p:sp>
        <p:nvSpPr>
          <p:cNvPr id="12" name="Text 7"/>
          <p:cNvSpPr/>
          <p:nvPr/>
        </p:nvSpPr>
        <p:spPr>
          <a:xfrm>
            <a:off x="1395179" y="4212332"/>
            <a:ext cx="9992170" cy="390525"/>
          </a:xfrm>
          <a:prstGeom prst="rect">
            <a:avLst/>
          </a:prstGeom>
          <a:noFill/>
          <a:ln/>
        </p:spPr>
        <p:txBody>
          <a:bodyPr wrap="square" lIns="0" tIns="0" rIns="0" bIns="0" rtlCol="0" anchor="t"/>
          <a:lstStyle/>
          <a:p>
            <a:pPr marL="0" indent="0" algn="l">
              <a:lnSpc>
                <a:spcPct val="85000"/>
              </a:lnSpc>
              <a:spcAft>
                <a:spcPts val="600"/>
              </a:spcAft>
              <a:buNone/>
            </a:pPr>
            <a:r>
              <a:rPr lang="en-US" sz="1200" dirty="0">
                <a:solidFill>
                  <a:srgbClr val="23231E"/>
                </a:solidFill>
                <a:latin typeface="Inter Light" pitchFamily="34" charset="0"/>
                <a:ea typeface="Inter Light" pitchFamily="34" charset="-122"/>
                <a:cs typeface="Inter Light" pitchFamily="34" charset="-120"/>
              </a:rPr>
              <a:t>Provide sustainability/traceability information.</a:t>
            </a:r>
            <a:endParaRPr lang="en-US" sz="1200" dirty="0"/>
          </a:p>
          <a:p>
            <a:pPr marL="0" indent="0" algn="l">
              <a:lnSpc>
                <a:spcPct val="85000"/>
              </a:lnSpc>
              <a:buNone/>
            </a:pPr>
            <a:r>
              <a:rPr lang="en-US" sz="1200" b="1" dirty="0">
                <a:solidFill>
                  <a:srgbClr val="23231E"/>
                </a:solidFill>
                <a:latin typeface="Inter Bold" pitchFamily="34" charset="0"/>
                <a:ea typeface="Inter Bold" pitchFamily="34" charset="-122"/>
                <a:cs typeface="Inter Bold" pitchFamily="34" charset="-120"/>
              </a:rPr>
              <a:t>Limitation:</a:t>
            </a:r>
            <a:r>
              <a:rPr lang="en-US" sz="1200" dirty="0">
                <a:solidFill>
                  <a:srgbClr val="23231E"/>
                </a:solidFill>
                <a:latin typeface="Inter Light" pitchFamily="34" charset="0"/>
                <a:ea typeface="Inter Light" pitchFamily="34" charset="-122"/>
                <a:cs typeface="Inter Light" pitchFamily="34" charset="-120"/>
              </a:rPr>
              <a:t> Environmental intelligence may not be integrated with all commercial AI components.</a:t>
            </a:r>
            <a:endParaRPr lang="en-US" sz="1200" dirty="0"/>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1908" y="4905673"/>
            <a:ext cx="10927878" cy="1386582"/>
          </a:xfrm>
          <a:prstGeom prst="rect">
            <a:avLst/>
          </a:prstGeom>
        </p:spPr>
      </p:pic>
      <p:sp>
        <p:nvSpPr>
          <p:cNvPr id="14" name="Text 8"/>
          <p:cNvSpPr/>
          <p:nvPr/>
        </p:nvSpPr>
        <p:spPr>
          <a:xfrm>
            <a:off x="1395179" y="5078115"/>
            <a:ext cx="9992170" cy="201910"/>
          </a:xfrm>
          <a:prstGeom prst="rect">
            <a:avLst/>
          </a:prstGeom>
          <a:noFill/>
          <a:ln/>
        </p:spPr>
        <p:txBody>
          <a:bodyPr wrap="none" lIns="0" tIns="0" rIns="0" bIns="0" rtlCol="0" anchor="t"/>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Our Proposed System</a:t>
            </a:r>
            <a:endParaRPr lang="en-US" sz="1550" dirty="0"/>
          </a:p>
        </p:txBody>
      </p:sp>
      <p:sp>
        <p:nvSpPr>
          <p:cNvPr id="15" name="Text 9"/>
          <p:cNvSpPr/>
          <p:nvPr/>
        </p:nvSpPr>
        <p:spPr>
          <a:xfrm>
            <a:off x="1395179" y="5358209"/>
            <a:ext cx="9992170" cy="761603"/>
          </a:xfrm>
          <a:prstGeom prst="rect">
            <a:avLst/>
          </a:prstGeom>
          <a:noFill/>
          <a:ln/>
        </p:spPr>
        <p:txBody>
          <a:bodyPr wrap="square" lIns="0" tIns="61386" rIns="0" bIns="0" rtlCol="0" anchor="t">
            <a:normAutofit/>
          </a:bodyPr>
          <a:lstStyle/>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Environmental Prediction</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Scenario Comparison</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Explainable Recommendation</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Marketplace Integration</a:t>
            </a:r>
            <a:endParaRPr lang="en-US" sz="1200" dirty="0"/>
          </a:p>
        </p:txBody>
      </p:sp>
      <p:grpSp>
        <p:nvGrpSpPr>
          <p:cNvPr id="16" name="Group 15">
            <a:extLst>
              <a:ext uri="{FF2B5EF4-FFF2-40B4-BE49-F238E27FC236}">
                <a16:creationId xmlns:a16="http://schemas.microsoft.com/office/drawing/2014/main" id="{F6C853E8-CB42-0454-8A23-8D987A6623E0}"/>
              </a:ext>
            </a:extLst>
          </p:cNvPr>
          <p:cNvGrpSpPr/>
          <p:nvPr/>
        </p:nvGrpSpPr>
        <p:grpSpPr>
          <a:xfrm>
            <a:off x="10686552" y="6506574"/>
            <a:ext cx="1505131" cy="351434"/>
            <a:chOff x="2623154" y="413097"/>
            <a:chExt cx="2599719" cy="525560"/>
          </a:xfrm>
        </p:grpSpPr>
        <p:sp>
          <p:nvSpPr>
            <p:cNvPr id="17" name="Freeform 16">
              <a:extLst>
                <a:ext uri="{FF2B5EF4-FFF2-40B4-BE49-F238E27FC236}">
                  <a16:creationId xmlns:a16="http://schemas.microsoft.com/office/drawing/2014/main" id="{C603FF60-7431-C7A3-E047-A04CA3B2BED7}"/>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11"/>
              <a:stretch>
                <a:fillRect l="-64" r="-64" b="1"/>
              </a:stretch>
            </a:blipFill>
          </p:spPr>
          <p:txBody>
            <a:bodyPr/>
            <a:lstStyle/>
            <a:p>
              <a:endParaRPr lang="en-US" sz="1200" dirty="0"/>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31908" y="506115"/>
            <a:ext cx="10927878" cy="427633"/>
          </a:xfrm>
          <a:prstGeom prst="rect">
            <a:avLst/>
          </a:prstGeom>
          <a:noFill/>
          <a:ln/>
        </p:spPr>
        <p:txBody>
          <a:bodyPr wrap="none" lIns="0" tIns="0" rIns="0" bIns="0" rtlCol="0" anchor="t"/>
          <a:lstStyle/>
          <a:p>
            <a:pPr marL="0" indent="0" algn="l">
              <a:lnSpc>
                <a:spcPct val="83000"/>
              </a:lnSpc>
              <a:buNone/>
            </a:pPr>
            <a:r>
              <a:rPr lang="en-US" sz="3350" kern="0" spc="-101" dirty="0">
                <a:solidFill>
                  <a:srgbClr val="383830"/>
                </a:solidFill>
                <a:latin typeface="DM Sans ExtraBold" pitchFamily="34" charset="0"/>
                <a:ea typeface="DM Sans ExtraBold" pitchFamily="34" charset="-122"/>
                <a:cs typeface="DM Sans ExtraBold" pitchFamily="34" charset="-120"/>
              </a:rPr>
              <a:t>Latest Technologies Used</a:t>
            </a:r>
            <a:endParaRPr lang="en-US" sz="3350" dirty="0"/>
          </a:p>
        </p:txBody>
      </p:sp>
      <p:sp>
        <p:nvSpPr>
          <p:cNvPr id="3" name="Text 1"/>
          <p:cNvSpPr/>
          <p:nvPr/>
        </p:nvSpPr>
        <p:spPr>
          <a:xfrm>
            <a:off x="631908" y="1153021"/>
            <a:ext cx="10927878" cy="339527"/>
          </a:xfrm>
          <a:prstGeom prst="rect">
            <a:avLst/>
          </a:prstGeom>
          <a:noFill/>
          <a:ln/>
        </p:spPr>
        <p:txBody>
          <a:bodyPr wrap="square" lIns="0" tIns="0" rIns="0" bIns="0" rtlCol="0" anchor="t">
            <a:normAutofit/>
          </a:bodyPr>
          <a:lstStyle/>
          <a:p>
            <a:pPr marL="0" indent="0" algn="l">
              <a:lnSpc>
                <a:spcPct val="87000"/>
              </a:lnSpc>
              <a:buNone/>
            </a:pPr>
            <a:r>
              <a:rPr lang="en-US" sz="1250" dirty="0">
                <a:solidFill>
                  <a:srgbClr val="23231E"/>
                </a:solidFill>
                <a:latin typeface="Inter Light" pitchFamily="34" charset="0"/>
                <a:ea typeface="Inter Light" pitchFamily="34" charset="-122"/>
                <a:cs typeface="Inter Light" pitchFamily="34" charset="-120"/>
              </a:rPr>
              <a:t>Our platform leverages cutting-edge technologies and deep domain expertise to deliver robust and insightful textile waste management solutions.</a:t>
            </a:r>
            <a:endParaRPr lang="en-US" sz="12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908" y="1657052"/>
            <a:ext cx="406191" cy="406202"/>
          </a:xfrm>
          <a:prstGeom prst="rect">
            <a:avLst/>
          </a:prstGeom>
        </p:spPr>
      </p:pic>
      <p:sp>
        <p:nvSpPr>
          <p:cNvPr id="5" name="Text 2"/>
          <p:cNvSpPr/>
          <p:nvPr/>
        </p:nvSpPr>
        <p:spPr>
          <a:xfrm>
            <a:off x="631908" y="2246015"/>
            <a:ext cx="5372561" cy="213816"/>
          </a:xfrm>
          <a:prstGeom prst="rect">
            <a:avLst/>
          </a:prstGeom>
          <a:noFill/>
          <a:ln/>
        </p:spPr>
        <p:txBody>
          <a:bodyPr wrap="none" lIns="0" tIns="0" rIns="0" bIns="0" rtlCol="0" anchor="t"/>
          <a:lstStyle/>
          <a:p>
            <a:pPr marL="0" indent="0" algn="l">
              <a:lnSpc>
                <a:spcPct val="83000"/>
              </a:lnSpc>
              <a:buNone/>
            </a:pPr>
            <a:r>
              <a:rPr lang="en-US" sz="1650" kern="0" spc="-51" dirty="0">
                <a:solidFill>
                  <a:srgbClr val="23231E"/>
                </a:solidFill>
                <a:latin typeface="DM Sans ExtraBold" pitchFamily="34" charset="0"/>
                <a:ea typeface="DM Sans ExtraBold" pitchFamily="34" charset="-122"/>
                <a:cs typeface="DM Sans ExtraBold" pitchFamily="34" charset="-120"/>
              </a:rPr>
              <a:t>Machine Learning</a:t>
            </a:r>
            <a:endParaRPr lang="en-US" sz="1650" dirty="0"/>
          </a:p>
        </p:txBody>
      </p:sp>
      <p:sp>
        <p:nvSpPr>
          <p:cNvPr id="6" name="Text 3"/>
          <p:cNvSpPr/>
          <p:nvPr/>
        </p:nvSpPr>
        <p:spPr>
          <a:xfrm>
            <a:off x="631908" y="2547541"/>
            <a:ext cx="5372561" cy="169763"/>
          </a:xfrm>
          <a:prstGeom prst="rect">
            <a:avLst/>
          </a:prstGeom>
          <a:noFill/>
          <a:ln/>
        </p:spPr>
        <p:txBody>
          <a:bodyPr wrap="none" lIns="0" tIns="0" rIns="0" bIns="0" rtlCol="0" anchor="t"/>
          <a:lstStyle/>
          <a:p>
            <a:pPr marL="0" indent="0" algn="l">
              <a:lnSpc>
                <a:spcPct val="87000"/>
              </a:lnSpc>
              <a:buNone/>
            </a:pPr>
            <a:r>
              <a:rPr lang="en-US" sz="1250" dirty="0">
                <a:solidFill>
                  <a:srgbClr val="23231E"/>
                </a:solidFill>
                <a:latin typeface="Inter Light" pitchFamily="34" charset="0"/>
                <a:ea typeface="Inter Light" pitchFamily="34" charset="-122"/>
                <a:cs typeface="Inter Light" pitchFamily="34" charset="-120"/>
              </a:rPr>
              <a:t>At the core of our AI capabilities:</a:t>
            </a:r>
            <a:endParaRPr lang="en-US" sz="1250" dirty="0"/>
          </a:p>
        </p:txBody>
      </p:sp>
      <p:sp>
        <p:nvSpPr>
          <p:cNvPr id="7" name="Text 4"/>
          <p:cNvSpPr/>
          <p:nvPr/>
        </p:nvSpPr>
        <p:spPr>
          <a:xfrm>
            <a:off x="631908" y="2805013"/>
            <a:ext cx="5372561" cy="832346"/>
          </a:xfrm>
          <a:prstGeom prst="rect">
            <a:avLst/>
          </a:prstGeom>
          <a:noFill/>
          <a:ln/>
        </p:spPr>
        <p:txBody>
          <a:bodyPr wrap="square" lIns="0" tIns="64997" rIns="0" bIns="0" rtlCol="0" anchor="t">
            <a:normAutofit/>
          </a:bodyPr>
          <a:lstStyle/>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Regression</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Classification</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Random Forest</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Scikit-learn</a:t>
            </a:r>
            <a:endParaRPr lang="en-US" sz="1250" dirty="0"/>
          </a:p>
        </p:txBody>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87226" y="1657052"/>
            <a:ext cx="406191" cy="406202"/>
          </a:xfrm>
          <a:prstGeom prst="rect">
            <a:avLst/>
          </a:prstGeom>
        </p:spPr>
      </p:pic>
      <p:sp>
        <p:nvSpPr>
          <p:cNvPr id="9" name="Text 5"/>
          <p:cNvSpPr/>
          <p:nvPr/>
        </p:nvSpPr>
        <p:spPr>
          <a:xfrm>
            <a:off x="6187226" y="2246015"/>
            <a:ext cx="5372561" cy="213816"/>
          </a:xfrm>
          <a:prstGeom prst="rect">
            <a:avLst/>
          </a:prstGeom>
          <a:noFill/>
          <a:ln/>
        </p:spPr>
        <p:txBody>
          <a:bodyPr wrap="none" lIns="0" tIns="0" rIns="0" bIns="0" rtlCol="0" anchor="t"/>
          <a:lstStyle/>
          <a:p>
            <a:pPr marL="0" indent="0" algn="l">
              <a:lnSpc>
                <a:spcPct val="83000"/>
              </a:lnSpc>
              <a:buNone/>
            </a:pPr>
            <a:r>
              <a:rPr lang="en-US" sz="1650" kern="0" spc="-51" dirty="0">
                <a:solidFill>
                  <a:srgbClr val="23231E"/>
                </a:solidFill>
                <a:latin typeface="DM Sans ExtraBold" pitchFamily="34" charset="0"/>
                <a:ea typeface="DM Sans ExtraBold" pitchFamily="34" charset="-122"/>
                <a:cs typeface="DM Sans ExtraBold" pitchFamily="34" charset="-120"/>
              </a:rPr>
              <a:t>Sustainability Intelligence</a:t>
            </a:r>
            <a:endParaRPr lang="en-US" sz="1650" dirty="0"/>
          </a:p>
        </p:txBody>
      </p:sp>
      <p:sp>
        <p:nvSpPr>
          <p:cNvPr id="10" name="Text 6"/>
          <p:cNvSpPr/>
          <p:nvPr/>
        </p:nvSpPr>
        <p:spPr>
          <a:xfrm>
            <a:off x="6187226" y="2547541"/>
            <a:ext cx="5372561" cy="169763"/>
          </a:xfrm>
          <a:prstGeom prst="rect">
            <a:avLst/>
          </a:prstGeom>
          <a:noFill/>
          <a:ln/>
        </p:spPr>
        <p:txBody>
          <a:bodyPr wrap="none" lIns="0" tIns="0" rIns="0" bIns="0" rtlCol="0" anchor="t"/>
          <a:lstStyle/>
          <a:p>
            <a:pPr marL="0" indent="0" algn="l">
              <a:lnSpc>
                <a:spcPct val="87000"/>
              </a:lnSpc>
              <a:buNone/>
            </a:pPr>
            <a:r>
              <a:rPr lang="en-US" sz="1250" dirty="0">
                <a:solidFill>
                  <a:srgbClr val="23231E"/>
                </a:solidFill>
                <a:latin typeface="Inter Light" pitchFamily="34" charset="0"/>
                <a:ea typeface="Inter Light" pitchFamily="34" charset="-122"/>
                <a:cs typeface="Inter Light" pitchFamily="34" charset="-120"/>
              </a:rPr>
              <a:t>Quantifying environmental impact:</a:t>
            </a:r>
            <a:endParaRPr lang="en-US" sz="1250" dirty="0"/>
          </a:p>
        </p:txBody>
      </p:sp>
      <p:sp>
        <p:nvSpPr>
          <p:cNvPr id="11" name="Text 7"/>
          <p:cNvSpPr/>
          <p:nvPr/>
        </p:nvSpPr>
        <p:spPr>
          <a:xfrm>
            <a:off x="6187226" y="2805013"/>
            <a:ext cx="5372561" cy="1053207"/>
          </a:xfrm>
          <a:prstGeom prst="rect">
            <a:avLst/>
          </a:prstGeom>
          <a:noFill/>
          <a:ln/>
        </p:spPr>
        <p:txBody>
          <a:bodyPr wrap="square" lIns="0" tIns="64997" rIns="0" bIns="0" rtlCol="0" anchor="t">
            <a:normAutofit/>
          </a:bodyPr>
          <a:lstStyle/>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LCA-based environmental factors</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CO₂ calculations</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Water-saving calculations</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Green Score</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Sustainability Score</a:t>
            </a:r>
            <a:endParaRPr lang="en-US" sz="1250" dirty="0"/>
          </a:p>
        </p:txBody>
      </p:sp>
      <p:pic>
        <p:nvPicPr>
          <p:cNvPr id="1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1908" y="4150618"/>
            <a:ext cx="406191" cy="406202"/>
          </a:xfrm>
          <a:prstGeom prst="rect">
            <a:avLst/>
          </a:prstGeom>
        </p:spPr>
      </p:pic>
      <p:sp>
        <p:nvSpPr>
          <p:cNvPr id="13" name="Text 8"/>
          <p:cNvSpPr/>
          <p:nvPr/>
        </p:nvSpPr>
        <p:spPr>
          <a:xfrm>
            <a:off x="631908" y="4739580"/>
            <a:ext cx="5372561" cy="213816"/>
          </a:xfrm>
          <a:prstGeom prst="rect">
            <a:avLst/>
          </a:prstGeom>
          <a:noFill/>
          <a:ln/>
        </p:spPr>
        <p:txBody>
          <a:bodyPr wrap="none" lIns="0" tIns="0" rIns="0" bIns="0" rtlCol="0" anchor="t"/>
          <a:lstStyle/>
          <a:p>
            <a:pPr marL="0" indent="0" algn="l">
              <a:lnSpc>
                <a:spcPct val="83000"/>
              </a:lnSpc>
              <a:buNone/>
            </a:pPr>
            <a:r>
              <a:rPr lang="en-US" sz="1650" kern="0" spc="-51" dirty="0">
                <a:solidFill>
                  <a:srgbClr val="23231E"/>
                </a:solidFill>
                <a:latin typeface="DM Sans ExtraBold" pitchFamily="34" charset="0"/>
                <a:ea typeface="DM Sans ExtraBold" pitchFamily="34" charset="-122"/>
                <a:cs typeface="DM Sans ExtraBold" pitchFamily="34" charset="-120"/>
              </a:rPr>
              <a:t>Core Technology Stack</a:t>
            </a:r>
            <a:endParaRPr lang="en-US" sz="1650" dirty="0"/>
          </a:p>
        </p:txBody>
      </p:sp>
      <p:sp>
        <p:nvSpPr>
          <p:cNvPr id="14" name="Text 9"/>
          <p:cNvSpPr/>
          <p:nvPr/>
        </p:nvSpPr>
        <p:spPr>
          <a:xfrm>
            <a:off x="631908" y="5041106"/>
            <a:ext cx="5372561" cy="169763"/>
          </a:xfrm>
          <a:prstGeom prst="rect">
            <a:avLst/>
          </a:prstGeom>
          <a:noFill/>
          <a:ln/>
        </p:spPr>
        <p:txBody>
          <a:bodyPr wrap="none" lIns="0" tIns="0" rIns="0" bIns="0" rtlCol="0" anchor="t"/>
          <a:lstStyle/>
          <a:p>
            <a:pPr marL="0" indent="0" algn="l">
              <a:lnSpc>
                <a:spcPct val="87000"/>
              </a:lnSpc>
              <a:buNone/>
            </a:pPr>
            <a:r>
              <a:rPr lang="en-US" sz="1250" dirty="0">
                <a:solidFill>
                  <a:srgbClr val="23231E"/>
                </a:solidFill>
                <a:latin typeface="Inter Light" pitchFamily="34" charset="0"/>
                <a:ea typeface="Inter Light" pitchFamily="34" charset="-122"/>
                <a:cs typeface="Inter Light" pitchFamily="34" charset="-120"/>
              </a:rPr>
              <a:t>The foundation of our platform:</a:t>
            </a:r>
            <a:endParaRPr lang="en-US" sz="1250" dirty="0"/>
          </a:p>
        </p:txBody>
      </p:sp>
      <p:sp>
        <p:nvSpPr>
          <p:cNvPr id="15" name="Text 10"/>
          <p:cNvSpPr/>
          <p:nvPr/>
        </p:nvSpPr>
        <p:spPr>
          <a:xfrm>
            <a:off x="631908" y="5298579"/>
            <a:ext cx="5372561" cy="1053207"/>
          </a:xfrm>
          <a:prstGeom prst="rect">
            <a:avLst/>
          </a:prstGeom>
          <a:noFill/>
          <a:ln/>
        </p:spPr>
        <p:txBody>
          <a:bodyPr wrap="square" lIns="0" tIns="64997" rIns="0" bIns="0" rtlCol="0" anchor="t">
            <a:normAutofit/>
          </a:bodyPr>
          <a:lstStyle/>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Python</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FastAPI</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React</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MongoDB</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Machine Learning model pipeline</a:t>
            </a:r>
            <a:endParaRPr lang="en-US" sz="1250" dirty="0"/>
          </a:p>
        </p:txBody>
      </p:sp>
      <p:pic>
        <p:nvPicPr>
          <p:cNvPr id="16"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87226" y="4150618"/>
            <a:ext cx="406191" cy="406202"/>
          </a:xfrm>
          <a:prstGeom prst="rect">
            <a:avLst/>
          </a:prstGeom>
        </p:spPr>
      </p:pic>
      <p:sp>
        <p:nvSpPr>
          <p:cNvPr id="17" name="Text 11"/>
          <p:cNvSpPr/>
          <p:nvPr/>
        </p:nvSpPr>
        <p:spPr>
          <a:xfrm>
            <a:off x="6187226" y="4739580"/>
            <a:ext cx="5372561" cy="213816"/>
          </a:xfrm>
          <a:prstGeom prst="rect">
            <a:avLst/>
          </a:prstGeom>
          <a:noFill/>
          <a:ln/>
        </p:spPr>
        <p:txBody>
          <a:bodyPr wrap="none" lIns="0" tIns="0" rIns="0" bIns="0" rtlCol="0" anchor="t"/>
          <a:lstStyle/>
          <a:p>
            <a:pPr marL="0" indent="0" algn="l">
              <a:lnSpc>
                <a:spcPct val="83000"/>
              </a:lnSpc>
              <a:buNone/>
            </a:pPr>
            <a:r>
              <a:rPr lang="en-US" sz="1650" kern="0" spc="-51" dirty="0">
                <a:solidFill>
                  <a:srgbClr val="23231E"/>
                </a:solidFill>
                <a:latin typeface="DM Sans ExtraBold" pitchFamily="34" charset="0"/>
                <a:ea typeface="DM Sans ExtraBold" pitchFamily="34" charset="-122"/>
                <a:cs typeface="DM Sans ExtraBold" pitchFamily="34" charset="-120"/>
              </a:rPr>
              <a:t>Key Domains</a:t>
            </a:r>
            <a:endParaRPr lang="en-US" sz="1650" dirty="0"/>
          </a:p>
        </p:txBody>
      </p:sp>
      <p:sp>
        <p:nvSpPr>
          <p:cNvPr id="18" name="Text 12"/>
          <p:cNvSpPr/>
          <p:nvPr/>
        </p:nvSpPr>
        <p:spPr>
          <a:xfrm>
            <a:off x="6187226" y="5041106"/>
            <a:ext cx="5372561" cy="169763"/>
          </a:xfrm>
          <a:prstGeom prst="rect">
            <a:avLst/>
          </a:prstGeom>
          <a:noFill/>
          <a:ln/>
        </p:spPr>
        <p:txBody>
          <a:bodyPr wrap="none" lIns="0" tIns="0" rIns="0" bIns="0" rtlCol="0" anchor="t"/>
          <a:lstStyle/>
          <a:p>
            <a:pPr marL="0" indent="0" algn="l">
              <a:lnSpc>
                <a:spcPct val="87000"/>
              </a:lnSpc>
              <a:buNone/>
            </a:pPr>
            <a:r>
              <a:rPr lang="en-US" sz="1250" dirty="0">
                <a:solidFill>
                  <a:srgbClr val="23231E"/>
                </a:solidFill>
                <a:latin typeface="Inter Light" pitchFamily="34" charset="0"/>
                <a:ea typeface="Inter Light" pitchFamily="34" charset="-122"/>
                <a:cs typeface="Inter Light" pitchFamily="34" charset="-120"/>
              </a:rPr>
              <a:t>Interdisciplinary expertise for holistic solutions:</a:t>
            </a:r>
            <a:endParaRPr lang="en-US" sz="1250" dirty="0"/>
          </a:p>
        </p:txBody>
      </p:sp>
      <p:sp>
        <p:nvSpPr>
          <p:cNvPr id="19" name="Text 13"/>
          <p:cNvSpPr/>
          <p:nvPr/>
        </p:nvSpPr>
        <p:spPr>
          <a:xfrm>
            <a:off x="6187226" y="5298579"/>
            <a:ext cx="5372561" cy="1053207"/>
          </a:xfrm>
          <a:prstGeom prst="rect">
            <a:avLst/>
          </a:prstGeom>
          <a:noFill/>
          <a:ln/>
        </p:spPr>
        <p:txBody>
          <a:bodyPr wrap="square" lIns="0" tIns="64997" rIns="0" bIns="0" rtlCol="0" anchor="t">
            <a:normAutofit/>
          </a:bodyPr>
          <a:lstStyle/>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Life Cycle Assessment</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Environmental Science</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Machine Learning</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Circular Economy</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Sustainability Analytics</a:t>
            </a:r>
            <a:endParaRPr lang="en-US" sz="1250" dirty="0"/>
          </a:p>
        </p:txBody>
      </p:sp>
      <p:grpSp>
        <p:nvGrpSpPr>
          <p:cNvPr id="20" name="Group 19">
            <a:extLst>
              <a:ext uri="{FF2B5EF4-FFF2-40B4-BE49-F238E27FC236}">
                <a16:creationId xmlns:a16="http://schemas.microsoft.com/office/drawing/2014/main" id="{A5E8C13D-DF4F-99E0-273C-A16A8F6972FC}"/>
              </a:ext>
            </a:extLst>
          </p:cNvPr>
          <p:cNvGrpSpPr/>
          <p:nvPr/>
        </p:nvGrpSpPr>
        <p:grpSpPr>
          <a:xfrm>
            <a:off x="10686552" y="6506574"/>
            <a:ext cx="1505131" cy="351434"/>
            <a:chOff x="2623154" y="413097"/>
            <a:chExt cx="2599719" cy="525560"/>
          </a:xfrm>
        </p:grpSpPr>
        <p:sp>
          <p:nvSpPr>
            <p:cNvPr id="21" name="Freeform 20">
              <a:extLst>
                <a:ext uri="{FF2B5EF4-FFF2-40B4-BE49-F238E27FC236}">
                  <a16:creationId xmlns:a16="http://schemas.microsoft.com/office/drawing/2014/main" id="{A7A6AE51-F9E1-979A-0F87-D4C117AFE8D4}"/>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11"/>
              <a:stretch>
                <a:fillRect l="-64" r="-64" b="1"/>
              </a:stretch>
            </a:blipFill>
          </p:spPr>
          <p:txBody>
            <a:bodyPr/>
            <a:lstStyle/>
            <a:p>
              <a:endParaRPr lang="en-US" sz="1200" dirty="0"/>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31908" y="677565"/>
            <a:ext cx="10927878" cy="356394"/>
          </a:xfrm>
          <a:prstGeom prst="rect">
            <a:avLst/>
          </a:prstGeom>
          <a:noFill/>
          <a:ln/>
        </p:spPr>
        <p:txBody>
          <a:bodyPr wrap="none" lIns="0" tIns="0" rIns="0" bIns="0" rtlCol="0" anchor="t"/>
          <a:lstStyle/>
          <a:p>
            <a:pPr marL="0" indent="0" algn="l">
              <a:lnSpc>
                <a:spcPct val="83000"/>
              </a:lnSpc>
              <a:buNone/>
            </a:pPr>
            <a:r>
              <a:rPr lang="en-US" sz="2800" kern="0" spc="-84" dirty="0">
                <a:solidFill>
                  <a:srgbClr val="383830"/>
                </a:solidFill>
                <a:latin typeface="DM Sans ExtraBold" pitchFamily="34" charset="0"/>
                <a:ea typeface="DM Sans ExtraBold" pitchFamily="34" charset="-122"/>
                <a:cs typeface="DM Sans ExtraBold" pitchFamily="34" charset="-120"/>
              </a:rPr>
              <a:t>Evaluation and Validation</a:t>
            </a:r>
            <a:endParaRPr lang="en-US" sz="2800" dirty="0"/>
          </a:p>
        </p:txBody>
      </p:sp>
      <p:sp>
        <p:nvSpPr>
          <p:cNvPr id="3" name="Text 1"/>
          <p:cNvSpPr/>
          <p:nvPr/>
        </p:nvSpPr>
        <p:spPr>
          <a:xfrm>
            <a:off x="631908" y="1237059"/>
            <a:ext cx="10927878" cy="260548"/>
          </a:xfrm>
          <a:prstGeom prst="rect">
            <a:avLst/>
          </a:prstGeom>
          <a:noFill/>
          <a:ln/>
        </p:spPr>
        <p:txBody>
          <a:bodyPr wrap="square" lIns="0" tIns="0" rIns="0" bIns="0" rtlCol="0" anchor="t">
            <a:normAutofit/>
          </a:bodyPr>
          <a:lstStyle/>
          <a:p>
            <a:pPr marL="0" indent="0" algn="l">
              <a:lnSpc>
                <a:spcPct val="80000"/>
              </a:lnSpc>
              <a:buNone/>
            </a:pPr>
            <a:r>
              <a:rPr lang="en-US" sz="1050" dirty="0">
                <a:solidFill>
                  <a:srgbClr val="23231E"/>
                </a:solidFill>
                <a:latin typeface="Inter Light" pitchFamily="34" charset="0"/>
                <a:ea typeface="Inter Light" pitchFamily="34" charset="-122"/>
                <a:cs typeface="Inter Light" pitchFamily="34" charset="-120"/>
              </a:rPr>
              <a:t>Our rigorous evaluation framework ensures the accuracy and reliability of both our AI models and the environmental impact predictions, providing trustworthy insights for sustainable textile management.</a:t>
            </a:r>
            <a:endParaRPr lang="en-US" sz="10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908" y="1611809"/>
            <a:ext cx="338526" cy="338534"/>
          </a:xfrm>
          <a:prstGeom prst="rect">
            <a:avLst/>
          </a:prstGeom>
        </p:spPr>
      </p:pic>
      <p:sp>
        <p:nvSpPr>
          <p:cNvPr id="5" name="Text 2"/>
          <p:cNvSpPr/>
          <p:nvPr/>
        </p:nvSpPr>
        <p:spPr>
          <a:xfrm>
            <a:off x="631908" y="2077244"/>
            <a:ext cx="5400441" cy="178197"/>
          </a:xfrm>
          <a:prstGeom prst="rect">
            <a:avLst/>
          </a:prstGeom>
          <a:noFill/>
          <a:ln/>
        </p:spPr>
        <p:txBody>
          <a:bodyPr wrap="none" lIns="0" tIns="0" rIns="0" bIns="0" rtlCol="0" anchor="t"/>
          <a:lstStyle/>
          <a:p>
            <a:pPr marL="0" indent="0" algn="l">
              <a:lnSpc>
                <a:spcPct val="83000"/>
              </a:lnSpc>
              <a:buNone/>
            </a:pPr>
            <a:r>
              <a:rPr lang="en-US" sz="1400" kern="0" spc="-42" dirty="0">
                <a:solidFill>
                  <a:srgbClr val="23231E"/>
                </a:solidFill>
                <a:latin typeface="DM Sans ExtraBold" pitchFamily="34" charset="0"/>
                <a:ea typeface="DM Sans ExtraBold" pitchFamily="34" charset="-122"/>
                <a:cs typeface="DM Sans ExtraBold" pitchFamily="34" charset="-120"/>
              </a:rPr>
              <a:t>Regression Metrics</a:t>
            </a:r>
            <a:endParaRPr lang="en-US" sz="1400" dirty="0"/>
          </a:p>
        </p:txBody>
      </p:sp>
      <p:sp>
        <p:nvSpPr>
          <p:cNvPr id="6" name="Text 3"/>
          <p:cNvSpPr/>
          <p:nvPr/>
        </p:nvSpPr>
        <p:spPr>
          <a:xfrm>
            <a:off x="631908" y="2316361"/>
            <a:ext cx="5400441" cy="461863"/>
          </a:xfrm>
          <a:prstGeom prst="rect">
            <a:avLst/>
          </a:prstGeom>
          <a:noFill/>
          <a:ln/>
        </p:spPr>
        <p:txBody>
          <a:bodyPr wrap="square" lIns="0" tIns="54164" rIns="0" bIns="0" rtlCol="0" anchor="t">
            <a:normAutofit/>
          </a:bodyPr>
          <a:lstStyle/>
          <a:p>
            <a:pPr marL="213360" indent="-213360" algn="l">
              <a:lnSpc>
                <a:spcPct val="80000"/>
              </a:lnSpc>
              <a:buSzPct val="100000"/>
              <a:buChar char="•"/>
            </a:pPr>
            <a:r>
              <a:rPr lang="en-US" sz="1050" dirty="0">
                <a:solidFill>
                  <a:srgbClr val="23231E"/>
                </a:solidFill>
                <a:latin typeface="Inter Light" pitchFamily="34" charset="0"/>
                <a:ea typeface="Inter Light" pitchFamily="34" charset="-122"/>
                <a:cs typeface="Inter Light" pitchFamily="34" charset="-120"/>
              </a:rPr>
              <a:t>Mean Absolute Error (MAE)</a:t>
            </a:r>
            <a:endParaRPr lang="en-US" sz="1050" dirty="0"/>
          </a:p>
          <a:p>
            <a:pPr marL="213360" indent="-213360" algn="l">
              <a:lnSpc>
                <a:spcPct val="80000"/>
              </a:lnSpc>
              <a:buSzPct val="100000"/>
              <a:buChar char="•"/>
            </a:pPr>
            <a:r>
              <a:rPr lang="en-US" sz="1050" dirty="0">
                <a:solidFill>
                  <a:srgbClr val="23231E"/>
                </a:solidFill>
                <a:latin typeface="Inter Light" pitchFamily="34" charset="0"/>
                <a:ea typeface="Inter Light" pitchFamily="34" charset="-122"/>
                <a:cs typeface="Inter Light" pitchFamily="34" charset="-120"/>
              </a:rPr>
              <a:t>Root Mean Square Error (RMSE)</a:t>
            </a:r>
            <a:endParaRPr lang="en-US" sz="1050" dirty="0"/>
          </a:p>
          <a:p>
            <a:pPr marL="213360" indent="-213360" algn="l">
              <a:lnSpc>
                <a:spcPct val="80000"/>
              </a:lnSpc>
              <a:buSzPct val="100000"/>
              <a:buChar char="•"/>
            </a:pPr>
            <a:r>
              <a:rPr lang="en-US" sz="1050" dirty="0">
                <a:solidFill>
                  <a:srgbClr val="23231E"/>
                </a:solidFill>
                <a:latin typeface="Inter Light" pitchFamily="34" charset="0"/>
                <a:ea typeface="Inter Light" pitchFamily="34" charset="-122"/>
                <a:cs typeface="Inter Light" pitchFamily="34" charset="-120"/>
              </a:rPr>
              <a:t>Coefficient of Determination (R²)</a:t>
            </a:r>
            <a:endParaRPr lang="en-US" sz="105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59247" y="1611809"/>
            <a:ext cx="338526" cy="338534"/>
          </a:xfrm>
          <a:prstGeom prst="rect">
            <a:avLst/>
          </a:prstGeom>
        </p:spPr>
      </p:pic>
      <p:sp>
        <p:nvSpPr>
          <p:cNvPr id="8" name="Text 4"/>
          <p:cNvSpPr/>
          <p:nvPr/>
        </p:nvSpPr>
        <p:spPr>
          <a:xfrm>
            <a:off x="6159247" y="2077244"/>
            <a:ext cx="5400540" cy="178197"/>
          </a:xfrm>
          <a:prstGeom prst="rect">
            <a:avLst/>
          </a:prstGeom>
          <a:noFill/>
          <a:ln/>
        </p:spPr>
        <p:txBody>
          <a:bodyPr wrap="none" lIns="0" tIns="0" rIns="0" bIns="0" rtlCol="0" anchor="t"/>
          <a:lstStyle/>
          <a:p>
            <a:pPr marL="0" indent="0" algn="l">
              <a:lnSpc>
                <a:spcPct val="83000"/>
              </a:lnSpc>
              <a:buNone/>
            </a:pPr>
            <a:r>
              <a:rPr lang="en-US" sz="1400" kern="0" spc="-42" dirty="0">
                <a:solidFill>
                  <a:srgbClr val="23231E"/>
                </a:solidFill>
                <a:latin typeface="DM Sans ExtraBold" pitchFamily="34" charset="0"/>
                <a:ea typeface="DM Sans ExtraBold" pitchFamily="34" charset="-122"/>
                <a:cs typeface="DM Sans ExtraBold" pitchFamily="34" charset="-120"/>
              </a:rPr>
              <a:t>Classification Metrics</a:t>
            </a:r>
            <a:endParaRPr lang="en-US" sz="1400" dirty="0"/>
          </a:p>
        </p:txBody>
      </p:sp>
      <p:sp>
        <p:nvSpPr>
          <p:cNvPr id="9" name="Text 5"/>
          <p:cNvSpPr/>
          <p:nvPr/>
        </p:nvSpPr>
        <p:spPr>
          <a:xfrm>
            <a:off x="6159247" y="2316361"/>
            <a:ext cx="5400540" cy="793452"/>
          </a:xfrm>
          <a:prstGeom prst="rect">
            <a:avLst/>
          </a:prstGeom>
          <a:noFill/>
          <a:ln/>
        </p:spPr>
        <p:txBody>
          <a:bodyPr wrap="square" lIns="0" tIns="54164" rIns="0" bIns="0" rtlCol="0" anchor="t">
            <a:normAutofit/>
          </a:bodyPr>
          <a:lstStyle/>
          <a:p>
            <a:pPr marL="213360" indent="-213360" algn="l">
              <a:lnSpc>
                <a:spcPct val="80000"/>
              </a:lnSpc>
              <a:buSzPct val="100000"/>
              <a:buChar char="•"/>
            </a:pPr>
            <a:r>
              <a:rPr lang="en-US" sz="1050" dirty="0">
                <a:solidFill>
                  <a:srgbClr val="23231E"/>
                </a:solidFill>
                <a:latin typeface="Inter Light" pitchFamily="34" charset="0"/>
                <a:ea typeface="Inter Light" pitchFamily="34" charset="-122"/>
                <a:cs typeface="Inter Light" pitchFamily="34" charset="-120"/>
              </a:rPr>
              <a:t>Accuracy</a:t>
            </a:r>
            <a:endParaRPr lang="en-US" sz="1050" dirty="0"/>
          </a:p>
          <a:p>
            <a:pPr marL="213360" indent="-213360" algn="l">
              <a:lnSpc>
                <a:spcPct val="80000"/>
              </a:lnSpc>
              <a:buSzPct val="100000"/>
              <a:buChar char="•"/>
            </a:pPr>
            <a:r>
              <a:rPr lang="en-US" sz="1050" dirty="0">
                <a:solidFill>
                  <a:srgbClr val="23231E"/>
                </a:solidFill>
                <a:latin typeface="Inter Light" pitchFamily="34" charset="0"/>
                <a:ea typeface="Inter Light" pitchFamily="34" charset="-122"/>
                <a:cs typeface="Inter Light" pitchFamily="34" charset="-120"/>
              </a:rPr>
              <a:t>Precision</a:t>
            </a:r>
            <a:endParaRPr lang="en-US" sz="1050" dirty="0"/>
          </a:p>
          <a:p>
            <a:pPr marL="213360" indent="-213360" algn="l">
              <a:lnSpc>
                <a:spcPct val="80000"/>
              </a:lnSpc>
              <a:buSzPct val="100000"/>
              <a:buChar char="•"/>
            </a:pPr>
            <a:r>
              <a:rPr lang="en-US" sz="1050" dirty="0">
                <a:solidFill>
                  <a:srgbClr val="23231E"/>
                </a:solidFill>
                <a:latin typeface="Inter Light" pitchFamily="34" charset="0"/>
                <a:ea typeface="Inter Light" pitchFamily="34" charset="-122"/>
                <a:cs typeface="Inter Light" pitchFamily="34" charset="-120"/>
              </a:rPr>
              <a:t>Recall</a:t>
            </a:r>
            <a:endParaRPr lang="en-US" sz="1050" dirty="0"/>
          </a:p>
          <a:p>
            <a:pPr marL="213360" indent="-213360" algn="l">
              <a:lnSpc>
                <a:spcPct val="80000"/>
              </a:lnSpc>
              <a:buSzPct val="100000"/>
              <a:buChar char="•"/>
            </a:pPr>
            <a:r>
              <a:rPr lang="en-US" sz="1050" dirty="0">
                <a:solidFill>
                  <a:srgbClr val="23231E"/>
                </a:solidFill>
                <a:latin typeface="Inter Light" pitchFamily="34" charset="0"/>
                <a:ea typeface="Inter Light" pitchFamily="34" charset="-122"/>
                <a:cs typeface="Inter Light" pitchFamily="34" charset="-120"/>
              </a:rPr>
              <a:t>F1 Score</a:t>
            </a:r>
            <a:endParaRPr lang="en-US" sz="1050" dirty="0"/>
          </a:p>
          <a:p>
            <a:pPr marL="213360" indent="-213360" algn="l">
              <a:lnSpc>
                <a:spcPct val="80000"/>
              </a:lnSpc>
              <a:buSzPct val="100000"/>
              <a:buChar char="•"/>
            </a:pPr>
            <a:r>
              <a:rPr lang="en-US" sz="1050" dirty="0">
                <a:solidFill>
                  <a:srgbClr val="23231E"/>
                </a:solidFill>
                <a:latin typeface="Inter Light" pitchFamily="34" charset="0"/>
                <a:ea typeface="Inter Light" pitchFamily="34" charset="-122"/>
                <a:cs typeface="Inter Light" pitchFamily="34" charset="-120"/>
              </a:rPr>
              <a:t>Confusion Matrix</a:t>
            </a:r>
            <a:endParaRPr lang="en-US" sz="105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1908" y="3312914"/>
            <a:ext cx="338526" cy="338534"/>
          </a:xfrm>
          <a:prstGeom prst="rect">
            <a:avLst/>
          </a:prstGeom>
        </p:spPr>
      </p:pic>
      <p:sp>
        <p:nvSpPr>
          <p:cNvPr id="11" name="Text 6"/>
          <p:cNvSpPr/>
          <p:nvPr/>
        </p:nvSpPr>
        <p:spPr>
          <a:xfrm>
            <a:off x="631908" y="3778349"/>
            <a:ext cx="5400441" cy="178197"/>
          </a:xfrm>
          <a:prstGeom prst="rect">
            <a:avLst/>
          </a:prstGeom>
          <a:noFill/>
          <a:ln/>
        </p:spPr>
        <p:txBody>
          <a:bodyPr wrap="none" lIns="0" tIns="0" rIns="0" bIns="0" rtlCol="0" anchor="t"/>
          <a:lstStyle/>
          <a:p>
            <a:pPr marL="0" indent="0" algn="l">
              <a:lnSpc>
                <a:spcPct val="83000"/>
              </a:lnSpc>
              <a:buNone/>
            </a:pPr>
            <a:r>
              <a:rPr lang="en-US" sz="1400" kern="0" spc="-42" dirty="0">
                <a:solidFill>
                  <a:srgbClr val="23231E"/>
                </a:solidFill>
                <a:latin typeface="DM Sans ExtraBold" pitchFamily="34" charset="0"/>
                <a:ea typeface="DM Sans ExtraBold" pitchFamily="34" charset="-122"/>
                <a:cs typeface="DM Sans ExtraBold" pitchFamily="34" charset="-120"/>
              </a:rPr>
              <a:t>Sustainability Validation</a:t>
            </a:r>
            <a:endParaRPr lang="en-US" sz="1400" dirty="0"/>
          </a:p>
        </p:txBody>
      </p:sp>
      <p:sp>
        <p:nvSpPr>
          <p:cNvPr id="12" name="Text 7"/>
          <p:cNvSpPr/>
          <p:nvPr/>
        </p:nvSpPr>
        <p:spPr>
          <a:xfrm>
            <a:off x="631908" y="4017466"/>
            <a:ext cx="5400441" cy="793452"/>
          </a:xfrm>
          <a:prstGeom prst="rect">
            <a:avLst/>
          </a:prstGeom>
          <a:noFill/>
          <a:ln/>
        </p:spPr>
        <p:txBody>
          <a:bodyPr wrap="square" lIns="0" tIns="54164" rIns="0" bIns="0" rtlCol="0" anchor="t">
            <a:normAutofit/>
          </a:bodyPr>
          <a:lstStyle/>
          <a:p>
            <a:pPr marL="213360" indent="-213360" algn="l">
              <a:lnSpc>
                <a:spcPct val="80000"/>
              </a:lnSpc>
              <a:buSzPct val="100000"/>
              <a:buChar char="•"/>
            </a:pPr>
            <a:r>
              <a:rPr lang="en-US" sz="1050" dirty="0">
                <a:solidFill>
                  <a:srgbClr val="23231E"/>
                </a:solidFill>
                <a:latin typeface="Inter Light" pitchFamily="34" charset="0"/>
                <a:ea typeface="Inter Light" pitchFamily="34" charset="-122"/>
                <a:cs typeface="Inter Light" pitchFamily="34" charset="-120"/>
              </a:rPr>
              <a:t>Environmental-factor verification</a:t>
            </a:r>
            <a:endParaRPr lang="en-US" sz="1050" dirty="0"/>
          </a:p>
          <a:p>
            <a:pPr marL="213360" indent="-213360" algn="l">
              <a:lnSpc>
                <a:spcPct val="80000"/>
              </a:lnSpc>
              <a:buSzPct val="100000"/>
              <a:buChar char="•"/>
            </a:pPr>
            <a:r>
              <a:rPr lang="en-US" sz="1050" dirty="0">
                <a:solidFill>
                  <a:srgbClr val="23231E"/>
                </a:solidFill>
                <a:latin typeface="Inter Light" pitchFamily="34" charset="0"/>
                <a:ea typeface="Inter Light" pitchFamily="34" charset="-122"/>
                <a:cs typeface="Inter Light" pitchFamily="34" charset="-120"/>
              </a:rPr>
              <a:t>Scenario consistency</a:t>
            </a:r>
            <a:endParaRPr lang="en-US" sz="1050" dirty="0"/>
          </a:p>
          <a:p>
            <a:pPr marL="213360" indent="-213360" algn="l">
              <a:lnSpc>
                <a:spcPct val="80000"/>
              </a:lnSpc>
              <a:buSzPct val="100000"/>
              <a:buChar char="•"/>
            </a:pPr>
            <a:r>
              <a:rPr lang="en-US" sz="1050" dirty="0">
                <a:solidFill>
                  <a:srgbClr val="23231E"/>
                </a:solidFill>
                <a:latin typeface="Inter Light" pitchFamily="34" charset="0"/>
                <a:ea typeface="Inter Light" pitchFamily="34" charset="-122"/>
                <a:cs typeface="Inter Light" pitchFamily="34" charset="-120"/>
              </a:rPr>
              <a:t>Recommendation validity</a:t>
            </a:r>
            <a:endParaRPr lang="en-US" sz="1050" dirty="0"/>
          </a:p>
          <a:p>
            <a:pPr marL="213360" indent="-213360" algn="l">
              <a:lnSpc>
                <a:spcPct val="80000"/>
              </a:lnSpc>
              <a:buSzPct val="100000"/>
              <a:buChar char="•"/>
            </a:pPr>
            <a:r>
              <a:rPr lang="en-US" sz="1050" dirty="0">
                <a:solidFill>
                  <a:srgbClr val="23231E"/>
                </a:solidFill>
                <a:latin typeface="Inter Light" pitchFamily="34" charset="0"/>
                <a:ea typeface="Inter Light" pitchFamily="34" charset="-122"/>
                <a:cs typeface="Inter Light" pitchFamily="34" charset="-120"/>
              </a:rPr>
              <a:t>API testing</a:t>
            </a:r>
            <a:endParaRPr lang="en-US" sz="1050" dirty="0"/>
          </a:p>
          <a:p>
            <a:pPr marL="213360" indent="-213360" algn="l">
              <a:lnSpc>
                <a:spcPct val="80000"/>
              </a:lnSpc>
              <a:buSzPct val="100000"/>
              <a:buChar char="•"/>
            </a:pPr>
            <a:r>
              <a:rPr lang="en-US" sz="1050" dirty="0">
                <a:solidFill>
                  <a:srgbClr val="23231E"/>
                </a:solidFill>
                <a:latin typeface="Inter Light" pitchFamily="34" charset="0"/>
                <a:ea typeface="Inter Light" pitchFamily="34" charset="-122"/>
                <a:cs typeface="Inter Light" pitchFamily="34" charset="-120"/>
              </a:rPr>
              <a:t>Frontend workflow testing</a:t>
            </a:r>
            <a:endParaRPr lang="en-US" sz="1050" dirty="0"/>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59247" y="3312914"/>
            <a:ext cx="338526" cy="338534"/>
          </a:xfrm>
          <a:prstGeom prst="rect">
            <a:avLst/>
          </a:prstGeom>
        </p:spPr>
      </p:pic>
      <p:sp>
        <p:nvSpPr>
          <p:cNvPr id="14" name="Text 8"/>
          <p:cNvSpPr/>
          <p:nvPr/>
        </p:nvSpPr>
        <p:spPr>
          <a:xfrm>
            <a:off x="6159247" y="3778349"/>
            <a:ext cx="5400540" cy="178197"/>
          </a:xfrm>
          <a:prstGeom prst="rect">
            <a:avLst/>
          </a:prstGeom>
          <a:noFill/>
          <a:ln/>
        </p:spPr>
        <p:txBody>
          <a:bodyPr wrap="none" lIns="0" tIns="0" rIns="0" bIns="0" rtlCol="0" anchor="t"/>
          <a:lstStyle/>
          <a:p>
            <a:pPr marL="0" indent="0" algn="l">
              <a:lnSpc>
                <a:spcPct val="83000"/>
              </a:lnSpc>
              <a:buNone/>
            </a:pPr>
            <a:r>
              <a:rPr lang="en-US" sz="1400" kern="0" spc="-42" dirty="0">
                <a:solidFill>
                  <a:srgbClr val="23231E"/>
                </a:solidFill>
                <a:latin typeface="DM Sans ExtraBold" pitchFamily="34" charset="0"/>
                <a:ea typeface="DM Sans ExtraBold" pitchFamily="34" charset="-122"/>
                <a:cs typeface="DM Sans ExtraBold" pitchFamily="34" charset="-120"/>
              </a:rPr>
              <a:t>Data Sources</a:t>
            </a:r>
            <a:endParaRPr lang="en-US" sz="1400" dirty="0"/>
          </a:p>
        </p:txBody>
      </p:sp>
      <p:sp>
        <p:nvSpPr>
          <p:cNvPr id="15" name="Text 9"/>
          <p:cNvSpPr/>
          <p:nvPr/>
        </p:nvSpPr>
        <p:spPr>
          <a:xfrm>
            <a:off x="6159247" y="4017466"/>
            <a:ext cx="5400540" cy="627658"/>
          </a:xfrm>
          <a:prstGeom prst="rect">
            <a:avLst/>
          </a:prstGeom>
          <a:noFill/>
          <a:ln/>
        </p:spPr>
        <p:txBody>
          <a:bodyPr wrap="square" lIns="0" tIns="54164" rIns="0" bIns="0" rtlCol="0" anchor="t">
            <a:normAutofit/>
          </a:bodyPr>
          <a:lstStyle/>
          <a:p>
            <a:pPr marL="213360" indent="-213360" algn="l">
              <a:lnSpc>
                <a:spcPct val="80000"/>
              </a:lnSpc>
              <a:buSzPct val="100000"/>
              <a:buChar char="•"/>
            </a:pPr>
            <a:r>
              <a:rPr lang="en-US" sz="1050" dirty="0">
                <a:solidFill>
                  <a:srgbClr val="23231E"/>
                </a:solidFill>
                <a:latin typeface="Inter Light" pitchFamily="34" charset="0"/>
                <a:ea typeface="Inter Light" pitchFamily="34" charset="-122"/>
                <a:cs typeface="Inter Light" pitchFamily="34" charset="-120"/>
              </a:rPr>
              <a:t>Life Cycle Assessment (LCA) sources</a:t>
            </a:r>
            <a:endParaRPr lang="en-US" sz="1050" dirty="0"/>
          </a:p>
          <a:p>
            <a:pPr marL="213360" indent="-213360" algn="l">
              <a:lnSpc>
                <a:spcPct val="80000"/>
              </a:lnSpc>
              <a:buSzPct val="100000"/>
              <a:buChar char="•"/>
            </a:pPr>
            <a:r>
              <a:rPr lang="en-US" sz="1050" dirty="0">
                <a:solidFill>
                  <a:srgbClr val="23231E"/>
                </a:solidFill>
                <a:latin typeface="Inter Light" pitchFamily="34" charset="0"/>
                <a:ea typeface="Inter Light" pitchFamily="34" charset="-122"/>
                <a:cs typeface="Inter Light" pitchFamily="34" charset="-120"/>
              </a:rPr>
              <a:t>Academic literature</a:t>
            </a:r>
            <a:endParaRPr lang="en-US" sz="1050" dirty="0"/>
          </a:p>
          <a:p>
            <a:pPr marL="213360" indent="-213360" algn="l">
              <a:lnSpc>
                <a:spcPct val="80000"/>
              </a:lnSpc>
              <a:buSzPct val="100000"/>
              <a:buChar char="•"/>
            </a:pPr>
            <a:r>
              <a:rPr lang="en-US" sz="1050" dirty="0">
                <a:solidFill>
                  <a:srgbClr val="23231E"/>
                </a:solidFill>
                <a:latin typeface="Inter Light" pitchFamily="34" charset="0"/>
                <a:ea typeface="Inter Light" pitchFamily="34" charset="-122"/>
                <a:cs typeface="Inter Light" pitchFamily="34" charset="-120"/>
              </a:rPr>
              <a:t>Established sustainability databases</a:t>
            </a:r>
            <a:endParaRPr lang="en-US" sz="1050" dirty="0"/>
          </a:p>
          <a:p>
            <a:pPr marL="213360" indent="-213360" algn="l">
              <a:lnSpc>
                <a:spcPct val="80000"/>
              </a:lnSpc>
              <a:buSzPct val="100000"/>
              <a:buChar char="•"/>
            </a:pPr>
            <a:r>
              <a:rPr lang="en-US" sz="1050" dirty="0">
                <a:solidFill>
                  <a:srgbClr val="23231E"/>
                </a:solidFill>
                <a:latin typeface="Inter Light" pitchFamily="34" charset="0"/>
                <a:ea typeface="Inter Light" pitchFamily="34" charset="-122"/>
                <a:cs typeface="Inter Light" pitchFamily="34" charset="-120"/>
              </a:rPr>
              <a:t>Textile-specific environmental studies</a:t>
            </a:r>
            <a:endParaRPr lang="en-US" sz="1050" dirty="0"/>
          </a:p>
        </p:txBody>
      </p:sp>
      <p:pic>
        <p:nvPicPr>
          <p:cNvPr id="1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1908" y="5014020"/>
            <a:ext cx="338526" cy="338534"/>
          </a:xfrm>
          <a:prstGeom prst="rect">
            <a:avLst/>
          </a:prstGeom>
        </p:spPr>
      </p:pic>
      <p:sp>
        <p:nvSpPr>
          <p:cNvPr id="17" name="Text 10"/>
          <p:cNvSpPr/>
          <p:nvPr/>
        </p:nvSpPr>
        <p:spPr>
          <a:xfrm>
            <a:off x="631908" y="5479455"/>
            <a:ext cx="5400441" cy="178197"/>
          </a:xfrm>
          <a:prstGeom prst="rect">
            <a:avLst/>
          </a:prstGeom>
          <a:noFill/>
          <a:ln/>
        </p:spPr>
        <p:txBody>
          <a:bodyPr wrap="none" lIns="0" tIns="0" rIns="0" bIns="0" rtlCol="0" anchor="t"/>
          <a:lstStyle/>
          <a:p>
            <a:pPr marL="0" indent="0" algn="l">
              <a:lnSpc>
                <a:spcPct val="83000"/>
              </a:lnSpc>
              <a:buNone/>
            </a:pPr>
            <a:r>
              <a:rPr lang="en-US" sz="1400" kern="0" spc="-42" dirty="0">
                <a:solidFill>
                  <a:srgbClr val="23231E"/>
                </a:solidFill>
                <a:latin typeface="DM Sans ExtraBold" pitchFamily="34" charset="0"/>
                <a:ea typeface="DM Sans ExtraBold" pitchFamily="34" charset="-122"/>
                <a:cs typeface="DM Sans ExtraBold" pitchFamily="34" charset="-120"/>
              </a:rPr>
              <a:t>Current Model Assets</a:t>
            </a:r>
            <a:endParaRPr lang="en-US" sz="1400" dirty="0"/>
          </a:p>
        </p:txBody>
      </p:sp>
      <p:sp>
        <p:nvSpPr>
          <p:cNvPr id="18" name="Text 11"/>
          <p:cNvSpPr/>
          <p:nvPr/>
        </p:nvSpPr>
        <p:spPr>
          <a:xfrm>
            <a:off x="631908" y="5718572"/>
            <a:ext cx="5400441" cy="461863"/>
          </a:xfrm>
          <a:prstGeom prst="rect">
            <a:avLst/>
          </a:prstGeom>
          <a:noFill/>
          <a:ln/>
        </p:spPr>
        <p:txBody>
          <a:bodyPr wrap="square" lIns="0" tIns="54164" rIns="0" bIns="0" rtlCol="0" anchor="t">
            <a:normAutofit/>
          </a:bodyPr>
          <a:lstStyle/>
          <a:p>
            <a:pPr marL="213360" indent="-213360" algn="l">
              <a:lnSpc>
                <a:spcPct val="80000"/>
              </a:lnSpc>
              <a:buSzPct val="100000"/>
              <a:buChar char="•"/>
            </a:pPr>
            <a:r>
              <a:rPr lang="en-US" sz="1050" dirty="0">
                <a:solidFill>
                  <a:srgbClr val="23231E"/>
                </a:solidFill>
                <a:latin typeface="Inter Light" pitchFamily="34" charset="0"/>
                <a:ea typeface="Inter Light" pitchFamily="34" charset="-122"/>
                <a:cs typeface="Inter Light" pitchFamily="34" charset="-120"/>
              </a:rPr>
              <a:t>sustainability_regressor.pkl</a:t>
            </a:r>
            <a:endParaRPr lang="en-US" sz="1050" dirty="0"/>
          </a:p>
          <a:p>
            <a:pPr marL="213360" indent="-213360" algn="l">
              <a:lnSpc>
                <a:spcPct val="80000"/>
              </a:lnSpc>
              <a:buSzPct val="100000"/>
              <a:buChar char="•"/>
            </a:pPr>
            <a:r>
              <a:rPr lang="en-US" sz="1050" dirty="0">
                <a:solidFill>
                  <a:srgbClr val="23231E"/>
                </a:solidFill>
                <a:latin typeface="Inter Light" pitchFamily="34" charset="0"/>
                <a:ea typeface="Inter Light" pitchFamily="34" charset="-122"/>
                <a:cs typeface="Inter Light" pitchFamily="34" charset="-120"/>
              </a:rPr>
              <a:t>sustainability_grade_model.pkl</a:t>
            </a:r>
            <a:endParaRPr lang="en-US" sz="1050" dirty="0"/>
          </a:p>
          <a:p>
            <a:pPr marL="213360" indent="-213360" algn="l">
              <a:lnSpc>
                <a:spcPct val="80000"/>
              </a:lnSpc>
              <a:buSzPct val="100000"/>
              <a:buChar char="•"/>
            </a:pPr>
            <a:r>
              <a:rPr lang="en-US" sz="1050" dirty="0">
                <a:solidFill>
                  <a:srgbClr val="23231E"/>
                </a:solidFill>
                <a:latin typeface="Inter Light" pitchFamily="34" charset="0"/>
                <a:ea typeface="Inter Light" pitchFamily="34" charset="-122"/>
                <a:cs typeface="Inter Light" pitchFamily="34" charset="-120"/>
              </a:rPr>
              <a:t>grade_encoder.pkl</a:t>
            </a:r>
            <a:endParaRPr lang="en-US" sz="1050" dirty="0"/>
          </a:p>
        </p:txBody>
      </p:sp>
      <p:grpSp>
        <p:nvGrpSpPr>
          <p:cNvPr id="19" name="Group 18">
            <a:extLst>
              <a:ext uri="{FF2B5EF4-FFF2-40B4-BE49-F238E27FC236}">
                <a16:creationId xmlns:a16="http://schemas.microsoft.com/office/drawing/2014/main" id="{3D94899A-D26D-C08A-BC7F-AC002EF30CBF}"/>
              </a:ext>
            </a:extLst>
          </p:cNvPr>
          <p:cNvGrpSpPr/>
          <p:nvPr/>
        </p:nvGrpSpPr>
        <p:grpSpPr>
          <a:xfrm>
            <a:off x="10686552" y="6506574"/>
            <a:ext cx="1505131" cy="351434"/>
            <a:chOff x="2623154" y="413097"/>
            <a:chExt cx="2599719" cy="525560"/>
          </a:xfrm>
        </p:grpSpPr>
        <p:sp>
          <p:nvSpPr>
            <p:cNvPr id="20" name="Freeform 19">
              <a:extLst>
                <a:ext uri="{FF2B5EF4-FFF2-40B4-BE49-F238E27FC236}">
                  <a16:creationId xmlns:a16="http://schemas.microsoft.com/office/drawing/2014/main" id="{48BBE740-EF1C-DA62-C2AB-0D80C4627458}"/>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13"/>
              <a:stretch>
                <a:fillRect l="-64" r="-64" b="1"/>
              </a:stretch>
            </a:blipFill>
          </p:spPr>
          <p:txBody>
            <a:bodyPr/>
            <a:lstStyle/>
            <a:p>
              <a:endParaRPr lang="en-US" sz="1200" dirty="0"/>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31908" y="1294507"/>
            <a:ext cx="10927878" cy="475159"/>
          </a:xfrm>
          <a:prstGeom prst="rect">
            <a:avLst/>
          </a:prstGeom>
          <a:noFill/>
          <a:ln/>
        </p:spPr>
        <p:txBody>
          <a:bodyPr wrap="none" lIns="0" tIns="0" rIns="0" bIns="0" rtlCol="0" anchor="t"/>
          <a:lstStyle/>
          <a:p>
            <a:pPr marL="0" indent="0" algn="l">
              <a:lnSpc>
                <a:spcPct val="83000"/>
              </a:lnSpc>
              <a:buNone/>
            </a:pPr>
            <a:r>
              <a:rPr lang="en-US" sz="3700" kern="0" spc="-112" dirty="0">
                <a:solidFill>
                  <a:srgbClr val="383830"/>
                </a:solidFill>
                <a:latin typeface="DM Sans ExtraBold" pitchFamily="34" charset="0"/>
                <a:ea typeface="DM Sans ExtraBold" pitchFamily="34" charset="-122"/>
                <a:cs typeface="DM Sans ExtraBold" pitchFamily="34" charset="-120"/>
              </a:rPr>
              <a:t>Real-World Usage Scenario</a:t>
            </a:r>
            <a:endParaRPr lang="en-US" sz="3700" dirty="0"/>
          </a:p>
        </p:txBody>
      </p:sp>
      <p:sp>
        <p:nvSpPr>
          <p:cNvPr id="3" name="Text 1"/>
          <p:cNvSpPr/>
          <p:nvPr/>
        </p:nvSpPr>
        <p:spPr>
          <a:xfrm>
            <a:off x="631908" y="2040434"/>
            <a:ext cx="11537463" cy="198636"/>
          </a:xfrm>
          <a:prstGeom prst="rect">
            <a:avLst/>
          </a:prstGeom>
          <a:noFill/>
          <a:ln/>
        </p:spPr>
        <p:txBody>
          <a:bodyPr wrap="none" lIns="0" tIns="0" rIns="0" bIns="0" rtlCol="0" anchor="t"/>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To illustrate TexCycle AI's functionality, consider a practical application:</a:t>
            </a:r>
            <a:endParaRPr lang="en-US" sz="1400" dirty="0"/>
          </a:p>
        </p:txBody>
      </p:sp>
      <p:pic>
        <p:nvPicPr>
          <p:cNvPr id="4" name="Image 0" descr="preencoded.png"/>
          <p:cNvPicPr>
            <a:picLocks noChangeAspect="1"/>
          </p:cNvPicPr>
          <p:nvPr/>
        </p:nvPicPr>
        <p:blipFill>
          <a:blip r:embed="rId3"/>
          <a:stretch>
            <a:fillRect/>
          </a:stretch>
        </p:blipFill>
        <p:spPr>
          <a:xfrm>
            <a:off x="631908" y="2442170"/>
            <a:ext cx="3642626" cy="722114"/>
          </a:xfrm>
          <a:prstGeom prst="rect">
            <a:avLst/>
          </a:prstGeom>
        </p:spPr>
      </p:pic>
      <p:sp>
        <p:nvSpPr>
          <p:cNvPr id="5" name="Text 2"/>
          <p:cNvSpPr/>
          <p:nvPr/>
        </p:nvSpPr>
        <p:spPr>
          <a:xfrm>
            <a:off x="812383" y="3344763"/>
            <a:ext cx="3281677" cy="237530"/>
          </a:xfrm>
          <a:prstGeom prst="rect">
            <a:avLst/>
          </a:prstGeom>
          <a:noFill/>
          <a:ln/>
        </p:spPr>
        <p:txBody>
          <a:bodyPr wrap="none" lIns="0" tIns="0" rIns="0" bIns="0" rtlCol="0" anchor="t"/>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Input</a:t>
            </a:r>
            <a:endParaRPr lang="en-US" sz="1850" dirty="0"/>
          </a:p>
        </p:txBody>
      </p:sp>
      <p:sp>
        <p:nvSpPr>
          <p:cNvPr id="6" name="Text 3"/>
          <p:cNvSpPr/>
          <p:nvPr/>
        </p:nvSpPr>
        <p:spPr>
          <a:xfrm>
            <a:off x="812383" y="3690541"/>
            <a:ext cx="3281677" cy="198636"/>
          </a:xfrm>
          <a:prstGeom prst="rect">
            <a:avLst/>
          </a:prstGeom>
          <a:noFill/>
          <a:ln/>
        </p:spPr>
        <p:txBody>
          <a:bodyPr wrap="none" lIns="0" tIns="0" rIns="0" bIns="0" rtlCol="0" anchor="t"/>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Seller uploads textile details:</a:t>
            </a:r>
            <a:endParaRPr lang="en-US" sz="1400" dirty="0"/>
          </a:p>
        </p:txBody>
      </p:sp>
      <p:sp>
        <p:nvSpPr>
          <p:cNvPr id="7" name="Text 4"/>
          <p:cNvSpPr/>
          <p:nvPr/>
        </p:nvSpPr>
        <p:spPr>
          <a:xfrm>
            <a:off x="812383" y="3997424"/>
            <a:ext cx="3281677" cy="983853"/>
          </a:xfrm>
          <a:prstGeom prst="rect">
            <a:avLst/>
          </a:prstGeom>
          <a:noFill/>
          <a:ln/>
        </p:spPr>
        <p:txBody>
          <a:bodyPr wrap="square" lIns="0" tIns="72219" rIns="0" bIns="0" rtlCol="0" anchor="t">
            <a:normAutofit/>
          </a:bodyPr>
          <a:lstStyle/>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Fabric: Cotton</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Weight: 20 kg</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Condition: Good</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Quality: Medium</a:t>
            </a:r>
            <a:endParaRPr lang="en-US" sz="1400" dirty="0"/>
          </a:p>
        </p:txBody>
      </p:sp>
      <p:pic>
        <p:nvPicPr>
          <p:cNvPr id="8" name="Image 1" descr="preencoded.png"/>
          <p:cNvPicPr>
            <a:picLocks noChangeAspect="1"/>
          </p:cNvPicPr>
          <p:nvPr/>
        </p:nvPicPr>
        <p:blipFill>
          <a:blip r:embed="rId4"/>
          <a:stretch>
            <a:fillRect/>
          </a:stretch>
        </p:blipFill>
        <p:spPr>
          <a:xfrm>
            <a:off x="4274534" y="2442170"/>
            <a:ext cx="3642626" cy="722114"/>
          </a:xfrm>
          <a:prstGeom prst="rect">
            <a:avLst/>
          </a:prstGeom>
        </p:spPr>
      </p:pic>
      <p:sp>
        <p:nvSpPr>
          <p:cNvPr id="9" name="Text 5"/>
          <p:cNvSpPr/>
          <p:nvPr/>
        </p:nvSpPr>
        <p:spPr>
          <a:xfrm>
            <a:off x="4455009" y="3344763"/>
            <a:ext cx="3281677" cy="237530"/>
          </a:xfrm>
          <a:prstGeom prst="rect">
            <a:avLst/>
          </a:prstGeom>
          <a:noFill/>
          <a:ln/>
        </p:spPr>
        <p:txBody>
          <a:bodyPr wrap="none" lIns="0" tIns="0" rIns="0" bIns="0" rtlCol="0" anchor="t"/>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Processing</a:t>
            </a:r>
            <a:endParaRPr lang="en-US" sz="1850" dirty="0"/>
          </a:p>
        </p:txBody>
      </p:sp>
      <p:sp>
        <p:nvSpPr>
          <p:cNvPr id="10" name="Text 6"/>
          <p:cNvSpPr/>
          <p:nvPr/>
        </p:nvSpPr>
        <p:spPr>
          <a:xfrm>
            <a:off x="4455009" y="3690541"/>
            <a:ext cx="3281677" cy="198636"/>
          </a:xfrm>
          <a:prstGeom prst="rect">
            <a:avLst/>
          </a:prstGeom>
          <a:noFill/>
          <a:ln/>
        </p:spPr>
        <p:txBody>
          <a:bodyPr wrap="none" lIns="0" tIns="0" rIns="0" bIns="0" rtlCol="0" anchor="t"/>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System calculates:</a:t>
            </a:r>
            <a:endParaRPr lang="en-US" sz="1400" dirty="0"/>
          </a:p>
        </p:txBody>
      </p:sp>
      <p:sp>
        <p:nvSpPr>
          <p:cNvPr id="11" name="Text 7"/>
          <p:cNvSpPr/>
          <p:nvPr/>
        </p:nvSpPr>
        <p:spPr>
          <a:xfrm>
            <a:off x="4455009" y="3997424"/>
            <a:ext cx="3281677" cy="983853"/>
          </a:xfrm>
          <a:prstGeom prst="rect">
            <a:avLst/>
          </a:prstGeom>
          <a:noFill/>
          <a:ln/>
        </p:spPr>
        <p:txBody>
          <a:bodyPr wrap="square" lIns="0" tIns="72219" rIns="0" bIns="0" rtlCol="0" anchor="t">
            <a:normAutofit/>
          </a:bodyPr>
          <a:lstStyle/>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CO₂ Saving</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Water Saving</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Green Score</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Sustainability Score</a:t>
            </a:r>
            <a:endParaRPr lang="en-US" sz="1400" dirty="0"/>
          </a:p>
        </p:txBody>
      </p:sp>
      <p:pic>
        <p:nvPicPr>
          <p:cNvPr id="12" name="Image 2" descr="preencoded.png"/>
          <p:cNvPicPr>
            <a:picLocks noChangeAspect="1"/>
          </p:cNvPicPr>
          <p:nvPr/>
        </p:nvPicPr>
        <p:blipFill>
          <a:blip r:embed="rId5"/>
          <a:stretch>
            <a:fillRect/>
          </a:stretch>
        </p:blipFill>
        <p:spPr>
          <a:xfrm>
            <a:off x="7917161" y="2442170"/>
            <a:ext cx="3642626" cy="722114"/>
          </a:xfrm>
          <a:prstGeom prst="rect">
            <a:avLst/>
          </a:prstGeom>
        </p:spPr>
      </p:pic>
      <p:sp>
        <p:nvSpPr>
          <p:cNvPr id="13" name="Text 8"/>
          <p:cNvSpPr/>
          <p:nvPr/>
        </p:nvSpPr>
        <p:spPr>
          <a:xfrm>
            <a:off x="8097635" y="3344763"/>
            <a:ext cx="3281677" cy="237530"/>
          </a:xfrm>
          <a:prstGeom prst="rect">
            <a:avLst/>
          </a:prstGeom>
          <a:noFill/>
          <a:ln/>
        </p:spPr>
        <p:txBody>
          <a:bodyPr wrap="none" lIns="0" tIns="0" rIns="0" bIns="0" rtlCol="0" anchor="t"/>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Output</a:t>
            </a:r>
            <a:endParaRPr lang="en-US" sz="1850" dirty="0"/>
          </a:p>
        </p:txBody>
      </p:sp>
      <p:sp>
        <p:nvSpPr>
          <p:cNvPr id="14" name="Text 9"/>
          <p:cNvSpPr/>
          <p:nvPr/>
        </p:nvSpPr>
        <p:spPr>
          <a:xfrm>
            <a:off x="8097635" y="3690541"/>
            <a:ext cx="3281677" cy="198636"/>
          </a:xfrm>
          <a:prstGeom prst="rect">
            <a:avLst/>
          </a:prstGeom>
          <a:noFill/>
          <a:ln/>
        </p:spPr>
        <p:txBody>
          <a:bodyPr wrap="none" lIns="0" tIns="0" rIns="0" bIns="0" rtlCol="0" anchor="t"/>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Recommended Action:</a:t>
            </a:r>
            <a:endParaRPr lang="en-US" sz="1400" dirty="0"/>
          </a:p>
        </p:txBody>
      </p:sp>
      <p:sp>
        <p:nvSpPr>
          <p:cNvPr id="15" name="Text 10"/>
          <p:cNvSpPr/>
          <p:nvPr/>
        </p:nvSpPr>
        <p:spPr>
          <a:xfrm>
            <a:off x="8097635" y="3997424"/>
            <a:ext cx="3281677" cy="198636"/>
          </a:xfrm>
          <a:prstGeom prst="rect">
            <a:avLst/>
          </a:prstGeom>
          <a:noFill/>
          <a:ln/>
        </p:spPr>
        <p:txBody>
          <a:bodyPr wrap="none" lIns="0" tIns="72219" rIns="0" bIns="0" rtlCol="0" anchor="t"/>
          <a:lstStyle/>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Reuse / Upcycle</a:t>
            </a:r>
            <a:endParaRPr lang="en-US" sz="1400" dirty="0"/>
          </a:p>
        </p:txBody>
      </p:sp>
      <p:sp>
        <p:nvSpPr>
          <p:cNvPr id="16" name="Text 11"/>
          <p:cNvSpPr/>
          <p:nvPr/>
        </p:nvSpPr>
        <p:spPr>
          <a:xfrm>
            <a:off x="631908" y="5364857"/>
            <a:ext cx="11537463" cy="198636"/>
          </a:xfrm>
          <a:prstGeom prst="rect">
            <a:avLst/>
          </a:prstGeom>
          <a:noFill/>
          <a:ln/>
        </p:spPr>
        <p:txBody>
          <a:bodyPr wrap="none" lIns="0" tIns="0" rIns="0" bIns="0" rtlCol="0" anchor="t"/>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This process culminates in a comprehensive sustainability analysis, as shown below:</a:t>
            </a:r>
            <a:endParaRPr lang="en-US" sz="1400" dirty="0"/>
          </a:p>
        </p:txBody>
      </p:sp>
      <p:grpSp>
        <p:nvGrpSpPr>
          <p:cNvPr id="17" name="Group 16">
            <a:extLst>
              <a:ext uri="{FF2B5EF4-FFF2-40B4-BE49-F238E27FC236}">
                <a16:creationId xmlns:a16="http://schemas.microsoft.com/office/drawing/2014/main" id="{237D64AB-43ED-5AD5-2727-C1E6319741D5}"/>
              </a:ext>
            </a:extLst>
          </p:cNvPr>
          <p:cNvGrpSpPr/>
          <p:nvPr/>
        </p:nvGrpSpPr>
        <p:grpSpPr>
          <a:xfrm>
            <a:off x="10686552" y="6506574"/>
            <a:ext cx="1505131" cy="351434"/>
            <a:chOff x="2623154" y="413097"/>
            <a:chExt cx="2599719" cy="525560"/>
          </a:xfrm>
        </p:grpSpPr>
        <p:sp>
          <p:nvSpPr>
            <p:cNvPr id="18" name="Freeform 17">
              <a:extLst>
                <a:ext uri="{FF2B5EF4-FFF2-40B4-BE49-F238E27FC236}">
                  <a16:creationId xmlns:a16="http://schemas.microsoft.com/office/drawing/2014/main" id="{4A5D1309-BD8D-1C19-0539-80AB9ADF9D9B}"/>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6"/>
              <a:stretch>
                <a:fillRect l="-64" r="-64" b="1"/>
              </a:stretch>
            </a:blipFill>
          </p:spPr>
          <p:txBody>
            <a:bodyPr/>
            <a:lstStyle/>
            <a:p>
              <a:endParaRPr lang="en-US" sz="1200" dirty="0"/>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0"/>
          <p:cNvSpPr/>
          <p:nvPr/>
        </p:nvSpPr>
        <p:spPr>
          <a:xfrm>
            <a:off x="631908" y="2635548"/>
            <a:ext cx="6355993" cy="475159"/>
          </a:xfrm>
          <a:prstGeom prst="rect">
            <a:avLst/>
          </a:prstGeom>
          <a:noFill/>
          <a:ln/>
        </p:spPr>
        <p:txBody>
          <a:bodyPr wrap="none" lIns="0" tIns="0" rIns="0" bIns="0" rtlCol="0" anchor="t"/>
          <a:lstStyle/>
          <a:p>
            <a:pPr marL="0" indent="0" algn="l">
              <a:lnSpc>
                <a:spcPct val="83000"/>
              </a:lnSpc>
              <a:buNone/>
            </a:pPr>
            <a:r>
              <a:rPr lang="en-US" sz="3700" kern="0" spc="-112" dirty="0">
                <a:solidFill>
                  <a:srgbClr val="383830"/>
                </a:solidFill>
                <a:latin typeface="DM Sans ExtraBold" pitchFamily="34" charset="0"/>
                <a:ea typeface="DM Sans ExtraBold" pitchFamily="34" charset="-122"/>
                <a:cs typeface="DM Sans ExtraBold" pitchFamily="34" charset="-120"/>
              </a:rPr>
              <a:t>Madushanka H.M.T.G.</a:t>
            </a:r>
            <a:endParaRPr lang="en-US" sz="3700" dirty="0"/>
          </a:p>
        </p:txBody>
      </p:sp>
      <p:sp>
        <p:nvSpPr>
          <p:cNvPr id="4" name="Text 1"/>
          <p:cNvSpPr/>
          <p:nvPr/>
        </p:nvSpPr>
        <p:spPr>
          <a:xfrm>
            <a:off x="631908" y="3182838"/>
            <a:ext cx="6355993" cy="570111"/>
          </a:xfrm>
          <a:prstGeom prst="rect">
            <a:avLst/>
          </a:prstGeom>
          <a:noFill/>
          <a:ln/>
        </p:spPr>
        <p:txBody>
          <a:bodyPr wrap="square" lIns="0" tIns="0" rIns="0" bIns="0" rtlCol="0" anchor="t">
            <a:normAutofit/>
          </a:bodyPr>
          <a:lstStyle/>
          <a:p>
            <a:pPr marL="0" indent="0" algn="l">
              <a:lnSpc>
                <a:spcPct val="83000"/>
              </a:lnSpc>
              <a:buNone/>
            </a:pPr>
            <a:r>
              <a:rPr lang="en-US" sz="2200" kern="0" spc="-67" dirty="0">
                <a:solidFill>
                  <a:srgbClr val="383830"/>
                </a:solidFill>
                <a:latin typeface="DM Sans ExtraBold" pitchFamily="34" charset="0"/>
                <a:ea typeface="DM Sans ExtraBold" pitchFamily="34" charset="-122"/>
                <a:cs typeface="DM Sans ExtraBold" pitchFamily="34" charset="-120"/>
              </a:rPr>
              <a:t>Traceability, AI Pricing &amp; Buyer Recommendation</a:t>
            </a:r>
            <a:endParaRPr lang="en-US" sz="2200" dirty="0"/>
          </a:p>
        </p:txBody>
      </p:sp>
      <p:sp>
        <p:nvSpPr>
          <p:cNvPr id="5" name="Text 2"/>
          <p:cNvSpPr/>
          <p:nvPr/>
        </p:nvSpPr>
        <p:spPr>
          <a:xfrm>
            <a:off x="631908" y="4023717"/>
            <a:ext cx="6965577" cy="198636"/>
          </a:xfrm>
          <a:prstGeom prst="rect">
            <a:avLst/>
          </a:prstGeom>
          <a:noFill/>
          <a:ln/>
        </p:spPr>
        <p:txBody>
          <a:bodyPr wrap="none" lIns="0" tIns="0" rIns="0" bIns="0" rtlCol="0" anchor="t"/>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IT22221278</a:t>
            </a:r>
            <a:endParaRPr lang="en-US" sz="1400" dirty="0"/>
          </a:p>
        </p:txBody>
      </p:sp>
      <p:grpSp>
        <p:nvGrpSpPr>
          <p:cNvPr id="6" name="Group 5">
            <a:extLst>
              <a:ext uri="{FF2B5EF4-FFF2-40B4-BE49-F238E27FC236}">
                <a16:creationId xmlns:a16="http://schemas.microsoft.com/office/drawing/2014/main" id="{0E306506-C8E2-C141-F2AE-6BD9CF58CA1A}"/>
              </a:ext>
            </a:extLst>
          </p:cNvPr>
          <p:cNvGrpSpPr/>
          <p:nvPr/>
        </p:nvGrpSpPr>
        <p:grpSpPr>
          <a:xfrm>
            <a:off x="10686552" y="6506574"/>
            <a:ext cx="1505131" cy="351434"/>
            <a:chOff x="2623154" y="413097"/>
            <a:chExt cx="2599719" cy="525560"/>
          </a:xfrm>
        </p:grpSpPr>
        <p:sp>
          <p:nvSpPr>
            <p:cNvPr id="7" name="Freeform 6">
              <a:extLst>
                <a:ext uri="{FF2B5EF4-FFF2-40B4-BE49-F238E27FC236}">
                  <a16:creationId xmlns:a16="http://schemas.microsoft.com/office/drawing/2014/main" id="{44E45685-B2EA-500E-7B38-28257523E945}"/>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sz="1200" dirty="0"/>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31908" y="1213445"/>
            <a:ext cx="10927878" cy="950317"/>
          </a:xfrm>
          <a:prstGeom prst="rect">
            <a:avLst/>
          </a:prstGeom>
          <a:noFill/>
          <a:ln/>
        </p:spPr>
        <p:txBody>
          <a:bodyPr wrap="square" lIns="0" tIns="0" rIns="0" bIns="0" rtlCol="0" anchor="t">
            <a:normAutofit lnSpcReduction="10000"/>
          </a:bodyPr>
          <a:lstStyle/>
          <a:p>
            <a:pPr marL="0" indent="0" algn="l">
              <a:lnSpc>
                <a:spcPct val="83000"/>
              </a:lnSpc>
              <a:buNone/>
            </a:pPr>
            <a:r>
              <a:rPr lang="en-US" sz="3700" kern="0" spc="-112" dirty="0">
                <a:solidFill>
                  <a:srgbClr val="383830"/>
                </a:solidFill>
                <a:latin typeface="DM Sans ExtraBold" pitchFamily="34" charset="0"/>
                <a:ea typeface="DM Sans ExtraBold" pitchFamily="34" charset="-122"/>
                <a:cs typeface="DM Sans ExtraBold" pitchFamily="34" charset="-120"/>
              </a:rPr>
              <a:t>Research Component: Pricing &amp; Traceability Intelligence</a:t>
            </a:r>
            <a:endParaRPr lang="en-US" sz="3700" dirty="0"/>
          </a:p>
        </p:txBody>
      </p:sp>
      <p:sp>
        <p:nvSpPr>
          <p:cNvPr id="3" name="Text 1"/>
          <p:cNvSpPr/>
          <p:nvPr/>
        </p:nvSpPr>
        <p:spPr>
          <a:xfrm>
            <a:off x="631908" y="2524820"/>
            <a:ext cx="10927878" cy="397272"/>
          </a:xfrm>
          <a:prstGeom prst="rect">
            <a:avLst/>
          </a:prstGeom>
          <a:noFill/>
          <a:ln/>
        </p:spPr>
        <p:txBody>
          <a:bodyPr wrap="square" lIns="0" tIns="0" rIns="0" bIns="0" rtlCol="0" anchor="t">
            <a:normAutofit/>
          </a:bodyPr>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This component focuses on leveraging AI to determine the economic value of textiles and connect them to the right buyers, while also providing a comprehensive digital history.</a:t>
            </a:r>
            <a:endParaRPr lang="en-US" sz="14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908" y="3125192"/>
            <a:ext cx="3522277" cy="2519363"/>
          </a:xfrm>
          <a:prstGeom prst="rect">
            <a:avLst/>
          </a:prstGeom>
        </p:spPr>
      </p:pic>
      <p:sp>
        <p:nvSpPr>
          <p:cNvPr id="5" name="Text 2"/>
          <p:cNvSpPr/>
          <p:nvPr/>
        </p:nvSpPr>
        <p:spPr>
          <a:xfrm>
            <a:off x="2284703" y="3287713"/>
            <a:ext cx="216589" cy="216595"/>
          </a:xfrm>
          <a:prstGeom prst="rect">
            <a:avLst/>
          </a:prstGeom>
          <a:noFill/>
          <a:ln/>
        </p:spPr>
        <p:txBody>
          <a:bodyPr wrap="none" lIns="0" tIns="0" rIns="0" bIns="0" rtlCol="0" anchor="ctr"/>
          <a:lstStyle/>
          <a:p>
            <a:pPr marL="0" indent="0" algn="ctr">
              <a:lnSpc>
                <a:spcPct val="100000"/>
              </a:lnSpc>
              <a:buNone/>
            </a:pPr>
            <a:r>
              <a:rPr lang="en-US" sz="1700" kern="0" spc="-43" dirty="0">
                <a:solidFill>
                  <a:srgbClr val="FFFFFF"/>
                </a:solidFill>
                <a:latin typeface="DM Sans ExtraBold" pitchFamily="34" charset="0"/>
                <a:ea typeface="DM Sans ExtraBold" pitchFamily="34" charset="-122"/>
                <a:cs typeface="DM Sans ExtraBold" pitchFamily="34" charset="-120"/>
              </a:rPr>
              <a:t>1</a:t>
            </a:r>
            <a:endParaRPr lang="en-US" sz="1700" dirty="0"/>
          </a:p>
        </p:txBody>
      </p:sp>
      <p:sp>
        <p:nvSpPr>
          <p:cNvPr id="6" name="Text 3"/>
          <p:cNvSpPr/>
          <p:nvPr/>
        </p:nvSpPr>
        <p:spPr>
          <a:xfrm>
            <a:off x="837782" y="3847306"/>
            <a:ext cx="3110529" cy="237530"/>
          </a:xfrm>
          <a:prstGeom prst="rect">
            <a:avLst/>
          </a:prstGeom>
          <a:noFill/>
          <a:ln/>
        </p:spPr>
        <p:txBody>
          <a:bodyPr wrap="none" lIns="0" tIns="0" rIns="0" bIns="0" rtlCol="0" anchor="t"/>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Main Question</a:t>
            </a:r>
            <a:endParaRPr lang="en-US" sz="1850" dirty="0"/>
          </a:p>
        </p:txBody>
      </p:sp>
      <p:sp>
        <p:nvSpPr>
          <p:cNvPr id="7" name="Text 4"/>
          <p:cNvSpPr/>
          <p:nvPr/>
        </p:nvSpPr>
        <p:spPr>
          <a:xfrm>
            <a:off x="837782" y="4193084"/>
            <a:ext cx="3110529" cy="397272"/>
          </a:xfrm>
          <a:prstGeom prst="rect">
            <a:avLst/>
          </a:prstGeom>
          <a:noFill/>
          <a:ln/>
        </p:spPr>
        <p:txBody>
          <a:bodyPr wrap="square" lIns="0" tIns="0" rIns="0" bIns="0" rtlCol="0" anchor="t">
            <a:normAutofit/>
          </a:bodyPr>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What is the textile worth and who should buy it?</a:t>
            </a:r>
            <a:endParaRPr lang="en-US" sz="1400" dirty="0"/>
          </a:p>
        </p:txBody>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34660" y="3125192"/>
            <a:ext cx="3522277" cy="2519363"/>
          </a:xfrm>
          <a:prstGeom prst="rect">
            <a:avLst/>
          </a:prstGeom>
        </p:spPr>
      </p:pic>
      <p:sp>
        <p:nvSpPr>
          <p:cNvPr id="9" name="Text 5"/>
          <p:cNvSpPr/>
          <p:nvPr/>
        </p:nvSpPr>
        <p:spPr>
          <a:xfrm>
            <a:off x="5987454" y="3287713"/>
            <a:ext cx="216589" cy="216595"/>
          </a:xfrm>
          <a:prstGeom prst="rect">
            <a:avLst/>
          </a:prstGeom>
          <a:noFill/>
          <a:ln/>
        </p:spPr>
        <p:txBody>
          <a:bodyPr wrap="none" lIns="0" tIns="0" rIns="0" bIns="0" rtlCol="0" anchor="ctr"/>
          <a:lstStyle/>
          <a:p>
            <a:pPr marL="0" indent="0" algn="ctr">
              <a:lnSpc>
                <a:spcPct val="100000"/>
              </a:lnSpc>
              <a:buNone/>
            </a:pPr>
            <a:r>
              <a:rPr lang="en-US" sz="1700" kern="0" spc="-43" dirty="0">
                <a:solidFill>
                  <a:srgbClr val="FFFFFF"/>
                </a:solidFill>
                <a:latin typeface="DM Sans ExtraBold" pitchFamily="34" charset="0"/>
                <a:ea typeface="DM Sans ExtraBold" pitchFamily="34" charset="-122"/>
                <a:cs typeface="DM Sans ExtraBold" pitchFamily="34" charset="-120"/>
              </a:rPr>
              <a:t>2</a:t>
            </a:r>
            <a:endParaRPr lang="en-US" sz="1700" dirty="0"/>
          </a:p>
        </p:txBody>
      </p:sp>
      <p:sp>
        <p:nvSpPr>
          <p:cNvPr id="10" name="Text 6"/>
          <p:cNvSpPr/>
          <p:nvPr/>
        </p:nvSpPr>
        <p:spPr>
          <a:xfrm>
            <a:off x="4540533" y="3847306"/>
            <a:ext cx="3110529" cy="237530"/>
          </a:xfrm>
          <a:prstGeom prst="rect">
            <a:avLst/>
          </a:prstGeom>
          <a:noFill/>
          <a:ln/>
        </p:spPr>
        <p:txBody>
          <a:bodyPr wrap="none" lIns="0" tIns="0" rIns="0" bIns="0" rtlCol="0" anchor="t"/>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Key Outputs</a:t>
            </a:r>
            <a:endParaRPr lang="en-US" sz="1850" dirty="0"/>
          </a:p>
        </p:txBody>
      </p:sp>
      <p:sp>
        <p:nvSpPr>
          <p:cNvPr id="11" name="Text 7"/>
          <p:cNvSpPr/>
          <p:nvPr/>
        </p:nvSpPr>
        <p:spPr>
          <a:xfrm>
            <a:off x="4540533" y="4193084"/>
            <a:ext cx="3110529" cy="1245592"/>
          </a:xfrm>
          <a:prstGeom prst="rect">
            <a:avLst/>
          </a:prstGeom>
          <a:noFill/>
          <a:ln/>
        </p:spPr>
        <p:txBody>
          <a:bodyPr wrap="square" lIns="0" tIns="72219" rIns="0" bIns="0" rtlCol="0" anchor="t">
            <a:normAutofit/>
          </a:bodyPr>
          <a:lstStyle/>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AI price prediction</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Price range</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Buyer recommendation</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Demand-related information</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Listing ranking</a:t>
            </a:r>
            <a:endParaRPr lang="en-US" sz="1400" dirty="0"/>
          </a:p>
        </p:txBody>
      </p:sp>
      <p:pic>
        <p:nvPicPr>
          <p:cNvPr id="1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37411" y="3125192"/>
            <a:ext cx="3522376" cy="2519363"/>
          </a:xfrm>
          <a:prstGeom prst="rect">
            <a:avLst/>
          </a:prstGeom>
        </p:spPr>
      </p:pic>
      <p:sp>
        <p:nvSpPr>
          <p:cNvPr id="13" name="Text 8"/>
          <p:cNvSpPr/>
          <p:nvPr/>
        </p:nvSpPr>
        <p:spPr>
          <a:xfrm>
            <a:off x="9690304" y="3287713"/>
            <a:ext cx="216589" cy="216595"/>
          </a:xfrm>
          <a:prstGeom prst="rect">
            <a:avLst/>
          </a:prstGeom>
          <a:noFill/>
          <a:ln/>
        </p:spPr>
        <p:txBody>
          <a:bodyPr wrap="none" lIns="0" tIns="0" rIns="0" bIns="0" rtlCol="0" anchor="ctr"/>
          <a:lstStyle/>
          <a:p>
            <a:pPr marL="0" indent="0" algn="ctr">
              <a:lnSpc>
                <a:spcPct val="100000"/>
              </a:lnSpc>
              <a:buNone/>
            </a:pPr>
            <a:r>
              <a:rPr lang="en-US" sz="1700" kern="0" spc="-43" dirty="0">
                <a:solidFill>
                  <a:srgbClr val="000000"/>
                </a:solidFill>
                <a:latin typeface="DM Sans ExtraBold" pitchFamily="34" charset="0"/>
                <a:ea typeface="DM Sans ExtraBold" pitchFamily="34" charset="-122"/>
                <a:cs typeface="DM Sans ExtraBold" pitchFamily="34" charset="-120"/>
              </a:rPr>
              <a:t>3</a:t>
            </a:r>
            <a:endParaRPr lang="en-US" sz="1700" dirty="0"/>
          </a:p>
        </p:txBody>
      </p:sp>
      <p:sp>
        <p:nvSpPr>
          <p:cNvPr id="14" name="Text 9"/>
          <p:cNvSpPr/>
          <p:nvPr/>
        </p:nvSpPr>
        <p:spPr>
          <a:xfrm>
            <a:off x="8243284" y="3847306"/>
            <a:ext cx="3110628" cy="237530"/>
          </a:xfrm>
          <a:prstGeom prst="rect">
            <a:avLst/>
          </a:prstGeom>
          <a:noFill/>
          <a:ln/>
        </p:spPr>
        <p:txBody>
          <a:bodyPr wrap="none" lIns="0" tIns="0" rIns="0" bIns="0" rtlCol="0" anchor="t"/>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Enhanced Traceability</a:t>
            </a:r>
            <a:endParaRPr lang="en-US" sz="1850" dirty="0"/>
          </a:p>
        </p:txBody>
      </p:sp>
      <p:sp>
        <p:nvSpPr>
          <p:cNvPr id="15" name="Text 10"/>
          <p:cNvSpPr/>
          <p:nvPr/>
        </p:nvSpPr>
        <p:spPr>
          <a:xfrm>
            <a:off x="8243284" y="4193084"/>
            <a:ext cx="3110628" cy="198636"/>
          </a:xfrm>
          <a:prstGeom prst="rect">
            <a:avLst/>
          </a:prstGeom>
          <a:noFill/>
          <a:ln/>
        </p:spPr>
        <p:txBody>
          <a:bodyPr wrap="none" lIns="0" tIns="72219" rIns="0" bIns="0" rtlCol="0" anchor="t"/>
          <a:lstStyle/>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Digital material history</a:t>
            </a:r>
            <a:endParaRPr lang="en-US" sz="1400" dirty="0"/>
          </a:p>
        </p:txBody>
      </p:sp>
      <p:grpSp>
        <p:nvGrpSpPr>
          <p:cNvPr id="16" name="Group 15">
            <a:extLst>
              <a:ext uri="{FF2B5EF4-FFF2-40B4-BE49-F238E27FC236}">
                <a16:creationId xmlns:a16="http://schemas.microsoft.com/office/drawing/2014/main" id="{A1F29F35-E839-B9CD-00AF-DC998097B6B1}"/>
              </a:ext>
            </a:extLst>
          </p:cNvPr>
          <p:cNvGrpSpPr/>
          <p:nvPr/>
        </p:nvGrpSpPr>
        <p:grpSpPr>
          <a:xfrm>
            <a:off x="10686552" y="6506574"/>
            <a:ext cx="1505131" cy="351434"/>
            <a:chOff x="2623154" y="413097"/>
            <a:chExt cx="2599719" cy="525560"/>
          </a:xfrm>
        </p:grpSpPr>
        <p:sp>
          <p:nvSpPr>
            <p:cNvPr id="17" name="Freeform 16">
              <a:extLst>
                <a:ext uri="{FF2B5EF4-FFF2-40B4-BE49-F238E27FC236}">
                  <a16:creationId xmlns:a16="http://schemas.microsoft.com/office/drawing/2014/main" id="{EE868C9F-6A0F-616E-4C15-B154E59CBE12}"/>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9"/>
              <a:stretch>
                <a:fillRect l="-64" r="-64" b="1"/>
              </a:stretch>
            </a:blipFill>
          </p:spPr>
          <p:txBody>
            <a:bodyPr/>
            <a:lstStyle/>
            <a:p>
              <a:endParaRPr lang="en-US" sz="1200" dirty="0"/>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31908" y="1471513"/>
            <a:ext cx="10927878" cy="950317"/>
          </a:xfrm>
          <a:prstGeom prst="rect">
            <a:avLst/>
          </a:prstGeom>
          <a:noFill/>
          <a:ln/>
        </p:spPr>
        <p:txBody>
          <a:bodyPr wrap="square" lIns="0" tIns="0" rIns="0" bIns="0" rtlCol="0" anchor="t">
            <a:normAutofit lnSpcReduction="10000"/>
          </a:bodyPr>
          <a:lstStyle/>
          <a:p>
            <a:pPr marL="0" indent="0" algn="l">
              <a:lnSpc>
                <a:spcPct val="83000"/>
              </a:lnSpc>
              <a:buNone/>
            </a:pPr>
            <a:r>
              <a:rPr lang="en-US" sz="3700" kern="0" spc="-112" dirty="0">
                <a:solidFill>
                  <a:srgbClr val="383830"/>
                </a:solidFill>
                <a:latin typeface="DM Sans ExtraBold" pitchFamily="34" charset="0"/>
                <a:ea typeface="DM Sans ExtraBold" pitchFamily="34" charset="-122"/>
                <a:cs typeface="DM Sans ExtraBold" pitchFamily="34" charset="-120"/>
              </a:rPr>
              <a:t>The Problem: Textile Waste Commercialization Challenge</a:t>
            </a:r>
            <a:endParaRPr lang="en-US" sz="3700" dirty="0"/>
          </a:p>
        </p:txBody>
      </p:sp>
      <p:sp>
        <p:nvSpPr>
          <p:cNvPr id="3" name="Text 1"/>
          <p:cNvSpPr/>
          <p:nvPr/>
        </p:nvSpPr>
        <p:spPr>
          <a:xfrm>
            <a:off x="631908" y="2782887"/>
            <a:ext cx="10927878" cy="397272"/>
          </a:xfrm>
          <a:prstGeom prst="rect">
            <a:avLst/>
          </a:prstGeom>
          <a:noFill/>
          <a:ln/>
        </p:spPr>
        <p:txBody>
          <a:bodyPr wrap="square" lIns="0" tIns="0" rIns="0" bIns="0" rtlCol="0" anchor="t">
            <a:normAutofit/>
          </a:bodyPr>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The current textile waste market is fragmented and opaque, creating significant hurdles for both those looking to sell textile waste and those seeking to acquire it for circular economy initiatives.</a:t>
            </a:r>
            <a:endParaRPr lang="en-US" sz="14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908" y="3383260"/>
            <a:ext cx="5373652" cy="2003127"/>
          </a:xfrm>
          <a:prstGeom prst="rect">
            <a:avLst/>
          </a:prstGeom>
        </p:spPr>
      </p:pic>
      <p:sp>
        <p:nvSpPr>
          <p:cNvPr id="5" name="Text 2"/>
          <p:cNvSpPr/>
          <p:nvPr/>
        </p:nvSpPr>
        <p:spPr>
          <a:xfrm>
            <a:off x="939380" y="3589139"/>
            <a:ext cx="4860307" cy="237530"/>
          </a:xfrm>
          <a:prstGeom prst="rect">
            <a:avLst/>
          </a:prstGeom>
          <a:noFill/>
          <a:ln/>
        </p:spPr>
        <p:txBody>
          <a:bodyPr wrap="none" lIns="0" tIns="0" rIns="0" bIns="0" rtlCol="0" anchor="t"/>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Sellers Face:</a:t>
            </a:r>
            <a:endParaRPr lang="en-US" sz="1850" dirty="0"/>
          </a:p>
        </p:txBody>
      </p:sp>
      <p:sp>
        <p:nvSpPr>
          <p:cNvPr id="6" name="Text 3"/>
          <p:cNvSpPr/>
          <p:nvPr/>
        </p:nvSpPr>
        <p:spPr>
          <a:xfrm>
            <a:off x="939380" y="3934916"/>
            <a:ext cx="4860307" cy="1245592"/>
          </a:xfrm>
          <a:prstGeom prst="rect">
            <a:avLst/>
          </a:prstGeom>
          <a:noFill/>
          <a:ln/>
        </p:spPr>
        <p:txBody>
          <a:bodyPr wrap="square" lIns="0" tIns="72219" rIns="0" bIns="0" rtlCol="0" anchor="t">
            <a:normAutofit/>
          </a:bodyPr>
          <a:lstStyle/>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Unclear resale value</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Manual price negotiation</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Difficulty identifying suitable buyers</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Lack of comprehensive market information</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Limited visibility into material history and impact</a:t>
            </a:r>
            <a:endParaRPr lang="en-US" sz="140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86035" y="3383260"/>
            <a:ext cx="5373752" cy="2003127"/>
          </a:xfrm>
          <a:prstGeom prst="rect">
            <a:avLst/>
          </a:prstGeom>
        </p:spPr>
      </p:pic>
      <p:sp>
        <p:nvSpPr>
          <p:cNvPr id="8" name="Text 4"/>
          <p:cNvSpPr/>
          <p:nvPr/>
        </p:nvSpPr>
        <p:spPr>
          <a:xfrm>
            <a:off x="6493506" y="3589139"/>
            <a:ext cx="4860407" cy="237530"/>
          </a:xfrm>
          <a:prstGeom prst="rect">
            <a:avLst/>
          </a:prstGeom>
          <a:noFill/>
          <a:ln/>
        </p:spPr>
        <p:txBody>
          <a:bodyPr wrap="none" lIns="0" tIns="0" rIns="0" bIns="0" rtlCol="0" anchor="t"/>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Buyers Face:</a:t>
            </a:r>
            <a:endParaRPr lang="en-US" sz="1850" dirty="0"/>
          </a:p>
        </p:txBody>
      </p:sp>
      <p:sp>
        <p:nvSpPr>
          <p:cNvPr id="9" name="Text 5"/>
          <p:cNvSpPr/>
          <p:nvPr/>
        </p:nvSpPr>
        <p:spPr>
          <a:xfrm>
            <a:off x="6493506" y="3934916"/>
            <a:ext cx="4860407" cy="1245592"/>
          </a:xfrm>
          <a:prstGeom prst="rect">
            <a:avLst/>
          </a:prstGeom>
          <a:noFill/>
          <a:ln/>
        </p:spPr>
        <p:txBody>
          <a:bodyPr wrap="square" lIns="0" tIns="72219" rIns="0" bIns="0" rtlCol="0" anchor="t">
            <a:normAutofit/>
          </a:bodyPr>
          <a:lstStyle/>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Difficult material discovery</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Unclear quality and condition assessment</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Unknown environmental value of materials</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Difficult comparison between diverse textile lots</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Limited seller trust and traceability information</a:t>
            </a:r>
            <a:endParaRPr lang="en-US" sz="1400" dirty="0"/>
          </a:p>
        </p:txBody>
      </p:sp>
      <p:grpSp>
        <p:nvGrpSpPr>
          <p:cNvPr id="10" name="Group 9">
            <a:extLst>
              <a:ext uri="{FF2B5EF4-FFF2-40B4-BE49-F238E27FC236}">
                <a16:creationId xmlns:a16="http://schemas.microsoft.com/office/drawing/2014/main" id="{BB088CBC-C845-29D6-C7AD-0E862E377F94}"/>
              </a:ext>
            </a:extLst>
          </p:cNvPr>
          <p:cNvGrpSpPr/>
          <p:nvPr/>
        </p:nvGrpSpPr>
        <p:grpSpPr>
          <a:xfrm>
            <a:off x="10686552" y="6506574"/>
            <a:ext cx="1505131" cy="351434"/>
            <a:chOff x="2623154" y="413097"/>
            <a:chExt cx="2599719" cy="525560"/>
          </a:xfrm>
        </p:grpSpPr>
        <p:sp>
          <p:nvSpPr>
            <p:cNvPr id="11" name="Freeform 10">
              <a:extLst>
                <a:ext uri="{FF2B5EF4-FFF2-40B4-BE49-F238E27FC236}">
                  <a16:creationId xmlns:a16="http://schemas.microsoft.com/office/drawing/2014/main" id="{A8F7BAF3-E9F2-43B3-E9F5-58D005330736}"/>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7"/>
              <a:stretch>
                <a:fillRect l="-64" r="-64" b="1"/>
              </a:stretch>
            </a:blipFill>
          </p:spPr>
          <p:txBody>
            <a:bodyPr/>
            <a:lstStyle/>
            <a:p>
              <a:endParaRPr lang="en-US" sz="1200" dirty="0"/>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31908" y="641648"/>
            <a:ext cx="10927878" cy="475159"/>
          </a:xfrm>
          <a:prstGeom prst="rect">
            <a:avLst/>
          </a:prstGeom>
          <a:noFill/>
          <a:ln/>
        </p:spPr>
        <p:txBody>
          <a:bodyPr wrap="none" lIns="0" tIns="0" rIns="0" bIns="0" rtlCol="0" anchor="t"/>
          <a:lstStyle/>
          <a:p>
            <a:pPr marL="0" indent="0" algn="l">
              <a:lnSpc>
                <a:spcPct val="83000"/>
              </a:lnSpc>
              <a:buNone/>
            </a:pPr>
            <a:r>
              <a:rPr lang="en-US" sz="3700" kern="0" spc="-112" dirty="0">
                <a:solidFill>
                  <a:srgbClr val="383830"/>
                </a:solidFill>
                <a:latin typeface="DM Sans ExtraBold" pitchFamily="34" charset="0"/>
                <a:ea typeface="DM Sans ExtraBold" pitchFamily="34" charset="-122"/>
                <a:cs typeface="DM Sans ExtraBold" pitchFamily="34" charset="-120"/>
              </a:rPr>
              <a:t>Proposed Solution: AI Commercial Intelligence</a:t>
            </a:r>
            <a:endParaRPr lang="en-US" sz="3700" dirty="0"/>
          </a:p>
        </p:txBody>
      </p:sp>
      <p:sp>
        <p:nvSpPr>
          <p:cNvPr id="3" name="Text 1"/>
          <p:cNvSpPr/>
          <p:nvPr/>
        </p:nvSpPr>
        <p:spPr>
          <a:xfrm>
            <a:off x="631908" y="1477863"/>
            <a:ext cx="10927878" cy="397272"/>
          </a:xfrm>
          <a:prstGeom prst="rect">
            <a:avLst/>
          </a:prstGeom>
          <a:noFill/>
          <a:ln/>
        </p:spPr>
        <p:txBody>
          <a:bodyPr wrap="square" lIns="0" tIns="0" rIns="0" bIns="0" rtlCol="0" anchor="t">
            <a:normAutofit/>
          </a:bodyPr>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Our AI-driven system provides comprehensive commercial intelligence, transforming textile waste into valuable resources by accurately assessing its market worth and connecting it with the most suitable buyers.</a:t>
            </a:r>
            <a:endParaRPr lang="en-US" sz="14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908" y="2078236"/>
            <a:ext cx="2596589" cy="4138017"/>
          </a:xfrm>
          <a:prstGeom prst="rect">
            <a:avLst/>
          </a:prstGeom>
        </p:spPr>
      </p:pic>
      <p:pic>
        <p:nvPicPr>
          <p:cNvPr id="5"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21859" y="2240756"/>
            <a:ext cx="216589" cy="216595"/>
          </a:xfrm>
          <a:prstGeom prst="rect">
            <a:avLst/>
          </a:prstGeom>
        </p:spPr>
      </p:pic>
      <p:sp>
        <p:nvSpPr>
          <p:cNvPr id="6" name="Text 2"/>
          <p:cNvSpPr/>
          <p:nvPr/>
        </p:nvSpPr>
        <p:spPr>
          <a:xfrm>
            <a:off x="837782" y="2800350"/>
            <a:ext cx="2184841" cy="237530"/>
          </a:xfrm>
          <a:prstGeom prst="rect">
            <a:avLst/>
          </a:prstGeom>
          <a:noFill/>
          <a:ln/>
        </p:spPr>
        <p:txBody>
          <a:bodyPr wrap="none" lIns="0" tIns="0" rIns="0" bIns="0" rtlCol="0" anchor="t"/>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Textile Attributes</a:t>
            </a:r>
            <a:endParaRPr lang="en-US" sz="1850" dirty="0"/>
          </a:p>
        </p:txBody>
      </p:sp>
      <p:sp>
        <p:nvSpPr>
          <p:cNvPr id="7" name="Text 3"/>
          <p:cNvSpPr/>
          <p:nvPr/>
        </p:nvSpPr>
        <p:spPr>
          <a:xfrm>
            <a:off x="837782" y="3146127"/>
            <a:ext cx="2184841" cy="397272"/>
          </a:xfrm>
          <a:prstGeom prst="rect">
            <a:avLst/>
          </a:prstGeom>
          <a:noFill/>
          <a:ln/>
        </p:spPr>
        <p:txBody>
          <a:bodyPr wrap="square" lIns="0" tIns="0" rIns="0" bIns="0" rtlCol="0" anchor="t">
            <a:normAutofit/>
          </a:bodyPr>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Condition + Weight + Fabric Type</a:t>
            </a:r>
            <a:endParaRPr lang="en-US" sz="1400" dirty="0"/>
          </a:p>
        </p:txBody>
      </p:sp>
      <p:pic>
        <p:nvPicPr>
          <p:cNvPr id="8"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08972" y="2078236"/>
            <a:ext cx="2596589" cy="4138017"/>
          </a:xfrm>
          <a:prstGeom prst="rect">
            <a:avLst/>
          </a:prstGeom>
        </p:spPr>
      </p:pic>
      <p:pic>
        <p:nvPicPr>
          <p:cNvPr id="9"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98922" y="2240756"/>
            <a:ext cx="216589" cy="216595"/>
          </a:xfrm>
          <a:prstGeom prst="rect">
            <a:avLst/>
          </a:prstGeom>
        </p:spPr>
      </p:pic>
      <p:sp>
        <p:nvSpPr>
          <p:cNvPr id="10" name="Text 4"/>
          <p:cNvSpPr/>
          <p:nvPr/>
        </p:nvSpPr>
        <p:spPr>
          <a:xfrm>
            <a:off x="3614846" y="2800350"/>
            <a:ext cx="2184841" cy="237530"/>
          </a:xfrm>
          <a:prstGeom prst="rect">
            <a:avLst/>
          </a:prstGeom>
          <a:noFill/>
          <a:ln/>
        </p:spPr>
        <p:txBody>
          <a:bodyPr wrap="none" lIns="0" tIns="0" rIns="0" bIns="0" rtlCol="0" anchor="t"/>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Market Information</a:t>
            </a:r>
            <a:endParaRPr lang="en-US" sz="1850" dirty="0"/>
          </a:p>
        </p:txBody>
      </p:sp>
      <p:sp>
        <p:nvSpPr>
          <p:cNvPr id="11" name="Text 5"/>
          <p:cNvSpPr/>
          <p:nvPr/>
        </p:nvSpPr>
        <p:spPr>
          <a:xfrm>
            <a:off x="3614846" y="3146127"/>
            <a:ext cx="2184841" cy="397272"/>
          </a:xfrm>
          <a:prstGeom prst="rect">
            <a:avLst/>
          </a:prstGeom>
          <a:noFill/>
          <a:ln/>
        </p:spPr>
        <p:txBody>
          <a:bodyPr wrap="square" lIns="0" tIns="0" rIns="0" bIns="0" rtlCol="0" anchor="t">
            <a:normAutofit/>
          </a:bodyPr>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Real-time supply &amp; demand, historical pricing</a:t>
            </a:r>
            <a:endParaRPr lang="en-US" sz="1400" dirty="0"/>
          </a:p>
        </p:txBody>
      </p:sp>
      <p:pic>
        <p:nvPicPr>
          <p:cNvPr id="12"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186035" y="2078236"/>
            <a:ext cx="2596589" cy="4138017"/>
          </a:xfrm>
          <a:prstGeom prst="rect">
            <a:avLst/>
          </a:prstGeom>
        </p:spPr>
      </p:pic>
      <p:pic>
        <p:nvPicPr>
          <p:cNvPr id="13"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375985" y="2240756"/>
            <a:ext cx="216589" cy="216595"/>
          </a:xfrm>
          <a:prstGeom prst="rect">
            <a:avLst/>
          </a:prstGeom>
        </p:spPr>
      </p:pic>
      <p:sp>
        <p:nvSpPr>
          <p:cNvPr id="14" name="Text 6"/>
          <p:cNvSpPr/>
          <p:nvPr/>
        </p:nvSpPr>
        <p:spPr>
          <a:xfrm>
            <a:off x="6391909" y="2800350"/>
            <a:ext cx="2184841" cy="237530"/>
          </a:xfrm>
          <a:prstGeom prst="rect">
            <a:avLst/>
          </a:prstGeom>
          <a:noFill/>
          <a:ln/>
        </p:spPr>
        <p:txBody>
          <a:bodyPr wrap="none" lIns="0" tIns="0" rIns="0" bIns="0" rtlCol="0" anchor="t"/>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AI Price Prediction</a:t>
            </a:r>
            <a:endParaRPr lang="en-US" sz="1850" dirty="0"/>
          </a:p>
        </p:txBody>
      </p:sp>
      <p:sp>
        <p:nvSpPr>
          <p:cNvPr id="15" name="Text 7"/>
          <p:cNvSpPr/>
          <p:nvPr/>
        </p:nvSpPr>
        <p:spPr>
          <a:xfrm>
            <a:off x="6391909" y="3146127"/>
            <a:ext cx="2184841" cy="722114"/>
          </a:xfrm>
          <a:prstGeom prst="rect">
            <a:avLst/>
          </a:prstGeom>
          <a:noFill/>
          <a:ln/>
        </p:spPr>
        <p:txBody>
          <a:bodyPr wrap="square" lIns="0" tIns="72219" rIns="0" bIns="0" rtlCol="0" anchor="t">
            <a:normAutofit/>
          </a:bodyPr>
          <a:lstStyle/>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Recommended Price</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Price Range</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Confidence Score</a:t>
            </a:r>
            <a:endParaRPr lang="en-US" sz="1400" dirty="0"/>
          </a:p>
        </p:txBody>
      </p:sp>
      <p:pic>
        <p:nvPicPr>
          <p:cNvPr id="16" name="Image 6"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963098" y="2078236"/>
            <a:ext cx="2596688" cy="4138017"/>
          </a:xfrm>
          <a:prstGeom prst="rect">
            <a:avLst/>
          </a:prstGeom>
        </p:spPr>
      </p:pic>
      <p:pic>
        <p:nvPicPr>
          <p:cNvPr id="17" name="Image 7" descr="preencoded.png"/>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0153148" y="2240756"/>
            <a:ext cx="216589" cy="216595"/>
          </a:xfrm>
          <a:prstGeom prst="rect">
            <a:avLst/>
          </a:prstGeom>
        </p:spPr>
      </p:pic>
      <p:sp>
        <p:nvSpPr>
          <p:cNvPr id="18" name="Text 8"/>
          <p:cNvSpPr/>
          <p:nvPr/>
        </p:nvSpPr>
        <p:spPr>
          <a:xfrm>
            <a:off x="9168972" y="2800350"/>
            <a:ext cx="2184941" cy="475059"/>
          </a:xfrm>
          <a:prstGeom prst="rect">
            <a:avLst/>
          </a:prstGeom>
          <a:noFill/>
          <a:ln/>
        </p:spPr>
        <p:txBody>
          <a:bodyPr wrap="square" lIns="0" tIns="0" rIns="0" bIns="0" rtlCol="0" anchor="t">
            <a:normAutofit lnSpcReduction="10000"/>
          </a:bodyPr>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Buyer Recommendation</a:t>
            </a:r>
            <a:endParaRPr lang="en-US" sz="1850" dirty="0"/>
          </a:p>
        </p:txBody>
      </p:sp>
      <p:sp>
        <p:nvSpPr>
          <p:cNvPr id="19" name="Text 9"/>
          <p:cNvSpPr/>
          <p:nvPr/>
        </p:nvSpPr>
        <p:spPr>
          <a:xfrm>
            <a:off x="9168972" y="3383657"/>
            <a:ext cx="2184941" cy="2626717"/>
          </a:xfrm>
          <a:prstGeom prst="rect">
            <a:avLst/>
          </a:prstGeom>
          <a:noFill/>
          <a:ln/>
        </p:spPr>
        <p:txBody>
          <a:bodyPr wrap="square" lIns="0" tIns="72219" rIns="0" bIns="0" rtlCol="0" anchor="t">
            <a:normAutofit/>
          </a:bodyPr>
          <a:lstStyle/>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Recycler</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Furniture Manufacturer</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Garment Manufacturer</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Fashion Designer</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Insulation Producer</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Cleaning Cloth Producer</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Exporter</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Toy Manufacturer</a:t>
            </a:r>
            <a:endParaRPr lang="en-US" sz="1400" dirty="0"/>
          </a:p>
        </p:txBody>
      </p:sp>
      <p:grpSp>
        <p:nvGrpSpPr>
          <p:cNvPr id="20" name="Group 19">
            <a:extLst>
              <a:ext uri="{FF2B5EF4-FFF2-40B4-BE49-F238E27FC236}">
                <a16:creationId xmlns:a16="http://schemas.microsoft.com/office/drawing/2014/main" id="{BFF3703B-4307-89EA-E95A-74B7C42D0EE0}"/>
              </a:ext>
            </a:extLst>
          </p:cNvPr>
          <p:cNvGrpSpPr/>
          <p:nvPr/>
        </p:nvGrpSpPr>
        <p:grpSpPr>
          <a:xfrm>
            <a:off x="10686552" y="6506574"/>
            <a:ext cx="1505131" cy="351434"/>
            <a:chOff x="2623154" y="413097"/>
            <a:chExt cx="2599719" cy="525560"/>
          </a:xfrm>
        </p:grpSpPr>
        <p:sp>
          <p:nvSpPr>
            <p:cNvPr id="21" name="Freeform 20">
              <a:extLst>
                <a:ext uri="{FF2B5EF4-FFF2-40B4-BE49-F238E27FC236}">
                  <a16:creationId xmlns:a16="http://schemas.microsoft.com/office/drawing/2014/main" id="{63AB95F3-470D-2938-5A58-9C5CB9474D6B}"/>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19"/>
              <a:stretch>
                <a:fillRect l="-64" r="-64" b="1"/>
              </a:stretch>
            </a:blipFill>
          </p:spPr>
          <p:txBody>
            <a:bodyPr/>
            <a:lstStyle/>
            <a:p>
              <a:endParaRPr lang="en-US" sz="1200" dirty="0"/>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631908" y="792659"/>
            <a:ext cx="10927878" cy="403820"/>
          </a:xfrm>
          <a:prstGeom prst="rect">
            <a:avLst/>
          </a:prstGeom>
          <a:noFill/>
          <a:ln/>
        </p:spPr>
        <p:txBody>
          <a:bodyPr wrap="none" lIns="0" tIns="0" rIns="0" bIns="0" rtlCol="0" anchor="t"/>
          <a:lstStyle/>
          <a:p>
            <a:pPr marL="0" indent="0" algn="l">
              <a:lnSpc>
                <a:spcPct val="83000"/>
              </a:lnSpc>
              <a:buNone/>
            </a:pPr>
            <a:r>
              <a:rPr lang="en-US" sz="3150" kern="0" spc="-95" dirty="0">
                <a:solidFill>
                  <a:srgbClr val="383830"/>
                </a:solidFill>
                <a:latin typeface="DM Sans ExtraBold" pitchFamily="34" charset="0"/>
                <a:ea typeface="DM Sans ExtraBold" pitchFamily="34" charset="-122"/>
                <a:cs typeface="DM Sans ExtraBold" pitchFamily="34" charset="-120"/>
              </a:rPr>
              <a:t>Research Comparison &amp; The Gap</a:t>
            </a:r>
            <a:endParaRPr lang="en-US" sz="3150" dirty="0"/>
          </a:p>
        </p:txBody>
      </p:sp>
      <p:sp>
        <p:nvSpPr>
          <p:cNvPr id="3" name="Text 1"/>
          <p:cNvSpPr/>
          <p:nvPr/>
        </p:nvSpPr>
        <p:spPr>
          <a:xfrm>
            <a:off x="631908" y="1457325"/>
            <a:ext cx="11537463" cy="156170"/>
          </a:xfrm>
          <a:prstGeom prst="rect">
            <a:avLst/>
          </a:prstGeom>
          <a:noFill/>
          <a:ln/>
        </p:spPr>
        <p:txBody>
          <a:bodyPr wrap="none" lIns="0" tIns="0" rIns="0" bIns="0" rtlCol="0" anchor="t"/>
          <a:lstStyle/>
          <a:p>
            <a:pPr marL="0" indent="0" algn="l">
              <a:lnSpc>
                <a:spcPct val="85000"/>
              </a:lnSpc>
              <a:buNone/>
            </a:pPr>
            <a:r>
              <a:rPr lang="en-US" sz="1200" dirty="0">
                <a:solidFill>
                  <a:srgbClr val="23231E"/>
                </a:solidFill>
                <a:latin typeface="Inter Light" pitchFamily="34" charset="0"/>
                <a:ea typeface="Inter Light" pitchFamily="34" charset="-122"/>
                <a:cs typeface="Inter Light" pitchFamily="34" charset="-120"/>
              </a:rPr>
              <a:t>Our solution synthesizes and expands upon existing research, integrating critical components often found in isolation within the current landscape.</a:t>
            </a:r>
            <a:endParaRPr lang="en-US" sz="12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908" y="1760240"/>
            <a:ext cx="3555713" cy="2154436"/>
          </a:xfrm>
          <a:prstGeom prst="rect">
            <a:avLst/>
          </a:prstGeom>
        </p:spPr>
      </p:pic>
      <p:sp>
        <p:nvSpPr>
          <p:cNvPr id="5" name="Text 2"/>
          <p:cNvSpPr/>
          <p:nvPr/>
        </p:nvSpPr>
        <p:spPr>
          <a:xfrm>
            <a:off x="880544" y="1932682"/>
            <a:ext cx="3134639" cy="201910"/>
          </a:xfrm>
          <a:prstGeom prst="rect">
            <a:avLst/>
          </a:prstGeom>
          <a:noFill/>
          <a:ln/>
        </p:spPr>
        <p:txBody>
          <a:bodyPr wrap="none" lIns="0" tIns="0" rIns="0" bIns="0" rtlCol="0" anchor="t"/>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Research A: AI Pricing</a:t>
            </a:r>
            <a:endParaRPr lang="en-US" sz="1550" dirty="0"/>
          </a:p>
        </p:txBody>
      </p:sp>
      <p:sp>
        <p:nvSpPr>
          <p:cNvPr id="6" name="Text 3"/>
          <p:cNvSpPr/>
          <p:nvPr/>
        </p:nvSpPr>
        <p:spPr>
          <a:xfrm>
            <a:off x="880544" y="2212777"/>
            <a:ext cx="3134639" cy="468511"/>
          </a:xfrm>
          <a:prstGeom prst="rect">
            <a:avLst/>
          </a:prstGeom>
          <a:noFill/>
          <a:ln/>
        </p:spPr>
        <p:txBody>
          <a:bodyPr wrap="square" lIns="0" tIns="0" rIns="0" bIns="0" rtlCol="0" anchor="t">
            <a:normAutofit/>
          </a:bodyPr>
          <a:lstStyle/>
          <a:p>
            <a:pPr marL="0" indent="0" algn="l">
              <a:lnSpc>
                <a:spcPct val="85000"/>
              </a:lnSpc>
              <a:buNone/>
            </a:pPr>
            <a:r>
              <a:rPr lang="en-US" sz="1200" dirty="0">
                <a:solidFill>
                  <a:srgbClr val="23231E"/>
                </a:solidFill>
                <a:latin typeface="Inter Light" pitchFamily="34" charset="0"/>
                <a:ea typeface="Inter Light" pitchFamily="34" charset="-122"/>
                <a:cs typeface="Inter Light" pitchFamily="34" charset="-120"/>
              </a:rPr>
              <a:t>Leverages machine-learning models to estimate product or material prices based on various market factors.</a:t>
            </a:r>
            <a:endParaRPr lang="en-US" sz="1200" dirty="0"/>
          </a:p>
        </p:txBody>
      </p:sp>
      <p:sp>
        <p:nvSpPr>
          <p:cNvPr id="7" name="Text 4"/>
          <p:cNvSpPr/>
          <p:nvPr/>
        </p:nvSpPr>
        <p:spPr>
          <a:xfrm>
            <a:off x="880544" y="2759472"/>
            <a:ext cx="3134639" cy="624681"/>
          </a:xfrm>
          <a:prstGeom prst="rect">
            <a:avLst/>
          </a:prstGeom>
          <a:noFill/>
          <a:ln/>
        </p:spPr>
        <p:txBody>
          <a:bodyPr wrap="square" lIns="0" tIns="61386" rIns="0" bIns="0" rtlCol="0" anchor="t">
            <a:normAutofit lnSpcReduction="10000"/>
          </a:bodyPr>
          <a:lstStyle/>
          <a:p>
            <a:pPr marL="243840" indent="-243840" algn="l">
              <a:lnSpc>
                <a:spcPct val="85000"/>
              </a:lnSpc>
              <a:buSzPct val="100000"/>
              <a:buChar char="•"/>
            </a:pPr>
            <a:r>
              <a:rPr lang="en-US" sz="1200" dirty="0">
                <a:solidFill>
                  <a:srgbClr val="FF0000"/>
                </a:solidFill>
                <a:latin typeface="Inter Light" pitchFamily="34" charset="0"/>
                <a:ea typeface="Inter Light" pitchFamily="34" charset="-122"/>
                <a:cs typeface="Inter Light" pitchFamily="34" charset="-120"/>
              </a:rPr>
              <a:t>Limitation:</a:t>
            </a:r>
            <a:r>
              <a:rPr lang="en-US" sz="1200" dirty="0">
                <a:solidFill>
                  <a:srgbClr val="23231E"/>
                </a:solidFill>
                <a:latin typeface="Inter Light" pitchFamily="34" charset="0"/>
                <a:ea typeface="Inter Light" pitchFamily="34" charset="-122"/>
                <a:cs typeface="Inter Light" pitchFamily="34" charset="-120"/>
              </a:rPr>
              <a:t> Often lacks integration of textile-specific sustainability metrics and detailed buyer segmentation for waste materials.</a:t>
            </a:r>
            <a:endParaRPr lang="en-US" sz="1200" dirty="0"/>
          </a:p>
        </p:txBody>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17991" y="1760240"/>
            <a:ext cx="3555713" cy="2154436"/>
          </a:xfrm>
          <a:prstGeom prst="rect">
            <a:avLst/>
          </a:prstGeom>
        </p:spPr>
      </p:pic>
      <p:sp>
        <p:nvSpPr>
          <p:cNvPr id="9" name="Text 5"/>
          <p:cNvSpPr/>
          <p:nvPr/>
        </p:nvSpPr>
        <p:spPr>
          <a:xfrm>
            <a:off x="4566627" y="1932682"/>
            <a:ext cx="3134639" cy="403820"/>
          </a:xfrm>
          <a:prstGeom prst="rect">
            <a:avLst/>
          </a:prstGeom>
          <a:noFill/>
          <a:ln/>
        </p:spPr>
        <p:txBody>
          <a:bodyPr wrap="square" lIns="0" tIns="0" rIns="0" bIns="0" rtlCol="0" anchor="t">
            <a:normAutofit/>
          </a:bodyPr>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Research B: Recommendation Systems</a:t>
            </a:r>
            <a:endParaRPr lang="en-US" sz="1550" dirty="0"/>
          </a:p>
        </p:txBody>
      </p:sp>
      <p:sp>
        <p:nvSpPr>
          <p:cNvPr id="10" name="Text 6"/>
          <p:cNvSpPr/>
          <p:nvPr/>
        </p:nvSpPr>
        <p:spPr>
          <a:xfrm>
            <a:off x="4566627" y="2414687"/>
            <a:ext cx="3134639" cy="468511"/>
          </a:xfrm>
          <a:prstGeom prst="rect">
            <a:avLst/>
          </a:prstGeom>
          <a:noFill/>
          <a:ln/>
        </p:spPr>
        <p:txBody>
          <a:bodyPr wrap="square" lIns="0" tIns="0" rIns="0" bIns="0" rtlCol="0" anchor="t">
            <a:normAutofit/>
          </a:bodyPr>
          <a:lstStyle/>
          <a:p>
            <a:pPr marL="0" indent="0" algn="l">
              <a:lnSpc>
                <a:spcPct val="85000"/>
              </a:lnSpc>
              <a:buNone/>
            </a:pPr>
            <a:r>
              <a:rPr lang="en-US" sz="1200" dirty="0">
                <a:solidFill>
                  <a:srgbClr val="23231E"/>
                </a:solidFill>
                <a:latin typeface="Inter Light" pitchFamily="34" charset="0"/>
                <a:ea typeface="Inter Light" pitchFamily="34" charset="-122"/>
                <a:cs typeface="Inter Light" pitchFamily="34" charset="-120"/>
              </a:rPr>
              <a:t>Focuses on suggesting products or partners based on attributes, historical behavior, or user preferences.</a:t>
            </a:r>
            <a:endParaRPr lang="en-US" sz="1200" dirty="0"/>
          </a:p>
        </p:txBody>
      </p:sp>
      <p:sp>
        <p:nvSpPr>
          <p:cNvPr id="11" name="Text 7"/>
          <p:cNvSpPr/>
          <p:nvPr/>
        </p:nvSpPr>
        <p:spPr>
          <a:xfrm>
            <a:off x="4566627" y="2961382"/>
            <a:ext cx="3134639" cy="624681"/>
          </a:xfrm>
          <a:prstGeom prst="rect">
            <a:avLst/>
          </a:prstGeom>
          <a:noFill/>
          <a:ln/>
        </p:spPr>
        <p:txBody>
          <a:bodyPr wrap="square" lIns="0" tIns="61386" rIns="0" bIns="0" rtlCol="0" anchor="t">
            <a:normAutofit lnSpcReduction="10000"/>
          </a:bodyPr>
          <a:lstStyle/>
          <a:p>
            <a:pPr marL="243840" indent="-243840" algn="l">
              <a:lnSpc>
                <a:spcPct val="85000"/>
              </a:lnSpc>
              <a:buSzPct val="100000"/>
              <a:buChar char="•"/>
            </a:pPr>
            <a:r>
              <a:rPr lang="en-US" sz="1200" dirty="0">
                <a:solidFill>
                  <a:srgbClr val="FF0000"/>
                </a:solidFill>
                <a:latin typeface="Inter Light" pitchFamily="34" charset="0"/>
                <a:ea typeface="Inter Light" pitchFamily="34" charset="-122"/>
                <a:cs typeface="Inter Light" pitchFamily="34" charset="-120"/>
              </a:rPr>
              <a:t>Limitation:</a:t>
            </a:r>
            <a:r>
              <a:rPr lang="en-US" sz="1200" dirty="0">
                <a:solidFill>
                  <a:srgbClr val="23231E"/>
                </a:solidFill>
                <a:latin typeface="Inter Light" pitchFamily="34" charset="0"/>
                <a:ea typeface="Inter Light" pitchFamily="34" charset="-122"/>
                <a:cs typeface="Inter Light" pitchFamily="34" charset="-120"/>
              </a:rPr>
              <a:t> Traditional systems rarely incorporate nuanced textile condition, environmental impact, or dynamic marketplace demand for waste streams.</a:t>
            </a:r>
            <a:endParaRPr lang="en-US" sz="1200" dirty="0"/>
          </a:p>
        </p:txBody>
      </p:sp>
      <p:pic>
        <p:nvPicPr>
          <p:cNvPr id="1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04074" y="1760240"/>
            <a:ext cx="3555713" cy="2154436"/>
          </a:xfrm>
          <a:prstGeom prst="rect">
            <a:avLst/>
          </a:prstGeom>
        </p:spPr>
      </p:pic>
      <p:sp>
        <p:nvSpPr>
          <p:cNvPr id="13" name="Text 8"/>
          <p:cNvSpPr/>
          <p:nvPr/>
        </p:nvSpPr>
        <p:spPr>
          <a:xfrm>
            <a:off x="8252710" y="1932682"/>
            <a:ext cx="3134639" cy="403820"/>
          </a:xfrm>
          <a:prstGeom prst="rect">
            <a:avLst/>
          </a:prstGeom>
          <a:noFill/>
          <a:ln/>
        </p:spPr>
        <p:txBody>
          <a:bodyPr wrap="square" lIns="0" tIns="0" rIns="0" bIns="0" rtlCol="0" anchor="t">
            <a:normAutofit/>
          </a:bodyPr>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Research C: Traceability Platforms</a:t>
            </a:r>
            <a:endParaRPr lang="en-US" sz="1550" dirty="0"/>
          </a:p>
        </p:txBody>
      </p:sp>
      <p:sp>
        <p:nvSpPr>
          <p:cNvPr id="14" name="Text 9"/>
          <p:cNvSpPr/>
          <p:nvPr/>
        </p:nvSpPr>
        <p:spPr>
          <a:xfrm>
            <a:off x="8252710" y="2414687"/>
            <a:ext cx="3134639" cy="468511"/>
          </a:xfrm>
          <a:prstGeom prst="rect">
            <a:avLst/>
          </a:prstGeom>
          <a:noFill/>
          <a:ln/>
        </p:spPr>
        <p:txBody>
          <a:bodyPr wrap="square" lIns="0" tIns="0" rIns="0" bIns="0" rtlCol="0" anchor="t">
            <a:normAutofit/>
          </a:bodyPr>
          <a:lstStyle/>
          <a:p>
            <a:pPr marL="0" indent="0" algn="l">
              <a:lnSpc>
                <a:spcPct val="85000"/>
              </a:lnSpc>
              <a:buNone/>
            </a:pPr>
            <a:r>
              <a:rPr lang="en-US" sz="1200" dirty="0">
                <a:solidFill>
                  <a:srgbClr val="23231E"/>
                </a:solidFill>
                <a:latin typeface="Inter Light" pitchFamily="34" charset="0"/>
                <a:ea typeface="Inter Light" pitchFamily="34" charset="-122"/>
                <a:cs typeface="Inter Light" pitchFamily="34" charset="-120"/>
              </a:rPr>
              <a:t>Provides mechanisms to track material movement, origin, and lifecycle stages throughout the supply chain.</a:t>
            </a:r>
            <a:endParaRPr lang="en-US" sz="1200" dirty="0"/>
          </a:p>
        </p:txBody>
      </p:sp>
      <p:sp>
        <p:nvSpPr>
          <p:cNvPr id="15" name="Text 10"/>
          <p:cNvSpPr/>
          <p:nvPr/>
        </p:nvSpPr>
        <p:spPr>
          <a:xfrm>
            <a:off x="8252710" y="2961382"/>
            <a:ext cx="3134639" cy="780852"/>
          </a:xfrm>
          <a:prstGeom prst="rect">
            <a:avLst/>
          </a:prstGeom>
          <a:noFill/>
          <a:ln/>
        </p:spPr>
        <p:txBody>
          <a:bodyPr wrap="square" lIns="0" tIns="61386" rIns="0" bIns="0" rtlCol="0" anchor="t">
            <a:normAutofit lnSpcReduction="10000"/>
          </a:bodyPr>
          <a:lstStyle/>
          <a:p>
            <a:pPr marL="243840" indent="-243840" algn="l">
              <a:lnSpc>
                <a:spcPct val="85000"/>
              </a:lnSpc>
              <a:buSzPct val="100000"/>
              <a:buChar char="•"/>
            </a:pPr>
            <a:r>
              <a:rPr lang="en-US" sz="1200" dirty="0">
                <a:solidFill>
                  <a:srgbClr val="FF0000"/>
                </a:solidFill>
                <a:latin typeface="Inter Light" pitchFamily="34" charset="0"/>
                <a:ea typeface="Inter Light" pitchFamily="34" charset="-122"/>
                <a:cs typeface="Inter Light" pitchFamily="34" charset="-120"/>
              </a:rPr>
              <a:t>Limitation:</a:t>
            </a:r>
            <a:r>
              <a:rPr lang="en-US" sz="1200" dirty="0">
                <a:solidFill>
                  <a:srgbClr val="23231E"/>
                </a:solidFill>
                <a:latin typeface="Inter Light" pitchFamily="34" charset="0"/>
                <a:ea typeface="Inter Light" pitchFamily="34" charset="-122"/>
                <a:cs typeface="Inter Light" pitchFamily="34" charset="-120"/>
              </a:rPr>
              <a:t> Typically operates as a standalone function, disconnected from real-time AI pricing models and intelligent buyer recommendation engines.</a:t>
            </a:r>
            <a:endParaRPr lang="en-US" sz="1200" dirty="0"/>
          </a:p>
        </p:txBody>
      </p:sp>
      <p:sp>
        <p:nvSpPr>
          <p:cNvPr id="16" name="Text 11"/>
          <p:cNvSpPr/>
          <p:nvPr/>
        </p:nvSpPr>
        <p:spPr>
          <a:xfrm>
            <a:off x="631908" y="4110335"/>
            <a:ext cx="10927878" cy="323056"/>
          </a:xfrm>
          <a:prstGeom prst="rect">
            <a:avLst/>
          </a:prstGeom>
          <a:noFill/>
          <a:ln/>
        </p:spPr>
        <p:txBody>
          <a:bodyPr wrap="none" lIns="0" tIns="0" rIns="0" bIns="0" rtlCol="0" anchor="t"/>
          <a:lstStyle/>
          <a:p>
            <a:pPr marL="0" indent="0" algn="l">
              <a:lnSpc>
                <a:spcPct val="83000"/>
              </a:lnSpc>
              <a:buNone/>
            </a:pPr>
            <a:r>
              <a:rPr lang="en-US" sz="2500" kern="0" spc="-76" dirty="0">
                <a:solidFill>
                  <a:srgbClr val="383830"/>
                </a:solidFill>
                <a:latin typeface="DM Sans ExtraBold" pitchFamily="34" charset="0"/>
                <a:ea typeface="DM Sans ExtraBold" pitchFamily="34" charset="-122"/>
                <a:cs typeface="DM Sans ExtraBold" pitchFamily="34" charset="-120"/>
              </a:rPr>
              <a:t>Our Proposed System: Bridging the Gap</a:t>
            </a:r>
            <a:endParaRPr lang="en-US" sz="2500" dirty="0"/>
          </a:p>
        </p:txBody>
      </p:sp>
      <p:sp>
        <p:nvSpPr>
          <p:cNvPr id="17" name="Text 12"/>
          <p:cNvSpPr/>
          <p:nvPr/>
        </p:nvSpPr>
        <p:spPr>
          <a:xfrm>
            <a:off x="631908" y="4629051"/>
            <a:ext cx="11537463" cy="156170"/>
          </a:xfrm>
          <a:prstGeom prst="rect">
            <a:avLst/>
          </a:prstGeom>
          <a:noFill/>
          <a:ln/>
        </p:spPr>
        <p:txBody>
          <a:bodyPr wrap="none" lIns="0" tIns="0" rIns="0" bIns="0" rtlCol="0" anchor="t"/>
          <a:lstStyle/>
          <a:p>
            <a:pPr marL="0" indent="0" algn="l">
              <a:lnSpc>
                <a:spcPct val="85000"/>
              </a:lnSpc>
              <a:buNone/>
            </a:pPr>
            <a:r>
              <a:rPr lang="en-US" sz="1200" dirty="0">
                <a:solidFill>
                  <a:srgbClr val="23231E"/>
                </a:solidFill>
                <a:latin typeface="Inter Light" pitchFamily="34" charset="0"/>
                <a:ea typeface="Inter Light" pitchFamily="34" charset="-122"/>
                <a:cs typeface="Inter Light" pitchFamily="34" charset="-120"/>
              </a:rPr>
              <a:t>TexCycle AI integrates these disparate functions into a cohesive platform, offering a holistic solution.</a:t>
            </a:r>
            <a:endParaRPr lang="en-US" sz="1200" dirty="0"/>
          </a:p>
        </p:txBody>
      </p:sp>
      <p:pic>
        <p:nvPicPr>
          <p:cNvPr id="18"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1908" y="4931966"/>
            <a:ext cx="383570" cy="383580"/>
          </a:xfrm>
          <a:prstGeom prst="rect">
            <a:avLst/>
          </a:prstGeom>
        </p:spPr>
      </p:pic>
      <p:sp>
        <p:nvSpPr>
          <p:cNvPr id="19" name="Text 13"/>
          <p:cNvSpPr/>
          <p:nvPr/>
        </p:nvSpPr>
        <p:spPr>
          <a:xfrm>
            <a:off x="1178491" y="4931966"/>
            <a:ext cx="4835801" cy="201910"/>
          </a:xfrm>
          <a:prstGeom prst="rect">
            <a:avLst/>
          </a:prstGeom>
          <a:noFill/>
          <a:ln/>
        </p:spPr>
        <p:txBody>
          <a:bodyPr wrap="none" lIns="0" tIns="0" rIns="0" bIns="0" rtlCol="0" anchor="t"/>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AI Pricing</a:t>
            </a:r>
            <a:endParaRPr lang="en-US" sz="1550" dirty="0"/>
          </a:p>
        </p:txBody>
      </p:sp>
      <p:sp>
        <p:nvSpPr>
          <p:cNvPr id="20" name="Text 14"/>
          <p:cNvSpPr/>
          <p:nvPr/>
        </p:nvSpPr>
        <p:spPr>
          <a:xfrm>
            <a:off x="1178491" y="5212060"/>
            <a:ext cx="4835801" cy="156170"/>
          </a:xfrm>
          <a:prstGeom prst="rect">
            <a:avLst/>
          </a:prstGeom>
          <a:noFill/>
          <a:ln/>
        </p:spPr>
        <p:txBody>
          <a:bodyPr wrap="none" lIns="0" tIns="0" rIns="0" bIns="0" rtlCol="0" anchor="t"/>
          <a:lstStyle/>
          <a:p>
            <a:pPr marL="0" indent="0" algn="l">
              <a:lnSpc>
                <a:spcPct val="85000"/>
              </a:lnSpc>
              <a:buNone/>
            </a:pPr>
            <a:r>
              <a:rPr lang="en-US" sz="1200" dirty="0">
                <a:solidFill>
                  <a:srgbClr val="23231E"/>
                </a:solidFill>
                <a:latin typeface="Inter Light" pitchFamily="34" charset="0"/>
                <a:ea typeface="Inter Light" pitchFamily="34" charset="-122"/>
                <a:cs typeface="Inter Light" pitchFamily="34" charset="-120"/>
              </a:rPr>
              <a:t>Accurate, dynamic valuation of textile waste.</a:t>
            </a:r>
            <a:endParaRPr lang="en-US" sz="1200" dirty="0"/>
          </a:p>
        </p:txBody>
      </p:sp>
      <p:pic>
        <p:nvPicPr>
          <p:cNvPr id="21"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177304" y="4931966"/>
            <a:ext cx="383570" cy="383580"/>
          </a:xfrm>
          <a:prstGeom prst="rect">
            <a:avLst/>
          </a:prstGeom>
        </p:spPr>
      </p:pic>
      <p:sp>
        <p:nvSpPr>
          <p:cNvPr id="22" name="Text 15"/>
          <p:cNvSpPr/>
          <p:nvPr/>
        </p:nvSpPr>
        <p:spPr>
          <a:xfrm>
            <a:off x="6723886" y="4931966"/>
            <a:ext cx="4835900" cy="201910"/>
          </a:xfrm>
          <a:prstGeom prst="rect">
            <a:avLst/>
          </a:prstGeom>
          <a:noFill/>
          <a:ln/>
        </p:spPr>
        <p:txBody>
          <a:bodyPr wrap="none" lIns="0" tIns="0" rIns="0" bIns="0" rtlCol="0" anchor="t"/>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Buyer Recommendation</a:t>
            </a:r>
            <a:endParaRPr lang="en-US" sz="1550" dirty="0"/>
          </a:p>
        </p:txBody>
      </p:sp>
      <p:sp>
        <p:nvSpPr>
          <p:cNvPr id="23" name="Text 16"/>
          <p:cNvSpPr/>
          <p:nvPr/>
        </p:nvSpPr>
        <p:spPr>
          <a:xfrm>
            <a:off x="6723886" y="5212060"/>
            <a:ext cx="4835900" cy="156170"/>
          </a:xfrm>
          <a:prstGeom prst="rect">
            <a:avLst/>
          </a:prstGeom>
          <a:noFill/>
          <a:ln/>
        </p:spPr>
        <p:txBody>
          <a:bodyPr wrap="none" lIns="0" tIns="0" rIns="0" bIns="0" rtlCol="0" anchor="t"/>
          <a:lstStyle/>
          <a:p>
            <a:pPr marL="0" indent="0" algn="l">
              <a:lnSpc>
                <a:spcPct val="85000"/>
              </a:lnSpc>
              <a:buNone/>
            </a:pPr>
            <a:r>
              <a:rPr lang="en-US" sz="1200" dirty="0">
                <a:solidFill>
                  <a:srgbClr val="23231E"/>
                </a:solidFill>
                <a:latin typeface="Inter Light" pitchFamily="34" charset="0"/>
                <a:ea typeface="Inter Light" pitchFamily="34" charset="-122"/>
                <a:cs typeface="Inter Light" pitchFamily="34" charset="-120"/>
              </a:rPr>
              <a:t>Intelligent matching with suitable circular economy partners.</a:t>
            </a:r>
            <a:endParaRPr lang="en-US" sz="1200" dirty="0"/>
          </a:p>
        </p:txBody>
      </p:sp>
      <p:pic>
        <p:nvPicPr>
          <p:cNvPr id="24"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1908" y="5629077"/>
            <a:ext cx="383570" cy="383580"/>
          </a:xfrm>
          <a:prstGeom prst="rect">
            <a:avLst/>
          </a:prstGeom>
        </p:spPr>
      </p:pic>
      <p:sp>
        <p:nvSpPr>
          <p:cNvPr id="25" name="Text 17"/>
          <p:cNvSpPr/>
          <p:nvPr/>
        </p:nvSpPr>
        <p:spPr>
          <a:xfrm>
            <a:off x="1178491" y="5629077"/>
            <a:ext cx="4835801" cy="201910"/>
          </a:xfrm>
          <a:prstGeom prst="rect">
            <a:avLst/>
          </a:prstGeom>
          <a:noFill/>
          <a:ln/>
        </p:spPr>
        <p:txBody>
          <a:bodyPr wrap="none" lIns="0" tIns="0" rIns="0" bIns="0" rtlCol="0" anchor="t"/>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Traceability</a:t>
            </a:r>
            <a:endParaRPr lang="en-US" sz="1550" dirty="0"/>
          </a:p>
        </p:txBody>
      </p:sp>
      <p:sp>
        <p:nvSpPr>
          <p:cNvPr id="26" name="Text 18"/>
          <p:cNvSpPr/>
          <p:nvPr/>
        </p:nvSpPr>
        <p:spPr>
          <a:xfrm>
            <a:off x="1178491" y="5909171"/>
            <a:ext cx="4835801" cy="156170"/>
          </a:xfrm>
          <a:prstGeom prst="rect">
            <a:avLst/>
          </a:prstGeom>
          <a:noFill/>
          <a:ln/>
        </p:spPr>
        <p:txBody>
          <a:bodyPr wrap="none" lIns="0" tIns="0" rIns="0" bIns="0" rtlCol="0" anchor="t"/>
          <a:lstStyle/>
          <a:p>
            <a:pPr marL="0" indent="0" algn="l">
              <a:lnSpc>
                <a:spcPct val="85000"/>
              </a:lnSpc>
              <a:buNone/>
            </a:pPr>
            <a:r>
              <a:rPr lang="en-US" sz="1200" dirty="0">
                <a:solidFill>
                  <a:srgbClr val="23231E"/>
                </a:solidFill>
                <a:latin typeface="Inter Light" pitchFamily="34" charset="0"/>
                <a:ea typeface="Inter Light" pitchFamily="34" charset="-122"/>
                <a:cs typeface="Inter Light" pitchFamily="34" charset="-120"/>
              </a:rPr>
              <a:t>Transparent, digital material history from origin to next use.</a:t>
            </a:r>
            <a:endParaRPr lang="en-US" sz="1200" dirty="0"/>
          </a:p>
        </p:txBody>
      </p:sp>
      <p:pic>
        <p:nvPicPr>
          <p:cNvPr id="27" name="Image 6"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177304" y="5629077"/>
            <a:ext cx="383570" cy="383580"/>
          </a:xfrm>
          <a:prstGeom prst="rect">
            <a:avLst/>
          </a:prstGeom>
        </p:spPr>
      </p:pic>
      <p:sp>
        <p:nvSpPr>
          <p:cNvPr id="28" name="Text 19"/>
          <p:cNvSpPr/>
          <p:nvPr/>
        </p:nvSpPr>
        <p:spPr>
          <a:xfrm>
            <a:off x="6723886" y="5629077"/>
            <a:ext cx="4835900" cy="201910"/>
          </a:xfrm>
          <a:prstGeom prst="rect">
            <a:avLst/>
          </a:prstGeom>
          <a:noFill/>
          <a:ln/>
        </p:spPr>
        <p:txBody>
          <a:bodyPr wrap="none" lIns="0" tIns="0" rIns="0" bIns="0" rtlCol="0" anchor="t"/>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Sustainability</a:t>
            </a:r>
            <a:endParaRPr lang="en-US" sz="1550" dirty="0"/>
          </a:p>
        </p:txBody>
      </p:sp>
      <p:sp>
        <p:nvSpPr>
          <p:cNvPr id="29" name="Text 20"/>
          <p:cNvSpPr/>
          <p:nvPr/>
        </p:nvSpPr>
        <p:spPr>
          <a:xfrm>
            <a:off x="6723886" y="5909171"/>
            <a:ext cx="4835900" cy="156170"/>
          </a:xfrm>
          <a:prstGeom prst="rect">
            <a:avLst/>
          </a:prstGeom>
          <a:noFill/>
          <a:ln/>
        </p:spPr>
        <p:txBody>
          <a:bodyPr wrap="none" lIns="0" tIns="0" rIns="0" bIns="0" rtlCol="0" anchor="t"/>
          <a:lstStyle/>
          <a:p>
            <a:pPr marL="0" indent="0" algn="l">
              <a:lnSpc>
                <a:spcPct val="85000"/>
              </a:lnSpc>
              <a:buNone/>
            </a:pPr>
            <a:r>
              <a:rPr lang="en-US" sz="1200" dirty="0">
                <a:solidFill>
                  <a:srgbClr val="23231E"/>
                </a:solidFill>
                <a:latin typeface="Inter Light" pitchFamily="34" charset="0"/>
                <a:ea typeface="Inter Light" pitchFamily="34" charset="-122"/>
                <a:cs typeface="Inter Light" pitchFamily="34" charset="-120"/>
              </a:rPr>
              <a:t>Integrated environmental impact assessment and green scores.</a:t>
            </a:r>
            <a:endParaRPr lang="en-US" sz="1200" dirty="0"/>
          </a:p>
        </p:txBody>
      </p:sp>
      <p:grpSp>
        <p:nvGrpSpPr>
          <p:cNvPr id="30" name="Group 29">
            <a:extLst>
              <a:ext uri="{FF2B5EF4-FFF2-40B4-BE49-F238E27FC236}">
                <a16:creationId xmlns:a16="http://schemas.microsoft.com/office/drawing/2014/main" id="{00170C65-1508-7F6F-B3B5-C554687ABE90}"/>
              </a:ext>
            </a:extLst>
          </p:cNvPr>
          <p:cNvGrpSpPr/>
          <p:nvPr/>
        </p:nvGrpSpPr>
        <p:grpSpPr>
          <a:xfrm>
            <a:off x="10686552" y="6506574"/>
            <a:ext cx="1505131" cy="351434"/>
            <a:chOff x="2623154" y="413097"/>
            <a:chExt cx="2599719" cy="525560"/>
          </a:xfrm>
        </p:grpSpPr>
        <p:sp>
          <p:nvSpPr>
            <p:cNvPr id="31" name="Freeform 30">
              <a:extLst>
                <a:ext uri="{FF2B5EF4-FFF2-40B4-BE49-F238E27FC236}">
                  <a16:creationId xmlns:a16="http://schemas.microsoft.com/office/drawing/2014/main" id="{C314F953-EF90-246F-D4DD-7341DB8D1C35}"/>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17"/>
              <a:stretch>
                <a:fillRect l="-64" r="-64" b="1"/>
              </a:stretch>
            </a:blipFill>
          </p:spPr>
          <p:txBody>
            <a:bodyPr/>
            <a:lstStyle/>
            <a:p>
              <a:endParaRPr lang="en-US" sz="1200" dirty="0"/>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631908" y="753368"/>
            <a:ext cx="10927878" cy="403820"/>
          </a:xfrm>
          <a:prstGeom prst="rect">
            <a:avLst/>
          </a:prstGeom>
          <a:noFill/>
          <a:ln/>
        </p:spPr>
        <p:txBody>
          <a:bodyPr wrap="none" lIns="0" tIns="0" rIns="0" bIns="0" rtlCol="0" anchor="t"/>
          <a:lstStyle/>
          <a:p>
            <a:pPr marL="0" indent="0" algn="l">
              <a:lnSpc>
                <a:spcPct val="83000"/>
              </a:lnSpc>
              <a:buNone/>
            </a:pPr>
            <a:r>
              <a:rPr lang="en-US" sz="3150" kern="0" spc="-95" dirty="0">
                <a:solidFill>
                  <a:srgbClr val="383830"/>
                </a:solidFill>
                <a:latin typeface="DM Sans ExtraBold" pitchFamily="34" charset="0"/>
                <a:ea typeface="DM Sans ExtraBold" pitchFamily="34" charset="-122"/>
                <a:cs typeface="DM Sans ExtraBold" pitchFamily="34" charset="-120"/>
              </a:rPr>
              <a:t>Latest Technologies Used</a:t>
            </a:r>
            <a:endParaRPr lang="en-US" sz="3150" dirty="0"/>
          </a:p>
        </p:txBody>
      </p:sp>
      <p:sp>
        <p:nvSpPr>
          <p:cNvPr id="3" name="Text 1"/>
          <p:cNvSpPr/>
          <p:nvPr/>
        </p:nvSpPr>
        <p:spPr>
          <a:xfrm>
            <a:off x="631908" y="1418034"/>
            <a:ext cx="11537463" cy="156170"/>
          </a:xfrm>
          <a:prstGeom prst="rect">
            <a:avLst/>
          </a:prstGeom>
          <a:noFill/>
          <a:ln/>
        </p:spPr>
        <p:txBody>
          <a:bodyPr wrap="none" lIns="0" tIns="0" rIns="0" bIns="0" rtlCol="0" anchor="t"/>
          <a:lstStyle/>
          <a:p>
            <a:pPr marL="0" indent="0" algn="l">
              <a:lnSpc>
                <a:spcPct val="85000"/>
              </a:lnSpc>
              <a:buNone/>
            </a:pPr>
            <a:r>
              <a:rPr lang="en-US" sz="1200" dirty="0">
                <a:solidFill>
                  <a:srgbClr val="23231E"/>
                </a:solidFill>
                <a:latin typeface="Inter Light" pitchFamily="34" charset="0"/>
                <a:ea typeface="Inter Light" pitchFamily="34" charset="-122"/>
                <a:cs typeface="Inter Light" pitchFamily="34" charset="-120"/>
              </a:rPr>
              <a:t>Our platform leverages cutting-edge technologies across multiple domains to deliver intelligent and robust solutions for textile waste management.</a:t>
            </a:r>
            <a:endParaRPr lang="en-US" sz="12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908" y="1720949"/>
            <a:ext cx="3555713" cy="2025749"/>
          </a:xfrm>
          <a:prstGeom prst="rect">
            <a:avLst/>
          </a:prstGeom>
        </p:spPr>
      </p:pic>
      <p:sp>
        <p:nvSpPr>
          <p:cNvPr id="5" name="Text 2"/>
          <p:cNvSpPr/>
          <p:nvPr/>
        </p:nvSpPr>
        <p:spPr>
          <a:xfrm>
            <a:off x="2294674" y="1855093"/>
            <a:ext cx="230182" cy="230187"/>
          </a:xfrm>
          <a:prstGeom prst="rect">
            <a:avLst/>
          </a:prstGeom>
          <a:noFill/>
          <a:ln/>
        </p:spPr>
        <p:txBody>
          <a:bodyPr wrap="none" lIns="0" tIns="0" rIns="0" bIns="0" rtlCol="0" anchor="ctr"/>
          <a:lstStyle/>
          <a:p>
            <a:pPr marL="0" indent="0" algn="ctr">
              <a:lnSpc>
                <a:spcPct val="100000"/>
              </a:lnSpc>
              <a:buNone/>
            </a:pPr>
            <a:r>
              <a:rPr lang="en-US" sz="1800" kern="0" spc="-54" dirty="0">
                <a:solidFill>
                  <a:srgbClr val="FFFFFF"/>
                </a:solidFill>
                <a:latin typeface="DM Sans ExtraBold" pitchFamily="34" charset="0"/>
                <a:ea typeface="DM Sans ExtraBold" pitchFamily="34" charset="-122"/>
                <a:cs typeface="DM Sans ExtraBold" pitchFamily="34" charset="-120"/>
              </a:rPr>
              <a:t>1</a:t>
            </a:r>
            <a:endParaRPr lang="en-US" sz="1800" dirty="0"/>
          </a:p>
        </p:txBody>
      </p:sp>
      <p:sp>
        <p:nvSpPr>
          <p:cNvPr id="6" name="Text 3"/>
          <p:cNvSpPr/>
          <p:nvPr/>
        </p:nvSpPr>
        <p:spPr>
          <a:xfrm>
            <a:off x="804346" y="2330748"/>
            <a:ext cx="3210837" cy="201910"/>
          </a:xfrm>
          <a:prstGeom prst="rect">
            <a:avLst/>
          </a:prstGeom>
          <a:noFill/>
          <a:ln/>
        </p:spPr>
        <p:txBody>
          <a:bodyPr wrap="none" lIns="0" tIns="0" rIns="0" bIns="0" rtlCol="0" anchor="t"/>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AI / ML</a:t>
            </a:r>
            <a:endParaRPr lang="en-US" sz="1550" dirty="0"/>
          </a:p>
        </p:txBody>
      </p:sp>
      <p:sp>
        <p:nvSpPr>
          <p:cNvPr id="7" name="Text 4"/>
          <p:cNvSpPr/>
          <p:nvPr/>
        </p:nvSpPr>
        <p:spPr>
          <a:xfrm>
            <a:off x="804346" y="2610842"/>
            <a:ext cx="3210837" cy="761603"/>
          </a:xfrm>
          <a:prstGeom prst="rect">
            <a:avLst/>
          </a:prstGeom>
          <a:noFill/>
          <a:ln/>
        </p:spPr>
        <p:txBody>
          <a:bodyPr wrap="square" lIns="0" tIns="61386" rIns="0" bIns="0" rtlCol="0" anchor="t">
            <a:normAutofit/>
          </a:bodyPr>
          <a:lstStyle/>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Regression</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XGBoost</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Random Forest</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Feature engineering</a:t>
            </a:r>
            <a:endParaRPr lang="en-US" sz="1200" dirty="0"/>
          </a:p>
        </p:txBody>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17991" y="1720949"/>
            <a:ext cx="3555713" cy="2025749"/>
          </a:xfrm>
          <a:prstGeom prst="rect">
            <a:avLst/>
          </a:prstGeom>
        </p:spPr>
      </p:pic>
      <p:sp>
        <p:nvSpPr>
          <p:cNvPr id="9" name="Text 5"/>
          <p:cNvSpPr/>
          <p:nvPr/>
        </p:nvSpPr>
        <p:spPr>
          <a:xfrm>
            <a:off x="5980757" y="1855093"/>
            <a:ext cx="230182" cy="230187"/>
          </a:xfrm>
          <a:prstGeom prst="rect">
            <a:avLst/>
          </a:prstGeom>
          <a:noFill/>
          <a:ln/>
        </p:spPr>
        <p:txBody>
          <a:bodyPr wrap="none" lIns="0" tIns="0" rIns="0" bIns="0" rtlCol="0" anchor="ctr"/>
          <a:lstStyle/>
          <a:p>
            <a:pPr marL="0" indent="0" algn="ctr">
              <a:lnSpc>
                <a:spcPct val="100000"/>
              </a:lnSpc>
              <a:buNone/>
            </a:pPr>
            <a:r>
              <a:rPr lang="en-US" sz="1800" kern="0" spc="-54" dirty="0">
                <a:solidFill>
                  <a:srgbClr val="FFFFFF"/>
                </a:solidFill>
                <a:latin typeface="DM Sans ExtraBold" pitchFamily="34" charset="0"/>
                <a:ea typeface="DM Sans ExtraBold" pitchFamily="34" charset="-122"/>
                <a:cs typeface="DM Sans ExtraBold" pitchFamily="34" charset="-120"/>
              </a:rPr>
              <a:t>2</a:t>
            </a:r>
            <a:endParaRPr lang="en-US" sz="1800" dirty="0"/>
          </a:p>
        </p:txBody>
      </p:sp>
      <p:sp>
        <p:nvSpPr>
          <p:cNvPr id="10" name="Text 6"/>
          <p:cNvSpPr/>
          <p:nvPr/>
        </p:nvSpPr>
        <p:spPr>
          <a:xfrm>
            <a:off x="4490429" y="2330748"/>
            <a:ext cx="3210837" cy="201910"/>
          </a:xfrm>
          <a:prstGeom prst="rect">
            <a:avLst/>
          </a:prstGeom>
          <a:noFill/>
          <a:ln/>
        </p:spPr>
        <p:txBody>
          <a:bodyPr wrap="none" lIns="0" tIns="0" rIns="0" bIns="0" rtlCol="0" anchor="t"/>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Recommendation</a:t>
            </a:r>
            <a:endParaRPr lang="en-US" sz="1550" dirty="0"/>
          </a:p>
        </p:txBody>
      </p:sp>
      <p:sp>
        <p:nvSpPr>
          <p:cNvPr id="11" name="Text 7"/>
          <p:cNvSpPr/>
          <p:nvPr/>
        </p:nvSpPr>
        <p:spPr>
          <a:xfrm>
            <a:off x="4490429" y="2610842"/>
            <a:ext cx="3210837" cy="559792"/>
          </a:xfrm>
          <a:prstGeom prst="rect">
            <a:avLst/>
          </a:prstGeom>
          <a:noFill/>
          <a:ln/>
        </p:spPr>
        <p:txBody>
          <a:bodyPr wrap="square" lIns="0" tIns="61386" rIns="0" bIns="0" rtlCol="0" anchor="t">
            <a:normAutofit/>
          </a:bodyPr>
          <a:lstStyle/>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Attribute matching</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Buyer-category recommendation</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Demand-related ranking</a:t>
            </a:r>
            <a:endParaRPr lang="en-US" sz="1200" dirty="0"/>
          </a:p>
        </p:txBody>
      </p:sp>
      <p:pic>
        <p:nvPicPr>
          <p:cNvPr id="1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04074" y="1720949"/>
            <a:ext cx="3555713" cy="2025749"/>
          </a:xfrm>
          <a:prstGeom prst="rect">
            <a:avLst/>
          </a:prstGeom>
        </p:spPr>
      </p:pic>
      <p:sp>
        <p:nvSpPr>
          <p:cNvPr id="13" name="Text 8"/>
          <p:cNvSpPr/>
          <p:nvPr/>
        </p:nvSpPr>
        <p:spPr>
          <a:xfrm>
            <a:off x="9666839" y="1855093"/>
            <a:ext cx="230182" cy="230187"/>
          </a:xfrm>
          <a:prstGeom prst="rect">
            <a:avLst/>
          </a:prstGeom>
          <a:noFill/>
          <a:ln/>
        </p:spPr>
        <p:txBody>
          <a:bodyPr wrap="none" lIns="0" tIns="0" rIns="0" bIns="0" rtlCol="0" anchor="ctr"/>
          <a:lstStyle/>
          <a:p>
            <a:pPr marL="0" indent="0" algn="ctr">
              <a:lnSpc>
                <a:spcPct val="100000"/>
              </a:lnSpc>
              <a:buNone/>
            </a:pPr>
            <a:r>
              <a:rPr lang="en-US" sz="1800" kern="0" spc="-54" dirty="0">
                <a:solidFill>
                  <a:srgbClr val="000000"/>
                </a:solidFill>
                <a:latin typeface="DM Sans ExtraBold" pitchFamily="34" charset="0"/>
                <a:ea typeface="DM Sans ExtraBold" pitchFamily="34" charset="-122"/>
                <a:cs typeface="DM Sans ExtraBold" pitchFamily="34" charset="-120"/>
              </a:rPr>
              <a:t>3</a:t>
            </a:r>
            <a:endParaRPr lang="en-US" sz="1800" dirty="0"/>
          </a:p>
        </p:txBody>
      </p:sp>
      <p:sp>
        <p:nvSpPr>
          <p:cNvPr id="14" name="Text 9"/>
          <p:cNvSpPr/>
          <p:nvPr/>
        </p:nvSpPr>
        <p:spPr>
          <a:xfrm>
            <a:off x="8176512" y="2330748"/>
            <a:ext cx="3210837" cy="201910"/>
          </a:xfrm>
          <a:prstGeom prst="rect">
            <a:avLst/>
          </a:prstGeom>
          <a:noFill/>
          <a:ln/>
        </p:spPr>
        <p:txBody>
          <a:bodyPr wrap="none" lIns="0" tIns="0" rIns="0" bIns="0" rtlCol="0" anchor="t"/>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Traceability</a:t>
            </a:r>
            <a:endParaRPr lang="en-US" sz="1550" dirty="0"/>
          </a:p>
        </p:txBody>
      </p:sp>
      <p:sp>
        <p:nvSpPr>
          <p:cNvPr id="15" name="Text 10"/>
          <p:cNvSpPr/>
          <p:nvPr/>
        </p:nvSpPr>
        <p:spPr>
          <a:xfrm>
            <a:off x="8176512" y="2610842"/>
            <a:ext cx="3210837" cy="963414"/>
          </a:xfrm>
          <a:prstGeom prst="rect">
            <a:avLst/>
          </a:prstGeom>
          <a:noFill/>
          <a:ln/>
        </p:spPr>
        <p:txBody>
          <a:bodyPr wrap="square" lIns="0" tIns="61386" rIns="0" bIns="0" rtlCol="0" anchor="t">
            <a:normAutofit/>
          </a:bodyPr>
          <a:lstStyle/>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Digital material record</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Batch ID</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Transaction history</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Environmental information</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Lifecycle events</a:t>
            </a:r>
            <a:endParaRPr lang="en-US" sz="1200" dirty="0"/>
          </a:p>
        </p:txBody>
      </p:sp>
      <p:pic>
        <p:nvPicPr>
          <p:cNvPr id="16"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1908" y="3877072"/>
            <a:ext cx="3555713" cy="2227560"/>
          </a:xfrm>
          <a:prstGeom prst="rect">
            <a:avLst/>
          </a:prstGeom>
        </p:spPr>
      </p:pic>
      <p:sp>
        <p:nvSpPr>
          <p:cNvPr id="17" name="Text 11"/>
          <p:cNvSpPr/>
          <p:nvPr/>
        </p:nvSpPr>
        <p:spPr>
          <a:xfrm>
            <a:off x="2294674" y="4011216"/>
            <a:ext cx="230182" cy="230187"/>
          </a:xfrm>
          <a:prstGeom prst="rect">
            <a:avLst/>
          </a:prstGeom>
          <a:noFill/>
          <a:ln/>
        </p:spPr>
        <p:txBody>
          <a:bodyPr wrap="none" lIns="0" tIns="0" rIns="0" bIns="0" rtlCol="0" anchor="ctr"/>
          <a:lstStyle/>
          <a:p>
            <a:pPr marL="0" indent="0" algn="ctr">
              <a:lnSpc>
                <a:spcPct val="100000"/>
              </a:lnSpc>
              <a:buNone/>
            </a:pPr>
            <a:r>
              <a:rPr lang="en-US" sz="1800" kern="0" spc="-54" dirty="0">
                <a:solidFill>
                  <a:srgbClr val="FFFFFF"/>
                </a:solidFill>
                <a:latin typeface="DM Sans ExtraBold" pitchFamily="34" charset="0"/>
                <a:ea typeface="DM Sans ExtraBold" pitchFamily="34" charset="-122"/>
                <a:cs typeface="DM Sans ExtraBold" pitchFamily="34" charset="-120"/>
              </a:rPr>
              <a:t>4</a:t>
            </a:r>
            <a:endParaRPr lang="en-US" sz="1800" dirty="0"/>
          </a:p>
        </p:txBody>
      </p:sp>
      <p:sp>
        <p:nvSpPr>
          <p:cNvPr id="18" name="Text 12"/>
          <p:cNvSpPr/>
          <p:nvPr/>
        </p:nvSpPr>
        <p:spPr>
          <a:xfrm>
            <a:off x="804346" y="4486870"/>
            <a:ext cx="3210837" cy="201910"/>
          </a:xfrm>
          <a:prstGeom prst="rect">
            <a:avLst/>
          </a:prstGeom>
          <a:noFill/>
          <a:ln/>
        </p:spPr>
        <p:txBody>
          <a:bodyPr wrap="none" lIns="0" tIns="0" rIns="0" bIns="0" rtlCol="0" anchor="t"/>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Technology Stack</a:t>
            </a:r>
            <a:endParaRPr lang="en-US" sz="1550" dirty="0"/>
          </a:p>
        </p:txBody>
      </p:sp>
      <p:sp>
        <p:nvSpPr>
          <p:cNvPr id="19" name="Text 13"/>
          <p:cNvSpPr/>
          <p:nvPr/>
        </p:nvSpPr>
        <p:spPr>
          <a:xfrm>
            <a:off x="804346" y="4766965"/>
            <a:ext cx="3210837" cy="963414"/>
          </a:xfrm>
          <a:prstGeom prst="rect">
            <a:avLst/>
          </a:prstGeom>
          <a:noFill/>
          <a:ln/>
        </p:spPr>
        <p:txBody>
          <a:bodyPr wrap="square" lIns="0" tIns="61386" rIns="0" bIns="0" rtlCol="0" anchor="t">
            <a:normAutofit/>
          </a:bodyPr>
          <a:lstStyle/>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Python</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FastAPI</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Node.js</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React</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MongoDB</a:t>
            </a:r>
            <a:endParaRPr lang="en-US" sz="1200" dirty="0"/>
          </a:p>
        </p:txBody>
      </p:sp>
      <p:pic>
        <p:nvPicPr>
          <p:cNvPr id="20"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317991" y="3877072"/>
            <a:ext cx="3555713" cy="2227560"/>
          </a:xfrm>
          <a:prstGeom prst="rect">
            <a:avLst/>
          </a:prstGeom>
        </p:spPr>
      </p:pic>
      <p:sp>
        <p:nvSpPr>
          <p:cNvPr id="21" name="Text 14"/>
          <p:cNvSpPr/>
          <p:nvPr/>
        </p:nvSpPr>
        <p:spPr>
          <a:xfrm>
            <a:off x="5980757" y="4011216"/>
            <a:ext cx="230182" cy="230187"/>
          </a:xfrm>
          <a:prstGeom prst="rect">
            <a:avLst/>
          </a:prstGeom>
          <a:noFill/>
          <a:ln/>
        </p:spPr>
        <p:txBody>
          <a:bodyPr wrap="none" lIns="0" tIns="0" rIns="0" bIns="0" rtlCol="0" anchor="ctr"/>
          <a:lstStyle/>
          <a:p>
            <a:pPr marL="0" indent="0" algn="ctr">
              <a:lnSpc>
                <a:spcPct val="100000"/>
              </a:lnSpc>
              <a:buNone/>
            </a:pPr>
            <a:r>
              <a:rPr lang="en-US" sz="1800" kern="0" spc="-54" dirty="0">
                <a:solidFill>
                  <a:srgbClr val="FFFFFF"/>
                </a:solidFill>
                <a:latin typeface="DM Sans ExtraBold" pitchFamily="34" charset="0"/>
                <a:ea typeface="DM Sans ExtraBold" pitchFamily="34" charset="-122"/>
                <a:cs typeface="DM Sans ExtraBold" pitchFamily="34" charset="-120"/>
              </a:rPr>
              <a:t>5</a:t>
            </a:r>
            <a:endParaRPr lang="en-US" sz="1800" dirty="0"/>
          </a:p>
        </p:txBody>
      </p:sp>
      <p:sp>
        <p:nvSpPr>
          <p:cNvPr id="22" name="Text 15"/>
          <p:cNvSpPr/>
          <p:nvPr/>
        </p:nvSpPr>
        <p:spPr>
          <a:xfrm>
            <a:off x="4490429" y="4486870"/>
            <a:ext cx="3210837" cy="201910"/>
          </a:xfrm>
          <a:prstGeom prst="rect">
            <a:avLst/>
          </a:prstGeom>
          <a:noFill/>
          <a:ln/>
        </p:spPr>
        <p:txBody>
          <a:bodyPr wrap="none" lIns="0" tIns="0" rIns="0" bIns="0" rtlCol="0" anchor="t"/>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Key Domains</a:t>
            </a:r>
            <a:endParaRPr lang="en-US" sz="1550" dirty="0"/>
          </a:p>
        </p:txBody>
      </p:sp>
      <p:sp>
        <p:nvSpPr>
          <p:cNvPr id="23" name="Text 16"/>
          <p:cNvSpPr/>
          <p:nvPr/>
        </p:nvSpPr>
        <p:spPr>
          <a:xfrm>
            <a:off x="4490429" y="4766965"/>
            <a:ext cx="3210837" cy="1165225"/>
          </a:xfrm>
          <a:prstGeom prst="rect">
            <a:avLst/>
          </a:prstGeom>
          <a:noFill/>
          <a:ln/>
        </p:spPr>
        <p:txBody>
          <a:bodyPr wrap="square" lIns="0" tIns="61386" rIns="0" bIns="0" rtlCol="0" anchor="t">
            <a:normAutofit/>
          </a:bodyPr>
          <a:lstStyle/>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Machine Learning</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Recommendation Systems</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E-Commerce</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Supply Chain</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Traceability</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Circular Economy</a:t>
            </a:r>
            <a:endParaRPr lang="en-US" sz="1200" dirty="0"/>
          </a:p>
        </p:txBody>
      </p:sp>
      <p:grpSp>
        <p:nvGrpSpPr>
          <p:cNvPr id="24" name="Group 23">
            <a:extLst>
              <a:ext uri="{FF2B5EF4-FFF2-40B4-BE49-F238E27FC236}">
                <a16:creationId xmlns:a16="http://schemas.microsoft.com/office/drawing/2014/main" id="{18BEE132-E4A1-4E3D-EAB0-14C98CDF5F69}"/>
              </a:ext>
            </a:extLst>
          </p:cNvPr>
          <p:cNvGrpSpPr/>
          <p:nvPr/>
        </p:nvGrpSpPr>
        <p:grpSpPr>
          <a:xfrm>
            <a:off x="10686552" y="6506574"/>
            <a:ext cx="1505131" cy="351434"/>
            <a:chOff x="2623154" y="413097"/>
            <a:chExt cx="2599719" cy="525560"/>
          </a:xfrm>
        </p:grpSpPr>
        <p:sp>
          <p:nvSpPr>
            <p:cNvPr id="25" name="Freeform 24">
              <a:extLst>
                <a:ext uri="{FF2B5EF4-FFF2-40B4-BE49-F238E27FC236}">
                  <a16:creationId xmlns:a16="http://schemas.microsoft.com/office/drawing/2014/main" id="{46E3A27E-A8EF-1F12-2F64-C530726CE70F}"/>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13"/>
              <a:stretch>
                <a:fillRect l="-64" r="-64" b="1"/>
              </a:stretch>
            </a:blipFill>
          </p:spPr>
          <p:txBody>
            <a:bodyPr/>
            <a:lstStyle/>
            <a:p>
              <a:endParaRPr lang="en-US" sz="1200" dirty="0"/>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631908" y="971848"/>
            <a:ext cx="10927878" cy="475159"/>
          </a:xfrm>
          <a:prstGeom prst="rect">
            <a:avLst/>
          </a:prstGeom>
          <a:noFill/>
          <a:ln/>
        </p:spPr>
        <p:txBody>
          <a:bodyPr wrap="none" lIns="0" tIns="0" rIns="0" bIns="0" rtlCol="0" anchor="t"/>
          <a:lstStyle/>
          <a:p>
            <a:pPr marL="0" indent="0" algn="l">
              <a:lnSpc>
                <a:spcPct val="83000"/>
              </a:lnSpc>
              <a:buNone/>
            </a:pPr>
            <a:r>
              <a:rPr lang="en-US" sz="3700" kern="0" spc="-112" dirty="0">
                <a:solidFill>
                  <a:srgbClr val="383830"/>
                </a:solidFill>
                <a:latin typeface="DM Sans ExtraBold" pitchFamily="34" charset="0"/>
                <a:ea typeface="DM Sans ExtraBold" pitchFamily="34" charset="-122"/>
                <a:cs typeface="DM Sans ExtraBold" pitchFamily="34" charset="-120"/>
              </a:rPr>
              <a:t>Evaluation and Validation</a:t>
            </a:r>
            <a:endParaRPr lang="en-US" sz="3700" dirty="0"/>
          </a:p>
        </p:txBody>
      </p:sp>
      <p:sp>
        <p:nvSpPr>
          <p:cNvPr id="3" name="Text 1"/>
          <p:cNvSpPr/>
          <p:nvPr/>
        </p:nvSpPr>
        <p:spPr>
          <a:xfrm>
            <a:off x="631908" y="1808063"/>
            <a:ext cx="10927878" cy="397272"/>
          </a:xfrm>
          <a:prstGeom prst="rect">
            <a:avLst/>
          </a:prstGeom>
          <a:noFill/>
          <a:ln/>
        </p:spPr>
        <p:txBody>
          <a:bodyPr wrap="square" lIns="0" tIns="0" rIns="0" bIns="0" rtlCol="0" anchor="t">
            <a:normAutofit/>
          </a:bodyPr>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Our AI Commercial Intelligence undergoes rigorous evaluation to ensure accuracy, relevance, and data integrity across all its core components, driving trusted insights for the textile waste market.</a:t>
            </a:r>
            <a:endParaRPr lang="en-US" sz="14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908" y="2408436"/>
            <a:ext cx="3522277" cy="3477617"/>
          </a:xfrm>
          <a:prstGeom prst="rect">
            <a:avLst/>
          </a:prstGeom>
        </p:spPr>
      </p:pic>
      <p:sp>
        <p:nvSpPr>
          <p:cNvPr id="5" name="Text 2"/>
          <p:cNvSpPr/>
          <p:nvPr/>
        </p:nvSpPr>
        <p:spPr>
          <a:xfrm>
            <a:off x="939380" y="2614315"/>
            <a:ext cx="3008932" cy="237530"/>
          </a:xfrm>
          <a:prstGeom prst="rect">
            <a:avLst/>
          </a:prstGeom>
          <a:noFill/>
          <a:ln/>
        </p:spPr>
        <p:txBody>
          <a:bodyPr wrap="none" lIns="0" tIns="0" rIns="0" bIns="0" rtlCol="0" anchor="t"/>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AI Pricing Metrics</a:t>
            </a:r>
            <a:endParaRPr lang="en-US" sz="1850" dirty="0"/>
          </a:p>
        </p:txBody>
      </p:sp>
      <p:sp>
        <p:nvSpPr>
          <p:cNvPr id="6" name="Text 3"/>
          <p:cNvSpPr/>
          <p:nvPr/>
        </p:nvSpPr>
        <p:spPr>
          <a:xfrm>
            <a:off x="939380" y="2960092"/>
            <a:ext cx="3008932" cy="595908"/>
          </a:xfrm>
          <a:prstGeom prst="rect">
            <a:avLst/>
          </a:prstGeom>
          <a:noFill/>
          <a:ln/>
        </p:spPr>
        <p:txBody>
          <a:bodyPr wrap="square" lIns="0" tIns="0" rIns="0" bIns="0" rtlCol="0" anchor="t">
            <a:normAutofit/>
          </a:bodyPr>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Initial experiment results demonstrate robust performance for our price prediction model:</a:t>
            </a:r>
            <a:endParaRPr lang="en-US" sz="1400" dirty="0"/>
          </a:p>
        </p:txBody>
      </p:sp>
      <p:sp>
        <p:nvSpPr>
          <p:cNvPr id="7" name="Text 4"/>
          <p:cNvSpPr/>
          <p:nvPr/>
        </p:nvSpPr>
        <p:spPr>
          <a:xfrm>
            <a:off x="939380" y="3664248"/>
            <a:ext cx="3008932" cy="722114"/>
          </a:xfrm>
          <a:prstGeom prst="rect">
            <a:avLst/>
          </a:prstGeom>
          <a:noFill/>
          <a:ln/>
        </p:spPr>
        <p:txBody>
          <a:bodyPr wrap="square" lIns="0" tIns="72219" rIns="0" bIns="0" rtlCol="0" anchor="t">
            <a:normAutofit/>
          </a:bodyPr>
          <a:lstStyle/>
          <a:p>
            <a:pPr marL="284480" indent="-284480" algn="l">
              <a:lnSpc>
                <a:spcPct val="92000"/>
              </a:lnSpc>
              <a:buSzPct val="100000"/>
              <a:buChar char="•"/>
            </a:pPr>
            <a:r>
              <a:rPr lang="en-US" sz="1400" b="1" dirty="0">
                <a:solidFill>
                  <a:srgbClr val="23231E"/>
                </a:solidFill>
                <a:latin typeface="Inter Bold" pitchFamily="34" charset="0"/>
                <a:ea typeface="Inter Bold" pitchFamily="34" charset="-122"/>
                <a:cs typeface="Inter Bold" pitchFamily="34" charset="-120"/>
              </a:rPr>
              <a:t>MAE:</a:t>
            </a:r>
            <a:r>
              <a:rPr lang="en-US" sz="1400" dirty="0">
                <a:solidFill>
                  <a:srgbClr val="23231E"/>
                </a:solidFill>
                <a:latin typeface="Inter Light" pitchFamily="34" charset="0"/>
                <a:ea typeface="Inter Light" pitchFamily="34" charset="-122"/>
                <a:cs typeface="Inter Light" pitchFamily="34" charset="-120"/>
              </a:rPr>
              <a:t> 12.24</a:t>
            </a:r>
            <a:endParaRPr lang="en-US" sz="1400" dirty="0"/>
          </a:p>
          <a:p>
            <a:pPr marL="284480" indent="-284480" algn="l">
              <a:lnSpc>
                <a:spcPct val="92000"/>
              </a:lnSpc>
              <a:buSzPct val="100000"/>
              <a:buChar char="•"/>
            </a:pPr>
            <a:r>
              <a:rPr lang="en-US" sz="1400" b="1" dirty="0">
                <a:solidFill>
                  <a:srgbClr val="23231E"/>
                </a:solidFill>
                <a:latin typeface="Inter Bold" pitchFamily="34" charset="0"/>
                <a:ea typeface="Inter Bold" pitchFamily="34" charset="-122"/>
                <a:cs typeface="Inter Bold" pitchFamily="34" charset="-120"/>
              </a:rPr>
              <a:t>RMSE:</a:t>
            </a:r>
            <a:r>
              <a:rPr lang="en-US" sz="1400" dirty="0">
                <a:solidFill>
                  <a:srgbClr val="23231E"/>
                </a:solidFill>
                <a:latin typeface="Inter Light" pitchFamily="34" charset="0"/>
                <a:ea typeface="Inter Light" pitchFamily="34" charset="-122"/>
                <a:cs typeface="Inter Light" pitchFamily="34" charset="-120"/>
              </a:rPr>
              <a:t> 15.40</a:t>
            </a:r>
            <a:endParaRPr lang="en-US" sz="1400" dirty="0"/>
          </a:p>
          <a:p>
            <a:pPr marL="284480" indent="-284480" algn="l">
              <a:lnSpc>
                <a:spcPct val="92000"/>
              </a:lnSpc>
              <a:buSzPct val="100000"/>
              <a:buChar char="•"/>
            </a:pPr>
            <a:r>
              <a:rPr lang="en-US" sz="1400" b="1" dirty="0">
                <a:solidFill>
                  <a:srgbClr val="23231E"/>
                </a:solidFill>
                <a:latin typeface="Inter Bold" pitchFamily="34" charset="0"/>
                <a:ea typeface="Inter Bold" pitchFamily="34" charset="-122"/>
                <a:cs typeface="Inter Bold" pitchFamily="34" charset="-120"/>
              </a:rPr>
              <a:t>R²:</a:t>
            </a:r>
            <a:r>
              <a:rPr lang="en-US" sz="1400" dirty="0">
                <a:solidFill>
                  <a:srgbClr val="23231E"/>
                </a:solidFill>
                <a:latin typeface="Inter Light" pitchFamily="34" charset="0"/>
                <a:ea typeface="Inter Light" pitchFamily="34" charset="-122"/>
                <a:cs typeface="Inter Light" pitchFamily="34" charset="-120"/>
              </a:rPr>
              <a:t> 0.9590</a:t>
            </a:r>
            <a:endParaRPr lang="en-US" sz="1400" dirty="0"/>
          </a:p>
        </p:txBody>
      </p:sp>
      <p:sp>
        <p:nvSpPr>
          <p:cNvPr id="8" name="Text 5"/>
          <p:cNvSpPr/>
          <p:nvPr/>
        </p:nvSpPr>
        <p:spPr>
          <a:xfrm>
            <a:off x="939380" y="4494609"/>
            <a:ext cx="3008932" cy="794544"/>
          </a:xfrm>
          <a:prstGeom prst="rect">
            <a:avLst/>
          </a:prstGeom>
          <a:noFill/>
          <a:ln/>
        </p:spPr>
        <p:txBody>
          <a:bodyPr wrap="square" lIns="0" tIns="0" rIns="0" bIns="0" rtlCol="0" anchor="t">
            <a:normAutofit/>
          </a:bodyPr>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These foundational metrics indicate a strong predictive capability, providing reliable valuation for diverse textile waste categories.</a:t>
            </a:r>
            <a:endParaRPr lang="en-US" sz="1400" dirty="0"/>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34660" y="2408436"/>
            <a:ext cx="3522277" cy="3477617"/>
          </a:xfrm>
          <a:prstGeom prst="rect">
            <a:avLst/>
          </a:prstGeom>
        </p:spPr>
      </p:pic>
      <p:sp>
        <p:nvSpPr>
          <p:cNvPr id="10" name="Text 6"/>
          <p:cNvSpPr/>
          <p:nvPr/>
        </p:nvSpPr>
        <p:spPr>
          <a:xfrm>
            <a:off x="4642131" y="2614315"/>
            <a:ext cx="3008932" cy="475059"/>
          </a:xfrm>
          <a:prstGeom prst="rect">
            <a:avLst/>
          </a:prstGeom>
          <a:noFill/>
          <a:ln/>
        </p:spPr>
        <p:txBody>
          <a:bodyPr wrap="square" lIns="0" tIns="0" rIns="0" bIns="0" rtlCol="0" anchor="t">
            <a:normAutofit lnSpcReduction="10000"/>
          </a:bodyPr>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Recommendation Evaluation</a:t>
            </a:r>
            <a:endParaRPr lang="en-US" sz="1850" dirty="0"/>
          </a:p>
        </p:txBody>
      </p:sp>
      <p:sp>
        <p:nvSpPr>
          <p:cNvPr id="11" name="Text 7"/>
          <p:cNvSpPr/>
          <p:nvPr/>
        </p:nvSpPr>
        <p:spPr>
          <a:xfrm>
            <a:off x="4642131" y="3197622"/>
            <a:ext cx="3008932" cy="993180"/>
          </a:xfrm>
          <a:prstGeom prst="rect">
            <a:avLst/>
          </a:prstGeom>
          <a:noFill/>
          <a:ln/>
        </p:spPr>
        <p:txBody>
          <a:bodyPr wrap="square" lIns="0" tIns="0" rIns="0" bIns="0" rtlCol="0" anchor="t">
            <a:normAutofit/>
          </a:bodyPr>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We continuously assess the effectiveness of our buyer recommendation engine through key performance indicators to ensure optimal matching:</a:t>
            </a:r>
            <a:endParaRPr lang="en-US" sz="1400" dirty="0"/>
          </a:p>
        </p:txBody>
      </p:sp>
      <p:sp>
        <p:nvSpPr>
          <p:cNvPr id="12" name="Text 8"/>
          <p:cNvSpPr/>
          <p:nvPr/>
        </p:nvSpPr>
        <p:spPr>
          <a:xfrm>
            <a:off x="4642131" y="4299049"/>
            <a:ext cx="3008932" cy="1381125"/>
          </a:xfrm>
          <a:prstGeom prst="rect">
            <a:avLst/>
          </a:prstGeom>
          <a:noFill/>
          <a:ln/>
        </p:spPr>
        <p:txBody>
          <a:bodyPr wrap="square" lIns="0" tIns="72219" rIns="0" bIns="0" rtlCol="0" anchor="t">
            <a:normAutofit/>
          </a:bodyPr>
          <a:lstStyle/>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Recommendation relevance</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Buyer-match acceptance rate</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Click/selection behavior analysis</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Overall ranking quality and precision</a:t>
            </a:r>
            <a:endParaRPr lang="en-US" sz="1400" dirty="0"/>
          </a:p>
        </p:txBody>
      </p:sp>
      <p:pic>
        <p:nvPicPr>
          <p:cNvPr id="13"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037411" y="2408436"/>
            <a:ext cx="3522376" cy="3477617"/>
          </a:xfrm>
          <a:prstGeom prst="rect">
            <a:avLst/>
          </a:prstGeom>
        </p:spPr>
      </p:pic>
      <p:sp>
        <p:nvSpPr>
          <p:cNvPr id="14" name="Text 9"/>
          <p:cNvSpPr/>
          <p:nvPr/>
        </p:nvSpPr>
        <p:spPr>
          <a:xfrm>
            <a:off x="8344882" y="2614315"/>
            <a:ext cx="3009031" cy="237530"/>
          </a:xfrm>
          <a:prstGeom prst="rect">
            <a:avLst/>
          </a:prstGeom>
          <a:noFill/>
          <a:ln/>
        </p:spPr>
        <p:txBody>
          <a:bodyPr wrap="none" lIns="0" tIns="0" rIns="0" bIns="0" rtlCol="0" anchor="t"/>
          <a:lstStyle/>
          <a:p>
            <a:pPr marL="0" indent="0" algn="l">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Traceability Evaluation</a:t>
            </a:r>
            <a:endParaRPr lang="en-US" sz="1850" dirty="0"/>
          </a:p>
        </p:txBody>
      </p:sp>
      <p:sp>
        <p:nvSpPr>
          <p:cNvPr id="15" name="Text 10"/>
          <p:cNvSpPr/>
          <p:nvPr/>
        </p:nvSpPr>
        <p:spPr>
          <a:xfrm>
            <a:off x="8344882" y="2960092"/>
            <a:ext cx="3009031" cy="794544"/>
          </a:xfrm>
          <a:prstGeom prst="rect">
            <a:avLst/>
          </a:prstGeom>
          <a:noFill/>
          <a:ln/>
        </p:spPr>
        <p:txBody>
          <a:bodyPr wrap="square" lIns="0" tIns="0" rIns="0" bIns="0" rtlCol="0" anchor="t">
            <a:normAutofit/>
          </a:bodyPr>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The integrity and reliability of our traceability system are validated against stringent criteria to ensure a transparent material history:</a:t>
            </a:r>
            <a:endParaRPr lang="en-US" sz="1400" dirty="0"/>
          </a:p>
        </p:txBody>
      </p:sp>
      <p:sp>
        <p:nvSpPr>
          <p:cNvPr id="16" name="Text 11"/>
          <p:cNvSpPr/>
          <p:nvPr/>
        </p:nvSpPr>
        <p:spPr>
          <a:xfrm>
            <a:off x="8344882" y="3862884"/>
            <a:ext cx="3009031" cy="1778397"/>
          </a:xfrm>
          <a:prstGeom prst="rect">
            <a:avLst/>
          </a:prstGeom>
          <a:noFill/>
          <a:ln/>
        </p:spPr>
        <p:txBody>
          <a:bodyPr wrap="square" lIns="0" tIns="72219" rIns="0" bIns="0" rtlCol="0" anchor="t">
            <a:normAutofit/>
          </a:bodyPr>
          <a:lstStyle/>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Correct batch association across the supply chain</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Comprehensive transaction history records</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Lifecycle-event consistency and accuracy</a:t>
            </a:r>
            <a:endParaRPr lang="en-US" sz="1400" dirty="0"/>
          </a:p>
          <a:p>
            <a:pPr marL="284480" indent="-284480" algn="l">
              <a:lnSpc>
                <a:spcPct val="92000"/>
              </a:lnSpc>
              <a:buSzPct val="100000"/>
              <a:buChar char="•"/>
            </a:pPr>
            <a:r>
              <a:rPr lang="en-US" sz="1400" dirty="0">
                <a:solidFill>
                  <a:srgbClr val="23231E"/>
                </a:solidFill>
                <a:latin typeface="Inter Light" pitchFamily="34" charset="0"/>
                <a:ea typeface="Inter Light" pitchFamily="34" charset="-122"/>
                <a:cs typeface="Inter Light" pitchFamily="34" charset="-120"/>
              </a:rPr>
              <a:t>Overall data integrity and immutability</a:t>
            </a:r>
            <a:endParaRPr lang="en-US" sz="1400" dirty="0"/>
          </a:p>
        </p:txBody>
      </p:sp>
      <p:grpSp>
        <p:nvGrpSpPr>
          <p:cNvPr id="17" name="Group 16">
            <a:extLst>
              <a:ext uri="{FF2B5EF4-FFF2-40B4-BE49-F238E27FC236}">
                <a16:creationId xmlns:a16="http://schemas.microsoft.com/office/drawing/2014/main" id="{95D1E663-974A-ECA3-7351-F5DE79BB22F7}"/>
              </a:ext>
            </a:extLst>
          </p:cNvPr>
          <p:cNvGrpSpPr/>
          <p:nvPr/>
        </p:nvGrpSpPr>
        <p:grpSpPr>
          <a:xfrm>
            <a:off x="10686552" y="6506574"/>
            <a:ext cx="1505131" cy="351434"/>
            <a:chOff x="2623154" y="413097"/>
            <a:chExt cx="2599719" cy="525560"/>
          </a:xfrm>
        </p:grpSpPr>
        <p:sp>
          <p:nvSpPr>
            <p:cNvPr id="18" name="Freeform 17">
              <a:extLst>
                <a:ext uri="{FF2B5EF4-FFF2-40B4-BE49-F238E27FC236}">
                  <a16:creationId xmlns:a16="http://schemas.microsoft.com/office/drawing/2014/main" id="{4D3B5046-7BA6-DD01-A645-26F3FE5CAAD9}"/>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9"/>
              <a:stretch>
                <a:fillRect l="-64" r="-64" b="1"/>
              </a:stretch>
            </a:blipFill>
          </p:spPr>
          <p:txBody>
            <a:bodyPr/>
            <a:lstStyle/>
            <a:p>
              <a:endParaRPr lang="en-US" sz="1200" dirty="0"/>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631908" y="688975"/>
            <a:ext cx="10927878" cy="475159"/>
          </a:xfrm>
          <a:prstGeom prst="rect">
            <a:avLst/>
          </a:prstGeom>
          <a:noFill/>
          <a:ln/>
        </p:spPr>
        <p:txBody>
          <a:bodyPr wrap="none" lIns="0" tIns="0" rIns="0" bIns="0" rtlCol="0" anchor="t"/>
          <a:lstStyle/>
          <a:p>
            <a:pPr marL="0" indent="0" algn="l">
              <a:lnSpc>
                <a:spcPct val="83000"/>
              </a:lnSpc>
              <a:buNone/>
            </a:pPr>
            <a:r>
              <a:rPr lang="en-US" sz="3700" kern="0" spc="-112" dirty="0">
                <a:solidFill>
                  <a:srgbClr val="383830"/>
                </a:solidFill>
                <a:latin typeface="DM Sans ExtraBold" pitchFamily="34" charset="0"/>
                <a:ea typeface="DM Sans ExtraBold" pitchFamily="34" charset="-122"/>
                <a:cs typeface="DM Sans ExtraBold" pitchFamily="34" charset="-120"/>
              </a:rPr>
              <a:t>Real-World Usage Scenario</a:t>
            </a:r>
            <a:endParaRPr lang="en-US" sz="3700" dirty="0"/>
          </a:p>
        </p:txBody>
      </p:sp>
      <p:sp>
        <p:nvSpPr>
          <p:cNvPr id="3" name="Text 1"/>
          <p:cNvSpPr/>
          <p:nvPr/>
        </p:nvSpPr>
        <p:spPr>
          <a:xfrm>
            <a:off x="631908" y="1525191"/>
            <a:ext cx="10927878" cy="397272"/>
          </a:xfrm>
          <a:prstGeom prst="rect">
            <a:avLst/>
          </a:prstGeom>
          <a:noFill/>
          <a:ln/>
        </p:spPr>
        <p:txBody>
          <a:bodyPr wrap="square" lIns="0" tIns="0" rIns="0" bIns="0" rtlCol="0" anchor="t">
            <a:normAutofit/>
          </a:bodyPr>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Witness TexCycle AI in action: from initial textile upload to intelligent price prediction and optimized buyer matching, creating a transparent circular economy.</a:t>
            </a:r>
            <a:endParaRPr lang="en-US" sz="1400" dirty="0"/>
          </a:p>
        </p:txBody>
      </p:sp>
      <p:sp>
        <p:nvSpPr>
          <p:cNvPr id="4" name="Shape 2"/>
          <p:cNvSpPr/>
          <p:nvPr/>
        </p:nvSpPr>
        <p:spPr>
          <a:xfrm>
            <a:off x="631908" y="2170609"/>
            <a:ext cx="10927878" cy="25400"/>
          </a:xfrm>
          <a:prstGeom prst="roundRect">
            <a:avLst>
              <a:gd name="adj" fmla="val 49999"/>
            </a:avLst>
          </a:prstGeom>
          <a:solidFill>
            <a:srgbClr val="23231E">
              <a:alpha val="50000"/>
            </a:srgbClr>
          </a:solidFill>
          <a:ln/>
        </p:spPr>
        <p:txBody>
          <a:bodyPr/>
          <a:lstStyle/>
          <a:p>
            <a:endParaRPr lang="en-US"/>
          </a:p>
        </p:txBody>
      </p:sp>
      <p:sp>
        <p:nvSpPr>
          <p:cNvPr id="5" name="Shape 3"/>
          <p:cNvSpPr/>
          <p:nvPr/>
        </p:nvSpPr>
        <p:spPr>
          <a:xfrm>
            <a:off x="631908" y="4306590"/>
            <a:ext cx="10927878" cy="25400"/>
          </a:xfrm>
          <a:prstGeom prst="roundRect">
            <a:avLst>
              <a:gd name="adj" fmla="val 49999"/>
            </a:avLst>
          </a:prstGeom>
          <a:solidFill>
            <a:srgbClr val="000000">
              <a:alpha val="8000"/>
            </a:srgbClr>
          </a:solidFill>
          <a:ln/>
        </p:spPr>
        <p:txBody>
          <a:bodyPr/>
          <a:lstStyle/>
          <a:p>
            <a:endParaRPr lang="en-US"/>
          </a:p>
        </p:txBody>
      </p:sp>
      <p:sp>
        <p:nvSpPr>
          <p:cNvPr id="6" name="Shape 4"/>
          <p:cNvSpPr/>
          <p:nvPr/>
        </p:nvSpPr>
        <p:spPr>
          <a:xfrm>
            <a:off x="2737079" y="3764955"/>
            <a:ext cx="25399" cy="541635"/>
          </a:xfrm>
          <a:prstGeom prst="roundRect">
            <a:avLst>
              <a:gd name="adj" fmla="val 50001"/>
            </a:avLst>
          </a:prstGeom>
          <a:solidFill>
            <a:srgbClr val="515149"/>
          </a:solidFill>
          <a:ln/>
        </p:spPr>
        <p:txBody>
          <a:bodyPr/>
          <a:lstStyle/>
          <a:p>
            <a:endParaRPr lang="en-US"/>
          </a:p>
        </p:txBody>
      </p:sp>
      <p:sp>
        <p:nvSpPr>
          <p:cNvPr id="7" name="Shape 5"/>
          <p:cNvSpPr/>
          <p:nvPr/>
        </p:nvSpPr>
        <p:spPr>
          <a:xfrm>
            <a:off x="2546683" y="4103489"/>
            <a:ext cx="406191" cy="406202"/>
          </a:xfrm>
          <a:prstGeom prst="roundRect">
            <a:avLst>
              <a:gd name="adj" fmla="val 40004"/>
            </a:avLst>
          </a:prstGeom>
          <a:solidFill>
            <a:srgbClr val="383830"/>
          </a:solidFill>
          <a:ln/>
          <a:effectLst>
            <a:outerShdw blurRad="270510" dist="127" dir="16200000" algn="bl" rotWithShape="0">
              <a:srgbClr val="333333">
                <a:alpha val="10000"/>
              </a:srgbClr>
            </a:outerShdw>
          </a:effectLst>
        </p:spPr>
        <p:txBody>
          <a:bodyPr/>
          <a:lstStyle/>
          <a:p>
            <a:endParaRPr lang="en-US"/>
          </a:p>
        </p:txBody>
      </p:sp>
      <p:sp>
        <p:nvSpPr>
          <p:cNvPr id="8" name="Text 6"/>
          <p:cNvSpPr/>
          <p:nvPr/>
        </p:nvSpPr>
        <p:spPr>
          <a:xfrm>
            <a:off x="2607255" y="4164062"/>
            <a:ext cx="285048" cy="285055"/>
          </a:xfrm>
          <a:prstGeom prst="rect">
            <a:avLst/>
          </a:prstGeom>
          <a:noFill/>
          <a:ln/>
        </p:spPr>
        <p:txBody>
          <a:bodyPr wrap="none" lIns="0" tIns="0" rIns="0" bIns="0" rtlCol="0" anchor="ctr"/>
          <a:lstStyle/>
          <a:p>
            <a:pPr marL="0" indent="0" algn="ctr">
              <a:lnSpc>
                <a:spcPct val="100000"/>
              </a:lnSpc>
              <a:buNone/>
            </a:pPr>
            <a:r>
              <a:rPr lang="en-US" sz="2200" kern="0" spc="-67" dirty="0">
                <a:solidFill>
                  <a:srgbClr val="FFFFFF"/>
                </a:solidFill>
                <a:latin typeface="DM Sans ExtraBold" pitchFamily="34" charset="0"/>
                <a:ea typeface="DM Sans ExtraBold" pitchFamily="34" charset="-122"/>
                <a:cs typeface="DM Sans ExtraBold" pitchFamily="34" charset="-120"/>
              </a:rPr>
              <a:t>1</a:t>
            </a:r>
            <a:endParaRPr lang="en-US" sz="2200" dirty="0"/>
          </a:p>
        </p:txBody>
      </p:sp>
      <p:sp>
        <p:nvSpPr>
          <p:cNvPr id="9" name="Text 7"/>
          <p:cNvSpPr/>
          <p:nvPr/>
        </p:nvSpPr>
        <p:spPr>
          <a:xfrm>
            <a:off x="812383" y="2444155"/>
            <a:ext cx="3874792" cy="237530"/>
          </a:xfrm>
          <a:prstGeom prst="rect">
            <a:avLst/>
          </a:prstGeom>
          <a:noFill/>
          <a:ln/>
        </p:spPr>
        <p:txBody>
          <a:bodyPr wrap="none" lIns="0" tIns="0" rIns="0" bIns="0" rtlCol="0" anchor="t"/>
          <a:lstStyle/>
          <a:p>
            <a:pPr marL="0" indent="0" algn="ctr">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Seller Input: Textile Upload</a:t>
            </a:r>
            <a:endParaRPr lang="en-US" sz="1850" dirty="0"/>
          </a:p>
        </p:txBody>
      </p:sp>
      <p:sp>
        <p:nvSpPr>
          <p:cNvPr id="10" name="Text 8"/>
          <p:cNvSpPr/>
          <p:nvPr/>
        </p:nvSpPr>
        <p:spPr>
          <a:xfrm>
            <a:off x="812383" y="2789932"/>
            <a:ext cx="3874792" cy="595908"/>
          </a:xfrm>
          <a:prstGeom prst="rect">
            <a:avLst/>
          </a:prstGeom>
          <a:noFill/>
          <a:ln/>
        </p:spPr>
        <p:txBody>
          <a:bodyPr wrap="square" lIns="0" tIns="0" rIns="0" bIns="0" rtlCol="0" anchor="t">
            <a:normAutofit/>
          </a:bodyPr>
          <a:lstStyle/>
          <a:p>
            <a:pPr marL="0" indent="0" algn="ctr">
              <a:lnSpc>
                <a:spcPct val="92000"/>
              </a:lnSpc>
              <a:buNone/>
            </a:pPr>
            <a:r>
              <a:rPr lang="en-US" sz="1400" dirty="0">
                <a:solidFill>
                  <a:srgbClr val="23231E"/>
                </a:solidFill>
                <a:latin typeface="Inter Light" pitchFamily="34" charset="0"/>
                <a:ea typeface="Inter Light" pitchFamily="34" charset="-122"/>
                <a:cs typeface="Inter Light" pitchFamily="34" charset="-120"/>
              </a:rPr>
              <a:t>A textile seller uploads details for a batch, specifying criteria like </a:t>
            </a:r>
            <a:r>
              <a:rPr lang="en-US" sz="1400" b="1" dirty="0">
                <a:solidFill>
                  <a:srgbClr val="23231E"/>
                </a:solidFill>
                <a:latin typeface="Inter Bold" pitchFamily="34" charset="0"/>
                <a:ea typeface="Inter Bold" pitchFamily="34" charset="-122"/>
                <a:cs typeface="Inter Bold" pitchFamily="34" charset="-120"/>
              </a:rPr>
              <a:t>Fabric: Polyester</a:t>
            </a:r>
            <a:r>
              <a:rPr lang="en-US" sz="1400" dirty="0">
                <a:solidFill>
                  <a:srgbClr val="23231E"/>
                </a:solidFill>
                <a:latin typeface="Inter Light" pitchFamily="34" charset="0"/>
                <a:ea typeface="Inter Light" pitchFamily="34" charset="-122"/>
                <a:cs typeface="Inter Light" pitchFamily="34" charset="-120"/>
              </a:rPr>
              <a:t>, </a:t>
            </a:r>
            <a:r>
              <a:rPr lang="en-US" sz="1400" b="1" dirty="0">
                <a:solidFill>
                  <a:srgbClr val="23231E"/>
                </a:solidFill>
                <a:latin typeface="Inter Bold" pitchFamily="34" charset="0"/>
                <a:ea typeface="Inter Bold" pitchFamily="34" charset="-122"/>
                <a:cs typeface="Inter Bold" pitchFamily="34" charset="-120"/>
              </a:rPr>
              <a:t>Quantity: 50 kg</a:t>
            </a:r>
            <a:r>
              <a:rPr lang="en-US" sz="1400" dirty="0">
                <a:solidFill>
                  <a:srgbClr val="23231E"/>
                </a:solidFill>
                <a:latin typeface="Inter Light" pitchFamily="34" charset="0"/>
                <a:ea typeface="Inter Light" pitchFamily="34" charset="-122"/>
                <a:cs typeface="Inter Light" pitchFamily="34" charset="-120"/>
              </a:rPr>
              <a:t>, and </a:t>
            </a:r>
            <a:r>
              <a:rPr lang="en-US" sz="1400" b="1" dirty="0">
                <a:solidFill>
                  <a:srgbClr val="23231E"/>
                </a:solidFill>
                <a:latin typeface="Inter Bold" pitchFamily="34" charset="0"/>
                <a:ea typeface="Inter Bold" pitchFamily="34" charset="-122"/>
                <a:cs typeface="Inter Bold" pitchFamily="34" charset="-120"/>
              </a:rPr>
              <a:t>Condition: Good</a:t>
            </a:r>
            <a:r>
              <a:rPr lang="en-US" sz="1400" dirty="0">
                <a:solidFill>
                  <a:srgbClr val="23231E"/>
                </a:solidFill>
                <a:latin typeface="Inter Light" pitchFamily="34" charset="0"/>
                <a:ea typeface="Inter Light" pitchFamily="34" charset="-122"/>
                <a:cs typeface="Inter Light" pitchFamily="34" charset="-120"/>
              </a:rPr>
              <a:t>.</a:t>
            </a:r>
            <a:endParaRPr lang="en-US" sz="1400" dirty="0"/>
          </a:p>
        </p:txBody>
      </p:sp>
      <p:sp>
        <p:nvSpPr>
          <p:cNvPr id="11" name="Shape 9"/>
          <p:cNvSpPr/>
          <p:nvPr/>
        </p:nvSpPr>
        <p:spPr>
          <a:xfrm>
            <a:off x="4967759" y="4306590"/>
            <a:ext cx="25399" cy="541635"/>
          </a:xfrm>
          <a:prstGeom prst="roundRect">
            <a:avLst>
              <a:gd name="adj" fmla="val 50001"/>
            </a:avLst>
          </a:prstGeom>
          <a:solidFill>
            <a:srgbClr val="77776C"/>
          </a:solidFill>
          <a:ln/>
        </p:spPr>
        <p:txBody>
          <a:bodyPr/>
          <a:lstStyle/>
          <a:p>
            <a:endParaRPr lang="en-US"/>
          </a:p>
        </p:txBody>
      </p:sp>
      <p:sp>
        <p:nvSpPr>
          <p:cNvPr id="12" name="Shape 10"/>
          <p:cNvSpPr/>
          <p:nvPr/>
        </p:nvSpPr>
        <p:spPr>
          <a:xfrm>
            <a:off x="4777363" y="4103489"/>
            <a:ext cx="406191" cy="406202"/>
          </a:xfrm>
          <a:prstGeom prst="roundRect">
            <a:avLst>
              <a:gd name="adj" fmla="val 40004"/>
            </a:avLst>
          </a:prstGeom>
          <a:solidFill>
            <a:srgbClr val="5E5E53"/>
          </a:solidFill>
          <a:ln/>
          <a:effectLst>
            <a:outerShdw blurRad="270510" dist="127" dir="16200000" algn="bl" rotWithShape="0">
              <a:srgbClr val="333333">
                <a:alpha val="10000"/>
              </a:srgbClr>
            </a:outerShdw>
          </a:effectLst>
        </p:spPr>
        <p:txBody>
          <a:bodyPr/>
          <a:lstStyle/>
          <a:p>
            <a:endParaRPr lang="en-US"/>
          </a:p>
        </p:txBody>
      </p:sp>
      <p:sp>
        <p:nvSpPr>
          <p:cNvPr id="13" name="Text 11"/>
          <p:cNvSpPr/>
          <p:nvPr/>
        </p:nvSpPr>
        <p:spPr>
          <a:xfrm>
            <a:off x="4837934" y="4164062"/>
            <a:ext cx="285048" cy="285055"/>
          </a:xfrm>
          <a:prstGeom prst="rect">
            <a:avLst/>
          </a:prstGeom>
          <a:noFill/>
          <a:ln/>
        </p:spPr>
        <p:txBody>
          <a:bodyPr wrap="none" lIns="0" tIns="0" rIns="0" bIns="0" rtlCol="0" anchor="ctr"/>
          <a:lstStyle/>
          <a:p>
            <a:pPr marL="0" indent="0" algn="ctr">
              <a:lnSpc>
                <a:spcPct val="100000"/>
              </a:lnSpc>
              <a:buNone/>
            </a:pPr>
            <a:r>
              <a:rPr lang="en-US" sz="2200" kern="0" spc="-67" dirty="0">
                <a:solidFill>
                  <a:srgbClr val="FFFFFF"/>
                </a:solidFill>
                <a:latin typeface="DM Sans ExtraBold" pitchFamily="34" charset="0"/>
                <a:ea typeface="DM Sans ExtraBold" pitchFamily="34" charset="-122"/>
                <a:cs typeface="DM Sans ExtraBold" pitchFamily="34" charset="-120"/>
              </a:rPr>
              <a:t>2</a:t>
            </a:r>
            <a:endParaRPr lang="en-US" sz="2200" dirty="0"/>
          </a:p>
        </p:txBody>
      </p:sp>
      <p:sp>
        <p:nvSpPr>
          <p:cNvPr id="14" name="Text 12"/>
          <p:cNvSpPr/>
          <p:nvPr/>
        </p:nvSpPr>
        <p:spPr>
          <a:xfrm>
            <a:off x="3043062" y="5028704"/>
            <a:ext cx="3874792" cy="237530"/>
          </a:xfrm>
          <a:prstGeom prst="rect">
            <a:avLst/>
          </a:prstGeom>
          <a:noFill/>
          <a:ln/>
        </p:spPr>
        <p:txBody>
          <a:bodyPr wrap="none" lIns="0" tIns="0" rIns="0" bIns="0" rtlCol="0" anchor="t"/>
          <a:lstStyle/>
          <a:p>
            <a:pPr marL="0" indent="0" algn="ctr">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AI Processing &amp; Analysis</a:t>
            </a:r>
            <a:endParaRPr lang="en-US" sz="1850" dirty="0"/>
          </a:p>
        </p:txBody>
      </p:sp>
      <p:sp>
        <p:nvSpPr>
          <p:cNvPr id="15" name="Text 13"/>
          <p:cNvSpPr/>
          <p:nvPr/>
        </p:nvSpPr>
        <p:spPr>
          <a:xfrm>
            <a:off x="3043062" y="5374481"/>
            <a:ext cx="3874792" cy="794544"/>
          </a:xfrm>
          <a:prstGeom prst="rect">
            <a:avLst/>
          </a:prstGeom>
          <a:noFill/>
          <a:ln/>
        </p:spPr>
        <p:txBody>
          <a:bodyPr wrap="square" lIns="0" tIns="0" rIns="0" bIns="0" rtlCol="0" anchor="t">
            <a:normAutofit/>
          </a:bodyPr>
          <a:lstStyle/>
          <a:p>
            <a:pPr marL="0" indent="0" algn="ctr">
              <a:lnSpc>
                <a:spcPct val="92000"/>
              </a:lnSpc>
              <a:buNone/>
            </a:pPr>
            <a:r>
              <a:rPr lang="en-US" sz="1400" dirty="0">
                <a:solidFill>
                  <a:srgbClr val="23231E"/>
                </a:solidFill>
                <a:latin typeface="Inter Light" pitchFamily="34" charset="0"/>
                <a:ea typeface="Inter Light" pitchFamily="34" charset="-122"/>
                <a:cs typeface="Inter Light" pitchFamily="34" charset="-120"/>
              </a:rPr>
              <a:t>TexCycle AI instantly processes the data, applying advanced algorithms to evaluate market value, potential applications, and environmental impact.</a:t>
            </a:r>
            <a:endParaRPr lang="en-US" sz="1400" dirty="0"/>
          </a:p>
        </p:txBody>
      </p:sp>
      <p:sp>
        <p:nvSpPr>
          <p:cNvPr id="16" name="Shape 14"/>
          <p:cNvSpPr/>
          <p:nvPr/>
        </p:nvSpPr>
        <p:spPr>
          <a:xfrm>
            <a:off x="7198438" y="3764955"/>
            <a:ext cx="25399" cy="541635"/>
          </a:xfrm>
          <a:prstGeom prst="roundRect">
            <a:avLst>
              <a:gd name="adj" fmla="val 50001"/>
            </a:avLst>
          </a:prstGeom>
          <a:solidFill>
            <a:srgbClr val="717160"/>
          </a:solidFill>
          <a:ln/>
        </p:spPr>
        <p:txBody>
          <a:bodyPr/>
          <a:lstStyle/>
          <a:p>
            <a:endParaRPr lang="en-US"/>
          </a:p>
        </p:txBody>
      </p:sp>
      <p:sp>
        <p:nvSpPr>
          <p:cNvPr id="17" name="Shape 15"/>
          <p:cNvSpPr/>
          <p:nvPr/>
        </p:nvSpPr>
        <p:spPr>
          <a:xfrm>
            <a:off x="7008042" y="4103489"/>
            <a:ext cx="406191" cy="406202"/>
          </a:xfrm>
          <a:prstGeom prst="roundRect">
            <a:avLst>
              <a:gd name="adj" fmla="val 40004"/>
            </a:avLst>
          </a:prstGeom>
          <a:solidFill>
            <a:srgbClr val="8B8B7A"/>
          </a:solidFill>
          <a:ln/>
          <a:effectLst>
            <a:outerShdw blurRad="270510" dist="127" dir="16200000" algn="bl" rotWithShape="0">
              <a:srgbClr val="333333">
                <a:alpha val="10000"/>
              </a:srgbClr>
            </a:outerShdw>
          </a:effectLst>
        </p:spPr>
        <p:txBody>
          <a:bodyPr/>
          <a:lstStyle/>
          <a:p>
            <a:endParaRPr lang="en-US"/>
          </a:p>
        </p:txBody>
      </p:sp>
      <p:sp>
        <p:nvSpPr>
          <p:cNvPr id="18" name="Text 16"/>
          <p:cNvSpPr/>
          <p:nvPr/>
        </p:nvSpPr>
        <p:spPr>
          <a:xfrm>
            <a:off x="7068613" y="4164062"/>
            <a:ext cx="285048" cy="285055"/>
          </a:xfrm>
          <a:prstGeom prst="rect">
            <a:avLst/>
          </a:prstGeom>
          <a:noFill/>
          <a:ln/>
        </p:spPr>
        <p:txBody>
          <a:bodyPr wrap="none" lIns="0" tIns="0" rIns="0" bIns="0" rtlCol="0" anchor="ctr"/>
          <a:lstStyle/>
          <a:p>
            <a:pPr marL="0" indent="0" algn="ctr">
              <a:lnSpc>
                <a:spcPct val="100000"/>
              </a:lnSpc>
              <a:buNone/>
            </a:pPr>
            <a:r>
              <a:rPr lang="en-US" sz="2200" kern="0" spc="-67" dirty="0">
                <a:solidFill>
                  <a:srgbClr val="000000"/>
                </a:solidFill>
                <a:latin typeface="DM Sans ExtraBold" pitchFamily="34" charset="0"/>
                <a:ea typeface="DM Sans ExtraBold" pitchFamily="34" charset="-122"/>
                <a:cs typeface="DM Sans ExtraBold" pitchFamily="34" charset="-120"/>
              </a:rPr>
              <a:t>3</a:t>
            </a:r>
            <a:endParaRPr lang="en-US" sz="2200" dirty="0"/>
          </a:p>
        </p:txBody>
      </p:sp>
      <p:sp>
        <p:nvSpPr>
          <p:cNvPr id="19" name="Text 17"/>
          <p:cNvSpPr/>
          <p:nvPr/>
        </p:nvSpPr>
        <p:spPr>
          <a:xfrm>
            <a:off x="5273742" y="2444155"/>
            <a:ext cx="3874792" cy="237530"/>
          </a:xfrm>
          <a:prstGeom prst="rect">
            <a:avLst/>
          </a:prstGeom>
          <a:noFill/>
          <a:ln/>
        </p:spPr>
        <p:txBody>
          <a:bodyPr wrap="none" lIns="0" tIns="0" rIns="0" bIns="0" rtlCol="0" anchor="t"/>
          <a:lstStyle/>
          <a:p>
            <a:pPr marL="0" indent="0" algn="ctr">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Intelligent Outputs Generated</a:t>
            </a:r>
            <a:endParaRPr lang="en-US" sz="1850" dirty="0"/>
          </a:p>
        </p:txBody>
      </p:sp>
      <p:sp>
        <p:nvSpPr>
          <p:cNvPr id="20" name="Text 18"/>
          <p:cNvSpPr/>
          <p:nvPr/>
        </p:nvSpPr>
        <p:spPr>
          <a:xfrm>
            <a:off x="5273742" y="2789932"/>
            <a:ext cx="3874792" cy="794544"/>
          </a:xfrm>
          <a:prstGeom prst="rect">
            <a:avLst/>
          </a:prstGeom>
          <a:noFill/>
          <a:ln/>
        </p:spPr>
        <p:txBody>
          <a:bodyPr wrap="square" lIns="0" tIns="0" rIns="0" bIns="0" rtlCol="0" anchor="t">
            <a:normAutofit/>
          </a:bodyPr>
          <a:lstStyle/>
          <a:p>
            <a:pPr marL="0" indent="0" algn="ctr">
              <a:lnSpc>
                <a:spcPct val="92000"/>
              </a:lnSpc>
              <a:buNone/>
            </a:pPr>
            <a:r>
              <a:rPr lang="en-US" sz="1400" dirty="0">
                <a:solidFill>
                  <a:srgbClr val="23231E"/>
                </a:solidFill>
                <a:latin typeface="Inter Light" pitchFamily="34" charset="0"/>
                <a:ea typeface="Inter Light" pitchFamily="34" charset="-122"/>
                <a:cs typeface="Inter Light" pitchFamily="34" charset="-120"/>
              </a:rPr>
              <a:t>The system generates a </a:t>
            </a:r>
            <a:r>
              <a:rPr lang="en-US" sz="1400" b="1" dirty="0">
                <a:solidFill>
                  <a:srgbClr val="23231E"/>
                </a:solidFill>
                <a:latin typeface="Inter Bold" pitchFamily="34" charset="0"/>
                <a:ea typeface="Inter Bold" pitchFamily="34" charset="-122"/>
                <a:cs typeface="Inter Bold" pitchFamily="34" charset="-120"/>
              </a:rPr>
              <a:t>Predicted Price</a:t>
            </a:r>
            <a:r>
              <a:rPr lang="en-US" sz="1400" dirty="0">
                <a:solidFill>
                  <a:srgbClr val="23231E"/>
                </a:solidFill>
                <a:latin typeface="Inter Light" pitchFamily="34" charset="0"/>
                <a:ea typeface="Inter Light" pitchFamily="34" charset="-122"/>
                <a:cs typeface="Inter Light" pitchFamily="34" charset="-120"/>
              </a:rPr>
              <a:t>, a dynamic </a:t>
            </a:r>
            <a:r>
              <a:rPr lang="en-US" sz="1400" b="1" dirty="0">
                <a:solidFill>
                  <a:srgbClr val="23231E"/>
                </a:solidFill>
                <a:latin typeface="Inter Bold" pitchFamily="34" charset="0"/>
                <a:ea typeface="Inter Bold" pitchFamily="34" charset="-122"/>
                <a:cs typeface="Inter Bold" pitchFamily="34" charset="-120"/>
              </a:rPr>
              <a:t>Price Range</a:t>
            </a:r>
            <a:r>
              <a:rPr lang="en-US" sz="1400" dirty="0">
                <a:solidFill>
                  <a:srgbClr val="23231E"/>
                </a:solidFill>
                <a:latin typeface="Inter Light" pitchFamily="34" charset="0"/>
                <a:ea typeface="Inter Light" pitchFamily="34" charset="-122"/>
                <a:cs typeface="Inter Light" pitchFamily="34" charset="-120"/>
              </a:rPr>
              <a:t>, tailored </a:t>
            </a:r>
            <a:r>
              <a:rPr lang="en-US" sz="1400" b="1" dirty="0">
                <a:solidFill>
                  <a:srgbClr val="23231E"/>
                </a:solidFill>
                <a:latin typeface="Inter Bold" pitchFamily="34" charset="0"/>
                <a:ea typeface="Inter Bold" pitchFamily="34" charset="-122"/>
                <a:cs typeface="Inter Bold" pitchFamily="34" charset="-120"/>
              </a:rPr>
              <a:t>Buyer Recommendations</a:t>
            </a:r>
            <a:r>
              <a:rPr lang="en-US" sz="1400" dirty="0">
                <a:solidFill>
                  <a:srgbClr val="23231E"/>
                </a:solidFill>
                <a:latin typeface="Inter Light" pitchFamily="34" charset="0"/>
                <a:ea typeface="Inter Light" pitchFamily="34" charset="-122"/>
                <a:cs typeface="Inter Light" pitchFamily="34" charset="-120"/>
              </a:rPr>
              <a:t>, and a comprehensive </a:t>
            </a:r>
            <a:r>
              <a:rPr lang="en-US" sz="1400" b="1" dirty="0">
                <a:solidFill>
                  <a:srgbClr val="23231E"/>
                </a:solidFill>
                <a:latin typeface="Inter Bold" pitchFamily="34" charset="0"/>
                <a:ea typeface="Inter Bold" pitchFamily="34" charset="-122"/>
                <a:cs typeface="Inter Bold" pitchFamily="34" charset="-120"/>
              </a:rPr>
              <a:t>Traceability Record</a:t>
            </a:r>
            <a:r>
              <a:rPr lang="en-US" sz="1400" dirty="0">
                <a:solidFill>
                  <a:srgbClr val="23231E"/>
                </a:solidFill>
                <a:latin typeface="Inter Light" pitchFamily="34" charset="0"/>
                <a:ea typeface="Inter Light" pitchFamily="34" charset="-122"/>
                <a:cs typeface="Inter Light" pitchFamily="34" charset="-120"/>
              </a:rPr>
              <a:t>.</a:t>
            </a:r>
            <a:endParaRPr lang="en-US" sz="1400" dirty="0"/>
          </a:p>
        </p:txBody>
      </p:sp>
      <p:sp>
        <p:nvSpPr>
          <p:cNvPr id="21" name="Shape 19"/>
          <p:cNvSpPr/>
          <p:nvPr/>
        </p:nvSpPr>
        <p:spPr>
          <a:xfrm>
            <a:off x="9429117" y="4306590"/>
            <a:ext cx="25399" cy="541635"/>
          </a:xfrm>
          <a:prstGeom prst="roundRect">
            <a:avLst>
              <a:gd name="adj" fmla="val 50001"/>
            </a:avLst>
          </a:prstGeom>
          <a:solidFill>
            <a:srgbClr val="3C3C37"/>
          </a:solidFill>
          <a:ln/>
        </p:spPr>
        <p:txBody>
          <a:bodyPr/>
          <a:lstStyle/>
          <a:p>
            <a:endParaRPr lang="en-US"/>
          </a:p>
        </p:txBody>
      </p:sp>
      <p:sp>
        <p:nvSpPr>
          <p:cNvPr id="22" name="Shape 20"/>
          <p:cNvSpPr/>
          <p:nvPr/>
        </p:nvSpPr>
        <p:spPr>
          <a:xfrm>
            <a:off x="9238721" y="4103489"/>
            <a:ext cx="406191" cy="406202"/>
          </a:xfrm>
          <a:prstGeom prst="roundRect">
            <a:avLst>
              <a:gd name="adj" fmla="val 40004"/>
            </a:avLst>
          </a:prstGeom>
          <a:solidFill>
            <a:srgbClr val="23231E"/>
          </a:solidFill>
          <a:ln/>
          <a:effectLst>
            <a:outerShdw blurRad="270510" dist="127" dir="16200000" algn="bl" rotWithShape="0">
              <a:srgbClr val="333333">
                <a:alpha val="10000"/>
              </a:srgbClr>
            </a:outerShdw>
          </a:effectLst>
        </p:spPr>
        <p:txBody>
          <a:bodyPr/>
          <a:lstStyle/>
          <a:p>
            <a:endParaRPr lang="en-US"/>
          </a:p>
        </p:txBody>
      </p:sp>
      <p:sp>
        <p:nvSpPr>
          <p:cNvPr id="23" name="Text 21"/>
          <p:cNvSpPr/>
          <p:nvPr/>
        </p:nvSpPr>
        <p:spPr>
          <a:xfrm>
            <a:off x="9299293" y="4164062"/>
            <a:ext cx="285048" cy="285055"/>
          </a:xfrm>
          <a:prstGeom prst="rect">
            <a:avLst/>
          </a:prstGeom>
          <a:noFill/>
          <a:ln/>
        </p:spPr>
        <p:txBody>
          <a:bodyPr wrap="none" lIns="0" tIns="0" rIns="0" bIns="0" rtlCol="0" anchor="ctr"/>
          <a:lstStyle/>
          <a:p>
            <a:pPr marL="0" indent="0" algn="ctr">
              <a:lnSpc>
                <a:spcPct val="100000"/>
              </a:lnSpc>
              <a:buNone/>
            </a:pPr>
            <a:r>
              <a:rPr lang="en-US" sz="2200" kern="0" spc="-67" dirty="0">
                <a:solidFill>
                  <a:srgbClr val="FFFFFF"/>
                </a:solidFill>
                <a:latin typeface="DM Sans ExtraBold" pitchFamily="34" charset="0"/>
                <a:ea typeface="DM Sans ExtraBold" pitchFamily="34" charset="-122"/>
                <a:cs typeface="DM Sans ExtraBold" pitchFamily="34" charset="-120"/>
              </a:rPr>
              <a:t>4</a:t>
            </a:r>
            <a:endParaRPr lang="en-US" sz="2200" dirty="0"/>
          </a:p>
        </p:txBody>
      </p:sp>
      <p:sp>
        <p:nvSpPr>
          <p:cNvPr id="24" name="Text 22"/>
          <p:cNvSpPr/>
          <p:nvPr/>
        </p:nvSpPr>
        <p:spPr>
          <a:xfrm>
            <a:off x="7504421" y="5028704"/>
            <a:ext cx="3874792" cy="237530"/>
          </a:xfrm>
          <a:prstGeom prst="rect">
            <a:avLst/>
          </a:prstGeom>
          <a:noFill/>
          <a:ln/>
        </p:spPr>
        <p:txBody>
          <a:bodyPr wrap="none" lIns="0" tIns="0" rIns="0" bIns="0" rtlCol="0" anchor="t"/>
          <a:lstStyle/>
          <a:p>
            <a:pPr marL="0" indent="0" algn="ctr">
              <a:lnSpc>
                <a:spcPct val="83000"/>
              </a:lnSpc>
              <a:buNone/>
            </a:pPr>
            <a:r>
              <a:rPr lang="en-US" sz="1850" kern="0" spc="-56" dirty="0">
                <a:solidFill>
                  <a:srgbClr val="23231E"/>
                </a:solidFill>
                <a:latin typeface="DM Sans ExtraBold" pitchFamily="34" charset="0"/>
                <a:ea typeface="DM Sans ExtraBold" pitchFamily="34" charset="-122"/>
                <a:cs typeface="DM Sans ExtraBold" pitchFamily="34" charset="-120"/>
              </a:rPr>
              <a:t>Optimized Placement Example</a:t>
            </a:r>
            <a:endParaRPr lang="en-US" sz="1850" dirty="0"/>
          </a:p>
        </p:txBody>
      </p:sp>
      <p:sp>
        <p:nvSpPr>
          <p:cNvPr id="25" name="Text 23"/>
          <p:cNvSpPr/>
          <p:nvPr/>
        </p:nvSpPr>
        <p:spPr>
          <a:xfrm>
            <a:off x="7504421" y="5374481"/>
            <a:ext cx="3874792" cy="794544"/>
          </a:xfrm>
          <a:prstGeom prst="rect">
            <a:avLst/>
          </a:prstGeom>
          <a:noFill/>
          <a:ln/>
        </p:spPr>
        <p:txBody>
          <a:bodyPr wrap="square" lIns="0" tIns="0" rIns="0" bIns="0" rtlCol="0" anchor="t">
            <a:normAutofit/>
          </a:bodyPr>
          <a:lstStyle/>
          <a:p>
            <a:pPr marL="0" indent="0" algn="ctr">
              <a:lnSpc>
                <a:spcPct val="92000"/>
              </a:lnSpc>
              <a:buNone/>
            </a:pPr>
            <a:r>
              <a:rPr lang="en-US" sz="1400" dirty="0">
                <a:solidFill>
                  <a:srgbClr val="23231E"/>
                </a:solidFill>
                <a:latin typeface="Inter Light" pitchFamily="34" charset="0"/>
                <a:ea typeface="Inter Light" pitchFamily="34" charset="-122"/>
                <a:cs typeface="Inter Light" pitchFamily="34" charset="-120"/>
              </a:rPr>
              <a:t>For instance, the "Good" condition Polyester might be recommended to a </a:t>
            </a:r>
            <a:r>
              <a:rPr lang="en-US" sz="1400" b="1" dirty="0">
                <a:solidFill>
                  <a:srgbClr val="23231E"/>
                </a:solidFill>
                <a:latin typeface="Inter Bold" pitchFamily="34" charset="0"/>
                <a:ea typeface="Inter Bold" pitchFamily="34" charset="-122"/>
                <a:cs typeface="Inter Bold" pitchFamily="34" charset="-120"/>
              </a:rPr>
              <a:t>Recycler</a:t>
            </a:r>
            <a:r>
              <a:rPr lang="en-US" sz="1400" dirty="0">
                <a:solidFill>
                  <a:srgbClr val="23231E"/>
                </a:solidFill>
                <a:latin typeface="Inter Light" pitchFamily="34" charset="0"/>
                <a:ea typeface="Inter Light" pitchFamily="34" charset="-122"/>
                <a:cs typeface="Inter Light" pitchFamily="34" charset="-120"/>
              </a:rPr>
              <a:t> for fiber regeneration or a </a:t>
            </a:r>
            <a:r>
              <a:rPr lang="en-US" sz="1400" b="1" dirty="0">
                <a:solidFill>
                  <a:srgbClr val="23231E"/>
                </a:solidFill>
                <a:latin typeface="Inter Bold" pitchFamily="34" charset="0"/>
                <a:ea typeface="Inter Bold" pitchFamily="34" charset="-122"/>
                <a:cs typeface="Inter Bold" pitchFamily="34" charset="-120"/>
              </a:rPr>
              <a:t>Garment Manufacturer</a:t>
            </a:r>
            <a:r>
              <a:rPr lang="en-US" sz="1400" dirty="0">
                <a:solidFill>
                  <a:srgbClr val="23231E"/>
                </a:solidFill>
                <a:latin typeface="Inter Light" pitchFamily="34" charset="0"/>
                <a:ea typeface="Inter Light" pitchFamily="34" charset="-122"/>
                <a:cs typeface="Inter Light" pitchFamily="34" charset="-120"/>
              </a:rPr>
              <a:t> for upcycling.</a:t>
            </a:r>
            <a:endParaRPr lang="en-US" sz="1400" dirty="0"/>
          </a:p>
        </p:txBody>
      </p:sp>
      <p:grpSp>
        <p:nvGrpSpPr>
          <p:cNvPr id="26" name="Group 25">
            <a:extLst>
              <a:ext uri="{FF2B5EF4-FFF2-40B4-BE49-F238E27FC236}">
                <a16:creationId xmlns:a16="http://schemas.microsoft.com/office/drawing/2014/main" id="{BA7502CF-1693-2751-E543-4DAE912B2ACA}"/>
              </a:ext>
            </a:extLst>
          </p:cNvPr>
          <p:cNvGrpSpPr/>
          <p:nvPr/>
        </p:nvGrpSpPr>
        <p:grpSpPr>
          <a:xfrm>
            <a:off x="10686552" y="6506574"/>
            <a:ext cx="1505131" cy="351434"/>
            <a:chOff x="2623154" y="413097"/>
            <a:chExt cx="2599719" cy="525560"/>
          </a:xfrm>
        </p:grpSpPr>
        <p:sp>
          <p:nvSpPr>
            <p:cNvPr id="27" name="Freeform 26">
              <a:extLst>
                <a:ext uri="{FF2B5EF4-FFF2-40B4-BE49-F238E27FC236}">
                  <a16:creationId xmlns:a16="http://schemas.microsoft.com/office/drawing/2014/main" id="{7283847D-F467-2AE4-8F6E-6585633171E4}"/>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sz="1200" dirty="0"/>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3" name="Text 0"/>
          <p:cNvSpPr/>
          <p:nvPr/>
        </p:nvSpPr>
        <p:spPr>
          <a:xfrm>
            <a:off x="631908" y="2540496"/>
            <a:ext cx="6355993" cy="475159"/>
          </a:xfrm>
          <a:prstGeom prst="rect">
            <a:avLst/>
          </a:prstGeom>
          <a:noFill/>
          <a:ln/>
        </p:spPr>
        <p:txBody>
          <a:bodyPr wrap="none" lIns="0" tIns="0" rIns="0" bIns="0" rtlCol="0" anchor="t"/>
          <a:lstStyle/>
          <a:p>
            <a:pPr marL="0" indent="0" algn="l">
              <a:lnSpc>
                <a:spcPct val="83000"/>
              </a:lnSpc>
              <a:buNone/>
            </a:pPr>
            <a:r>
              <a:rPr lang="en-US" sz="3700" kern="0" spc="-112" dirty="0">
                <a:solidFill>
                  <a:srgbClr val="383830"/>
                </a:solidFill>
                <a:latin typeface="DM Sans ExtraBold" pitchFamily="34" charset="0"/>
                <a:ea typeface="DM Sans ExtraBold" pitchFamily="34" charset="-122"/>
                <a:cs typeface="DM Sans ExtraBold" pitchFamily="34" charset="-120"/>
              </a:rPr>
              <a:t>Thalagala T.A.D.V.</a:t>
            </a:r>
            <a:endParaRPr lang="en-US" sz="3700" dirty="0"/>
          </a:p>
        </p:txBody>
      </p:sp>
      <p:sp>
        <p:nvSpPr>
          <p:cNvPr id="4" name="Text 1"/>
          <p:cNvSpPr/>
          <p:nvPr/>
        </p:nvSpPr>
        <p:spPr>
          <a:xfrm>
            <a:off x="631908" y="3087787"/>
            <a:ext cx="6355993" cy="760214"/>
          </a:xfrm>
          <a:prstGeom prst="rect">
            <a:avLst/>
          </a:prstGeom>
          <a:noFill/>
          <a:ln/>
        </p:spPr>
        <p:txBody>
          <a:bodyPr wrap="square" lIns="0" tIns="0" rIns="0" bIns="0" rtlCol="0" anchor="t">
            <a:normAutofit/>
          </a:bodyPr>
          <a:lstStyle/>
          <a:p>
            <a:pPr marL="0" indent="0" algn="l">
              <a:lnSpc>
                <a:spcPct val="83000"/>
              </a:lnSpc>
              <a:buNone/>
            </a:pPr>
            <a:r>
              <a:rPr lang="en-US" sz="2950" kern="0" spc="-90" dirty="0">
                <a:solidFill>
                  <a:srgbClr val="383830"/>
                </a:solidFill>
                <a:latin typeface="DM Sans ExtraBold" pitchFamily="34" charset="0"/>
                <a:ea typeface="DM Sans ExtraBold" pitchFamily="34" charset="-122"/>
                <a:cs typeface="DM Sans ExtraBold" pitchFamily="34" charset="-120"/>
              </a:rPr>
              <a:t>Marketplace Platform &amp; Predictive Analytics</a:t>
            </a:r>
            <a:endParaRPr lang="en-US" sz="2950" dirty="0"/>
          </a:p>
        </p:txBody>
      </p:sp>
      <p:sp>
        <p:nvSpPr>
          <p:cNvPr id="5" name="Text 2"/>
          <p:cNvSpPr/>
          <p:nvPr/>
        </p:nvSpPr>
        <p:spPr>
          <a:xfrm>
            <a:off x="631908" y="4118769"/>
            <a:ext cx="6965577" cy="198636"/>
          </a:xfrm>
          <a:prstGeom prst="rect">
            <a:avLst/>
          </a:prstGeom>
          <a:noFill/>
          <a:ln/>
        </p:spPr>
        <p:txBody>
          <a:bodyPr wrap="none" lIns="0" tIns="0" rIns="0" bIns="0" rtlCol="0" anchor="t"/>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IT22281678</a:t>
            </a:r>
            <a:endParaRPr lang="en-US" sz="1400" dirty="0"/>
          </a:p>
        </p:txBody>
      </p:sp>
      <p:grpSp>
        <p:nvGrpSpPr>
          <p:cNvPr id="6" name="Group 5">
            <a:extLst>
              <a:ext uri="{FF2B5EF4-FFF2-40B4-BE49-F238E27FC236}">
                <a16:creationId xmlns:a16="http://schemas.microsoft.com/office/drawing/2014/main" id="{BADA4475-266D-8BCB-2AAA-47C944C9476F}"/>
              </a:ext>
            </a:extLst>
          </p:cNvPr>
          <p:cNvGrpSpPr/>
          <p:nvPr/>
        </p:nvGrpSpPr>
        <p:grpSpPr>
          <a:xfrm>
            <a:off x="10686552" y="6506574"/>
            <a:ext cx="1505131" cy="351434"/>
            <a:chOff x="2623154" y="413097"/>
            <a:chExt cx="2599719" cy="525560"/>
          </a:xfrm>
        </p:grpSpPr>
        <p:sp>
          <p:nvSpPr>
            <p:cNvPr id="7" name="Freeform 6">
              <a:extLst>
                <a:ext uri="{FF2B5EF4-FFF2-40B4-BE49-F238E27FC236}">
                  <a16:creationId xmlns:a16="http://schemas.microsoft.com/office/drawing/2014/main" id="{0EA42F69-BB95-07F3-E3F8-E44BF6A3636E}"/>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sz="1200" dirty="0"/>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631908" y="973534"/>
            <a:ext cx="1661476" cy="233164"/>
          </a:xfrm>
          <a:prstGeom prst="roundRect">
            <a:avLst>
              <a:gd name="adj" fmla="val 47389"/>
            </a:avLst>
          </a:prstGeom>
          <a:noFill/>
          <a:ln w="6350">
            <a:solidFill>
              <a:srgbClr val="2E8B57"/>
            </a:solidFill>
            <a:prstDash val="solid"/>
          </a:ln>
        </p:spPr>
        <p:txBody>
          <a:bodyPr/>
          <a:lstStyle/>
          <a:p>
            <a:endParaRPr lang="en-US"/>
          </a:p>
        </p:txBody>
      </p:sp>
      <p:sp>
        <p:nvSpPr>
          <p:cNvPr id="3" name="Text 1"/>
          <p:cNvSpPr/>
          <p:nvPr/>
        </p:nvSpPr>
        <p:spPr>
          <a:xfrm>
            <a:off x="723981" y="1019572"/>
            <a:ext cx="2086915" cy="141089"/>
          </a:xfrm>
          <a:prstGeom prst="rect">
            <a:avLst/>
          </a:prstGeom>
          <a:noFill/>
          <a:ln/>
        </p:spPr>
        <p:txBody>
          <a:bodyPr wrap="none" lIns="0" tIns="0" rIns="0" bIns="0" rtlCol="0" anchor="t"/>
          <a:lstStyle/>
          <a:p>
            <a:pPr marL="0" indent="0" algn="l">
              <a:lnSpc>
                <a:spcPct val="96000"/>
              </a:lnSpc>
              <a:buNone/>
            </a:pPr>
            <a:r>
              <a:rPr lang="en-US" sz="950" dirty="0">
                <a:solidFill>
                  <a:srgbClr val="2E8B57"/>
                </a:solidFill>
                <a:latin typeface="Inter Light" pitchFamily="34" charset="0"/>
                <a:ea typeface="Inter Light" pitchFamily="34" charset="-122"/>
                <a:cs typeface="Inter Light" pitchFamily="34" charset="-120"/>
              </a:rPr>
              <a:t>RESEARCH COMPONENT</a:t>
            </a:r>
            <a:endParaRPr lang="en-US" sz="950" dirty="0"/>
          </a:p>
        </p:txBody>
      </p:sp>
      <p:sp>
        <p:nvSpPr>
          <p:cNvPr id="4" name="Text 2"/>
          <p:cNvSpPr/>
          <p:nvPr/>
        </p:nvSpPr>
        <p:spPr>
          <a:xfrm>
            <a:off x="631908" y="1258788"/>
            <a:ext cx="10927878" cy="323056"/>
          </a:xfrm>
          <a:prstGeom prst="rect">
            <a:avLst/>
          </a:prstGeom>
          <a:noFill/>
          <a:ln/>
        </p:spPr>
        <p:txBody>
          <a:bodyPr wrap="none" lIns="0" tIns="0" rIns="0" bIns="0" rtlCol="0" anchor="t"/>
          <a:lstStyle/>
          <a:p>
            <a:pPr marL="0" indent="0" algn="l">
              <a:lnSpc>
                <a:spcPct val="83000"/>
              </a:lnSpc>
              <a:buNone/>
            </a:pPr>
            <a:r>
              <a:rPr lang="en-US" sz="2500" kern="0" spc="-76" dirty="0">
                <a:solidFill>
                  <a:srgbClr val="383830"/>
                </a:solidFill>
                <a:latin typeface="DM Sans ExtraBold" pitchFamily="34" charset="0"/>
                <a:ea typeface="DM Sans ExtraBold" pitchFamily="34" charset="-122"/>
                <a:cs typeface="DM Sans ExtraBold" pitchFamily="34" charset="-120"/>
              </a:rPr>
              <a:t>Research Component: Marketplace Predictive Analytics</a:t>
            </a:r>
            <a:endParaRPr lang="en-US" sz="2500" dirty="0"/>
          </a:p>
        </p:txBody>
      </p:sp>
      <p:sp>
        <p:nvSpPr>
          <p:cNvPr id="5" name="Text 3"/>
          <p:cNvSpPr/>
          <p:nvPr/>
        </p:nvSpPr>
        <p:spPr>
          <a:xfrm>
            <a:off x="631908" y="1777504"/>
            <a:ext cx="11537463" cy="156170"/>
          </a:xfrm>
          <a:prstGeom prst="rect">
            <a:avLst/>
          </a:prstGeom>
          <a:noFill/>
          <a:ln/>
        </p:spPr>
        <p:txBody>
          <a:bodyPr wrap="none" lIns="0" tIns="0" rIns="0" bIns="0" rtlCol="0" anchor="t"/>
          <a:lstStyle/>
          <a:p>
            <a:pPr marL="0" indent="0" algn="l">
              <a:lnSpc>
                <a:spcPct val="85000"/>
              </a:lnSpc>
              <a:buNone/>
            </a:pPr>
            <a:r>
              <a:rPr lang="en-US" sz="1200" b="1" dirty="0">
                <a:solidFill>
                  <a:srgbClr val="23231E"/>
                </a:solidFill>
                <a:latin typeface="Inter Bold" pitchFamily="34" charset="0"/>
                <a:ea typeface="Inter Bold" pitchFamily="34" charset="-122"/>
                <a:cs typeface="Inter Bold" pitchFamily="34" charset="-120"/>
              </a:rPr>
              <a:t>Main Question:</a:t>
            </a:r>
            <a:endParaRPr lang="en-US" sz="1200" dirty="0"/>
          </a:p>
        </p:txBody>
      </p:sp>
      <p:sp>
        <p:nvSpPr>
          <p:cNvPr id="6" name="Text 4"/>
          <p:cNvSpPr/>
          <p:nvPr/>
        </p:nvSpPr>
        <p:spPr>
          <a:xfrm>
            <a:off x="631908" y="2129334"/>
            <a:ext cx="10927878" cy="557312"/>
          </a:xfrm>
          <a:prstGeom prst="rect">
            <a:avLst/>
          </a:prstGeom>
          <a:noFill/>
          <a:ln/>
        </p:spPr>
        <p:txBody>
          <a:bodyPr wrap="none" lIns="0" tIns="0" rIns="0" bIns="0" rtlCol="0" anchor="t"/>
          <a:lstStyle/>
          <a:p>
            <a:pPr marL="0" indent="0" algn="l">
              <a:lnSpc>
                <a:spcPct val="83000"/>
              </a:lnSpc>
              <a:buNone/>
            </a:pPr>
            <a:r>
              <a:rPr lang="en-US" sz="4350" kern="0" spc="-132" dirty="0">
                <a:solidFill>
                  <a:srgbClr val="383830"/>
                </a:solidFill>
                <a:latin typeface="DM Sans ExtraBold" pitchFamily="34" charset="0"/>
                <a:ea typeface="DM Sans ExtraBold" pitchFamily="34" charset="-122"/>
                <a:cs typeface="DM Sans ExtraBold" pitchFamily="34" charset="-120"/>
              </a:rPr>
              <a:t>How will the textile marketplace perform?</a:t>
            </a:r>
            <a:endParaRPr lang="en-US" sz="4350" dirty="0"/>
          </a:p>
        </p:txBody>
      </p:sp>
      <p:sp>
        <p:nvSpPr>
          <p:cNvPr id="7" name="Text 5"/>
          <p:cNvSpPr/>
          <p:nvPr/>
        </p:nvSpPr>
        <p:spPr>
          <a:xfrm>
            <a:off x="631908" y="2882305"/>
            <a:ext cx="10927878" cy="312341"/>
          </a:xfrm>
          <a:prstGeom prst="rect">
            <a:avLst/>
          </a:prstGeom>
          <a:noFill/>
          <a:ln/>
        </p:spPr>
        <p:txBody>
          <a:bodyPr wrap="square" lIns="0" tIns="0" rIns="0" bIns="0" rtlCol="0" anchor="t">
            <a:normAutofit/>
          </a:bodyPr>
          <a:lstStyle/>
          <a:p>
            <a:pPr marL="0" indent="0" algn="l">
              <a:lnSpc>
                <a:spcPct val="85000"/>
              </a:lnSpc>
              <a:buNone/>
            </a:pPr>
            <a:r>
              <a:rPr lang="en-US" sz="1200" dirty="0">
                <a:solidFill>
                  <a:srgbClr val="23231E"/>
                </a:solidFill>
                <a:latin typeface="Inter Light" pitchFamily="34" charset="0"/>
                <a:ea typeface="Inter Light" pitchFamily="34" charset="-122"/>
                <a:cs typeface="Inter Light" pitchFamily="34" charset="-120"/>
              </a:rPr>
              <a:t>Our research component focuses on developing advanced predictive models to forecast marketplace dynamics and provide actionable insights for all stakeholders.</a:t>
            </a:r>
            <a:endParaRPr lang="en-US" sz="1200" dirty="0"/>
          </a:p>
        </p:txBody>
      </p:sp>
      <p:sp>
        <p:nvSpPr>
          <p:cNvPr id="8" name="Shape 6"/>
          <p:cNvSpPr/>
          <p:nvPr/>
        </p:nvSpPr>
        <p:spPr>
          <a:xfrm>
            <a:off x="631908" y="3379688"/>
            <a:ext cx="10927878" cy="19050"/>
          </a:xfrm>
          <a:prstGeom prst="roundRect">
            <a:avLst>
              <a:gd name="adj" fmla="val 49999"/>
            </a:avLst>
          </a:prstGeom>
          <a:solidFill>
            <a:srgbClr val="23231E">
              <a:alpha val="50000"/>
            </a:srgbClr>
          </a:solidFill>
          <a:ln/>
        </p:spPr>
        <p:txBody>
          <a:bodyPr/>
          <a:lstStyle/>
          <a:p>
            <a:endParaRPr lang="en-US"/>
          </a:p>
        </p:txBody>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908" y="3583781"/>
            <a:ext cx="2634192" cy="1186061"/>
          </a:xfrm>
          <a:prstGeom prst="rect">
            <a:avLst/>
          </a:prstGeom>
        </p:spPr>
      </p:pic>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33913" y="3717925"/>
            <a:ext cx="230182" cy="230187"/>
          </a:xfrm>
          <a:prstGeom prst="rect">
            <a:avLst/>
          </a:prstGeom>
        </p:spPr>
      </p:pic>
      <p:sp>
        <p:nvSpPr>
          <p:cNvPr id="11" name="Text 7"/>
          <p:cNvSpPr/>
          <p:nvPr/>
        </p:nvSpPr>
        <p:spPr>
          <a:xfrm>
            <a:off x="804346" y="4193580"/>
            <a:ext cx="2289316" cy="403820"/>
          </a:xfrm>
          <a:prstGeom prst="rect">
            <a:avLst/>
          </a:prstGeom>
          <a:noFill/>
          <a:ln/>
        </p:spPr>
        <p:txBody>
          <a:bodyPr wrap="square" lIns="0" tIns="0" rIns="0" bIns="0" rtlCol="0" anchor="t">
            <a:normAutofit/>
          </a:bodyPr>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Listing Success Prediction</a:t>
            </a:r>
            <a:endParaRPr lang="en-US" sz="1550" dirty="0"/>
          </a:p>
        </p:txBody>
      </p:sp>
      <p:pic>
        <p:nvPicPr>
          <p:cNvPr id="1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96470" y="3583781"/>
            <a:ext cx="2634192" cy="1186061"/>
          </a:xfrm>
          <a:prstGeom prst="rect">
            <a:avLst/>
          </a:prstGeom>
        </p:spPr>
      </p:pic>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98476" y="3717925"/>
            <a:ext cx="230182" cy="230187"/>
          </a:xfrm>
          <a:prstGeom prst="rect">
            <a:avLst/>
          </a:prstGeom>
        </p:spPr>
      </p:pic>
      <p:sp>
        <p:nvSpPr>
          <p:cNvPr id="14" name="Text 8"/>
          <p:cNvSpPr/>
          <p:nvPr/>
        </p:nvSpPr>
        <p:spPr>
          <a:xfrm>
            <a:off x="3568908" y="4193580"/>
            <a:ext cx="2289316" cy="201910"/>
          </a:xfrm>
          <a:prstGeom prst="rect">
            <a:avLst/>
          </a:prstGeom>
          <a:noFill/>
          <a:ln/>
        </p:spPr>
        <p:txBody>
          <a:bodyPr wrap="none" lIns="0" tIns="0" rIns="0" bIns="0" rtlCol="0" anchor="t"/>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Sales-time Prediction</a:t>
            </a:r>
            <a:endParaRPr lang="en-US" sz="1550" dirty="0"/>
          </a:p>
        </p:txBody>
      </p:sp>
      <p:pic>
        <p:nvPicPr>
          <p:cNvPr id="1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161033" y="3583781"/>
            <a:ext cx="2634192" cy="1186061"/>
          </a:xfrm>
          <a:prstGeom prst="rect">
            <a:avLst/>
          </a:prstGeom>
        </p:spPr>
      </p:pic>
      <p:pic>
        <p:nvPicPr>
          <p:cNvPr id="16"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363038" y="3717925"/>
            <a:ext cx="230182" cy="230187"/>
          </a:xfrm>
          <a:prstGeom prst="rect">
            <a:avLst/>
          </a:prstGeom>
        </p:spPr>
      </p:pic>
      <p:sp>
        <p:nvSpPr>
          <p:cNvPr id="17" name="Text 9"/>
          <p:cNvSpPr/>
          <p:nvPr/>
        </p:nvSpPr>
        <p:spPr>
          <a:xfrm>
            <a:off x="6333470" y="4193580"/>
            <a:ext cx="2289316" cy="403820"/>
          </a:xfrm>
          <a:prstGeom prst="rect">
            <a:avLst/>
          </a:prstGeom>
          <a:noFill/>
          <a:ln/>
        </p:spPr>
        <p:txBody>
          <a:bodyPr wrap="square" lIns="0" tIns="0" rIns="0" bIns="0" rtlCol="0" anchor="t">
            <a:normAutofit/>
          </a:bodyPr>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Market-trend Prediction</a:t>
            </a:r>
            <a:endParaRPr lang="en-US" sz="1550" dirty="0"/>
          </a:p>
        </p:txBody>
      </p:sp>
      <p:pic>
        <p:nvPicPr>
          <p:cNvPr id="18" name="Image 6"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925595" y="3583781"/>
            <a:ext cx="2634192" cy="1186061"/>
          </a:xfrm>
          <a:prstGeom prst="rect">
            <a:avLst/>
          </a:prstGeom>
        </p:spPr>
      </p:pic>
      <p:pic>
        <p:nvPicPr>
          <p:cNvPr id="19" name="Image 7" descr="preencoded.png"/>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0127600" y="3717925"/>
            <a:ext cx="230182" cy="230187"/>
          </a:xfrm>
          <a:prstGeom prst="rect">
            <a:avLst/>
          </a:prstGeom>
        </p:spPr>
      </p:pic>
      <p:sp>
        <p:nvSpPr>
          <p:cNvPr id="20" name="Text 10"/>
          <p:cNvSpPr/>
          <p:nvPr/>
        </p:nvSpPr>
        <p:spPr>
          <a:xfrm>
            <a:off x="9098033" y="4193580"/>
            <a:ext cx="2289316" cy="201910"/>
          </a:xfrm>
          <a:prstGeom prst="rect">
            <a:avLst/>
          </a:prstGeom>
          <a:noFill/>
          <a:ln/>
        </p:spPr>
        <p:txBody>
          <a:bodyPr wrap="none" lIns="0" tIns="0" rIns="0" bIns="0" rtlCol="0" anchor="t"/>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Demand Analysis</a:t>
            </a:r>
            <a:endParaRPr lang="en-US" sz="1550" dirty="0"/>
          </a:p>
        </p:txBody>
      </p:sp>
      <p:pic>
        <p:nvPicPr>
          <p:cNvPr id="21" name="Image 8" descr="preencoded.png"/>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31908" y="4900216"/>
            <a:ext cx="2634192" cy="984151"/>
          </a:xfrm>
          <a:prstGeom prst="rect">
            <a:avLst/>
          </a:prstGeom>
        </p:spPr>
      </p:pic>
      <p:pic>
        <p:nvPicPr>
          <p:cNvPr id="22" name="Image 9" descr="preencoded.png"/>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833913" y="5034359"/>
            <a:ext cx="230182" cy="230187"/>
          </a:xfrm>
          <a:prstGeom prst="rect">
            <a:avLst/>
          </a:prstGeom>
        </p:spPr>
      </p:pic>
      <p:sp>
        <p:nvSpPr>
          <p:cNvPr id="23" name="Text 11"/>
          <p:cNvSpPr/>
          <p:nvPr/>
        </p:nvSpPr>
        <p:spPr>
          <a:xfrm>
            <a:off x="804346" y="5510014"/>
            <a:ext cx="2289316" cy="201910"/>
          </a:xfrm>
          <a:prstGeom prst="rect">
            <a:avLst/>
          </a:prstGeom>
          <a:noFill/>
          <a:ln/>
        </p:spPr>
        <p:txBody>
          <a:bodyPr wrap="none" lIns="0" tIns="0" rIns="0" bIns="0" rtlCol="0" anchor="t"/>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Marketplace Analytics</a:t>
            </a:r>
            <a:endParaRPr lang="en-US" sz="1550" dirty="0"/>
          </a:p>
        </p:txBody>
      </p:sp>
      <p:pic>
        <p:nvPicPr>
          <p:cNvPr id="24" name="Image 10" descr="preencoded.png"/>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3396470" y="4900216"/>
            <a:ext cx="2634192" cy="984151"/>
          </a:xfrm>
          <a:prstGeom prst="rect">
            <a:avLst/>
          </a:prstGeom>
        </p:spPr>
      </p:pic>
      <p:pic>
        <p:nvPicPr>
          <p:cNvPr id="25" name="Image 11" descr="preencoded.png"/>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4598476" y="5034359"/>
            <a:ext cx="230182" cy="230187"/>
          </a:xfrm>
          <a:prstGeom prst="rect">
            <a:avLst/>
          </a:prstGeom>
        </p:spPr>
      </p:pic>
      <p:sp>
        <p:nvSpPr>
          <p:cNvPr id="26" name="Text 12"/>
          <p:cNvSpPr/>
          <p:nvPr/>
        </p:nvSpPr>
        <p:spPr>
          <a:xfrm>
            <a:off x="3568908" y="5510014"/>
            <a:ext cx="2289316" cy="201910"/>
          </a:xfrm>
          <a:prstGeom prst="rect">
            <a:avLst/>
          </a:prstGeom>
          <a:noFill/>
          <a:ln/>
        </p:spPr>
        <p:txBody>
          <a:bodyPr wrap="none" lIns="0" tIns="0" rIns="0" bIns="0" rtlCol="0" anchor="t"/>
          <a:lstStyle/>
          <a:p>
            <a:pPr marL="0" indent="0" algn="l">
              <a:lnSpc>
                <a:spcPct val="83000"/>
              </a:lnSpc>
              <a:buNone/>
            </a:pPr>
            <a:r>
              <a:rPr lang="en-US" sz="1550" kern="0" spc="-48" dirty="0">
                <a:solidFill>
                  <a:srgbClr val="23231E"/>
                </a:solidFill>
                <a:latin typeface="DM Sans ExtraBold" pitchFamily="34" charset="0"/>
                <a:ea typeface="DM Sans ExtraBold" pitchFamily="34" charset="-122"/>
                <a:cs typeface="DM Sans ExtraBold" pitchFamily="34" charset="-120"/>
              </a:rPr>
              <a:t>Predictive Dashboard</a:t>
            </a:r>
            <a:endParaRPr lang="en-US" sz="1550" dirty="0"/>
          </a:p>
        </p:txBody>
      </p:sp>
      <p:grpSp>
        <p:nvGrpSpPr>
          <p:cNvPr id="27" name="Group 26">
            <a:extLst>
              <a:ext uri="{FF2B5EF4-FFF2-40B4-BE49-F238E27FC236}">
                <a16:creationId xmlns:a16="http://schemas.microsoft.com/office/drawing/2014/main" id="{E524D987-4D5E-169F-244E-2A25BE2594A5}"/>
              </a:ext>
            </a:extLst>
          </p:cNvPr>
          <p:cNvGrpSpPr/>
          <p:nvPr/>
        </p:nvGrpSpPr>
        <p:grpSpPr>
          <a:xfrm>
            <a:off x="10686552" y="6506574"/>
            <a:ext cx="1505131" cy="351434"/>
            <a:chOff x="2623154" y="413097"/>
            <a:chExt cx="2599719" cy="525560"/>
          </a:xfrm>
        </p:grpSpPr>
        <p:sp>
          <p:nvSpPr>
            <p:cNvPr id="28" name="Freeform 27">
              <a:extLst>
                <a:ext uri="{FF2B5EF4-FFF2-40B4-BE49-F238E27FC236}">
                  <a16:creationId xmlns:a16="http://schemas.microsoft.com/office/drawing/2014/main" id="{4E3698E1-9371-7A00-0211-6CA63C37FDBC}"/>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27"/>
              <a:stretch>
                <a:fillRect l="-64" r="-64" b="1"/>
              </a:stretch>
            </a:blipFill>
          </p:spPr>
          <p:txBody>
            <a:bodyPr/>
            <a:lstStyle/>
            <a:p>
              <a:endParaRPr lang="en-US" sz="1200" dirty="0"/>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0"/>
            <a:ext cx="4800480" cy="6858000"/>
          </a:xfrm>
          <a:custGeom>
            <a:avLst/>
            <a:gdLst/>
            <a:ahLst/>
            <a:cxnLst/>
            <a:rect l="0" t="0" r="100000" b="100000"/>
            <a:pathLst>
              <a:path w="100000" h="100000">
                <a:moveTo>
                  <a:pt x="0" y="0"/>
                </a:moveTo>
                <a:lnTo>
                  <a:pt x="91210" y="0"/>
                </a:lnTo>
                <a:lnTo>
                  <a:pt x="92090" y="2640"/>
                </a:lnTo>
                <a:lnTo>
                  <a:pt x="93070" y="7030"/>
                </a:lnTo>
                <a:lnTo>
                  <a:pt x="93650" y="11330"/>
                </a:lnTo>
                <a:lnTo>
                  <a:pt x="93850" y="14750"/>
                </a:lnTo>
                <a:lnTo>
                  <a:pt x="93460" y="21970"/>
                </a:lnTo>
                <a:lnTo>
                  <a:pt x="91990" y="31150"/>
                </a:lnTo>
                <a:lnTo>
                  <a:pt x="91410" y="36520"/>
                </a:lnTo>
                <a:lnTo>
                  <a:pt x="91210" y="40040"/>
                </a:lnTo>
                <a:lnTo>
                  <a:pt x="91310" y="45700"/>
                </a:lnTo>
                <a:lnTo>
                  <a:pt x="91890" y="48930"/>
                </a:lnTo>
                <a:lnTo>
                  <a:pt x="93160" y="52540"/>
                </a:lnTo>
                <a:lnTo>
                  <a:pt x="94920" y="56050"/>
                </a:lnTo>
                <a:lnTo>
                  <a:pt x="97170" y="59860"/>
                </a:lnTo>
                <a:lnTo>
                  <a:pt x="98730" y="63280"/>
                </a:lnTo>
                <a:lnTo>
                  <a:pt x="99800" y="67290"/>
                </a:lnTo>
                <a:lnTo>
                  <a:pt x="100000" y="71480"/>
                </a:lnTo>
                <a:lnTo>
                  <a:pt x="99710" y="73630"/>
                </a:lnTo>
                <a:lnTo>
                  <a:pt x="99020" y="76460"/>
                </a:lnTo>
                <a:lnTo>
                  <a:pt x="97750" y="80180"/>
                </a:lnTo>
                <a:lnTo>
                  <a:pt x="96390" y="83400"/>
                </a:lnTo>
                <a:lnTo>
                  <a:pt x="91890" y="91990"/>
                </a:lnTo>
                <a:lnTo>
                  <a:pt x="89450" y="96000"/>
                </a:lnTo>
                <a:lnTo>
                  <a:pt x="86720" y="100000"/>
                </a:lnTo>
                <a:lnTo>
                  <a:pt x="0" y="100000"/>
                </a:lnTo>
                <a:close/>
              </a:path>
            </a:pathLst>
          </a:custGeom>
        </p:spPr>
      </p:pic>
      <p:sp>
        <p:nvSpPr>
          <p:cNvPr id="3" name="Text 0"/>
          <p:cNvSpPr/>
          <p:nvPr/>
        </p:nvSpPr>
        <p:spPr>
          <a:xfrm>
            <a:off x="5203794" y="1330623"/>
            <a:ext cx="6355993" cy="760214"/>
          </a:xfrm>
          <a:prstGeom prst="rect">
            <a:avLst/>
          </a:prstGeom>
          <a:noFill/>
          <a:ln/>
        </p:spPr>
        <p:txBody>
          <a:bodyPr wrap="square" lIns="0" tIns="0" rIns="0" bIns="0" rtlCol="0" anchor="t">
            <a:normAutofit/>
          </a:bodyPr>
          <a:lstStyle/>
          <a:p>
            <a:pPr marL="0" indent="0" algn="l">
              <a:lnSpc>
                <a:spcPct val="83000"/>
              </a:lnSpc>
              <a:buNone/>
            </a:pPr>
            <a:r>
              <a:rPr lang="en-US" sz="2950" kern="0" spc="-90" dirty="0">
                <a:solidFill>
                  <a:srgbClr val="383830"/>
                </a:solidFill>
                <a:latin typeface="DM Sans ExtraBold" pitchFamily="34" charset="0"/>
                <a:ea typeface="DM Sans ExtraBold" pitchFamily="34" charset="-122"/>
                <a:cs typeface="DM Sans ExtraBold" pitchFamily="34" charset="-120"/>
              </a:rPr>
              <a:t>Proposed Solution: Marketplace Predictive Analytics</a:t>
            </a:r>
            <a:endParaRPr lang="en-US" sz="2950" dirty="0"/>
          </a:p>
        </p:txBody>
      </p:sp>
      <p:sp>
        <p:nvSpPr>
          <p:cNvPr id="4" name="Text 1"/>
          <p:cNvSpPr/>
          <p:nvPr/>
        </p:nvSpPr>
        <p:spPr>
          <a:xfrm>
            <a:off x="5203794" y="2264073"/>
            <a:ext cx="6355993" cy="428923"/>
          </a:xfrm>
          <a:prstGeom prst="rect">
            <a:avLst/>
          </a:prstGeom>
          <a:noFill/>
          <a:ln/>
        </p:spPr>
        <p:txBody>
          <a:bodyPr wrap="square" lIns="0" tIns="0" rIns="0" bIns="0" rtlCol="0" anchor="t">
            <a:normAutofit/>
          </a:bodyPr>
          <a:lstStyle/>
          <a:p>
            <a:pPr marL="0" indent="0" algn="l">
              <a:lnSpc>
                <a:spcPct val="82000"/>
              </a:lnSpc>
              <a:buNone/>
            </a:pPr>
            <a:r>
              <a:rPr lang="en-US" sz="1100" dirty="0">
                <a:solidFill>
                  <a:srgbClr val="23231E"/>
                </a:solidFill>
                <a:latin typeface="Inter Light" pitchFamily="34" charset="0"/>
                <a:ea typeface="Inter Light" pitchFamily="34" charset="-122"/>
                <a:cs typeface="Inter Light" pitchFamily="34" charset="-120"/>
              </a:rPr>
              <a:t>Our advanced AI models analyze historical data and real-time market signals to provide precise predictions, empowering sellers and buyers with crucial market intelligence for the textile reuse and recycling market.</a:t>
            </a:r>
            <a:endParaRPr lang="en-US" sz="110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03794" y="2822972"/>
            <a:ext cx="6355993" cy="729159"/>
          </a:xfrm>
          <a:prstGeom prst="rect">
            <a:avLst/>
          </a:prstGeom>
        </p:spPr>
      </p:pic>
      <p:sp>
        <p:nvSpPr>
          <p:cNvPr id="6" name="Text 2"/>
          <p:cNvSpPr/>
          <p:nvPr/>
        </p:nvSpPr>
        <p:spPr>
          <a:xfrm>
            <a:off x="5443401" y="2986385"/>
            <a:ext cx="5952976" cy="190103"/>
          </a:xfrm>
          <a:prstGeom prst="rect">
            <a:avLst/>
          </a:prstGeom>
          <a:noFill/>
          <a:ln/>
        </p:spPr>
        <p:txBody>
          <a:bodyPr wrap="none" lIns="0" tIns="0" rIns="0" bIns="0" rtlCol="0" anchor="t"/>
          <a:lstStyle/>
          <a:p>
            <a:pPr marL="0" indent="0" algn="l">
              <a:lnSpc>
                <a:spcPct val="83000"/>
              </a:lnSpc>
              <a:buNone/>
            </a:pPr>
            <a:r>
              <a:rPr lang="en-US" sz="1450" kern="0" spc="-45" dirty="0">
                <a:solidFill>
                  <a:srgbClr val="23231E"/>
                </a:solidFill>
                <a:latin typeface="DM Sans ExtraBold" pitchFamily="34" charset="0"/>
                <a:ea typeface="DM Sans ExtraBold" pitchFamily="34" charset="-122"/>
                <a:cs typeface="DM Sans ExtraBold" pitchFamily="34" charset="-120"/>
              </a:rPr>
              <a:t>Listing Success Prediction</a:t>
            </a:r>
            <a:endParaRPr lang="en-US" sz="1450" dirty="0"/>
          </a:p>
        </p:txBody>
      </p:sp>
      <p:sp>
        <p:nvSpPr>
          <p:cNvPr id="7" name="Text 3"/>
          <p:cNvSpPr/>
          <p:nvPr/>
        </p:nvSpPr>
        <p:spPr>
          <a:xfrm>
            <a:off x="5443401" y="3245743"/>
            <a:ext cx="5952976" cy="142974"/>
          </a:xfrm>
          <a:prstGeom prst="rect">
            <a:avLst/>
          </a:prstGeom>
          <a:noFill/>
          <a:ln/>
        </p:spPr>
        <p:txBody>
          <a:bodyPr wrap="none" lIns="0" tIns="0" rIns="0" bIns="0" rtlCol="0" anchor="t"/>
          <a:lstStyle/>
          <a:p>
            <a:pPr marL="0" indent="0" algn="l">
              <a:lnSpc>
                <a:spcPct val="82000"/>
              </a:lnSpc>
              <a:buNone/>
            </a:pPr>
            <a:r>
              <a:rPr lang="en-US" sz="1100" dirty="0">
                <a:solidFill>
                  <a:srgbClr val="23231E"/>
                </a:solidFill>
                <a:latin typeface="Inter Light" pitchFamily="34" charset="0"/>
                <a:ea typeface="Inter Light" pitchFamily="34" charset="-122"/>
                <a:cs typeface="Inter Light" pitchFamily="34" charset="-120"/>
              </a:rPr>
              <a:t>Forecasts the likelihood of a textile listing being sold, categorizing it as </a:t>
            </a:r>
            <a:r>
              <a:rPr lang="en-US" sz="1100" b="1" dirty="0">
                <a:solidFill>
                  <a:srgbClr val="23231E"/>
                </a:solidFill>
                <a:latin typeface="Inter Bold" pitchFamily="34" charset="0"/>
                <a:ea typeface="Inter Bold" pitchFamily="34" charset="-122"/>
                <a:cs typeface="Inter Bold" pitchFamily="34" charset="-120"/>
              </a:rPr>
              <a:t>Sold</a:t>
            </a:r>
            <a:r>
              <a:rPr lang="en-US" sz="1100" dirty="0">
                <a:solidFill>
                  <a:srgbClr val="23231E"/>
                </a:solidFill>
                <a:latin typeface="Inter Light" pitchFamily="34" charset="0"/>
                <a:ea typeface="Inter Light" pitchFamily="34" charset="-122"/>
                <a:cs typeface="Inter Light" pitchFamily="34" charset="-120"/>
              </a:rPr>
              <a:t> or </a:t>
            </a:r>
            <a:r>
              <a:rPr lang="en-US" sz="1100" b="1" dirty="0">
                <a:solidFill>
                  <a:srgbClr val="23231E"/>
                </a:solidFill>
                <a:latin typeface="Inter Bold" pitchFamily="34" charset="0"/>
                <a:ea typeface="Inter Bold" pitchFamily="34" charset="-122"/>
                <a:cs typeface="Inter Bold" pitchFamily="34" charset="-120"/>
              </a:rPr>
              <a:t>Unsold</a:t>
            </a:r>
            <a:r>
              <a:rPr lang="en-US" sz="1100" dirty="0">
                <a:solidFill>
                  <a:srgbClr val="23231E"/>
                </a:solidFill>
                <a:latin typeface="Inter Light" pitchFamily="34" charset="0"/>
                <a:ea typeface="Inter Light" pitchFamily="34" charset="-122"/>
                <a:cs typeface="Inter Light" pitchFamily="34" charset="-120"/>
              </a:rPr>
              <a:t>.</a:t>
            </a:r>
            <a:endParaRPr lang="en-US" sz="1100" dirty="0"/>
          </a:p>
        </p:txBody>
      </p:sp>
      <p:pic>
        <p:nvPicPr>
          <p:cNvPr id="8"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03794" y="3667621"/>
            <a:ext cx="6355993" cy="872133"/>
          </a:xfrm>
          <a:prstGeom prst="rect">
            <a:avLst/>
          </a:prstGeom>
        </p:spPr>
      </p:pic>
      <p:sp>
        <p:nvSpPr>
          <p:cNvPr id="9" name="Text 4"/>
          <p:cNvSpPr/>
          <p:nvPr/>
        </p:nvSpPr>
        <p:spPr>
          <a:xfrm>
            <a:off x="5443401" y="3831034"/>
            <a:ext cx="5952976" cy="190103"/>
          </a:xfrm>
          <a:prstGeom prst="rect">
            <a:avLst/>
          </a:prstGeom>
          <a:noFill/>
          <a:ln/>
        </p:spPr>
        <p:txBody>
          <a:bodyPr wrap="none" lIns="0" tIns="0" rIns="0" bIns="0" rtlCol="0" anchor="t"/>
          <a:lstStyle/>
          <a:p>
            <a:pPr marL="0" indent="0" algn="l">
              <a:lnSpc>
                <a:spcPct val="83000"/>
              </a:lnSpc>
              <a:buNone/>
            </a:pPr>
            <a:r>
              <a:rPr lang="en-US" sz="1450" kern="0" spc="-45" dirty="0">
                <a:solidFill>
                  <a:srgbClr val="23231E"/>
                </a:solidFill>
                <a:latin typeface="DM Sans ExtraBold" pitchFamily="34" charset="0"/>
                <a:ea typeface="DM Sans ExtraBold" pitchFamily="34" charset="-122"/>
                <a:cs typeface="DM Sans ExtraBold" pitchFamily="34" charset="-120"/>
              </a:rPr>
              <a:t>Sales Time Prediction</a:t>
            </a:r>
            <a:endParaRPr lang="en-US" sz="1450" dirty="0"/>
          </a:p>
        </p:txBody>
      </p:sp>
      <p:sp>
        <p:nvSpPr>
          <p:cNvPr id="10" name="Text 5"/>
          <p:cNvSpPr/>
          <p:nvPr/>
        </p:nvSpPr>
        <p:spPr>
          <a:xfrm>
            <a:off x="5443401" y="4090392"/>
            <a:ext cx="5952976" cy="285948"/>
          </a:xfrm>
          <a:prstGeom prst="rect">
            <a:avLst/>
          </a:prstGeom>
          <a:noFill/>
          <a:ln/>
        </p:spPr>
        <p:txBody>
          <a:bodyPr wrap="square" lIns="0" tIns="0" rIns="0" bIns="0" rtlCol="0" anchor="t">
            <a:normAutofit/>
          </a:bodyPr>
          <a:lstStyle/>
          <a:p>
            <a:pPr marL="0" indent="0" algn="l">
              <a:lnSpc>
                <a:spcPct val="82000"/>
              </a:lnSpc>
              <a:buNone/>
            </a:pPr>
            <a:r>
              <a:rPr lang="en-US" sz="1100" dirty="0">
                <a:solidFill>
                  <a:srgbClr val="23231E"/>
                </a:solidFill>
                <a:latin typeface="Inter Light" pitchFamily="34" charset="0"/>
                <a:ea typeface="Inter Light" pitchFamily="34" charset="-122"/>
                <a:cs typeface="Inter Light" pitchFamily="34" charset="-120"/>
              </a:rPr>
              <a:t>Estimates the </a:t>
            </a:r>
            <a:r>
              <a:rPr lang="en-US" sz="1100" b="1" dirty="0">
                <a:solidFill>
                  <a:srgbClr val="23231E"/>
                </a:solidFill>
                <a:latin typeface="Inter Bold" pitchFamily="34" charset="0"/>
                <a:ea typeface="Inter Bold" pitchFamily="34" charset="-122"/>
                <a:cs typeface="Inter Bold" pitchFamily="34" charset="-120"/>
              </a:rPr>
              <a:t>Estimated Days to Sell</a:t>
            </a:r>
            <a:r>
              <a:rPr lang="en-US" sz="1100" dirty="0">
                <a:solidFill>
                  <a:srgbClr val="23231E"/>
                </a:solidFill>
                <a:latin typeface="Inter Light" pitchFamily="34" charset="0"/>
                <a:ea typeface="Inter Light" pitchFamily="34" charset="-122"/>
                <a:cs typeface="Inter Light" pitchFamily="34" charset="-120"/>
              </a:rPr>
              <a:t> for a given textile batch, aiding in inventory management and sales strategy.</a:t>
            </a:r>
            <a:endParaRPr lang="en-US" sz="1100" dirty="0"/>
          </a:p>
        </p:txBody>
      </p:sp>
      <p:pic>
        <p:nvPicPr>
          <p:cNvPr id="11"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03794" y="4655245"/>
            <a:ext cx="6355993" cy="872133"/>
          </a:xfrm>
          <a:prstGeom prst="rect">
            <a:avLst/>
          </a:prstGeom>
        </p:spPr>
      </p:pic>
      <p:sp>
        <p:nvSpPr>
          <p:cNvPr id="12" name="Text 6"/>
          <p:cNvSpPr/>
          <p:nvPr/>
        </p:nvSpPr>
        <p:spPr>
          <a:xfrm>
            <a:off x="5443401" y="4818658"/>
            <a:ext cx="5952976" cy="190103"/>
          </a:xfrm>
          <a:prstGeom prst="rect">
            <a:avLst/>
          </a:prstGeom>
          <a:noFill/>
          <a:ln/>
        </p:spPr>
        <p:txBody>
          <a:bodyPr wrap="none" lIns="0" tIns="0" rIns="0" bIns="0" rtlCol="0" anchor="t"/>
          <a:lstStyle/>
          <a:p>
            <a:pPr marL="0" indent="0" algn="l">
              <a:lnSpc>
                <a:spcPct val="83000"/>
              </a:lnSpc>
              <a:buNone/>
            </a:pPr>
            <a:r>
              <a:rPr lang="en-US" sz="1450" kern="0" spc="-45" dirty="0">
                <a:solidFill>
                  <a:srgbClr val="23231E"/>
                </a:solidFill>
                <a:latin typeface="DM Sans ExtraBold" pitchFamily="34" charset="0"/>
                <a:ea typeface="DM Sans ExtraBold" pitchFamily="34" charset="-122"/>
                <a:cs typeface="DM Sans ExtraBold" pitchFamily="34" charset="-120"/>
              </a:rPr>
              <a:t>Market Trend Prediction</a:t>
            </a:r>
            <a:endParaRPr lang="en-US" sz="1450" dirty="0"/>
          </a:p>
        </p:txBody>
      </p:sp>
      <p:sp>
        <p:nvSpPr>
          <p:cNvPr id="13" name="Text 7"/>
          <p:cNvSpPr/>
          <p:nvPr/>
        </p:nvSpPr>
        <p:spPr>
          <a:xfrm>
            <a:off x="5443401" y="5078016"/>
            <a:ext cx="5952976" cy="285948"/>
          </a:xfrm>
          <a:prstGeom prst="rect">
            <a:avLst/>
          </a:prstGeom>
          <a:noFill/>
          <a:ln/>
        </p:spPr>
        <p:txBody>
          <a:bodyPr wrap="square" lIns="0" tIns="0" rIns="0" bIns="0" rtlCol="0" anchor="t">
            <a:normAutofit/>
          </a:bodyPr>
          <a:lstStyle/>
          <a:p>
            <a:pPr marL="0" indent="0" algn="l">
              <a:lnSpc>
                <a:spcPct val="82000"/>
              </a:lnSpc>
              <a:buNone/>
            </a:pPr>
            <a:r>
              <a:rPr lang="en-US" sz="1100" dirty="0">
                <a:solidFill>
                  <a:srgbClr val="23231E"/>
                </a:solidFill>
                <a:latin typeface="Inter Light" pitchFamily="34" charset="0"/>
                <a:ea typeface="Inter Light" pitchFamily="34" charset="-122"/>
                <a:cs typeface="Inter Light" pitchFamily="34" charset="-120"/>
              </a:rPr>
              <a:t>Identifies the current market trajectory for specific textile types as </a:t>
            </a:r>
            <a:r>
              <a:rPr lang="en-US" sz="1100" b="1" dirty="0">
                <a:solidFill>
                  <a:srgbClr val="23231E"/>
                </a:solidFill>
                <a:latin typeface="Inter Bold" pitchFamily="34" charset="0"/>
                <a:ea typeface="Inter Bold" pitchFamily="34" charset="-122"/>
                <a:cs typeface="Inter Bold" pitchFamily="34" charset="-120"/>
              </a:rPr>
              <a:t>Increasing</a:t>
            </a:r>
            <a:r>
              <a:rPr lang="en-US" sz="1100" dirty="0">
                <a:solidFill>
                  <a:srgbClr val="23231E"/>
                </a:solidFill>
                <a:latin typeface="Inter Light" pitchFamily="34" charset="0"/>
                <a:ea typeface="Inter Light" pitchFamily="34" charset="-122"/>
                <a:cs typeface="Inter Light" pitchFamily="34" charset="-120"/>
              </a:rPr>
              <a:t>, </a:t>
            </a:r>
            <a:r>
              <a:rPr lang="en-US" sz="1100" b="1" dirty="0">
                <a:solidFill>
                  <a:srgbClr val="23231E"/>
                </a:solidFill>
                <a:latin typeface="Inter Bold" pitchFamily="34" charset="0"/>
                <a:ea typeface="Inter Bold" pitchFamily="34" charset="-122"/>
                <a:cs typeface="Inter Bold" pitchFamily="34" charset="-120"/>
              </a:rPr>
              <a:t>Stable</a:t>
            </a:r>
            <a:r>
              <a:rPr lang="en-US" sz="1100" dirty="0">
                <a:solidFill>
                  <a:srgbClr val="23231E"/>
                </a:solidFill>
                <a:latin typeface="Inter Light" pitchFamily="34" charset="0"/>
                <a:ea typeface="Inter Light" pitchFamily="34" charset="-122"/>
                <a:cs typeface="Inter Light" pitchFamily="34" charset="-120"/>
              </a:rPr>
              <a:t>, or </a:t>
            </a:r>
            <a:r>
              <a:rPr lang="en-US" sz="1100" b="1" dirty="0">
                <a:solidFill>
                  <a:srgbClr val="23231E"/>
                </a:solidFill>
                <a:latin typeface="Inter Bold" pitchFamily="34" charset="0"/>
                <a:ea typeface="Inter Bold" pitchFamily="34" charset="-122"/>
                <a:cs typeface="Inter Bold" pitchFamily="34" charset="-120"/>
              </a:rPr>
              <a:t>Decreasing</a:t>
            </a:r>
            <a:r>
              <a:rPr lang="en-US" sz="1100" dirty="0">
                <a:solidFill>
                  <a:srgbClr val="23231E"/>
                </a:solidFill>
                <a:latin typeface="Inter Light" pitchFamily="34" charset="0"/>
                <a:ea typeface="Inter Light" pitchFamily="34" charset="-122"/>
                <a:cs typeface="Inter Light" pitchFamily="34" charset="-120"/>
              </a:rPr>
              <a:t> in demand or value.</a:t>
            </a:r>
            <a:endParaRPr lang="en-US" sz="1100" dirty="0"/>
          </a:p>
        </p:txBody>
      </p:sp>
      <p:grpSp>
        <p:nvGrpSpPr>
          <p:cNvPr id="14" name="Group 13">
            <a:extLst>
              <a:ext uri="{FF2B5EF4-FFF2-40B4-BE49-F238E27FC236}">
                <a16:creationId xmlns:a16="http://schemas.microsoft.com/office/drawing/2014/main" id="{9D087435-56E3-B0CC-CEC1-93E42E2B0805}"/>
              </a:ext>
            </a:extLst>
          </p:cNvPr>
          <p:cNvGrpSpPr/>
          <p:nvPr/>
        </p:nvGrpSpPr>
        <p:grpSpPr>
          <a:xfrm>
            <a:off x="10686552" y="6506574"/>
            <a:ext cx="1505131" cy="351434"/>
            <a:chOff x="2623154" y="413097"/>
            <a:chExt cx="2599719" cy="525560"/>
          </a:xfrm>
        </p:grpSpPr>
        <p:sp>
          <p:nvSpPr>
            <p:cNvPr id="15" name="Freeform 14">
              <a:extLst>
                <a:ext uri="{FF2B5EF4-FFF2-40B4-BE49-F238E27FC236}">
                  <a16:creationId xmlns:a16="http://schemas.microsoft.com/office/drawing/2014/main" id="{75B3A12A-69E9-B6B0-A293-D6516165CEB6}"/>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10"/>
              <a:stretch>
                <a:fillRect l="-64" r="-64" b="1"/>
              </a:stretch>
            </a:blipFill>
          </p:spPr>
          <p:txBody>
            <a:bodyPr/>
            <a:lstStyle/>
            <a:p>
              <a:endParaRPr lang="en-US" sz="1200" dirty="0"/>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0"/>
            <a:ext cx="4800480" cy="6858000"/>
          </a:xfrm>
          <a:custGeom>
            <a:avLst/>
            <a:gdLst/>
            <a:ahLst/>
            <a:cxnLst/>
            <a:rect l="0" t="0" r="100000" b="100000"/>
            <a:pathLst>
              <a:path w="100000" h="100000">
                <a:moveTo>
                  <a:pt x="0" y="0"/>
                </a:moveTo>
                <a:lnTo>
                  <a:pt x="91210" y="0"/>
                </a:lnTo>
                <a:lnTo>
                  <a:pt x="92090" y="2640"/>
                </a:lnTo>
                <a:lnTo>
                  <a:pt x="93070" y="7030"/>
                </a:lnTo>
                <a:lnTo>
                  <a:pt x="93650" y="11330"/>
                </a:lnTo>
                <a:lnTo>
                  <a:pt x="93850" y="14750"/>
                </a:lnTo>
                <a:lnTo>
                  <a:pt x="93460" y="21970"/>
                </a:lnTo>
                <a:lnTo>
                  <a:pt x="91990" y="31150"/>
                </a:lnTo>
                <a:lnTo>
                  <a:pt x="91410" y="36520"/>
                </a:lnTo>
                <a:lnTo>
                  <a:pt x="91210" y="40040"/>
                </a:lnTo>
                <a:lnTo>
                  <a:pt x="91310" y="45700"/>
                </a:lnTo>
                <a:lnTo>
                  <a:pt x="91890" y="48930"/>
                </a:lnTo>
                <a:lnTo>
                  <a:pt x="93160" y="52540"/>
                </a:lnTo>
                <a:lnTo>
                  <a:pt x="94920" y="56050"/>
                </a:lnTo>
                <a:lnTo>
                  <a:pt x="97170" y="59860"/>
                </a:lnTo>
                <a:lnTo>
                  <a:pt x="98730" y="63280"/>
                </a:lnTo>
                <a:lnTo>
                  <a:pt x="99800" y="67290"/>
                </a:lnTo>
                <a:lnTo>
                  <a:pt x="100000" y="71480"/>
                </a:lnTo>
                <a:lnTo>
                  <a:pt x="99710" y="73630"/>
                </a:lnTo>
                <a:lnTo>
                  <a:pt x="99020" y="76460"/>
                </a:lnTo>
                <a:lnTo>
                  <a:pt x="97750" y="80180"/>
                </a:lnTo>
                <a:lnTo>
                  <a:pt x="96390" y="83400"/>
                </a:lnTo>
                <a:lnTo>
                  <a:pt x="91890" y="91990"/>
                </a:lnTo>
                <a:lnTo>
                  <a:pt x="89450" y="96000"/>
                </a:lnTo>
                <a:lnTo>
                  <a:pt x="86720" y="100000"/>
                </a:lnTo>
                <a:lnTo>
                  <a:pt x="0" y="100000"/>
                </a:lnTo>
                <a:close/>
              </a:path>
            </a:pathLst>
          </a:custGeom>
        </p:spPr>
      </p:pic>
      <p:sp>
        <p:nvSpPr>
          <p:cNvPr id="3" name="Text 0"/>
          <p:cNvSpPr/>
          <p:nvPr/>
        </p:nvSpPr>
        <p:spPr>
          <a:xfrm>
            <a:off x="5203794" y="1261070"/>
            <a:ext cx="6355993" cy="950317"/>
          </a:xfrm>
          <a:prstGeom prst="rect">
            <a:avLst/>
          </a:prstGeom>
          <a:noFill/>
          <a:ln/>
        </p:spPr>
        <p:txBody>
          <a:bodyPr wrap="square" lIns="0" tIns="0" rIns="0" bIns="0" rtlCol="0" anchor="t">
            <a:normAutofit lnSpcReduction="10000"/>
          </a:bodyPr>
          <a:lstStyle/>
          <a:p>
            <a:pPr marL="0" indent="0" algn="l">
              <a:lnSpc>
                <a:spcPct val="83000"/>
              </a:lnSpc>
              <a:buNone/>
            </a:pPr>
            <a:r>
              <a:rPr lang="en-US" sz="3700" kern="0" spc="-112" dirty="0">
                <a:solidFill>
                  <a:srgbClr val="383830"/>
                </a:solidFill>
                <a:latin typeface="DM Sans ExtraBold" pitchFamily="34" charset="0"/>
                <a:ea typeface="DM Sans ExtraBold" pitchFamily="34" charset="-122"/>
                <a:cs typeface="DM Sans ExtraBold" pitchFamily="34" charset="-120"/>
              </a:rPr>
              <a:t>Marketplace Predictive Analytics: Dataset</a:t>
            </a:r>
            <a:endParaRPr lang="en-US" sz="3700" dirty="0"/>
          </a:p>
        </p:txBody>
      </p:sp>
      <p:sp>
        <p:nvSpPr>
          <p:cNvPr id="4" name="Text 1"/>
          <p:cNvSpPr/>
          <p:nvPr/>
        </p:nvSpPr>
        <p:spPr>
          <a:xfrm>
            <a:off x="5203794" y="2482155"/>
            <a:ext cx="6355993" cy="397272"/>
          </a:xfrm>
          <a:prstGeom prst="rect">
            <a:avLst/>
          </a:prstGeom>
          <a:noFill/>
          <a:ln/>
        </p:spPr>
        <p:txBody>
          <a:bodyPr wrap="square" lIns="0" tIns="0" rIns="0" bIns="0" rtlCol="0" anchor="t">
            <a:normAutofit/>
          </a:bodyPr>
          <a:lstStyle/>
          <a:p>
            <a:pPr marL="0" indent="0" algn="l">
              <a:lnSpc>
                <a:spcPct val="92000"/>
              </a:lnSpc>
              <a:buNone/>
            </a:pPr>
            <a:r>
              <a:rPr lang="en-US" sz="1400" dirty="0">
                <a:solidFill>
                  <a:srgbClr val="23231E"/>
                </a:solidFill>
                <a:latin typeface="Inter Light" pitchFamily="34" charset="0"/>
                <a:ea typeface="Inter Light" pitchFamily="34" charset="-122"/>
                <a:cs typeface="Inter Light" pitchFamily="34" charset="-120"/>
              </a:rPr>
              <a:t>Our predictive models for marketplace dynamics are developed and demonstrated using a comprehensive, prototype dataset.</a:t>
            </a:r>
            <a:endParaRPr lang="en-US" sz="1400" dirty="0"/>
          </a:p>
        </p:txBody>
      </p:sp>
      <p:sp>
        <p:nvSpPr>
          <p:cNvPr id="5" name="Shape 2"/>
          <p:cNvSpPr/>
          <p:nvPr/>
        </p:nvSpPr>
        <p:spPr>
          <a:xfrm>
            <a:off x="5203794" y="3127573"/>
            <a:ext cx="6355993" cy="25400"/>
          </a:xfrm>
          <a:prstGeom prst="roundRect">
            <a:avLst>
              <a:gd name="adj" fmla="val 49999"/>
            </a:avLst>
          </a:prstGeom>
          <a:solidFill>
            <a:srgbClr val="23231E">
              <a:alpha val="50000"/>
            </a:srgbClr>
          </a:solidFill>
          <a:ln/>
        </p:spPr>
        <p:txBody>
          <a:bodyPr/>
          <a:lstStyle/>
          <a:p>
            <a:endParaRPr lang="en-US"/>
          </a:p>
        </p:txBody>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03794" y="3401120"/>
            <a:ext cx="3087709" cy="809030"/>
          </a:xfrm>
          <a:prstGeom prst="rect">
            <a:avLst/>
          </a:prstGeom>
        </p:spPr>
      </p:pic>
      <p:sp>
        <p:nvSpPr>
          <p:cNvPr id="7" name="Text 3"/>
          <p:cNvSpPr/>
          <p:nvPr/>
        </p:nvSpPr>
        <p:spPr>
          <a:xfrm>
            <a:off x="5511265" y="3606998"/>
            <a:ext cx="2574365" cy="397272"/>
          </a:xfrm>
          <a:prstGeom prst="rect">
            <a:avLst/>
          </a:prstGeom>
          <a:noFill/>
          <a:ln/>
        </p:spPr>
        <p:txBody>
          <a:bodyPr wrap="square" lIns="0" tIns="0" rIns="0" bIns="0" rtlCol="0" anchor="t">
            <a:normAutofit fontScale="92500"/>
          </a:bodyPr>
          <a:lstStyle/>
          <a:p>
            <a:pPr marL="0" indent="0" algn="l">
              <a:lnSpc>
                <a:spcPct val="92000"/>
              </a:lnSpc>
              <a:buNone/>
            </a:pPr>
            <a:r>
              <a:rPr lang="en-US" sz="1400" b="1" dirty="0">
                <a:solidFill>
                  <a:srgbClr val="23231E"/>
                </a:solidFill>
                <a:latin typeface="Inter Bold" pitchFamily="34" charset="0"/>
                <a:ea typeface="Inter Bold" pitchFamily="34" charset="-122"/>
                <a:cs typeface="Inter Bold" pitchFamily="34" charset="-120"/>
              </a:rPr>
              <a:t>Dataset Name:</a:t>
            </a:r>
            <a:r>
              <a:rPr lang="en-US" sz="1400" dirty="0">
                <a:solidFill>
                  <a:srgbClr val="23231E"/>
                </a:solidFill>
                <a:latin typeface="Inter Light" pitchFamily="34" charset="0"/>
                <a:ea typeface="Inter Light" pitchFamily="34" charset="-122"/>
                <a:cs typeface="Inter Light" pitchFamily="34" charset="-120"/>
              </a:rPr>
              <a:t> </a:t>
            </a:r>
            <a:r>
              <a:rPr lang="en-US" sz="1400" dirty="0">
                <a:solidFill>
                  <a:srgbClr val="23231E"/>
                </a:solidFill>
                <a:highlight>
                  <a:srgbClr val="F2F2F2"/>
                </a:highlight>
                <a:latin typeface="Consolas" pitchFamily="34" charset="0"/>
                <a:ea typeface="Consolas" pitchFamily="34" charset="-122"/>
                <a:cs typeface="Consolas" pitchFamily="34" charset="-120"/>
              </a:rPr>
              <a:t>member4_textile_dataset.csv</a:t>
            </a:r>
            <a:endParaRPr lang="en-US" sz="1400" dirty="0"/>
          </a:p>
        </p:txBody>
      </p:sp>
      <p:pic>
        <p:nvPicPr>
          <p:cNvPr id="8"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471978" y="3401120"/>
            <a:ext cx="3087809" cy="809030"/>
          </a:xfrm>
          <a:prstGeom prst="rect">
            <a:avLst/>
          </a:prstGeom>
        </p:spPr>
      </p:pic>
      <p:sp>
        <p:nvSpPr>
          <p:cNvPr id="9" name="Text 4"/>
          <p:cNvSpPr/>
          <p:nvPr/>
        </p:nvSpPr>
        <p:spPr>
          <a:xfrm>
            <a:off x="8779449" y="3606998"/>
            <a:ext cx="2574464" cy="198636"/>
          </a:xfrm>
          <a:prstGeom prst="rect">
            <a:avLst/>
          </a:prstGeom>
          <a:noFill/>
          <a:ln/>
        </p:spPr>
        <p:txBody>
          <a:bodyPr wrap="none" lIns="0" tIns="0" rIns="0" bIns="0" rtlCol="0" anchor="t"/>
          <a:lstStyle/>
          <a:p>
            <a:pPr marL="0" indent="0" algn="l">
              <a:lnSpc>
                <a:spcPct val="92000"/>
              </a:lnSpc>
              <a:buNone/>
            </a:pPr>
            <a:r>
              <a:rPr lang="en-US" sz="1400" b="1" dirty="0">
                <a:solidFill>
                  <a:srgbClr val="23231E"/>
                </a:solidFill>
                <a:latin typeface="Inter Bold" pitchFamily="34" charset="0"/>
                <a:ea typeface="Inter Bold" pitchFamily="34" charset="-122"/>
                <a:cs typeface="Inter Bold" pitchFamily="34" charset="-120"/>
              </a:rPr>
              <a:t>Size:</a:t>
            </a:r>
            <a:r>
              <a:rPr lang="en-US" sz="1400" dirty="0">
                <a:solidFill>
                  <a:srgbClr val="23231E"/>
                </a:solidFill>
                <a:latin typeface="Inter Light" pitchFamily="34" charset="0"/>
                <a:ea typeface="Inter Light" pitchFamily="34" charset="-122"/>
                <a:cs typeface="Inter Light" pitchFamily="34" charset="-120"/>
              </a:rPr>
              <a:t> 100,000 records</a:t>
            </a:r>
            <a:endParaRPr lang="en-US" sz="1400" dirty="0"/>
          </a:p>
        </p:txBody>
      </p:sp>
      <p:pic>
        <p:nvPicPr>
          <p:cNvPr id="10"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03794" y="4390628"/>
            <a:ext cx="3087709" cy="1206302"/>
          </a:xfrm>
          <a:prstGeom prst="rect">
            <a:avLst/>
          </a:prstGeom>
        </p:spPr>
      </p:pic>
      <p:sp>
        <p:nvSpPr>
          <p:cNvPr id="11" name="Text 5"/>
          <p:cNvSpPr/>
          <p:nvPr/>
        </p:nvSpPr>
        <p:spPr>
          <a:xfrm>
            <a:off x="5511265" y="4596507"/>
            <a:ext cx="2574365" cy="595908"/>
          </a:xfrm>
          <a:prstGeom prst="rect">
            <a:avLst/>
          </a:prstGeom>
          <a:noFill/>
          <a:ln/>
        </p:spPr>
        <p:txBody>
          <a:bodyPr wrap="square" lIns="0" tIns="0" rIns="0" bIns="0" rtlCol="0" anchor="t">
            <a:normAutofit/>
          </a:bodyPr>
          <a:lstStyle/>
          <a:p>
            <a:pPr marL="0" indent="0" algn="l">
              <a:lnSpc>
                <a:spcPct val="92000"/>
              </a:lnSpc>
              <a:buNone/>
            </a:pPr>
            <a:r>
              <a:rPr lang="en-US" sz="1400" b="1" dirty="0">
                <a:solidFill>
                  <a:srgbClr val="23231E"/>
                </a:solidFill>
                <a:latin typeface="Inter Bold" pitchFamily="34" charset="0"/>
                <a:ea typeface="Inter Bold" pitchFamily="34" charset="-122"/>
                <a:cs typeface="Inter Bold" pitchFamily="34" charset="-120"/>
              </a:rPr>
              <a:t>Features:</a:t>
            </a:r>
            <a:r>
              <a:rPr lang="en-US" sz="1400" dirty="0">
                <a:solidFill>
                  <a:srgbClr val="23231E"/>
                </a:solidFill>
                <a:latin typeface="Inter Light" pitchFamily="34" charset="0"/>
                <a:ea typeface="Inter Light" pitchFamily="34" charset="-122"/>
                <a:cs typeface="Inter Light" pitchFamily="34" charset="-120"/>
              </a:rPr>
              <a:t> 36 distinct features capturing various marketplace aspects</a:t>
            </a:r>
            <a:endParaRPr lang="en-US" sz="1400" dirty="0"/>
          </a:p>
        </p:txBody>
      </p:sp>
      <p:pic>
        <p:nvPicPr>
          <p:cNvPr id="12"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471978" y="4390628"/>
            <a:ext cx="3087809" cy="1206302"/>
          </a:xfrm>
          <a:prstGeom prst="rect">
            <a:avLst/>
          </a:prstGeom>
        </p:spPr>
      </p:pic>
      <p:sp>
        <p:nvSpPr>
          <p:cNvPr id="13" name="Text 6"/>
          <p:cNvSpPr/>
          <p:nvPr/>
        </p:nvSpPr>
        <p:spPr>
          <a:xfrm>
            <a:off x="8779449" y="4596507"/>
            <a:ext cx="2574464" cy="794544"/>
          </a:xfrm>
          <a:prstGeom prst="rect">
            <a:avLst/>
          </a:prstGeom>
          <a:noFill/>
          <a:ln/>
        </p:spPr>
        <p:txBody>
          <a:bodyPr wrap="square" lIns="0" tIns="0" rIns="0" bIns="0" rtlCol="0" anchor="t">
            <a:normAutofit/>
          </a:bodyPr>
          <a:lstStyle/>
          <a:p>
            <a:pPr marL="0" indent="0" algn="l">
              <a:lnSpc>
                <a:spcPct val="92000"/>
              </a:lnSpc>
              <a:buNone/>
            </a:pPr>
            <a:r>
              <a:rPr lang="en-US" sz="1400" b="1" dirty="0">
                <a:solidFill>
                  <a:srgbClr val="23231E"/>
                </a:solidFill>
                <a:latin typeface="Inter Bold" pitchFamily="34" charset="0"/>
                <a:ea typeface="Inter Bold" pitchFamily="34" charset="-122"/>
                <a:cs typeface="Inter Bold" pitchFamily="34" charset="-120"/>
              </a:rPr>
              <a:t>Nature:</a:t>
            </a:r>
            <a:r>
              <a:rPr lang="en-US" sz="1400" dirty="0">
                <a:solidFill>
                  <a:srgbClr val="23231E"/>
                </a:solidFill>
                <a:latin typeface="Inter Light" pitchFamily="34" charset="0"/>
                <a:ea typeface="Inter Light" pitchFamily="34" charset="-122"/>
                <a:cs typeface="Inter Light" pitchFamily="34" charset="-120"/>
              </a:rPr>
              <a:t> Synthetic/prototype, specifically generated for model development and demonstration.</a:t>
            </a:r>
            <a:endParaRPr lang="en-US" sz="1400" dirty="0"/>
          </a:p>
        </p:txBody>
      </p:sp>
      <p:grpSp>
        <p:nvGrpSpPr>
          <p:cNvPr id="14" name="Group 13">
            <a:extLst>
              <a:ext uri="{FF2B5EF4-FFF2-40B4-BE49-F238E27FC236}">
                <a16:creationId xmlns:a16="http://schemas.microsoft.com/office/drawing/2014/main" id="{5DCEED29-C0FB-84D6-7D15-BA797F438E24}"/>
              </a:ext>
            </a:extLst>
          </p:cNvPr>
          <p:cNvGrpSpPr/>
          <p:nvPr/>
        </p:nvGrpSpPr>
        <p:grpSpPr>
          <a:xfrm>
            <a:off x="10686552" y="6506574"/>
            <a:ext cx="1505131" cy="351434"/>
            <a:chOff x="2623154" y="413097"/>
            <a:chExt cx="2599719" cy="525560"/>
          </a:xfrm>
        </p:grpSpPr>
        <p:sp>
          <p:nvSpPr>
            <p:cNvPr id="15" name="Freeform 14">
              <a:extLst>
                <a:ext uri="{FF2B5EF4-FFF2-40B4-BE49-F238E27FC236}">
                  <a16:creationId xmlns:a16="http://schemas.microsoft.com/office/drawing/2014/main" id="{977F0942-3A03-0A7C-D6D5-C1E9F1864285}"/>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12"/>
              <a:stretch>
                <a:fillRect l="-64" r="-64" b="1"/>
              </a:stretch>
            </a:blipFill>
          </p:spPr>
          <p:txBody>
            <a:bodyPr/>
            <a:lstStyle/>
            <a:p>
              <a:endParaRPr lang="en-US" sz="1200" dirty="0"/>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631908" y="574377"/>
            <a:ext cx="10927878" cy="408285"/>
          </a:xfrm>
          <a:prstGeom prst="rect">
            <a:avLst/>
          </a:prstGeom>
          <a:noFill/>
          <a:ln/>
        </p:spPr>
        <p:txBody>
          <a:bodyPr wrap="none" lIns="0" tIns="0" rIns="0" bIns="0" rtlCol="0" anchor="t"/>
          <a:lstStyle/>
          <a:p>
            <a:pPr marL="0" indent="0" algn="l">
              <a:lnSpc>
                <a:spcPct val="83000"/>
              </a:lnSpc>
              <a:buNone/>
            </a:pPr>
            <a:r>
              <a:rPr lang="en-US" sz="3200" kern="0" spc="-96" dirty="0">
                <a:solidFill>
                  <a:srgbClr val="383830"/>
                </a:solidFill>
                <a:latin typeface="DM Sans ExtraBold" pitchFamily="34" charset="0"/>
                <a:ea typeface="DM Sans ExtraBold" pitchFamily="34" charset="-122"/>
                <a:cs typeface="DM Sans ExtraBold" pitchFamily="34" charset="-120"/>
              </a:rPr>
              <a:t>Commercialization</a:t>
            </a:r>
            <a:endParaRPr lang="en-US" sz="3200" dirty="0"/>
          </a:p>
        </p:txBody>
      </p:sp>
      <p:sp>
        <p:nvSpPr>
          <p:cNvPr id="3" name="Text 1"/>
          <p:cNvSpPr/>
          <p:nvPr/>
        </p:nvSpPr>
        <p:spPr>
          <a:xfrm>
            <a:off x="631908" y="1249263"/>
            <a:ext cx="11537463" cy="158651"/>
          </a:xfrm>
          <a:prstGeom prst="rect">
            <a:avLst/>
          </a:prstGeom>
          <a:noFill/>
          <a:ln/>
        </p:spPr>
        <p:txBody>
          <a:bodyPr wrap="none" lIns="0" tIns="0" rIns="0" bIns="0" rtlCol="0" anchor="t"/>
          <a:lstStyle/>
          <a:p>
            <a:pPr marL="0" indent="0" algn="l">
              <a:lnSpc>
                <a:spcPct val="85000"/>
              </a:lnSpc>
              <a:buNone/>
            </a:pPr>
            <a:r>
              <a:rPr lang="en-US" sz="1200" dirty="0">
                <a:solidFill>
                  <a:srgbClr val="23231E"/>
                </a:solidFill>
                <a:latin typeface="Inter Light" pitchFamily="34" charset="0"/>
                <a:ea typeface="Inter Light" pitchFamily="34" charset="-122"/>
                <a:cs typeface="Inter Light" pitchFamily="34" charset="-120"/>
              </a:rPr>
              <a:t>Driving adoption and value in the TexCycle AI marketplace to foster a thriving circular economy for textiles.</a:t>
            </a:r>
            <a:endParaRPr lang="en-US" sz="1200" dirty="0"/>
          </a:p>
        </p:txBody>
      </p:sp>
      <p:sp>
        <p:nvSpPr>
          <p:cNvPr id="4" name="Text 2"/>
          <p:cNvSpPr/>
          <p:nvPr/>
        </p:nvSpPr>
        <p:spPr>
          <a:xfrm>
            <a:off x="631908" y="1691084"/>
            <a:ext cx="5274734" cy="326628"/>
          </a:xfrm>
          <a:prstGeom prst="rect">
            <a:avLst/>
          </a:prstGeom>
          <a:noFill/>
          <a:ln/>
        </p:spPr>
        <p:txBody>
          <a:bodyPr wrap="none" lIns="0" tIns="0" rIns="0" bIns="0" rtlCol="0" anchor="t"/>
          <a:lstStyle/>
          <a:p>
            <a:pPr marL="0" indent="0" algn="l">
              <a:lnSpc>
                <a:spcPct val="83000"/>
              </a:lnSpc>
              <a:buNone/>
            </a:pPr>
            <a:r>
              <a:rPr lang="en-US" sz="2550" kern="0" spc="-77" dirty="0">
                <a:solidFill>
                  <a:srgbClr val="383830"/>
                </a:solidFill>
                <a:latin typeface="DM Sans ExtraBold" pitchFamily="34" charset="0"/>
                <a:ea typeface="DM Sans ExtraBold" pitchFamily="34" charset="-122"/>
                <a:cs typeface="DM Sans ExtraBold" pitchFamily="34" charset="-120"/>
              </a:rPr>
              <a:t>Target Users</a:t>
            </a:r>
            <a:endParaRPr lang="en-US" sz="2550" dirty="0"/>
          </a:p>
        </p:txBody>
      </p:sp>
      <p:sp>
        <p:nvSpPr>
          <p:cNvPr id="5" name="Text 3"/>
          <p:cNvSpPr/>
          <p:nvPr/>
        </p:nvSpPr>
        <p:spPr>
          <a:xfrm>
            <a:off x="631908" y="2150963"/>
            <a:ext cx="5884318" cy="158651"/>
          </a:xfrm>
          <a:prstGeom prst="rect">
            <a:avLst/>
          </a:prstGeom>
          <a:noFill/>
          <a:ln/>
        </p:spPr>
        <p:txBody>
          <a:bodyPr wrap="none" lIns="0" tIns="0" rIns="0" bIns="0" rtlCol="0" anchor="t"/>
          <a:lstStyle/>
          <a:p>
            <a:pPr marL="0" indent="0" algn="l">
              <a:lnSpc>
                <a:spcPct val="85000"/>
              </a:lnSpc>
              <a:buNone/>
            </a:pPr>
            <a:r>
              <a:rPr lang="en-US" sz="1200" dirty="0">
                <a:solidFill>
                  <a:srgbClr val="23231E"/>
                </a:solidFill>
                <a:latin typeface="Inter Light" pitchFamily="34" charset="0"/>
                <a:ea typeface="Inter Light" pitchFamily="34" charset="-122"/>
                <a:cs typeface="Inter Light" pitchFamily="34" charset="-120"/>
              </a:rPr>
              <a:t>Our platform caters to both ends of the textile lifecycle:</a:t>
            </a:r>
            <a:endParaRPr lang="en-US" sz="1200" dirty="0"/>
          </a:p>
        </p:txBody>
      </p:sp>
      <p:sp>
        <p:nvSpPr>
          <p:cNvPr id="6" name="Text 4"/>
          <p:cNvSpPr/>
          <p:nvPr/>
        </p:nvSpPr>
        <p:spPr>
          <a:xfrm>
            <a:off x="631908" y="2442865"/>
            <a:ext cx="5274734" cy="204192"/>
          </a:xfrm>
          <a:prstGeom prst="rect">
            <a:avLst/>
          </a:prstGeom>
          <a:noFill/>
          <a:ln/>
        </p:spPr>
        <p:txBody>
          <a:bodyPr wrap="none" lIns="0" tIns="0" rIns="0" bIns="0" rtlCol="0" anchor="t"/>
          <a:lstStyle/>
          <a:p>
            <a:pPr marL="0" indent="0" algn="l">
              <a:lnSpc>
                <a:spcPct val="83000"/>
              </a:lnSpc>
              <a:buNone/>
            </a:pPr>
            <a:r>
              <a:rPr lang="en-US" sz="1600" kern="0" spc="-48" dirty="0">
                <a:solidFill>
                  <a:srgbClr val="383830"/>
                </a:solidFill>
                <a:latin typeface="DM Sans ExtraBold" pitchFamily="34" charset="0"/>
                <a:ea typeface="DM Sans ExtraBold" pitchFamily="34" charset="-122"/>
                <a:cs typeface="DM Sans ExtraBold" pitchFamily="34" charset="-120"/>
              </a:rPr>
              <a:t>Supply Side</a:t>
            </a:r>
            <a:endParaRPr lang="en-US" sz="1600" dirty="0"/>
          </a:p>
        </p:txBody>
      </p:sp>
      <p:sp>
        <p:nvSpPr>
          <p:cNvPr id="7" name="Text 5"/>
          <p:cNvSpPr/>
          <p:nvPr/>
        </p:nvSpPr>
        <p:spPr>
          <a:xfrm>
            <a:off x="631908" y="2780308"/>
            <a:ext cx="5274734" cy="979785"/>
          </a:xfrm>
          <a:prstGeom prst="rect">
            <a:avLst/>
          </a:prstGeom>
          <a:noFill/>
          <a:ln/>
        </p:spPr>
        <p:txBody>
          <a:bodyPr wrap="square" lIns="0" tIns="62063" rIns="0" bIns="0" rtlCol="0" anchor="t">
            <a:normAutofit/>
          </a:bodyPr>
          <a:lstStyle/>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Garment factories</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Textile manufacturers</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Tailors</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Textile waste suppliers</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Apparel SMEs</a:t>
            </a:r>
            <a:endParaRPr lang="en-US" sz="1200" dirty="0"/>
          </a:p>
        </p:txBody>
      </p:sp>
      <p:sp>
        <p:nvSpPr>
          <p:cNvPr id="8" name="Text 6"/>
          <p:cNvSpPr/>
          <p:nvPr/>
        </p:nvSpPr>
        <p:spPr>
          <a:xfrm>
            <a:off x="631908" y="3893344"/>
            <a:ext cx="5274734" cy="204192"/>
          </a:xfrm>
          <a:prstGeom prst="rect">
            <a:avLst/>
          </a:prstGeom>
          <a:noFill/>
          <a:ln/>
        </p:spPr>
        <p:txBody>
          <a:bodyPr wrap="none" lIns="0" tIns="0" rIns="0" bIns="0" rtlCol="0" anchor="t"/>
          <a:lstStyle/>
          <a:p>
            <a:pPr marL="0" indent="0" algn="l">
              <a:lnSpc>
                <a:spcPct val="83000"/>
              </a:lnSpc>
              <a:buNone/>
            </a:pPr>
            <a:r>
              <a:rPr lang="en-US" sz="1600" kern="0" spc="-48" dirty="0">
                <a:solidFill>
                  <a:srgbClr val="383830"/>
                </a:solidFill>
                <a:latin typeface="DM Sans ExtraBold" pitchFamily="34" charset="0"/>
                <a:ea typeface="DM Sans ExtraBold" pitchFamily="34" charset="-122"/>
                <a:cs typeface="DM Sans ExtraBold" pitchFamily="34" charset="-120"/>
              </a:rPr>
              <a:t>Demand Side</a:t>
            </a:r>
            <a:endParaRPr lang="en-US" sz="1600" dirty="0"/>
          </a:p>
        </p:txBody>
      </p:sp>
      <p:sp>
        <p:nvSpPr>
          <p:cNvPr id="9" name="Text 7"/>
          <p:cNvSpPr/>
          <p:nvPr/>
        </p:nvSpPr>
        <p:spPr>
          <a:xfrm>
            <a:off x="631908" y="4230787"/>
            <a:ext cx="5274734" cy="2006203"/>
          </a:xfrm>
          <a:prstGeom prst="rect">
            <a:avLst/>
          </a:prstGeom>
          <a:noFill/>
          <a:ln/>
        </p:spPr>
        <p:txBody>
          <a:bodyPr wrap="square" lIns="0" tIns="62063" rIns="0" bIns="0" rtlCol="0" anchor="t">
            <a:normAutofit/>
          </a:bodyPr>
          <a:lstStyle/>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Textile recyclers</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Upcycling businesses</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Fashion designers</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Furniture manufacturers</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Garment manufacturers</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Cleaning-cloth producers</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Insulation producers</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Toy manufacturers</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Exporters</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Artisans and SMEs</a:t>
            </a:r>
            <a:endParaRPr lang="en-US" sz="1200" dirty="0"/>
          </a:p>
        </p:txBody>
      </p:sp>
      <p:sp>
        <p:nvSpPr>
          <p:cNvPr id="10" name="Text 8"/>
          <p:cNvSpPr/>
          <p:nvPr/>
        </p:nvSpPr>
        <p:spPr>
          <a:xfrm>
            <a:off x="6291403" y="1691084"/>
            <a:ext cx="5274734" cy="326628"/>
          </a:xfrm>
          <a:prstGeom prst="rect">
            <a:avLst/>
          </a:prstGeom>
          <a:noFill/>
          <a:ln/>
        </p:spPr>
        <p:txBody>
          <a:bodyPr wrap="none" lIns="0" tIns="0" rIns="0" bIns="0" rtlCol="0" anchor="t"/>
          <a:lstStyle/>
          <a:p>
            <a:pPr marL="0" indent="0" algn="l">
              <a:lnSpc>
                <a:spcPct val="83000"/>
              </a:lnSpc>
              <a:buNone/>
            </a:pPr>
            <a:r>
              <a:rPr lang="en-US" sz="2550" kern="0" spc="-77" dirty="0">
                <a:solidFill>
                  <a:srgbClr val="383830"/>
                </a:solidFill>
                <a:latin typeface="DM Sans ExtraBold" pitchFamily="34" charset="0"/>
                <a:ea typeface="DM Sans ExtraBold" pitchFamily="34" charset="-122"/>
                <a:cs typeface="DM Sans ExtraBold" pitchFamily="34" charset="-120"/>
              </a:rPr>
              <a:t>Platform Value</a:t>
            </a:r>
            <a:endParaRPr lang="en-US" sz="2550" dirty="0"/>
          </a:p>
        </p:txBody>
      </p:sp>
      <p:sp>
        <p:nvSpPr>
          <p:cNvPr id="11" name="Text 9"/>
          <p:cNvSpPr/>
          <p:nvPr/>
        </p:nvSpPr>
        <p:spPr>
          <a:xfrm>
            <a:off x="6291403" y="2150963"/>
            <a:ext cx="5884318" cy="158651"/>
          </a:xfrm>
          <a:prstGeom prst="rect">
            <a:avLst/>
          </a:prstGeom>
          <a:noFill/>
          <a:ln/>
        </p:spPr>
        <p:txBody>
          <a:bodyPr wrap="none" lIns="0" tIns="0" rIns="0" bIns="0" rtlCol="0" anchor="t"/>
          <a:lstStyle/>
          <a:p>
            <a:pPr marL="0" indent="0" algn="l">
              <a:lnSpc>
                <a:spcPct val="85000"/>
              </a:lnSpc>
              <a:buNone/>
            </a:pPr>
            <a:r>
              <a:rPr lang="en-US" sz="1200" dirty="0">
                <a:solidFill>
                  <a:srgbClr val="23231E"/>
                </a:solidFill>
                <a:latin typeface="Inter Light" pitchFamily="34" charset="0"/>
                <a:ea typeface="Inter Light" pitchFamily="34" charset="-122"/>
                <a:cs typeface="Inter Light" pitchFamily="34" charset="-120"/>
              </a:rPr>
              <a:t>TexCycle AI delivers distinct benefits to all marketplace participants:</a:t>
            </a:r>
            <a:endParaRPr lang="en-US" sz="1200" dirty="0"/>
          </a:p>
        </p:txBody>
      </p:sp>
      <p:sp>
        <p:nvSpPr>
          <p:cNvPr id="12" name="Text 10"/>
          <p:cNvSpPr/>
          <p:nvPr/>
        </p:nvSpPr>
        <p:spPr>
          <a:xfrm>
            <a:off x="6291403" y="2442865"/>
            <a:ext cx="5274734" cy="204192"/>
          </a:xfrm>
          <a:prstGeom prst="rect">
            <a:avLst/>
          </a:prstGeom>
          <a:noFill/>
          <a:ln/>
        </p:spPr>
        <p:txBody>
          <a:bodyPr wrap="none" lIns="0" tIns="0" rIns="0" bIns="0" rtlCol="0" anchor="t"/>
          <a:lstStyle/>
          <a:p>
            <a:pPr marL="0" indent="0" algn="l">
              <a:lnSpc>
                <a:spcPct val="83000"/>
              </a:lnSpc>
              <a:buNone/>
            </a:pPr>
            <a:r>
              <a:rPr lang="en-US" sz="1600" kern="0" spc="-48" dirty="0">
                <a:solidFill>
                  <a:srgbClr val="383830"/>
                </a:solidFill>
                <a:latin typeface="DM Sans ExtraBold" pitchFamily="34" charset="0"/>
                <a:ea typeface="DM Sans ExtraBold" pitchFamily="34" charset="-122"/>
                <a:cs typeface="DM Sans ExtraBold" pitchFamily="34" charset="-120"/>
              </a:rPr>
              <a:t>For Sellers</a:t>
            </a:r>
            <a:endParaRPr lang="en-US" sz="1600" dirty="0"/>
          </a:p>
        </p:txBody>
      </p:sp>
      <p:sp>
        <p:nvSpPr>
          <p:cNvPr id="13" name="Text 11"/>
          <p:cNvSpPr/>
          <p:nvPr/>
        </p:nvSpPr>
        <p:spPr>
          <a:xfrm>
            <a:off x="6291403" y="2780308"/>
            <a:ext cx="5274734" cy="774502"/>
          </a:xfrm>
          <a:prstGeom prst="rect">
            <a:avLst/>
          </a:prstGeom>
          <a:noFill/>
          <a:ln/>
        </p:spPr>
        <p:txBody>
          <a:bodyPr wrap="square" lIns="0" tIns="62063" rIns="0" bIns="0" rtlCol="0" anchor="t">
            <a:normAutofit/>
          </a:bodyPr>
          <a:lstStyle/>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Better valuation</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Better buyer discovery</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AI-assisted listings</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Market intelligence</a:t>
            </a:r>
            <a:endParaRPr lang="en-US" sz="1200" dirty="0"/>
          </a:p>
        </p:txBody>
      </p:sp>
      <p:sp>
        <p:nvSpPr>
          <p:cNvPr id="14" name="Text 12"/>
          <p:cNvSpPr/>
          <p:nvPr/>
        </p:nvSpPr>
        <p:spPr>
          <a:xfrm>
            <a:off x="6291403" y="3688060"/>
            <a:ext cx="5274734" cy="204192"/>
          </a:xfrm>
          <a:prstGeom prst="rect">
            <a:avLst/>
          </a:prstGeom>
          <a:noFill/>
          <a:ln/>
        </p:spPr>
        <p:txBody>
          <a:bodyPr wrap="none" lIns="0" tIns="0" rIns="0" bIns="0" rtlCol="0" anchor="t"/>
          <a:lstStyle/>
          <a:p>
            <a:pPr marL="0" indent="0" algn="l">
              <a:lnSpc>
                <a:spcPct val="83000"/>
              </a:lnSpc>
              <a:buNone/>
            </a:pPr>
            <a:r>
              <a:rPr lang="en-US" sz="1600" kern="0" spc="-48" dirty="0">
                <a:solidFill>
                  <a:srgbClr val="383830"/>
                </a:solidFill>
                <a:latin typeface="DM Sans ExtraBold" pitchFamily="34" charset="0"/>
                <a:ea typeface="DM Sans ExtraBold" pitchFamily="34" charset="-122"/>
                <a:cs typeface="DM Sans ExtraBold" pitchFamily="34" charset="-120"/>
              </a:rPr>
              <a:t>For Buyers</a:t>
            </a:r>
            <a:endParaRPr lang="en-US" sz="1600" dirty="0"/>
          </a:p>
        </p:txBody>
      </p:sp>
      <p:sp>
        <p:nvSpPr>
          <p:cNvPr id="15" name="Text 13"/>
          <p:cNvSpPr/>
          <p:nvPr/>
        </p:nvSpPr>
        <p:spPr>
          <a:xfrm>
            <a:off x="6291403" y="4025503"/>
            <a:ext cx="5274734" cy="979785"/>
          </a:xfrm>
          <a:prstGeom prst="rect">
            <a:avLst/>
          </a:prstGeom>
          <a:noFill/>
          <a:ln/>
        </p:spPr>
        <p:txBody>
          <a:bodyPr wrap="square" lIns="0" tIns="62063" rIns="0" bIns="0" rtlCol="0" anchor="t">
            <a:normAutofit/>
          </a:bodyPr>
          <a:lstStyle/>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Easier material discovery</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Better comparison</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Flexible purchasing</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Sustainability information</a:t>
            </a:r>
            <a:endParaRPr lang="en-US" sz="1200" dirty="0"/>
          </a:p>
          <a:p>
            <a:pPr marL="243840" indent="-243840" algn="l">
              <a:lnSpc>
                <a:spcPct val="85000"/>
              </a:lnSpc>
              <a:buSzPct val="100000"/>
              <a:buChar char="•"/>
            </a:pPr>
            <a:r>
              <a:rPr lang="en-US" sz="1200" dirty="0">
                <a:solidFill>
                  <a:srgbClr val="23231E"/>
                </a:solidFill>
                <a:latin typeface="Inter Light" pitchFamily="34" charset="0"/>
                <a:ea typeface="Inter Light" pitchFamily="34" charset="-122"/>
                <a:cs typeface="Inter Light" pitchFamily="34" charset="-120"/>
              </a:rPr>
              <a:t>Seller trust information</a:t>
            </a:r>
            <a:endParaRPr lang="en-US" sz="1200" dirty="0"/>
          </a:p>
        </p:txBody>
      </p:sp>
      <p:grpSp>
        <p:nvGrpSpPr>
          <p:cNvPr id="16" name="Group 15">
            <a:extLst>
              <a:ext uri="{FF2B5EF4-FFF2-40B4-BE49-F238E27FC236}">
                <a16:creationId xmlns:a16="http://schemas.microsoft.com/office/drawing/2014/main" id="{5014E1C1-9ABD-E762-B662-5BDE8C4F64F2}"/>
              </a:ext>
            </a:extLst>
          </p:cNvPr>
          <p:cNvGrpSpPr/>
          <p:nvPr/>
        </p:nvGrpSpPr>
        <p:grpSpPr>
          <a:xfrm>
            <a:off x="10686552" y="6506574"/>
            <a:ext cx="1505131" cy="351434"/>
            <a:chOff x="2623154" y="413097"/>
            <a:chExt cx="2599719" cy="525560"/>
          </a:xfrm>
        </p:grpSpPr>
        <p:sp>
          <p:nvSpPr>
            <p:cNvPr id="17" name="Freeform 16">
              <a:extLst>
                <a:ext uri="{FF2B5EF4-FFF2-40B4-BE49-F238E27FC236}">
                  <a16:creationId xmlns:a16="http://schemas.microsoft.com/office/drawing/2014/main" id="{18244B37-37DC-7A58-6697-E0CAA6D01FD8}"/>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sz="1200" dirty="0"/>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631908" y="529034"/>
            <a:ext cx="10927878" cy="430609"/>
          </a:xfrm>
          <a:prstGeom prst="rect">
            <a:avLst/>
          </a:prstGeom>
          <a:noFill/>
          <a:ln/>
        </p:spPr>
        <p:txBody>
          <a:bodyPr wrap="none" lIns="0" tIns="0" rIns="0" bIns="0" rtlCol="0" anchor="t"/>
          <a:lstStyle/>
          <a:p>
            <a:pPr marL="0" indent="0" algn="l">
              <a:lnSpc>
                <a:spcPct val="83000"/>
              </a:lnSpc>
              <a:buNone/>
            </a:pPr>
            <a:r>
              <a:rPr lang="en-US" sz="3350" kern="0" spc="-102" dirty="0">
                <a:solidFill>
                  <a:srgbClr val="383830"/>
                </a:solidFill>
                <a:latin typeface="DM Sans ExtraBold" pitchFamily="34" charset="0"/>
                <a:ea typeface="DM Sans ExtraBold" pitchFamily="34" charset="-122"/>
                <a:cs typeface="DM Sans ExtraBold" pitchFamily="34" charset="-120"/>
              </a:rPr>
              <a:t>Business Model &amp; Commercialization Plan</a:t>
            </a:r>
            <a:endParaRPr lang="en-US" sz="3350" dirty="0"/>
          </a:p>
        </p:txBody>
      </p:sp>
      <p:sp>
        <p:nvSpPr>
          <p:cNvPr id="3" name="Text 1"/>
          <p:cNvSpPr/>
          <p:nvPr/>
        </p:nvSpPr>
        <p:spPr>
          <a:xfrm>
            <a:off x="631908" y="1256209"/>
            <a:ext cx="10927878" cy="342900"/>
          </a:xfrm>
          <a:prstGeom prst="rect">
            <a:avLst/>
          </a:prstGeom>
          <a:noFill/>
          <a:ln/>
        </p:spPr>
        <p:txBody>
          <a:bodyPr wrap="square" lIns="0" tIns="0" rIns="0" bIns="0" rtlCol="0" anchor="t">
            <a:normAutofit/>
          </a:bodyPr>
          <a:lstStyle/>
          <a:p>
            <a:pPr marL="0" indent="0" algn="l">
              <a:lnSpc>
                <a:spcPct val="87000"/>
              </a:lnSpc>
              <a:buNone/>
            </a:pPr>
            <a:r>
              <a:rPr lang="en-US" sz="1250" dirty="0">
                <a:solidFill>
                  <a:srgbClr val="23231E"/>
                </a:solidFill>
                <a:latin typeface="Inter Light" pitchFamily="34" charset="0"/>
                <a:ea typeface="Inter Light" pitchFamily="34" charset="-122"/>
                <a:cs typeface="Inter Light" pitchFamily="34" charset="-120"/>
              </a:rPr>
              <a:t>Our commercial strategy leverages a tiered service model, ensuring accessibility while providing advanced features for specialized needs, complemented by diverse revenue streams to sustain growth and impact.</a:t>
            </a:r>
            <a:endParaRPr lang="en-US" sz="1250" dirty="0"/>
          </a:p>
        </p:txBody>
      </p:sp>
      <p:sp>
        <p:nvSpPr>
          <p:cNvPr id="4" name="Shape 2"/>
          <p:cNvSpPr/>
          <p:nvPr/>
        </p:nvSpPr>
        <p:spPr>
          <a:xfrm>
            <a:off x="631908" y="1765895"/>
            <a:ext cx="3543807" cy="2441377"/>
          </a:xfrm>
          <a:prstGeom prst="roundRect">
            <a:avLst>
              <a:gd name="adj" fmla="val 6032"/>
            </a:avLst>
          </a:prstGeom>
          <a:solidFill>
            <a:srgbClr val="FFFFFF"/>
          </a:solidFill>
          <a:ln w="19050">
            <a:solidFill>
              <a:srgbClr val="383830"/>
            </a:solidFill>
            <a:prstDash val="solid"/>
          </a:ln>
          <a:effectLst>
            <a:outerShdw blurRad="245110" dist="127" dir="16200000" algn="bl" rotWithShape="0">
              <a:srgbClr val="333333">
                <a:alpha val="10000"/>
              </a:srgbClr>
            </a:outerShdw>
          </a:effectLst>
        </p:spPr>
        <p:txBody>
          <a:bodyPr/>
          <a:lstStyle/>
          <a:p>
            <a:endParaRPr lang="en-US"/>
          </a:p>
        </p:txBody>
      </p:sp>
      <p:sp>
        <p:nvSpPr>
          <p:cNvPr id="5" name="Text 3"/>
          <p:cNvSpPr/>
          <p:nvPr/>
        </p:nvSpPr>
        <p:spPr>
          <a:xfrm>
            <a:off x="814566" y="1948557"/>
            <a:ext cx="3178492" cy="215305"/>
          </a:xfrm>
          <a:prstGeom prst="rect">
            <a:avLst/>
          </a:prstGeom>
          <a:noFill/>
          <a:ln/>
        </p:spPr>
        <p:txBody>
          <a:bodyPr wrap="none" lIns="0" tIns="0" rIns="0" bIns="0" rtlCol="0" anchor="t"/>
          <a:lstStyle/>
          <a:p>
            <a:pPr marL="0" indent="0" algn="l">
              <a:lnSpc>
                <a:spcPct val="83000"/>
              </a:lnSpc>
              <a:buNone/>
            </a:pPr>
            <a:r>
              <a:rPr lang="en-US" sz="1650" kern="0" spc="-51" dirty="0">
                <a:solidFill>
                  <a:srgbClr val="23231E"/>
                </a:solidFill>
                <a:latin typeface="DM Sans ExtraBold" pitchFamily="34" charset="0"/>
                <a:ea typeface="DM Sans ExtraBold" pitchFamily="34" charset="-122"/>
                <a:cs typeface="DM Sans ExtraBold" pitchFamily="34" charset="-120"/>
              </a:rPr>
              <a:t>FREE / BASIC</a:t>
            </a:r>
            <a:endParaRPr lang="en-US" sz="1650" dirty="0"/>
          </a:p>
        </p:txBody>
      </p:sp>
      <p:sp>
        <p:nvSpPr>
          <p:cNvPr id="6" name="Text 4"/>
          <p:cNvSpPr/>
          <p:nvPr/>
        </p:nvSpPr>
        <p:spPr>
          <a:xfrm>
            <a:off x="814566" y="2252762"/>
            <a:ext cx="3178492" cy="1064816"/>
          </a:xfrm>
          <a:prstGeom prst="rect">
            <a:avLst/>
          </a:prstGeom>
          <a:noFill/>
          <a:ln/>
        </p:spPr>
        <p:txBody>
          <a:bodyPr wrap="square" lIns="0" tIns="65448" rIns="0" bIns="0" rtlCol="0" anchor="t">
            <a:normAutofit/>
          </a:bodyPr>
          <a:lstStyle/>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Marketplace Access</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Browse textile listings</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Search &amp; filtering</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Basic listing information</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Basic buyer/seller profile</a:t>
            </a:r>
            <a:endParaRPr lang="en-US" sz="1250" dirty="0"/>
          </a:p>
        </p:txBody>
      </p:sp>
      <p:sp>
        <p:nvSpPr>
          <p:cNvPr id="7" name="Shape 5"/>
          <p:cNvSpPr/>
          <p:nvPr/>
        </p:nvSpPr>
        <p:spPr>
          <a:xfrm>
            <a:off x="4323944" y="1765895"/>
            <a:ext cx="3543807" cy="2441377"/>
          </a:xfrm>
          <a:prstGeom prst="roundRect">
            <a:avLst>
              <a:gd name="adj" fmla="val 6032"/>
            </a:avLst>
          </a:prstGeom>
          <a:solidFill>
            <a:srgbClr val="FFFFFF"/>
          </a:solidFill>
          <a:ln w="19050">
            <a:solidFill>
              <a:srgbClr val="5E5E53"/>
            </a:solidFill>
            <a:prstDash val="solid"/>
          </a:ln>
          <a:effectLst>
            <a:outerShdw blurRad="245110" dist="127" dir="16200000" algn="bl" rotWithShape="0">
              <a:srgbClr val="333333">
                <a:alpha val="10000"/>
              </a:srgbClr>
            </a:outerShdw>
          </a:effectLst>
        </p:spPr>
        <p:txBody>
          <a:bodyPr/>
          <a:lstStyle/>
          <a:p>
            <a:endParaRPr lang="en-US"/>
          </a:p>
        </p:txBody>
      </p:sp>
      <p:sp>
        <p:nvSpPr>
          <p:cNvPr id="8" name="Text 6"/>
          <p:cNvSpPr/>
          <p:nvPr/>
        </p:nvSpPr>
        <p:spPr>
          <a:xfrm>
            <a:off x="4506601" y="1948557"/>
            <a:ext cx="3178492" cy="215305"/>
          </a:xfrm>
          <a:prstGeom prst="rect">
            <a:avLst/>
          </a:prstGeom>
          <a:noFill/>
          <a:ln/>
        </p:spPr>
        <p:txBody>
          <a:bodyPr wrap="none" lIns="0" tIns="0" rIns="0" bIns="0" rtlCol="0" anchor="t"/>
          <a:lstStyle/>
          <a:p>
            <a:pPr marL="0" indent="0" algn="l">
              <a:lnSpc>
                <a:spcPct val="83000"/>
              </a:lnSpc>
              <a:buNone/>
            </a:pPr>
            <a:r>
              <a:rPr lang="en-US" sz="1650" kern="0" spc="-51" dirty="0">
                <a:solidFill>
                  <a:srgbClr val="23231E"/>
                </a:solidFill>
                <a:latin typeface="DM Sans ExtraBold" pitchFamily="34" charset="0"/>
                <a:ea typeface="DM Sans ExtraBold" pitchFamily="34" charset="-122"/>
                <a:cs typeface="DM Sans ExtraBold" pitchFamily="34" charset="-120"/>
              </a:rPr>
              <a:t>PROFESSIONAL</a:t>
            </a:r>
            <a:endParaRPr lang="en-US" sz="1650" dirty="0"/>
          </a:p>
        </p:txBody>
      </p:sp>
      <p:sp>
        <p:nvSpPr>
          <p:cNvPr id="9" name="Text 7"/>
          <p:cNvSpPr/>
          <p:nvPr/>
        </p:nvSpPr>
        <p:spPr>
          <a:xfrm>
            <a:off x="4506601" y="2252762"/>
            <a:ext cx="3178492" cy="171450"/>
          </a:xfrm>
          <a:prstGeom prst="rect">
            <a:avLst/>
          </a:prstGeom>
          <a:noFill/>
          <a:ln/>
        </p:spPr>
        <p:txBody>
          <a:bodyPr wrap="none" lIns="0" tIns="0" rIns="0" bIns="0" rtlCol="0" anchor="t"/>
          <a:lstStyle/>
          <a:p>
            <a:pPr marL="0" indent="0" algn="l">
              <a:lnSpc>
                <a:spcPct val="87000"/>
              </a:lnSpc>
              <a:buNone/>
            </a:pPr>
            <a:r>
              <a:rPr lang="en-US" sz="1250" dirty="0">
                <a:solidFill>
                  <a:srgbClr val="23231E"/>
                </a:solidFill>
                <a:latin typeface="Inter Light" pitchFamily="34" charset="0"/>
                <a:ea typeface="Inter Light" pitchFamily="34" charset="-122"/>
                <a:cs typeface="Inter Light" pitchFamily="34" charset="-120"/>
              </a:rPr>
              <a:t>Includes all Basic features, plus:</a:t>
            </a:r>
            <a:endParaRPr lang="en-US" sz="1250" dirty="0"/>
          </a:p>
        </p:txBody>
      </p:sp>
      <p:sp>
        <p:nvSpPr>
          <p:cNvPr id="10" name="Text 8"/>
          <p:cNvSpPr/>
          <p:nvPr/>
        </p:nvSpPr>
        <p:spPr>
          <a:xfrm>
            <a:off x="4506601" y="2513112"/>
            <a:ext cx="3178492" cy="1064816"/>
          </a:xfrm>
          <a:prstGeom prst="rect">
            <a:avLst/>
          </a:prstGeom>
          <a:noFill/>
          <a:ln/>
        </p:spPr>
        <p:txBody>
          <a:bodyPr wrap="square" lIns="0" tIns="65448" rIns="0" bIns="0" rtlCol="0" anchor="t">
            <a:normAutofit/>
          </a:bodyPr>
          <a:lstStyle/>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AI recommendations</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Price prediction</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Buyer matching</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Sustainability information</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Marketplace analytics</a:t>
            </a:r>
            <a:endParaRPr lang="en-US" sz="1250" dirty="0"/>
          </a:p>
        </p:txBody>
      </p:sp>
      <p:sp>
        <p:nvSpPr>
          <p:cNvPr id="11" name="Shape 9"/>
          <p:cNvSpPr/>
          <p:nvPr/>
        </p:nvSpPr>
        <p:spPr>
          <a:xfrm>
            <a:off x="8015980" y="1765895"/>
            <a:ext cx="3543807" cy="2441377"/>
          </a:xfrm>
          <a:prstGeom prst="roundRect">
            <a:avLst>
              <a:gd name="adj" fmla="val 6032"/>
            </a:avLst>
          </a:prstGeom>
          <a:solidFill>
            <a:srgbClr val="FFFFFF"/>
          </a:solidFill>
          <a:ln w="19050">
            <a:solidFill>
              <a:srgbClr val="8B8B7A"/>
            </a:solidFill>
            <a:prstDash val="solid"/>
          </a:ln>
          <a:effectLst>
            <a:outerShdw blurRad="245110" dist="127" dir="16200000" algn="bl" rotWithShape="0">
              <a:srgbClr val="333333">
                <a:alpha val="10000"/>
              </a:srgbClr>
            </a:outerShdw>
          </a:effectLst>
        </p:spPr>
        <p:txBody>
          <a:bodyPr/>
          <a:lstStyle/>
          <a:p>
            <a:endParaRPr lang="en-US"/>
          </a:p>
        </p:txBody>
      </p:sp>
      <p:sp>
        <p:nvSpPr>
          <p:cNvPr id="12" name="Text 10"/>
          <p:cNvSpPr/>
          <p:nvPr/>
        </p:nvSpPr>
        <p:spPr>
          <a:xfrm>
            <a:off x="8198637" y="1948557"/>
            <a:ext cx="3178492" cy="215305"/>
          </a:xfrm>
          <a:prstGeom prst="rect">
            <a:avLst/>
          </a:prstGeom>
          <a:noFill/>
          <a:ln/>
        </p:spPr>
        <p:txBody>
          <a:bodyPr wrap="none" lIns="0" tIns="0" rIns="0" bIns="0" rtlCol="0" anchor="t"/>
          <a:lstStyle/>
          <a:p>
            <a:pPr marL="0" indent="0" algn="l">
              <a:lnSpc>
                <a:spcPct val="83000"/>
              </a:lnSpc>
              <a:buNone/>
            </a:pPr>
            <a:r>
              <a:rPr lang="en-US" sz="1650" kern="0" spc="-51" dirty="0">
                <a:solidFill>
                  <a:srgbClr val="23231E"/>
                </a:solidFill>
                <a:latin typeface="DM Sans ExtraBold" pitchFamily="34" charset="0"/>
                <a:ea typeface="DM Sans ExtraBold" pitchFamily="34" charset="-122"/>
                <a:cs typeface="DM Sans ExtraBold" pitchFamily="34" charset="-120"/>
              </a:rPr>
              <a:t>BUSINESS / ENTERPRISE</a:t>
            </a:r>
            <a:endParaRPr lang="en-US" sz="1650" dirty="0"/>
          </a:p>
        </p:txBody>
      </p:sp>
      <p:sp>
        <p:nvSpPr>
          <p:cNvPr id="13" name="Text 11"/>
          <p:cNvSpPr/>
          <p:nvPr/>
        </p:nvSpPr>
        <p:spPr>
          <a:xfrm>
            <a:off x="8198637" y="2252762"/>
            <a:ext cx="3178492" cy="171450"/>
          </a:xfrm>
          <a:prstGeom prst="rect">
            <a:avLst/>
          </a:prstGeom>
          <a:noFill/>
          <a:ln/>
        </p:spPr>
        <p:txBody>
          <a:bodyPr wrap="none" lIns="0" tIns="0" rIns="0" bIns="0" rtlCol="0" anchor="t"/>
          <a:lstStyle/>
          <a:p>
            <a:pPr marL="0" indent="0" algn="l">
              <a:lnSpc>
                <a:spcPct val="87000"/>
              </a:lnSpc>
              <a:buNone/>
            </a:pPr>
            <a:r>
              <a:rPr lang="en-US" sz="1250" dirty="0">
                <a:solidFill>
                  <a:srgbClr val="23231E"/>
                </a:solidFill>
                <a:latin typeface="Inter Light" pitchFamily="34" charset="0"/>
                <a:ea typeface="Inter Light" pitchFamily="34" charset="-122"/>
                <a:cs typeface="Inter Light" pitchFamily="34" charset="-120"/>
              </a:rPr>
              <a:t>Includes all Professional features, plus:</a:t>
            </a:r>
            <a:endParaRPr lang="en-US" sz="1250" dirty="0"/>
          </a:p>
        </p:txBody>
      </p:sp>
      <p:sp>
        <p:nvSpPr>
          <p:cNvPr id="14" name="Text 12"/>
          <p:cNvSpPr/>
          <p:nvPr/>
        </p:nvSpPr>
        <p:spPr>
          <a:xfrm>
            <a:off x="8198637" y="2513112"/>
            <a:ext cx="3178492" cy="1511498"/>
          </a:xfrm>
          <a:prstGeom prst="rect">
            <a:avLst/>
          </a:prstGeom>
          <a:noFill/>
          <a:ln/>
        </p:spPr>
        <p:txBody>
          <a:bodyPr wrap="square" lIns="0" tIns="65448" rIns="0" bIns="0" rtlCol="0" anchor="t">
            <a:normAutofit/>
          </a:bodyPr>
          <a:lstStyle/>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Bulk procurement</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Advanced analytics</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Demand forecasting</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Digital traceability</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Environmental impact reporting</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Business dashboards</a:t>
            </a:r>
            <a:endParaRPr lang="en-US" sz="1250" dirty="0"/>
          </a:p>
          <a:p>
            <a:pPr marL="254000" indent="-254000" algn="l">
              <a:lnSpc>
                <a:spcPct val="87000"/>
              </a:lnSpc>
              <a:buSzPct val="100000"/>
              <a:buChar char="•"/>
            </a:pPr>
            <a:r>
              <a:rPr lang="en-US" sz="1250" dirty="0">
                <a:solidFill>
                  <a:srgbClr val="23231E"/>
                </a:solidFill>
                <a:latin typeface="Inter Light" pitchFamily="34" charset="0"/>
                <a:ea typeface="Inter Light" pitchFamily="34" charset="-122"/>
                <a:cs typeface="Inter Light" pitchFamily="34" charset="-120"/>
              </a:rPr>
              <a:t>API / integration services</a:t>
            </a:r>
            <a:endParaRPr lang="en-US" sz="1250" dirty="0"/>
          </a:p>
        </p:txBody>
      </p:sp>
      <p:sp>
        <p:nvSpPr>
          <p:cNvPr id="15" name="Shape 13"/>
          <p:cNvSpPr/>
          <p:nvPr/>
        </p:nvSpPr>
        <p:spPr>
          <a:xfrm>
            <a:off x="631908" y="4414937"/>
            <a:ext cx="10927878" cy="19050"/>
          </a:xfrm>
          <a:prstGeom prst="roundRect">
            <a:avLst>
              <a:gd name="adj" fmla="val 49999"/>
            </a:avLst>
          </a:prstGeom>
          <a:solidFill>
            <a:srgbClr val="23231E">
              <a:alpha val="50000"/>
            </a:srgbClr>
          </a:solidFill>
          <a:ln/>
        </p:spPr>
        <p:txBody>
          <a:bodyPr/>
          <a:lstStyle/>
          <a:p>
            <a:endParaRPr lang="en-US"/>
          </a:p>
        </p:txBody>
      </p:sp>
      <p:sp>
        <p:nvSpPr>
          <p:cNvPr id="16" name="Text 14"/>
          <p:cNvSpPr/>
          <p:nvPr/>
        </p:nvSpPr>
        <p:spPr>
          <a:xfrm>
            <a:off x="631908" y="4697214"/>
            <a:ext cx="10927878" cy="344488"/>
          </a:xfrm>
          <a:prstGeom prst="rect">
            <a:avLst/>
          </a:prstGeom>
          <a:noFill/>
          <a:ln/>
        </p:spPr>
        <p:txBody>
          <a:bodyPr wrap="none" lIns="0" tIns="0" rIns="0" bIns="0" rtlCol="0" anchor="t"/>
          <a:lstStyle/>
          <a:p>
            <a:pPr marL="0" indent="0" algn="l">
              <a:lnSpc>
                <a:spcPct val="83000"/>
              </a:lnSpc>
              <a:buNone/>
            </a:pPr>
            <a:r>
              <a:rPr lang="en-US" sz="2700" kern="0" spc="-81" dirty="0">
                <a:solidFill>
                  <a:srgbClr val="383830"/>
                </a:solidFill>
                <a:latin typeface="DM Sans ExtraBold" pitchFamily="34" charset="0"/>
                <a:ea typeface="DM Sans ExtraBold" pitchFamily="34" charset="-122"/>
                <a:cs typeface="DM Sans ExtraBold" pitchFamily="34" charset="-120"/>
              </a:rPr>
              <a:t>Potential Revenue Streams</a:t>
            </a:r>
            <a:endParaRPr lang="en-US" sz="2700" dirty="0"/>
          </a:p>
        </p:txBody>
      </p:sp>
      <p:sp>
        <p:nvSpPr>
          <p:cNvPr id="17" name="Text 15"/>
          <p:cNvSpPr/>
          <p:nvPr/>
        </p:nvSpPr>
        <p:spPr>
          <a:xfrm>
            <a:off x="631908" y="5264051"/>
            <a:ext cx="10927878" cy="1064816"/>
          </a:xfrm>
          <a:prstGeom prst="rect">
            <a:avLst/>
          </a:prstGeom>
          <a:noFill/>
          <a:ln/>
        </p:spPr>
        <p:txBody>
          <a:bodyPr wrap="square" lIns="0" tIns="65448" rIns="0" bIns="0" rtlCol="0" anchor="t">
            <a:normAutofit/>
          </a:bodyPr>
          <a:lstStyle/>
          <a:p>
            <a:pPr marL="254000" indent="-254000" algn="l">
              <a:lnSpc>
                <a:spcPct val="87000"/>
              </a:lnSpc>
              <a:buSzPct val="100000"/>
              <a:buChar char="•"/>
            </a:pPr>
            <a:r>
              <a:rPr lang="en-US" sz="1250" b="1" dirty="0">
                <a:solidFill>
                  <a:srgbClr val="23231E"/>
                </a:solidFill>
                <a:latin typeface="Inter Bold" pitchFamily="34" charset="0"/>
                <a:ea typeface="Inter Bold" pitchFamily="34" charset="-122"/>
                <a:cs typeface="Inter Bold" pitchFamily="34" charset="-120"/>
              </a:rPr>
              <a:t>Transaction commission:</a:t>
            </a:r>
            <a:r>
              <a:rPr lang="en-US" sz="1250" dirty="0">
                <a:solidFill>
                  <a:srgbClr val="23231E"/>
                </a:solidFill>
                <a:latin typeface="Inter Light" pitchFamily="34" charset="0"/>
                <a:ea typeface="Inter Light" pitchFamily="34" charset="-122"/>
                <a:cs typeface="Inter Light" pitchFamily="34" charset="-120"/>
              </a:rPr>
              <a:t> A small percentage from successful marketplace transactions.</a:t>
            </a:r>
            <a:endParaRPr lang="en-US" sz="1250" dirty="0"/>
          </a:p>
          <a:p>
            <a:pPr marL="254000" indent="-254000" algn="l">
              <a:lnSpc>
                <a:spcPct val="87000"/>
              </a:lnSpc>
              <a:buSzPct val="100000"/>
              <a:buChar char="•"/>
            </a:pPr>
            <a:r>
              <a:rPr lang="en-US" sz="1250" b="1" dirty="0">
                <a:solidFill>
                  <a:srgbClr val="23231E"/>
                </a:solidFill>
                <a:latin typeface="Inter Bold" pitchFamily="34" charset="0"/>
                <a:ea typeface="Inter Bold" pitchFamily="34" charset="-122"/>
                <a:cs typeface="Inter Bold" pitchFamily="34" charset="-120"/>
              </a:rPr>
              <a:t>Premium subscriptions:</a:t>
            </a:r>
            <a:r>
              <a:rPr lang="en-US" sz="1250" dirty="0">
                <a:solidFill>
                  <a:srgbClr val="23231E"/>
                </a:solidFill>
                <a:latin typeface="Inter Light" pitchFamily="34" charset="0"/>
                <a:ea typeface="Inter Light" pitchFamily="34" charset="-122"/>
                <a:cs typeface="Inter Light" pitchFamily="34" charset="-120"/>
              </a:rPr>
              <a:t> Access to advanced AI analytics for businesses and Professional tier features.</a:t>
            </a:r>
            <a:endParaRPr lang="en-US" sz="1250" dirty="0"/>
          </a:p>
          <a:p>
            <a:pPr marL="254000" indent="-254000" algn="l">
              <a:lnSpc>
                <a:spcPct val="87000"/>
              </a:lnSpc>
              <a:buSzPct val="100000"/>
              <a:buChar char="•"/>
            </a:pPr>
            <a:r>
              <a:rPr lang="en-US" sz="1250" b="1" dirty="0">
                <a:solidFill>
                  <a:srgbClr val="23231E"/>
                </a:solidFill>
                <a:latin typeface="Inter Bold" pitchFamily="34" charset="0"/>
                <a:ea typeface="Inter Bold" pitchFamily="34" charset="-122"/>
                <a:cs typeface="Inter Bold" pitchFamily="34" charset="-120"/>
              </a:rPr>
              <a:t>Enterprise services:</a:t>
            </a:r>
            <a:r>
              <a:rPr lang="en-US" sz="1250" dirty="0">
                <a:solidFill>
                  <a:srgbClr val="23231E"/>
                </a:solidFill>
                <a:latin typeface="Inter Light" pitchFamily="34" charset="0"/>
                <a:ea typeface="Inter Light" pitchFamily="34" charset="-122"/>
                <a:cs typeface="Inter Light" pitchFamily="34" charset="-120"/>
              </a:rPr>
              <a:t> Tailored solutions for large factories, recyclers, and bulk buyers.</a:t>
            </a:r>
            <a:endParaRPr lang="en-US" sz="1250" dirty="0"/>
          </a:p>
          <a:p>
            <a:pPr marL="254000" indent="-254000" algn="l">
              <a:lnSpc>
                <a:spcPct val="87000"/>
              </a:lnSpc>
              <a:buSzPct val="100000"/>
              <a:buChar char="•"/>
            </a:pPr>
            <a:r>
              <a:rPr lang="en-US" sz="1250" b="1" dirty="0">
                <a:solidFill>
                  <a:srgbClr val="23231E"/>
                </a:solidFill>
                <a:latin typeface="Inter Bold" pitchFamily="34" charset="0"/>
                <a:ea typeface="Inter Bold" pitchFamily="34" charset="-122"/>
                <a:cs typeface="Inter Bold" pitchFamily="34" charset="-120"/>
              </a:rPr>
              <a:t>API services:</a:t>
            </a:r>
            <a:r>
              <a:rPr lang="en-US" sz="1250" dirty="0">
                <a:solidFill>
                  <a:srgbClr val="23231E"/>
                </a:solidFill>
                <a:latin typeface="Inter Light" pitchFamily="34" charset="0"/>
                <a:ea typeface="Inter Light" pitchFamily="34" charset="-122"/>
                <a:cs typeface="Inter Light" pitchFamily="34" charset="-120"/>
              </a:rPr>
              <a:t> Provision of AI prediction APIs for integration with external organizations' systems.</a:t>
            </a:r>
            <a:endParaRPr lang="en-US" sz="1250" dirty="0"/>
          </a:p>
          <a:p>
            <a:pPr marL="254000" indent="-254000" algn="l">
              <a:lnSpc>
                <a:spcPct val="87000"/>
              </a:lnSpc>
              <a:buSzPct val="100000"/>
              <a:buChar char="•"/>
            </a:pPr>
            <a:r>
              <a:rPr lang="en-US" sz="1250" b="1" dirty="0">
                <a:solidFill>
                  <a:srgbClr val="23231E"/>
                </a:solidFill>
                <a:latin typeface="Inter Bold" pitchFamily="34" charset="0"/>
                <a:ea typeface="Inter Bold" pitchFamily="34" charset="-122"/>
                <a:cs typeface="Inter Bold" pitchFamily="34" charset="-120"/>
              </a:rPr>
              <a:t>Verified business services:</a:t>
            </a:r>
            <a:r>
              <a:rPr lang="en-US" sz="1250" dirty="0">
                <a:solidFill>
                  <a:srgbClr val="23231E"/>
                </a:solidFill>
                <a:latin typeface="Inter Light" pitchFamily="34" charset="0"/>
                <a:ea typeface="Inter Light" pitchFamily="34" charset="-122"/>
                <a:cs typeface="Inter Light" pitchFamily="34" charset="-120"/>
              </a:rPr>
              <a:t> Enhanced seller/business verification and premium visibility features.</a:t>
            </a:r>
            <a:endParaRPr lang="en-US" sz="1250" dirty="0"/>
          </a:p>
        </p:txBody>
      </p:sp>
      <p:grpSp>
        <p:nvGrpSpPr>
          <p:cNvPr id="18" name="Group 17">
            <a:extLst>
              <a:ext uri="{FF2B5EF4-FFF2-40B4-BE49-F238E27FC236}">
                <a16:creationId xmlns:a16="http://schemas.microsoft.com/office/drawing/2014/main" id="{63152602-311C-3292-247D-4D289B3F7F94}"/>
              </a:ext>
            </a:extLst>
          </p:cNvPr>
          <p:cNvGrpSpPr/>
          <p:nvPr/>
        </p:nvGrpSpPr>
        <p:grpSpPr>
          <a:xfrm>
            <a:off x="10686552" y="6506574"/>
            <a:ext cx="1505131" cy="351434"/>
            <a:chOff x="2623154" y="413097"/>
            <a:chExt cx="2599719" cy="525560"/>
          </a:xfrm>
        </p:grpSpPr>
        <p:sp>
          <p:nvSpPr>
            <p:cNvPr id="19" name="Freeform 18">
              <a:extLst>
                <a:ext uri="{FF2B5EF4-FFF2-40B4-BE49-F238E27FC236}">
                  <a16:creationId xmlns:a16="http://schemas.microsoft.com/office/drawing/2014/main" id="{4439CA29-4444-2AD1-E523-B3B4F8B59710}"/>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sz="1200" dirty="0"/>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631908" y="2145308"/>
            <a:ext cx="10927878" cy="950317"/>
          </a:xfrm>
          <a:prstGeom prst="rect">
            <a:avLst/>
          </a:prstGeom>
          <a:noFill/>
          <a:ln/>
        </p:spPr>
        <p:txBody>
          <a:bodyPr wrap="none" lIns="0" tIns="0" rIns="0" bIns="0" rtlCol="0" anchor="t"/>
          <a:lstStyle/>
          <a:p>
            <a:pPr marL="0" indent="0" algn="ctr">
              <a:lnSpc>
                <a:spcPct val="83000"/>
              </a:lnSpc>
              <a:buNone/>
            </a:pPr>
            <a:r>
              <a:rPr lang="en-US" sz="7450" kern="0" spc="-224" dirty="0">
                <a:solidFill>
                  <a:srgbClr val="383830"/>
                </a:solidFill>
                <a:latin typeface="DM Sans ExtraBold" pitchFamily="34" charset="0"/>
                <a:ea typeface="DM Sans ExtraBold" pitchFamily="34" charset="-122"/>
                <a:cs typeface="DM Sans ExtraBold" pitchFamily="34" charset="-120"/>
              </a:rPr>
              <a:t>Thank You!</a:t>
            </a:r>
            <a:endParaRPr lang="en-US" sz="7450" dirty="0"/>
          </a:p>
        </p:txBody>
      </p:sp>
      <p:sp>
        <p:nvSpPr>
          <p:cNvPr id="3" name="Text 1"/>
          <p:cNvSpPr/>
          <p:nvPr/>
        </p:nvSpPr>
        <p:spPr>
          <a:xfrm>
            <a:off x="631908" y="3366393"/>
            <a:ext cx="10927878" cy="475159"/>
          </a:xfrm>
          <a:prstGeom prst="rect">
            <a:avLst/>
          </a:prstGeom>
          <a:noFill/>
          <a:ln/>
        </p:spPr>
        <p:txBody>
          <a:bodyPr wrap="none" lIns="0" tIns="0" rIns="0" bIns="0" rtlCol="0" anchor="t"/>
          <a:lstStyle/>
          <a:p>
            <a:pPr marL="0" indent="0" algn="ctr">
              <a:lnSpc>
                <a:spcPct val="83000"/>
              </a:lnSpc>
              <a:buNone/>
            </a:pPr>
            <a:r>
              <a:rPr lang="en-US" sz="3700" kern="0" spc="-112" dirty="0">
                <a:solidFill>
                  <a:srgbClr val="383830"/>
                </a:solidFill>
                <a:latin typeface="DM Sans ExtraBold" pitchFamily="34" charset="0"/>
                <a:ea typeface="DM Sans ExtraBold" pitchFamily="34" charset="-122"/>
                <a:cs typeface="DM Sans ExtraBold" pitchFamily="34" charset="-120"/>
              </a:rPr>
              <a:t>TexCycle AI</a:t>
            </a:r>
            <a:endParaRPr lang="en-US" sz="3700" dirty="0"/>
          </a:p>
        </p:txBody>
      </p:sp>
      <p:sp>
        <p:nvSpPr>
          <p:cNvPr id="4" name="Text 2"/>
          <p:cNvSpPr/>
          <p:nvPr/>
        </p:nvSpPr>
        <p:spPr>
          <a:xfrm>
            <a:off x="631908" y="4112320"/>
            <a:ext cx="10927878" cy="600373"/>
          </a:xfrm>
          <a:prstGeom prst="rect">
            <a:avLst/>
          </a:prstGeom>
          <a:noFill/>
          <a:ln/>
        </p:spPr>
        <p:txBody>
          <a:bodyPr wrap="square" lIns="0" tIns="0" rIns="0" bIns="0" rtlCol="0" anchor="t"/>
          <a:lstStyle/>
          <a:p>
            <a:pPr marL="0" indent="0" algn="ctr">
              <a:lnSpc>
                <a:spcPct val="92000"/>
              </a:lnSpc>
              <a:spcAft>
                <a:spcPts val="1550"/>
              </a:spcAft>
              <a:buNone/>
            </a:pPr>
            <a:r>
              <a:rPr lang="en-US" sz="1400" dirty="0">
                <a:solidFill>
                  <a:srgbClr val="23231E"/>
                </a:solidFill>
                <a:latin typeface="Inter Light" pitchFamily="34" charset="0"/>
                <a:ea typeface="Inter Light" pitchFamily="34" charset="-122"/>
                <a:cs typeface="Inter Light" pitchFamily="34" charset="-120"/>
              </a:rPr>
              <a:t>Turning Textile Waste into Intelligent Resources</a:t>
            </a:r>
            <a:endParaRPr lang="en-US" sz="1400" dirty="0"/>
          </a:p>
          <a:p>
            <a:pPr marL="0" indent="0" algn="ctr">
              <a:lnSpc>
                <a:spcPct val="92000"/>
              </a:lnSpc>
              <a:buNone/>
            </a:pPr>
            <a:r>
              <a:rPr lang="en-US" sz="1400" dirty="0">
                <a:solidFill>
                  <a:srgbClr val="23231E"/>
                </a:solidFill>
                <a:latin typeface="Inter Light" pitchFamily="34" charset="0"/>
                <a:ea typeface="Inter Light" pitchFamily="34" charset="-122"/>
                <a:cs typeface="Inter Light" pitchFamily="34" charset="-120"/>
              </a:rPr>
              <a:t>AI + Sustainability + Marketplace + Circular Economy</a:t>
            </a:r>
            <a:endParaRPr lang="en-US" sz="1400" dirty="0"/>
          </a:p>
        </p:txBody>
      </p:sp>
      <p:grpSp>
        <p:nvGrpSpPr>
          <p:cNvPr id="5" name="Group 4">
            <a:extLst>
              <a:ext uri="{FF2B5EF4-FFF2-40B4-BE49-F238E27FC236}">
                <a16:creationId xmlns:a16="http://schemas.microsoft.com/office/drawing/2014/main" id="{2337E0F2-B229-2CBA-BF19-7099D883070F}"/>
              </a:ext>
            </a:extLst>
          </p:cNvPr>
          <p:cNvGrpSpPr/>
          <p:nvPr/>
        </p:nvGrpSpPr>
        <p:grpSpPr>
          <a:xfrm>
            <a:off x="10686552" y="6506574"/>
            <a:ext cx="1505131" cy="351434"/>
            <a:chOff x="2623154" y="413097"/>
            <a:chExt cx="2599719" cy="525560"/>
          </a:xfrm>
        </p:grpSpPr>
        <p:sp>
          <p:nvSpPr>
            <p:cNvPr id="6" name="Freeform 5">
              <a:extLst>
                <a:ext uri="{FF2B5EF4-FFF2-40B4-BE49-F238E27FC236}">
                  <a16:creationId xmlns:a16="http://schemas.microsoft.com/office/drawing/2014/main" id="{48125482-3E90-51ED-A624-D6EB0EB0AF07}"/>
                </a:ext>
              </a:extLst>
            </p:cNvPr>
            <p:cNvSpPr/>
            <p:nvPr/>
          </p:nvSpPr>
          <p:spPr>
            <a:xfrm>
              <a:off x="2623154" y="413097"/>
              <a:ext cx="2599719" cy="525560"/>
            </a:xfrm>
            <a:custGeom>
              <a:avLst/>
              <a:gdLst/>
              <a:ahLst/>
              <a:cxnLst/>
              <a:rect l="l" t="t" r="r" b="b"/>
              <a:pathLst>
                <a:path w="5222875" h="938657">
                  <a:moveTo>
                    <a:pt x="0" y="0"/>
                  </a:moveTo>
                  <a:lnTo>
                    <a:pt x="5222875" y="0"/>
                  </a:lnTo>
                  <a:lnTo>
                    <a:pt x="5222875" y="938657"/>
                  </a:lnTo>
                  <a:lnTo>
                    <a:pt x="0" y="938657"/>
                  </a:lnTo>
                  <a:lnTo>
                    <a:pt x="0" y="0"/>
                  </a:lnTo>
                  <a:close/>
                </a:path>
              </a:pathLst>
            </a:custGeom>
            <a:blipFill>
              <a:blip r:embed="rId3"/>
              <a:stretch>
                <a:fillRect l="-64" r="-64" b="1"/>
              </a:stretch>
            </a:blipFill>
          </p:spPr>
          <p:txBody>
            <a:bodyPr/>
            <a:lstStyle/>
            <a:p>
              <a:endParaRPr lang="en-US" sz="1200" dirty="0"/>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C351CF19874D54390B54B723E8A2D43" ma:contentTypeVersion="13" ma:contentTypeDescription="Create a new document." ma:contentTypeScope="" ma:versionID="ed8957265f396ef1a05f01d558c99f69">
  <xsd:schema xmlns:xsd="http://www.w3.org/2001/XMLSchema" xmlns:xs="http://www.w3.org/2001/XMLSchema" xmlns:p="http://schemas.microsoft.com/office/2006/metadata/properties" xmlns:ns2="5aad1aa7-8ede-435c-b3a7-ac11bacaeb50" xmlns:ns3="db72c12f-87a4-44ab-bbc5-4cc8306b158a" targetNamespace="http://schemas.microsoft.com/office/2006/metadata/properties" ma:root="true" ma:fieldsID="1597c9238c56ccca7c2d5e0a413be07c" ns2:_="" ns3:_="">
    <xsd:import namespace="5aad1aa7-8ede-435c-b3a7-ac11bacaeb50"/>
    <xsd:import namespace="db72c12f-87a4-44ab-bbc5-4cc8306b158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ad1aa7-8ede-435c-b3a7-ac11bacaeb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7c8a686f-bba2-44f2-819b-edf0b3003fb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b72c12f-87a4-44ab-bbc5-4cc8306b158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a90b710-f748-4220-b362-4102ae550bf9}" ma:internalName="TaxCatchAll" ma:showField="CatchAllData" ma:web="db72c12f-87a4-44ab-bbc5-4cc8306b15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db72c12f-87a4-44ab-bbc5-4cc8306b158a" xsi:nil="true"/>
    <lcf76f155ced4ddcb4097134ff3c332f xmlns="5aad1aa7-8ede-435c-b3a7-ac11bacaeb5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2AF062B-A0EF-4BEA-B9C4-4FE48A918D0F}"/>
</file>

<file path=customXml/itemProps2.xml><?xml version="1.0" encoding="utf-8"?>
<ds:datastoreItem xmlns:ds="http://schemas.openxmlformats.org/officeDocument/2006/customXml" ds:itemID="{407DE55B-162A-465F-A592-88A952004C9B}"/>
</file>

<file path=customXml/itemProps3.xml><?xml version="1.0" encoding="utf-8"?>
<ds:datastoreItem xmlns:ds="http://schemas.openxmlformats.org/officeDocument/2006/customXml" ds:itemID="{7B092248-7178-4C65-840B-36B9B4CA6E42}"/>
</file>

<file path=docMetadata/LabelInfo.xml><?xml version="1.0" encoding="utf-8"?>
<clbl:labelList xmlns:clbl="http://schemas.microsoft.com/office/2020/mipLabelMetadata">
  <clbl:label id="{44e3cf94-19c9-4e32-96c3-14f5bf01391a}" enabled="0" method="" siteId="{44e3cf94-19c9-4e32-96c3-14f5bf01391a}" removed="1"/>
</clbl:labelList>
</file>

<file path=docProps/app.xml><?xml version="1.0" encoding="utf-8"?>
<Properties xmlns="http://schemas.openxmlformats.org/officeDocument/2006/extended-properties" xmlns:vt="http://schemas.openxmlformats.org/officeDocument/2006/docPropsVTypes">
  <TotalTime>9</TotalTime>
  <Words>4822</Words>
  <Application>Microsoft Macintosh PowerPoint</Application>
  <PresentationFormat>Widescreen</PresentationFormat>
  <Paragraphs>687</Paragraphs>
  <Slides>39</Slides>
  <Notes>39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DM Sans ExtraBold</vt:lpstr>
      <vt:lpstr>Consolas</vt:lpstr>
      <vt:lpstr>Arial</vt:lpstr>
      <vt:lpstr>Inter Light</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SIRIWARDHANA N S T N it22215338</cp:lastModifiedBy>
  <cp:revision>3</cp:revision>
  <dcterms:created xsi:type="dcterms:W3CDTF">2026-08-31T05:58:26Z</dcterms:created>
  <dcterms:modified xsi:type="dcterms:W3CDTF">2026-09-01T04:17:47Z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0x0101003C351CF19874D54390B54B723E8A2D43</vt:lpwstr>
  </property>
</Properties>
</file>