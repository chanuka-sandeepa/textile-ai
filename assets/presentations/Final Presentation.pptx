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256" r:id="rId5"/>
    <p:sldId id="258" r:id="rId6"/>
    <p:sldId id="284" r:id="rId7"/>
    <p:sldId id="257"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7" r:id="rId26"/>
    <p:sldId id="283" r:id="rId27"/>
    <p:sldId id="280" r:id="rId28"/>
    <p:sldId id="28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p:restoredTop sz="94912" autoAdjust="0"/>
  </p:normalViewPr>
  <p:slideViewPr>
    <p:cSldViewPr snapToGrid="0" snapToObjects="1">
      <p:cViewPr varScale="1">
        <p:scale>
          <a:sx n="74" d="100"/>
          <a:sy n="74" d="100"/>
        </p:scale>
        <p:origin x="12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A S.A.C it22281814" userId="S::it22281814@my.sliit.lk::84cb329b-b9c9-408c-9ce5-3f79374b24af" providerId="AD" clId="Web-{A69FAA9F-9656-77C9-2576-9E9E9B1449C5}"/>
    <pc:docChg chg="modSld">
      <pc:chgData name="SANDEEPA S.A.C it22281814" userId="S::it22281814@my.sliit.lk::84cb329b-b9c9-408c-9ce5-3f79374b24af" providerId="AD" clId="Web-{A69FAA9F-9656-77C9-2576-9E9E9B1449C5}" dt="2026-10-14T16:07:33.932" v="3" actId="20577"/>
      <pc:docMkLst>
        <pc:docMk/>
      </pc:docMkLst>
      <pc:sldChg chg="modSp">
        <pc:chgData name="SANDEEPA S.A.C it22281814" userId="S::it22281814@my.sliit.lk::84cb329b-b9c9-408c-9ce5-3f79374b24af" providerId="AD" clId="Web-{A69FAA9F-9656-77C9-2576-9E9E9B1449C5}" dt="2026-10-14T16:07:33.932" v="3" actId="20577"/>
        <pc:sldMkLst>
          <pc:docMk/>
          <pc:sldMk cId="0" sldId="258"/>
        </pc:sldMkLst>
        <pc:spChg chg="mod">
          <ac:chgData name="SANDEEPA S.A.C it22281814" userId="S::it22281814@my.sliit.lk::84cb329b-b9c9-408c-9ce5-3f79374b24af" providerId="AD" clId="Web-{A69FAA9F-9656-77C9-2576-9E9E9B1449C5}" dt="2026-10-14T16:07:33.932" v="3" actId="20577"/>
          <ac:spMkLst>
            <pc:docMk/>
            <pc:sldMk cId="0" sldId="258"/>
            <ac:spMk id="10" creationId="{00000000-0000-0000-0000-000000000000}"/>
          </ac:spMkLst>
        </pc:spChg>
      </pc:sldChg>
    </pc:docChg>
  </pc:docChgLst>
  <pc:docChgLst>
    <pc:chgData name="SIRIWARDHANA N S T N it22215338" userId="S::it22215338@my.sliit.lk::4030a044-9da2-4ca1-93fc-4ec72257b112" providerId="AD" clId="Web-{095667B3-0DF9-D794-992F-AF1C5C5F8381}"/>
    <pc:docChg chg="modSld">
      <pc:chgData name="SIRIWARDHANA N S T N it22215338" userId="S::it22215338@my.sliit.lk::4030a044-9da2-4ca1-93fc-4ec72257b112" providerId="AD" clId="Web-{095667B3-0DF9-D794-992F-AF1C5C5F8381}" dt="2026-10-14T16:09:51.264" v="17" actId="20577"/>
      <pc:docMkLst>
        <pc:docMk/>
      </pc:docMkLst>
      <pc:sldChg chg="modSp">
        <pc:chgData name="SIRIWARDHANA N S T N it22215338" userId="S::it22215338@my.sliit.lk::4030a044-9da2-4ca1-93fc-4ec72257b112" providerId="AD" clId="Web-{095667B3-0DF9-D794-992F-AF1C5C5F8381}" dt="2026-10-14T16:09:51.264" v="17" actId="20577"/>
        <pc:sldMkLst>
          <pc:docMk/>
          <pc:sldMk cId="0" sldId="258"/>
        </pc:sldMkLst>
        <pc:spChg chg="mod">
          <ac:chgData name="SIRIWARDHANA N S T N it22215338" userId="S::it22215338@my.sliit.lk::4030a044-9da2-4ca1-93fc-4ec72257b112" providerId="AD" clId="Web-{095667B3-0DF9-D794-992F-AF1C5C5F8381}" dt="2026-10-14T16:09:51.264" v="17" actId="20577"/>
          <ac:spMkLst>
            <pc:docMk/>
            <pc:sldMk cId="0" sldId="258"/>
            <ac:spMk id="14" creationId="{00000000-0000-0000-0000-000000000000}"/>
          </ac:spMkLst>
        </pc:spChg>
      </pc:sldChg>
    </pc:docChg>
  </pc:docChgLst>
  <pc:docChgLst>
    <pc:chgData clId="Web-{A69FAA9F-9656-77C9-2576-9E9E9B1449C5}"/>
    <pc:docChg chg="modSld">
      <pc:chgData name="" userId="" providerId="" clId="Web-{A69FAA9F-9656-77C9-2576-9E9E9B1449C5}" dt="2026-10-14T16:06:49.369" v="0" actId="20577"/>
      <pc:docMkLst>
        <pc:docMk/>
      </pc:docMkLst>
      <pc:sldChg chg="modSp">
        <pc:chgData name="" userId="" providerId="" clId="Web-{A69FAA9F-9656-77C9-2576-9E9E9B1449C5}" dt="2026-10-14T16:06:49.369" v="0" actId="20577"/>
        <pc:sldMkLst>
          <pc:docMk/>
          <pc:sldMk cId="0" sldId="258"/>
        </pc:sldMkLst>
        <pc:spChg chg="mod">
          <ac:chgData name="" userId="" providerId="" clId="Web-{A69FAA9F-9656-77C9-2576-9E9E9B1449C5}" dt="2026-10-14T16:06:49.369" v="0" actId="20577"/>
          <ac:spMkLst>
            <pc:docMk/>
            <pc:sldMk cId="0" sldId="258"/>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5298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730"/>
        </a:solidFill>
        <a:effectLst/>
      </p:bgPr>
    </p:bg>
    <p:spTree>
      <p:nvGrpSpPr>
        <p:cNvPr id="1" name=""/>
        <p:cNvGrpSpPr/>
        <p:nvPr/>
      </p:nvGrpSpPr>
      <p:grpSpPr>
        <a:xfrm>
          <a:off x="0" y="0"/>
          <a:ext cx="0" cy="0"/>
          <a:chOff x="0" y="0"/>
          <a:chExt cx="0" cy="0"/>
        </a:xfrm>
      </p:grpSpPr>
      <p:sp>
        <p:nvSpPr>
          <p:cNvPr id="2" name="Oval 1"/>
          <p:cNvSpPr/>
          <p:nvPr/>
        </p:nvSpPr>
        <p:spPr>
          <a:xfrm>
            <a:off x="9235440" y="548640"/>
            <a:ext cx="2148840" cy="2148840"/>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3" name="Oval 2"/>
          <p:cNvSpPr/>
          <p:nvPr/>
        </p:nvSpPr>
        <p:spPr>
          <a:xfrm>
            <a:off x="10287000" y="1965960"/>
            <a:ext cx="960120" cy="960120"/>
          </a:xfrm>
          <a:prstGeom prst="ellipse">
            <a:avLst/>
          </a:prstGeom>
          <a:solidFill>
            <a:srgbClr val="2F6954"/>
          </a:solidFill>
          <a:ln>
            <a:solidFill>
              <a:srgbClr val="2F6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4" name="Oval 3"/>
          <p:cNvSpPr/>
          <p:nvPr/>
        </p:nvSpPr>
        <p:spPr>
          <a:xfrm>
            <a:off x="8366760" y="3246120"/>
            <a:ext cx="777240" cy="777240"/>
          </a:xfrm>
          <a:prstGeom prst="ellipse">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5" name="Oval 4"/>
          <p:cNvSpPr/>
          <p:nvPr/>
        </p:nvSpPr>
        <p:spPr>
          <a:xfrm>
            <a:off x="9738360" y="4023360"/>
            <a:ext cx="1737360" cy="1737360"/>
          </a:xfrm>
          <a:prstGeom prst="ellipse">
            <a:avLst/>
          </a:prstGeom>
          <a:solidFill>
            <a:srgbClr val="205344"/>
          </a:solidFill>
          <a:ln>
            <a:solidFill>
              <a:srgbClr val="205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6" name="TextBox 5"/>
          <p:cNvSpPr txBox="1"/>
          <p:nvPr/>
        </p:nvSpPr>
        <p:spPr>
          <a:xfrm>
            <a:off x="749808" y="785189"/>
            <a:ext cx="5486400" cy="480131"/>
          </a:xfrm>
          <a:prstGeom prst="rect">
            <a:avLst/>
          </a:prstGeom>
          <a:noFill/>
        </p:spPr>
        <p:txBody>
          <a:bodyPr wrap="square" lIns="54864" tIns="54864" rIns="54864" bIns="54864" anchor="t">
            <a:spAutoFit/>
          </a:bodyPr>
          <a:lstStyle/>
          <a:p>
            <a:pPr algn="l">
              <a:spcAft>
                <a:spcPts val="300"/>
              </a:spcAft>
              <a:defRPr sz="1800" b="1">
                <a:solidFill>
                  <a:srgbClr val="A2E1C2"/>
                </a:solidFill>
                <a:latin typeface="Aptos"/>
              </a:defRPr>
            </a:pPr>
            <a:r>
              <a:rPr sz="2400" dirty="0">
                <a:latin typeface="Arial" panose="020B0604020202020204" pitchFamily="34" charset="0"/>
                <a:cs typeface="Arial" panose="020B0604020202020204" pitchFamily="34" charset="0"/>
              </a:rPr>
              <a:t>TEXCYCLE AI</a:t>
            </a:r>
          </a:p>
        </p:txBody>
      </p:sp>
      <p:sp>
        <p:nvSpPr>
          <p:cNvPr id="7" name="TextBox 6"/>
          <p:cNvSpPr txBox="1"/>
          <p:nvPr/>
        </p:nvSpPr>
        <p:spPr>
          <a:xfrm>
            <a:off x="753826" y="1816039"/>
            <a:ext cx="7847492" cy="1995931"/>
          </a:xfrm>
          <a:prstGeom prst="rect">
            <a:avLst/>
          </a:prstGeom>
          <a:noFill/>
        </p:spPr>
        <p:txBody>
          <a:bodyPr wrap="square" lIns="54864" tIns="54864" rIns="54864" bIns="54864" anchor="t">
            <a:spAutoFit/>
          </a:bodyPr>
          <a:lstStyle/>
          <a:p>
            <a:pPr algn="l">
              <a:spcAft>
                <a:spcPts val="300"/>
              </a:spcAft>
              <a:defRPr sz="2800" b="1">
                <a:solidFill>
                  <a:srgbClr val="FFFFFF"/>
                </a:solidFill>
                <a:latin typeface="Aptos"/>
              </a:defRPr>
            </a:pPr>
            <a:r>
              <a:rPr sz="4000" dirty="0">
                <a:latin typeface="Arial" panose="020B0604020202020204" pitchFamily="34" charset="0"/>
                <a:cs typeface="Arial" panose="020B0604020202020204" pitchFamily="34" charset="0"/>
              </a:rPr>
              <a:t>AI-Powered Digital Marketplace</a:t>
            </a:r>
          </a:p>
          <a:p>
            <a:pPr algn="l">
              <a:spcAft>
                <a:spcPts val="300"/>
              </a:spcAft>
              <a:defRPr sz="2800" b="1">
                <a:solidFill>
                  <a:srgbClr val="FFFFFF"/>
                </a:solidFill>
                <a:latin typeface="Aptos"/>
              </a:defRPr>
            </a:pPr>
            <a:r>
              <a:rPr sz="4000" dirty="0">
                <a:latin typeface="Arial" panose="020B0604020202020204" pitchFamily="34" charset="0"/>
                <a:cs typeface="Arial" panose="020B0604020202020204" pitchFamily="34" charset="0"/>
              </a:rPr>
              <a:t>for Upcycling Sri Lanka’s Textile Waste</a:t>
            </a:r>
          </a:p>
        </p:txBody>
      </p:sp>
      <p:sp>
        <p:nvSpPr>
          <p:cNvPr id="9" name="Rectangle 8"/>
          <p:cNvSpPr/>
          <p:nvPr/>
        </p:nvSpPr>
        <p:spPr>
          <a:xfrm>
            <a:off x="947651" y="4923420"/>
            <a:ext cx="987552" cy="50292"/>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0" name="TextBox 9"/>
          <p:cNvSpPr txBox="1"/>
          <p:nvPr/>
        </p:nvSpPr>
        <p:spPr>
          <a:xfrm>
            <a:off x="791372" y="5094453"/>
            <a:ext cx="7772400" cy="326243"/>
          </a:xfrm>
          <a:prstGeom prst="rect">
            <a:avLst/>
          </a:prstGeom>
          <a:noFill/>
        </p:spPr>
        <p:txBody>
          <a:bodyPr wrap="square" lIns="54864" tIns="54864" rIns="54864" bIns="54864" anchor="t">
            <a:spAutoFit/>
          </a:bodyPr>
          <a:lstStyle/>
          <a:p>
            <a:pPr algn="l">
              <a:spcAft>
                <a:spcPts val="300"/>
              </a:spcAft>
              <a:defRPr sz="1000" b="1">
                <a:solidFill>
                  <a:srgbClr val="A2E1C2"/>
                </a:solidFill>
                <a:latin typeface="Aptos"/>
              </a:defRPr>
            </a:pPr>
            <a:r>
              <a:rPr sz="1400" dirty="0">
                <a:latin typeface="Arial" panose="020B0604020202020204" pitchFamily="34" charset="0"/>
                <a:cs typeface="Arial" panose="020B0604020202020204" pitchFamily="34" charset="0"/>
              </a:rPr>
              <a:t>  PROJECT ID: R26-IT-081  |  PANEL: IT-P06</a:t>
            </a:r>
          </a:p>
        </p:txBody>
      </p:sp>
      <p:sp>
        <p:nvSpPr>
          <p:cNvPr id="11" name="TextBox 10"/>
          <p:cNvSpPr txBox="1"/>
          <p:nvPr/>
        </p:nvSpPr>
        <p:spPr>
          <a:xfrm>
            <a:off x="822960" y="5873772"/>
            <a:ext cx="7772400" cy="326243"/>
          </a:xfrm>
          <a:prstGeom prst="rect">
            <a:avLst/>
          </a:prstGeom>
          <a:noFill/>
        </p:spPr>
        <p:txBody>
          <a:bodyPr wrap="square" lIns="54864" tIns="54864" rIns="54864" bIns="54864" anchor="t">
            <a:spAutoFit/>
          </a:bodyPr>
          <a:lstStyle/>
          <a:p>
            <a:pPr marL="285750" indent="-285750" algn="l">
              <a:spcAft>
                <a:spcPts val="300"/>
              </a:spcAft>
              <a:buFont typeface="Wingdings" panose="05000000000000000000" pitchFamily="2" charset="2"/>
              <a:buChar char="§"/>
              <a:defRPr sz="1100" b="1">
                <a:solidFill>
                  <a:srgbClr val="FFFFFF"/>
                </a:solidFill>
                <a:latin typeface="Aptos"/>
              </a:defRPr>
            </a:pPr>
            <a:r>
              <a:rPr sz="1400" dirty="0">
                <a:latin typeface="Arial" panose="020B0604020202020204" pitchFamily="34" charset="0"/>
                <a:cs typeface="Arial" panose="020B0604020202020204" pitchFamily="34" charset="0"/>
              </a:rPr>
              <a:t>IT22281814   •   IT22215338   •   IT22221278   •   IT22281678</a:t>
            </a:r>
          </a:p>
        </p:txBody>
      </p:sp>
      <p:sp>
        <p:nvSpPr>
          <p:cNvPr id="12" name="TextBox 11"/>
          <p:cNvSpPr txBox="1"/>
          <p:nvPr/>
        </p:nvSpPr>
        <p:spPr>
          <a:xfrm>
            <a:off x="749808" y="6263640"/>
            <a:ext cx="8229600" cy="326243"/>
          </a:xfrm>
          <a:prstGeom prst="rect">
            <a:avLst/>
          </a:prstGeom>
          <a:noFill/>
        </p:spPr>
        <p:txBody>
          <a:bodyPr wrap="square" lIns="54864" tIns="54864" rIns="54864" bIns="54864" anchor="t">
            <a:spAutoFit/>
          </a:bodyPr>
          <a:lstStyle/>
          <a:p>
            <a:pPr algn="l">
              <a:spcAft>
                <a:spcPts val="300"/>
              </a:spcAft>
              <a:defRPr sz="1000" b="0">
                <a:solidFill>
                  <a:srgbClr val="DEEDE4"/>
                </a:solidFill>
                <a:latin typeface="Aptos"/>
              </a:defRPr>
            </a:pPr>
            <a:r>
              <a:rPr sz="1400" dirty="0">
                <a:latin typeface="Arial" panose="020B0604020202020204" pitchFamily="34" charset="0"/>
                <a:cs typeface="Arial" panose="020B0604020202020204" pitchFamily="34" charset="0"/>
              </a:rPr>
              <a:t>Supervisor</a:t>
            </a:r>
            <a:r>
              <a:rPr lang="en-US" sz="1400" dirty="0">
                <a:latin typeface="Arial" panose="020B0604020202020204" pitchFamily="34" charset="0"/>
                <a:cs typeface="Arial" panose="020B0604020202020204" pitchFamily="34" charset="0"/>
              </a:rPr>
              <a:t>: Prof. </a:t>
            </a:r>
            <a:r>
              <a:rPr lang="en-US" sz="1400" dirty="0" err="1">
                <a:latin typeface="Arial" panose="020B0604020202020204" pitchFamily="34" charset="0"/>
                <a:cs typeface="Arial" panose="020B0604020202020204" pitchFamily="34" charset="0"/>
              </a:rPr>
              <a:t>Dasuni</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Nawinna</a:t>
            </a:r>
            <a:r>
              <a:rPr lang="en-US" sz="1400" dirty="0">
                <a:latin typeface="Arial" panose="020B0604020202020204" pitchFamily="34" charset="0"/>
                <a:cs typeface="Arial" panose="020B0604020202020204" pitchFamily="34" charset="0"/>
              </a:rPr>
              <a:t>     </a:t>
            </a:r>
            <a:r>
              <a:rPr sz="1400" dirty="0">
                <a:latin typeface="Arial" panose="020B0604020202020204" pitchFamily="34" charset="0"/>
                <a:cs typeface="Arial" panose="020B0604020202020204" pitchFamily="34" charset="0"/>
              </a:rPr>
              <a:t>Co-supervisor: </a:t>
            </a:r>
            <a:r>
              <a:rPr lang="en-US" sz="1400" dirty="0">
                <a:latin typeface="Arial" panose="020B0604020202020204" pitchFamily="34" charset="0"/>
                <a:cs typeface="Arial" panose="020B0604020202020204" pitchFamily="34" charset="0"/>
              </a:rPr>
              <a:t>Mr. </a:t>
            </a:r>
            <a:r>
              <a:rPr lang="en-US" sz="1400" dirty="0" err="1">
                <a:latin typeface="Arial" panose="020B0604020202020204" pitchFamily="34" charset="0"/>
                <a:cs typeface="Arial" panose="020B0604020202020204" pitchFamily="34" charset="0"/>
              </a:rPr>
              <a:t>Nelum</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Amarasena</a:t>
            </a:r>
            <a:endParaRPr sz="14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66928" y="201168"/>
            <a:ext cx="5486400" cy="480131"/>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lang="en-US" sz="2400" dirty="0">
                <a:latin typeface="Arial" panose="020B0604020202020204" pitchFamily="34" charset="0"/>
                <a:cs typeface="Arial" panose="020B0604020202020204" pitchFamily="34" charset="0"/>
              </a:rPr>
              <a:t>01</a:t>
            </a:r>
            <a:r>
              <a:rPr sz="2400" dirty="0">
                <a:latin typeface="Arial" panose="020B0604020202020204" pitchFamily="34" charset="0"/>
                <a:cs typeface="Arial" panose="020B0604020202020204" pitchFamily="34" charset="0"/>
              </a:rPr>
              <a:t>  RESEARCH TEAM</a:t>
            </a:r>
          </a:p>
        </p:txBody>
      </p:sp>
      <p:sp>
        <p:nvSpPr>
          <p:cNvPr id="3" name="TextBox 2"/>
          <p:cNvSpPr txBox="1"/>
          <p:nvPr/>
        </p:nvSpPr>
        <p:spPr>
          <a:xfrm>
            <a:off x="841248" y="795527"/>
            <a:ext cx="10972800" cy="357021"/>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sz="1600" dirty="0">
                <a:latin typeface="Arial" panose="020B0604020202020204" pitchFamily="34" charset="0"/>
                <a:cs typeface="Arial" panose="020B0604020202020204" pitchFamily="34" charset="0"/>
              </a:rPr>
              <a:t>Four members with distinct, connected responsibilities</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33910"/>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49299"/>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a:latin typeface="Arial" panose="020B0604020202020204" pitchFamily="34" charset="0"/>
                <a:cs typeface="Arial" panose="020B0604020202020204" pitchFamily="34" charset="0"/>
              </a:rPr>
              <a:t>03</a:t>
            </a:r>
          </a:p>
        </p:txBody>
      </p:sp>
      <p:sp>
        <p:nvSpPr>
          <p:cNvPr id="24" name="Rounded Rectangle 23"/>
          <p:cNvSpPr/>
          <p:nvPr/>
        </p:nvSpPr>
        <p:spPr>
          <a:xfrm>
            <a:off x="513758" y="1117194"/>
            <a:ext cx="10972799" cy="1931906"/>
          </a:xfrm>
          <a:prstGeom prst="roundRect">
            <a:avLst/>
          </a:prstGeom>
          <a:solidFill>
            <a:srgbClr val="EAF2F9"/>
          </a:solidFill>
          <a:ln>
            <a:solidFill>
              <a:srgbClr val="EA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5" name="TextBox 24"/>
          <p:cNvSpPr txBox="1"/>
          <p:nvPr/>
        </p:nvSpPr>
        <p:spPr>
          <a:xfrm>
            <a:off x="902377" y="2588958"/>
            <a:ext cx="4389120" cy="518604"/>
          </a:xfrm>
          <a:prstGeom prst="rect">
            <a:avLst/>
          </a:prstGeom>
          <a:noFill/>
        </p:spPr>
        <p:txBody>
          <a:bodyPr wrap="square" lIns="54864" tIns="54864" rIns="54864" bIns="54864" anchor="t">
            <a:spAutoFit/>
          </a:bodyPr>
          <a:lstStyle/>
          <a:p>
            <a:pPr>
              <a:spcAft>
                <a:spcPts val="300"/>
              </a:spcAft>
              <a:defRPr sz="1200" b="1">
                <a:solidFill>
                  <a:srgbClr val="3C6F99"/>
                </a:solidFill>
                <a:latin typeface="Aptos"/>
              </a:defRPr>
            </a:pPr>
            <a:r>
              <a:rPr dirty="0">
                <a:latin typeface="Arial" panose="020B0604020202020204" pitchFamily="34" charset="0"/>
                <a:cs typeface="Arial" panose="020B0604020202020204" pitchFamily="34" charset="0"/>
              </a:rPr>
              <a:t>Supervisor: </a:t>
            </a:r>
            <a:r>
              <a:rPr lang="en-US" sz="1200" b="1" dirty="0">
                <a:latin typeface="Cambria" panose="02040503050406030204" pitchFamily="18" charset="0"/>
                <a:ea typeface="Cambria" panose="02040503050406030204" pitchFamily="18" charset="0"/>
                <a:cs typeface="Noto Serif Medium" pitchFamily="34" charset="-120"/>
              </a:rPr>
              <a:t>Prof. </a:t>
            </a:r>
            <a:r>
              <a:rPr lang="en-US" sz="1200" b="1" dirty="0" err="1">
                <a:latin typeface="Cambria" panose="02040503050406030204" pitchFamily="18" charset="0"/>
                <a:ea typeface="Cambria" panose="02040503050406030204" pitchFamily="18" charset="0"/>
                <a:cs typeface="Noto Serif Medium" pitchFamily="34" charset="-120"/>
              </a:rPr>
              <a:t>Dasuni</a:t>
            </a:r>
            <a:r>
              <a:rPr lang="en-US" sz="1200" b="1" dirty="0">
                <a:latin typeface="Cambria" panose="02040503050406030204" pitchFamily="18" charset="0"/>
                <a:ea typeface="Cambria" panose="02040503050406030204" pitchFamily="18" charset="0"/>
                <a:cs typeface="Noto Serif Medium" pitchFamily="34" charset="-120"/>
              </a:rPr>
              <a:t> </a:t>
            </a:r>
            <a:r>
              <a:rPr lang="en-US" sz="1200" b="1" dirty="0" err="1">
                <a:latin typeface="Cambria" panose="02040503050406030204" pitchFamily="18" charset="0"/>
                <a:ea typeface="Cambria" panose="02040503050406030204" pitchFamily="18" charset="0"/>
                <a:cs typeface="Noto Serif Medium" pitchFamily="34" charset="-120"/>
              </a:rPr>
              <a:t>Nawinna</a:t>
            </a:r>
            <a:endParaRPr lang="en-US" sz="1200" b="1" dirty="0">
              <a:latin typeface="Cambria" panose="02040503050406030204" pitchFamily="18" charset="0"/>
              <a:ea typeface="Cambria" panose="02040503050406030204" pitchFamily="18" charset="0"/>
            </a:endParaRPr>
          </a:p>
          <a:p>
            <a:pPr algn="l">
              <a:spcAft>
                <a:spcPts val="300"/>
              </a:spcAft>
              <a:defRPr sz="1200" b="1">
                <a:solidFill>
                  <a:srgbClr val="3C6F99"/>
                </a:solidFill>
                <a:latin typeface="Aptos"/>
              </a:defRPr>
            </a:pPr>
            <a:endParaRPr dirty="0">
              <a:latin typeface="Arial" panose="020B0604020202020204" pitchFamily="34" charset="0"/>
              <a:cs typeface="Arial" panose="020B0604020202020204" pitchFamily="34" charset="0"/>
            </a:endParaRPr>
          </a:p>
        </p:txBody>
      </p:sp>
      <p:sp>
        <p:nvSpPr>
          <p:cNvPr id="26" name="TextBox 25"/>
          <p:cNvSpPr txBox="1"/>
          <p:nvPr/>
        </p:nvSpPr>
        <p:spPr>
          <a:xfrm>
            <a:off x="7145214" y="2612845"/>
            <a:ext cx="3072162" cy="518604"/>
          </a:xfrm>
          <a:prstGeom prst="rect">
            <a:avLst/>
          </a:prstGeom>
          <a:noFill/>
        </p:spPr>
        <p:txBody>
          <a:bodyPr wrap="square" lIns="54864" tIns="54864" rIns="54864" bIns="54864" anchor="t">
            <a:spAutoFit/>
          </a:bodyPr>
          <a:lstStyle/>
          <a:p>
            <a:pPr>
              <a:spcAft>
                <a:spcPts val="300"/>
              </a:spcAft>
              <a:defRPr sz="1200" b="1">
                <a:solidFill>
                  <a:srgbClr val="3C6F99"/>
                </a:solidFill>
                <a:latin typeface="Aptos"/>
              </a:defRPr>
            </a:pPr>
            <a:r>
              <a:rPr dirty="0">
                <a:latin typeface="Arial" panose="020B0604020202020204" pitchFamily="34" charset="0"/>
                <a:cs typeface="Arial" panose="020B0604020202020204" pitchFamily="34" charset="0"/>
              </a:rPr>
              <a:t>Co-supervisor: </a:t>
            </a:r>
            <a:r>
              <a:rPr lang="en-US" sz="1200" b="1" dirty="0">
                <a:latin typeface="Cambria" panose="02040503050406030204" pitchFamily="18" charset="0"/>
                <a:ea typeface="Cambria" panose="02040503050406030204" pitchFamily="18" charset="0"/>
                <a:cs typeface="Noto Serif Medium" pitchFamily="34" charset="-120"/>
              </a:rPr>
              <a:t>Mr. </a:t>
            </a:r>
            <a:r>
              <a:rPr lang="en-US" sz="1200" b="1" dirty="0" err="1">
                <a:latin typeface="Cambria" panose="02040503050406030204" pitchFamily="18" charset="0"/>
                <a:ea typeface="Cambria" panose="02040503050406030204" pitchFamily="18" charset="0"/>
                <a:cs typeface="Noto Serif Medium" pitchFamily="34" charset="-120"/>
              </a:rPr>
              <a:t>Nelum</a:t>
            </a:r>
            <a:r>
              <a:rPr lang="en-US" sz="1200" b="1" dirty="0">
                <a:latin typeface="Cambria" panose="02040503050406030204" pitchFamily="18" charset="0"/>
                <a:ea typeface="Cambria" panose="02040503050406030204" pitchFamily="18" charset="0"/>
                <a:cs typeface="Noto Serif Medium" pitchFamily="34" charset="-120"/>
              </a:rPr>
              <a:t> </a:t>
            </a:r>
            <a:r>
              <a:rPr lang="en-US" sz="1200" b="1" dirty="0" err="1">
                <a:latin typeface="Cambria" panose="02040503050406030204" pitchFamily="18" charset="0"/>
                <a:ea typeface="Cambria" panose="02040503050406030204" pitchFamily="18" charset="0"/>
                <a:cs typeface="Noto Serif Medium" pitchFamily="34" charset="-120"/>
              </a:rPr>
              <a:t>Amarasena</a:t>
            </a:r>
            <a:endParaRPr lang="en-US" sz="1200" b="1" dirty="0">
              <a:latin typeface="Cambria" panose="02040503050406030204" pitchFamily="18" charset="0"/>
              <a:ea typeface="Cambria" panose="02040503050406030204" pitchFamily="18" charset="0"/>
            </a:endParaRPr>
          </a:p>
          <a:p>
            <a:pPr algn="l">
              <a:spcAft>
                <a:spcPts val="300"/>
              </a:spcAft>
              <a:defRPr sz="1200" b="1">
                <a:solidFill>
                  <a:srgbClr val="3C6F99"/>
                </a:solidFill>
                <a:latin typeface="Aptos"/>
              </a:defRPr>
            </a:pPr>
            <a:endParaRPr dirty="0">
              <a:latin typeface="Arial" panose="020B0604020202020204" pitchFamily="34" charset="0"/>
              <a:cs typeface="Arial" panose="020B0604020202020204" pitchFamily="34" charset="0"/>
            </a:endParaRPr>
          </a:p>
        </p:txBody>
      </p:sp>
      <p:pic>
        <p:nvPicPr>
          <p:cNvPr id="30" name="Picture 29" descr="A person smiling for the camera&#10;&#10;AI-generated content may be incorrect.">
            <a:extLst>
              <a:ext uri="{FF2B5EF4-FFF2-40B4-BE49-F238E27FC236}">
                <a16:creationId xmlns:a16="http://schemas.microsoft.com/office/drawing/2014/main" id="{B2063BF4-FB7F-FA4D-D0BC-9FC494B195FA}"/>
              </a:ext>
            </a:extLst>
          </p:cNvPr>
          <p:cNvPicPr>
            <a:picLocks noChangeAspect="1"/>
          </p:cNvPicPr>
          <p:nvPr/>
        </p:nvPicPr>
        <p:blipFill>
          <a:blip r:embed="rId3"/>
          <a:stretch>
            <a:fillRect/>
          </a:stretch>
        </p:blipFill>
        <p:spPr>
          <a:xfrm>
            <a:off x="1494874" y="1180623"/>
            <a:ext cx="1283984" cy="1322182"/>
          </a:xfrm>
          <a:prstGeom prst="flowChartConnector">
            <a:avLst/>
          </a:prstGeom>
        </p:spPr>
      </p:pic>
      <p:pic>
        <p:nvPicPr>
          <p:cNvPr id="32" name="Picture 31" descr="A person wearing a tie and a lanyard&#10;&#10;AI-generated content may be incorrect.">
            <a:extLst>
              <a:ext uri="{FF2B5EF4-FFF2-40B4-BE49-F238E27FC236}">
                <a16:creationId xmlns:a16="http://schemas.microsoft.com/office/drawing/2014/main" id="{4E5F9276-5F64-77BF-5ECE-D9C93B3E81ED}"/>
              </a:ext>
            </a:extLst>
          </p:cNvPr>
          <p:cNvPicPr>
            <a:picLocks noChangeAspect="1"/>
          </p:cNvPicPr>
          <p:nvPr/>
        </p:nvPicPr>
        <p:blipFill>
          <a:blip r:embed="rId4"/>
          <a:stretch>
            <a:fillRect/>
          </a:stretch>
        </p:blipFill>
        <p:spPr>
          <a:xfrm>
            <a:off x="7867904" y="1266776"/>
            <a:ext cx="1210673" cy="1246690"/>
          </a:xfrm>
          <a:prstGeom prst="flowChartConnector">
            <a:avLst/>
          </a:prstGeom>
        </p:spPr>
      </p:pic>
      <p:sp>
        <p:nvSpPr>
          <p:cNvPr id="51" name="Rounded Rectangle 50">
            <a:extLst>
              <a:ext uri="{FF2B5EF4-FFF2-40B4-BE49-F238E27FC236}">
                <a16:creationId xmlns:a16="http://schemas.microsoft.com/office/drawing/2014/main" id="{0B66D166-D4E0-4B35-6554-BEC0897B6542}"/>
              </a:ext>
            </a:extLst>
          </p:cNvPr>
          <p:cNvSpPr/>
          <p:nvPr/>
        </p:nvSpPr>
        <p:spPr>
          <a:xfrm>
            <a:off x="566928" y="3257868"/>
            <a:ext cx="5257800" cy="118872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52" name="Rectangle 51">
            <a:extLst>
              <a:ext uri="{FF2B5EF4-FFF2-40B4-BE49-F238E27FC236}">
                <a16:creationId xmlns:a16="http://schemas.microsoft.com/office/drawing/2014/main" id="{4E5A60E0-2FBB-E301-8386-77C5503793BD}"/>
              </a:ext>
            </a:extLst>
          </p:cNvPr>
          <p:cNvSpPr/>
          <p:nvPr/>
        </p:nvSpPr>
        <p:spPr>
          <a:xfrm>
            <a:off x="566928" y="3257868"/>
            <a:ext cx="64008" cy="1188720"/>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AE6B2E4D-2534-3E85-1F5F-9077696D9520}"/>
              </a:ext>
            </a:extLst>
          </p:cNvPr>
          <p:cNvSpPr txBox="1"/>
          <p:nvPr/>
        </p:nvSpPr>
        <p:spPr>
          <a:xfrm>
            <a:off x="740664" y="3358452"/>
            <a:ext cx="4946904" cy="326243"/>
          </a:xfrm>
          <a:prstGeom prst="rect">
            <a:avLst/>
          </a:prstGeom>
          <a:noFill/>
        </p:spPr>
        <p:txBody>
          <a:bodyPr wrap="square" lIns="54864" tIns="54864" rIns="54864" bIns="54864" anchor="t">
            <a:spAutoFit/>
          </a:bodyPr>
          <a:lstStyle/>
          <a:p>
            <a:pPr>
              <a:spcAft>
                <a:spcPts val="300"/>
              </a:spcAft>
              <a:defRPr sz="1300" b="1">
                <a:solidFill>
                  <a:srgbClr val="123730"/>
                </a:solidFill>
                <a:latin typeface="Aptos"/>
              </a:defRPr>
            </a:pPr>
            <a:r>
              <a:rPr sz="1400" dirty="0">
                <a:latin typeface="Arial"/>
                <a:cs typeface="Arial"/>
              </a:rPr>
              <a:t>  IT22281814</a:t>
            </a:r>
            <a:r>
              <a:rPr lang="en-US" sz="1400" dirty="0">
                <a:latin typeface="Arial"/>
                <a:cs typeface="Arial"/>
              </a:rPr>
              <a:t> | </a:t>
            </a:r>
            <a:r>
              <a:rPr lang="en-US" sz="1400" dirty="0" err="1">
                <a:latin typeface="Arial"/>
                <a:cs typeface="Arial"/>
              </a:rPr>
              <a:t>Sandeepa</a:t>
            </a:r>
            <a:r>
              <a:rPr lang="en-US" sz="1400" dirty="0">
                <a:latin typeface="Arial"/>
                <a:cs typeface="Arial"/>
              </a:rPr>
              <a:t> S.A.C.</a:t>
            </a:r>
            <a:endParaRPr sz="1400" dirty="0">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B4101AF3-EF8D-02C4-C498-9FA58C8D1131}"/>
              </a:ext>
            </a:extLst>
          </p:cNvPr>
          <p:cNvSpPr txBox="1"/>
          <p:nvPr/>
        </p:nvSpPr>
        <p:spPr>
          <a:xfrm>
            <a:off x="1316736" y="3857002"/>
            <a:ext cx="4946904" cy="326243"/>
          </a:xfrm>
          <a:prstGeom prst="rect">
            <a:avLst/>
          </a:prstGeom>
          <a:noFill/>
        </p:spPr>
        <p:txBody>
          <a:bodyPr wrap="square" lIns="54864" tIns="54864" rIns="54864" bIns="54864" anchor="t">
            <a:spAutoFit/>
          </a:bodyPr>
          <a:lstStyle/>
          <a:p>
            <a:pPr algn="l">
              <a:spcAft>
                <a:spcPts val="300"/>
              </a:spcAft>
              <a:defRPr sz="1100" b="0">
                <a:solidFill>
                  <a:srgbClr val="1C2824"/>
                </a:solidFill>
                <a:latin typeface="Aptos"/>
              </a:defRPr>
            </a:pPr>
            <a:r>
              <a:rPr sz="1400" dirty="0">
                <a:latin typeface="Arial" panose="020B0604020202020204" pitchFamily="34" charset="0"/>
                <a:cs typeface="Arial" panose="020B0604020202020204" pitchFamily="34" charset="0"/>
              </a:rPr>
              <a:t>Fabric Intelligence</a:t>
            </a:r>
          </a:p>
        </p:txBody>
      </p:sp>
      <p:sp>
        <p:nvSpPr>
          <p:cNvPr id="55" name="Rounded Rectangle 54">
            <a:extLst>
              <a:ext uri="{FF2B5EF4-FFF2-40B4-BE49-F238E27FC236}">
                <a16:creationId xmlns:a16="http://schemas.microsoft.com/office/drawing/2014/main" id="{8A3B50FD-42BE-0065-E917-B1CEC2402D4A}"/>
              </a:ext>
            </a:extLst>
          </p:cNvPr>
          <p:cNvSpPr/>
          <p:nvPr/>
        </p:nvSpPr>
        <p:spPr>
          <a:xfrm>
            <a:off x="6144768" y="3257868"/>
            <a:ext cx="5257800" cy="118872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E987A027-EA31-EE5F-0A87-1BD7960433A7}"/>
              </a:ext>
            </a:extLst>
          </p:cNvPr>
          <p:cNvSpPr/>
          <p:nvPr/>
        </p:nvSpPr>
        <p:spPr>
          <a:xfrm>
            <a:off x="6144768" y="3257868"/>
            <a:ext cx="64008" cy="1188720"/>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1F7D1145-ECDE-5D04-C930-9D21205F4BD2}"/>
              </a:ext>
            </a:extLst>
          </p:cNvPr>
          <p:cNvSpPr txBox="1"/>
          <p:nvPr/>
        </p:nvSpPr>
        <p:spPr>
          <a:xfrm>
            <a:off x="6318504" y="3358452"/>
            <a:ext cx="4946904" cy="326243"/>
          </a:xfrm>
          <a:prstGeom prst="rect">
            <a:avLst/>
          </a:prstGeom>
          <a:noFill/>
        </p:spPr>
        <p:txBody>
          <a:bodyPr wrap="square" lIns="54864" tIns="54864" rIns="54864" bIns="54864" anchor="t">
            <a:spAutoFit/>
          </a:bodyPr>
          <a:lstStyle/>
          <a:p>
            <a:pPr>
              <a:spcAft>
                <a:spcPts val="300"/>
              </a:spcAft>
              <a:defRPr sz="1300" b="1">
                <a:solidFill>
                  <a:srgbClr val="123730"/>
                </a:solidFill>
                <a:latin typeface="Aptos"/>
              </a:defRPr>
            </a:pPr>
            <a:r>
              <a:rPr sz="1400" dirty="0">
                <a:latin typeface="Arial"/>
                <a:cs typeface="Arial"/>
              </a:rPr>
              <a:t> IT22215338</a:t>
            </a:r>
            <a:r>
              <a:rPr lang="en-US" sz="1400" dirty="0">
                <a:latin typeface="Arial"/>
                <a:cs typeface="Arial"/>
              </a:rPr>
              <a:t> | </a:t>
            </a:r>
            <a:r>
              <a:rPr lang="en-US" sz="1400" dirty="0" err="1">
                <a:latin typeface="Arial"/>
                <a:cs typeface="Arial"/>
              </a:rPr>
              <a:t>Siriwardhana</a:t>
            </a:r>
            <a:r>
              <a:rPr lang="en-US" sz="1400" dirty="0">
                <a:latin typeface="Arial"/>
                <a:cs typeface="Arial"/>
              </a:rPr>
              <a:t> N.S.T.N</a:t>
            </a:r>
            <a:endParaRPr sz="1400" dirty="0">
              <a:latin typeface="Arial" panose="020B0604020202020204" pitchFamily="34" charset="0"/>
              <a:cs typeface="Arial" panose="020B0604020202020204" pitchFamily="34" charset="0"/>
            </a:endParaRPr>
          </a:p>
        </p:txBody>
      </p:sp>
      <p:sp>
        <p:nvSpPr>
          <p:cNvPr id="58" name="Rounded Rectangle 57">
            <a:extLst>
              <a:ext uri="{FF2B5EF4-FFF2-40B4-BE49-F238E27FC236}">
                <a16:creationId xmlns:a16="http://schemas.microsoft.com/office/drawing/2014/main" id="{76FC11BE-9AE4-1FEC-0C78-734B1CDBC4EC}"/>
              </a:ext>
            </a:extLst>
          </p:cNvPr>
          <p:cNvSpPr/>
          <p:nvPr/>
        </p:nvSpPr>
        <p:spPr>
          <a:xfrm>
            <a:off x="566928" y="4766628"/>
            <a:ext cx="5257800" cy="118872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CC41D2C0-B8F0-14B8-3BF3-3AB28098C84C}"/>
              </a:ext>
            </a:extLst>
          </p:cNvPr>
          <p:cNvSpPr/>
          <p:nvPr/>
        </p:nvSpPr>
        <p:spPr>
          <a:xfrm>
            <a:off x="566928" y="4766628"/>
            <a:ext cx="64008" cy="1188720"/>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60" name="TextBox 59">
            <a:extLst>
              <a:ext uri="{FF2B5EF4-FFF2-40B4-BE49-F238E27FC236}">
                <a16:creationId xmlns:a16="http://schemas.microsoft.com/office/drawing/2014/main" id="{B6FA6AE4-0D70-07F5-8C63-F1F28B651CEB}"/>
              </a:ext>
            </a:extLst>
          </p:cNvPr>
          <p:cNvSpPr txBox="1"/>
          <p:nvPr/>
        </p:nvSpPr>
        <p:spPr>
          <a:xfrm>
            <a:off x="740664" y="4867211"/>
            <a:ext cx="4946904" cy="326243"/>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400" dirty="0">
                <a:latin typeface="Arial" panose="020B0604020202020204" pitchFamily="34" charset="0"/>
                <a:cs typeface="Arial" panose="020B0604020202020204" pitchFamily="34" charset="0"/>
              </a:rPr>
              <a:t>  IT22221278</a:t>
            </a:r>
            <a:r>
              <a:rPr lang="en-US" sz="1400" dirty="0">
                <a:latin typeface="Arial" panose="020B0604020202020204" pitchFamily="34" charset="0"/>
                <a:cs typeface="Arial" panose="020B0604020202020204" pitchFamily="34" charset="0"/>
              </a:rPr>
              <a:t> | </a:t>
            </a:r>
            <a:r>
              <a:rPr lang="en-US" sz="1400" dirty="0" err="1">
                <a:latin typeface="Arial"/>
                <a:cs typeface="Arial"/>
              </a:rPr>
              <a:t>Madushanka</a:t>
            </a:r>
            <a:r>
              <a:rPr lang="en-US" sz="1400" dirty="0">
                <a:latin typeface="Arial"/>
                <a:cs typeface="Arial"/>
              </a:rPr>
              <a:t> H.M.T.G</a:t>
            </a:r>
            <a:endParaRPr sz="1400" dirty="0">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F91AB566-C995-5C60-71D1-31715252DA55}"/>
              </a:ext>
            </a:extLst>
          </p:cNvPr>
          <p:cNvSpPr txBox="1"/>
          <p:nvPr/>
        </p:nvSpPr>
        <p:spPr>
          <a:xfrm>
            <a:off x="1316736" y="5322549"/>
            <a:ext cx="3373459" cy="326243"/>
          </a:xfrm>
          <a:prstGeom prst="rect">
            <a:avLst/>
          </a:prstGeom>
          <a:noFill/>
        </p:spPr>
        <p:txBody>
          <a:bodyPr wrap="square" lIns="54864" tIns="54864" rIns="54864" bIns="54864" anchor="t">
            <a:spAutoFit/>
          </a:bodyPr>
          <a:lstStyle/>
          <a:p>
            <a:pPr algn="l">
              <a:spcAft>
                <a:spcPts val="300"/>
              </a:spcAft>
              <a:defRPr sz="1100" b="0">
                <a:solidFill>
                  <a:srgbClr val="1C2824"/>
                </a:solidFill>
                <a:latin typeface="Aptos"/>
              </a:defRPr>
            </a:pPr>
            <a:r>
              <a:rPr sz="1400" dirty="0">
                <a:latin typeface="Arial" panose="020B0604020202020204" pitchFamily="34" charset="0"/>
                <a:cs typeface="Arial" panose="020B0604020202020204" pitchFamily="34" charset="0"/>
              </a:rPr>
              <a:t>Traceability + Commercial Intelligence</a:t>
            </a:r>
          </a:p>
        </p:txBody>
      </p:sp>
      <p:sp>
        <p:nvSpPr>
          <p:cNvPr id="62" name="Rounded Rectangle 61">
            <a:extLst>
              <a:ext uri="{FF2B5EF4-FFF2-40B4-BE49-F238E27FC236}">
                <a16:creationId xmlns:a16="http://schemas.microsoft.com/office/drawing/2014/main" id="{1F4DA3EF-6832-4E98-087E-AC4ABE9A594E}"/>
              </a:ext>
            </a:extLst>
          </p:cNvPr>
          <p:cNvSpPr/>
          <p:nvPr/>
        </p:nvSpPr>
        <p:spPr>
          <a:xfrm>
            <a:off x="6144768" y="4766628"/>
            <a:ext cx="5257800" cy="118872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D90CA1B5-C6D0-B52A-A8FB-934364849E50}"/>
              </a:ext>
            </a:extLst>
          </p:cNvPr>
          <p:cNvSpPr/>
          <p:nvPr/>
        </p:nvSpPr>
        <p:spPr>
          <a:xfrm>
            <a:off x="6144768" y="4766628"/>
            <a:ext cx="64008" cy="1188720"/>
          </a:xfrm>
          <a:prstGeom prst="rect">
            <a:avLst/>
          </a:prstGeom>
          <a:solidFill>
            <a:srgbClr val="775E9D"/>
          </a:solidFill>
          <a:ln>
            <a:solidFill>
              <a:srgbClr val="775E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64" name="TextBox 63">
            <a:extLst>
              <a:ext uri="{FF2B5EF4-FFF2-40B4-BE49-F238E27FC236}">
                <a16:creationId xmlns:a16="http://schemas.microsoft.com/office/drawing/2014/main" id="{C38B434F-EDEA-32F3-5589-4217C5960DD3}"/>
              </a:ext>
            </a:extLst>
          </p:cNvPr>
          <p:cNvSpPr txBox="1"/>
          <p:nvPr/>
        </p:nvSpPr>
        <p:spPr>
          <a:xfrm>
            <a:off x="6318504" y="4867211"/>
            <a:ext cx="4946904" cy="326243"/>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400" dirty="0">
                <a:latin typeface="Arial" panose="020B0604020202020204" pitchFamily="34" charset="0"/>
                <a:cs typeface="Arial" panose="020B0604020202020204" pitchFamily="34" charset="0"/>
              </a:rPr>
              <a:t>  IT22281678</a:t>
            </a:r>
            <a:r>
              <a:rPr lang="en-US" sz="1400" dirty="0">
                <a:latin typeface="Arial" panose="020B0604020202020204" pitchFamily="34" charset="0"/>
                <a:cs typeface="Arial" panose="020B0604020202020204" pitchFamily="34" charset="0"/>
              </a:rPr>
              <a:t> | </a:t>
            </a:r>
            <a:r>
              <a:rPr lang="en-US" sz="1400" dirty="0" err="1">
                <a:latin typeface="Arial"/>
                <a:cs typeface="Arial"/>
              </a:rPr>
              <a:t>Thalagala</a:t>
            </a:r>
            <a:r>
              <a:rPr lang="en-US" sz="1400" dirty="0">
                <a:latin typeface="Arial"/>
                <a:cs typeface="Arial"/>
              </a:rPr>
              <a:t> T.A.D.V</a:t>
            </a:r>
            <a:endParaRPr sz="1400" dirty="0">
              <a:latin typeface="Arial" panose="020B0604020202020204" pitchFamily="34" charset="0"/>
              <a:cs typeface="Arial" panose="020B0604020202020204" pitchFamily="34" charset="0"/>
            </a:endParaRPr>
          </a:p>
        </p:txBody>
      </p:sp>
      <p:pic>
        <p:nvPicPr>
          <p:cNvPr id="65" name="Picture 64">
            <a:extLst>
              <a:ext uri="{FF2B5EF4-FFF2-40B4-BE49-F238E27FC236}">
                <a16:creationId xmlns:a16="http://schemas.microsoft.com/office/drawing/2014/main" id="{C45B3E90-D8E9-B25E-2E13-E07410035EFB}"/>
              </a:ext>
            </a:extLst>
          </p:cNvPr>
          <p:cNvPicPr>
            <a:picLocks noChangeAspect="1"/>
          </p:cNvPicPr>
          <p:nvPr/>
        </p:nvPicPr>
        <p:blipFill rotWithShape="1">
          <a:blip r:embed="rId5"/>
          <a:srcRect t="13817" b="25658"/>
          <a:stretch/>
        </p:blipFill>
        <p:spPr>
          <a:xfrm>
            <a:off x="4690195" y="3336446"/>
            <a:ext cx="1047859" cy="1041765"/>
          </a:xfrm>
          <a:prstGeom prst="flowChartConnector">
            <a:avLst/>
          </a:prstGeom>
          <a:ln w="12700">
            <a:solidFill>
              <a:schemeClr val="tx1"/>
            </a:solidFill>
          </a:ln>
        </p:spPr>
      </p:pic>
      <p:pic>
        <p:nvPicPr>
          <p:cNvPr id="66" name="Picture 65">
            <a:extLst>
              <a:ext uri="{FF2B5EF4-FFF2-40B4-BE49-F238E27FC236}">
                <a16:creationId xmlns:a16="http://schemas.microsoft.com/office/drawing/2014/main" id="{CD7177A4-B792-2AB0-0E4A-C627EA68BF8B}"/>
              </a:ext>
            </a:extLst>
          </p:cNvPr>
          <p:cNvPicPr>
            <a:picLocks noChangeAspect="1"/>
          </p:cNvPicPr>
          <p:nvPr/>
        </p:nvPicPr>
        <p:blipFill rotWithShape="1">
          <a:blip r:embed="rId6"/>
          <a:srcRect l="10250" t="2278" r="8829" b="33563"/>
          <a:stretch/>
        </p:blipFill>
        <p:spPr>
          <a:xfrm>
            <a:off x="10322899" y="3336446"/>
            <a:ext cx="974227" cy="1030171"/>
          </a:xfrm>
          <a:prstGeom prst="flowChartConnector">
            <a:avLst/>
          </a:prstGeom>
          <a:ln w="19050">
            <a:solidFill>
              <a:schemeClr val="tx1"/>
            </a:solidFill>
          </a:ln>
        </p:spPr>
      </p:pic>
      <p:pic>
        <p:nvPicPr>
          <p:cNvPr id="67" name="Picture 66" descr="A person in a suit and glasses&#10;&#10;Description automatically generated">
            <a:extLst>
              <a:ext uri="{FF2B5EF4-FFF2-40B4-BE49-F238E27FC236}">
                <a16:creationId xmlns:a16="http://schemas.microsoft.com/office/drawing/2014/main" id="{18842954-E1EC-8DF7-60BB-DE4C0A975117}"/>
              </a:ext>
            </a:extLst>
          </p:cNvPr>
          <p:cNvPicPr>
            <a:picLocks noChangeAspect="1"/>
          </p:cNvPicPr>
          <p:nvPr/>
        </p:nvPicPr>
        <p:blipFill rotWithShape="1">
          <a:blip r:embed="rId7"/>
          <a:srcRect t="2707" b="14387"/>
          <a:stretch/>
        </p:blipFill>
        <p:spPr>
          <a:xfrm>
            <a:off x="4692395" y="4823998"/>
            <a:ext cx="995173" cy="1030171"/>
          </a:xfrm>
          <a:prstGeom prst="flowChartConnector">
            <a:avLst/>
          </a:prstGeom>
          <a:ln w="28575">
            <a:solidFill>
              <a:schemeClr val="tx1"/>
            </a:solidFill>
          </a:ln>
        </p:spPr>
      </p:pic>
      <p:pic>
        <p:nvPicPr>
          <p:cNvPr id="68" name="Picture 67" descr="A person in a white shirt&#10;&#10;AI-generated content may be incorrect.">
            <a:extLst>
              <a:ext uri="{FF2B5EF4-FFF2-40B4-BE49-F238E27FC236}">
                <a16:creationId xmlns:a16="http://schemas.microsoft.com/office/drawing/2014/main" id="{4ADED09D-1E46-D031-0AA3-3718F4D319EA}"/>
              </a:ext>
            </a:extLst>
          </p:cNvPr>
          <p:cNvPicPr>
            <a:picLocks noChangeAspect="1"/>
          </p:cNvPicPr>
          <p:nvPr/>
        </p:nvPicPr>
        <p:blipFill rotWithShape="1">
          <a:blip r:embed="rId8"/>
          <a:srcRect b="30777"/>
          <a:stretch/>
        </p:blipFill>
        <p:spPr>
          <a:xfrm>
            <a:off x="10305926" y="4876294"/>
            <a:ext cx="919919" cy="956698"/>
          </a:xfrm>
          <a:prstGeom prst="flowChartConnector">
            <a:avLst/>
          </a:prstGeom>
          <a:ln w="57150">
            <a:solidFill>
              <a:schemeClr val="tx1"/>
            </a:solidFill>
          </a:ln>
        </p:spPr>
      </p:pic>
      <p:sp>
        <p:nvSpPr>
          <p:cNvPr id="69" name="TextBox 68">
            <a:extLst>
              <a:ext uri="{FF2B5EF4-FFF2-40B4-BE49-F238E27FC236}">
                <a16:creationId xmlns:a16="http://schemas.microsoft.com/office/drawing/2014/main" id="{ABBD5006-9FB6-5C1A-A5E8-AD95F7E6F862}"/>
              </a:ext>
            </a:extLst>
          </p:cNvPr>
          <p:cNvSpPr txBox="1"/>
          <p:nvPr/>
        </p:nvSpPr>
        <p:spPr>
          <a:xfrm>
            <a:off x="6422136" y="3732403"/>
            <a:ext cx="5190744" cy="326243"/>
          </a:xfrm>
          <a:prstGeom prst="rect">
            <a:avLst/>
          </a:prstGeom>
          <a:noFill/>
        </p:spPr>
        <p:txBody>
          <a:bodyPr wrap="square" lIns="54864" tIns="54864" rIns="54864" bIns="54864" anchor="t">
            <a:spAutoFit/>
          </a:bodyPr>
          <a:lstStyle/>
          <a:p>
            <a:pPr algn="l">
              <a:spcAft>
                <a:spcPts val="300"/>
              </a:spcAft>
              <a:defRPr sz="1100" b="0">
                <a:solidFill>
                  <a:srgbClr val="1C2824"/>
                </a:solidFill>
                <a:latin typeface="Aptos"/>
              </a:defRPr>
            </a:pPr>
            <a:r>
              <a:rPr sz="1400" dirty="0">
                <a:latin typeface="Arial" panose="020B0604020202020204" pitchFamily="34" charset="0"/>
                <a:cs typeface="Arial" panose="020B0604020202020204" pitchFamily="34" charset="0"/>
              </a:rPr>
              <a:t>Sustainability Intelligence</a:t>
            </a:r>
          </a:p>
        </p:txBody>
      </p:sp>
      <p:sp>
        <p:nvSpPr>
          <p:cNvPr id="72" name="TextBox 71">
            <a:extLst>
              <a:ext uri="{FF2B5EF4-FFF2-40B4-BE49-F238E27FC236}">
                <a16:creationId xmlns:a16="http://schemas.microsoft.com/office/drawing/2014/main" id="{98B0F2D8-517C-05FD-D18D-3A8E4E2FE70F}"/>
              </a:ext>
            </a:extLst>
          </p:cNvPr>
          <p:cNvSpPr txBox="1"/>
          <p:nvPr/>
        </p:nvSpPr>
        <p:spPr>
          <a:xfrm>
            <a:off x="6434328" y="5264981"/>
            <a:ext cx="3487550" cy="326243"/>
          </a:xfrm>
          <a:prstGeom prst="rect">
            <a:avLst/>
          </a:prstGeom>
          <a:noFill/>
        </p:spPr>
        <p:txBody>
          <a:bodyPr wrap="square" lIns="54864" tIns="54864" rIns="54864" bIns="54864" anchor="t">
            <a:spAutoFit/>
          </a:bodyPr>
          <a:lstStyle/>
          <a:p>
            <a:pPr algn="l">
              <a:spcAft>
                <a:spcPts val="300"/>
              </a:spcAft>
              <a:defRPr sz="1100" b="0">
                <a:solidFill>
                  <a:srgbClr val="1C2824"/>
                </a:solidFill>
                <a:latin typeface="Aptos"/>
              </a:defRPr>
            </a:pPr>
            <a:r>
              <a:rPr sz="1400" dirty="0">
                <a:latin typeface="Arial" panose="020B0604020202020204" pitchFamily="34" charset="0"/>
                <a:cs typeface="Arial" panose="020B0604020202020204" pitchFamily="34" charset="0"/>
              </a:rPr>
              <a:t>Marketplace Predictive Analytics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523220"/>
          </a:xfrm>
          <a:prstGeom prst="rect">
            <a:avLst/>
          </a:prstGeom>
          <a:noFill/>
        </p:spPr>
        <p:txBody>
          <a:bodyPr wrap="square">
            <a:spAutoFit/>
          </a:bodyPr>
          <a:lstStyle/>
          <a:p>
            <a:pPr>
              <a:spcAft>
                <a:spcPts val="200"/>
              </a:spcAft>
            </a:pPr>
            <a:r>
              <a:rPr sz="2800" b="1">
                <a:solidFill>
                  <a:srgbClr val="17402B"/>
                </a:solidFill>
                <a:latin typeface="Arial" panose="020B0604020202020204" pitchFamily="34" charset="0"/>
                <a:cs typeface="Arial" panose="020B0604020202020204" pitchFamily="34" charset="0"/>
              </a:rPr>
              <a:t>PP2 PANEL COMMENTS &amp; ACTIONS TAKEN</a:t>
            </a:r>
          </a:p>
        </p:txBody>
      </p:sp>
      <p:sp>
        <p:nvSpPr>
          <p:cNvPr id="3" name="TextBox 2"/>
          <p:cNvSpPr txBox="1"/>
          <p:nvPr/>
        </p:nvSpPr>
        <p:spPr>
          <a:xfrm>
            <a:off x="530352" y="731520"/>
            <a:ext cx="10972800" cy="276999"/>
          </a:xfrm>
          <a:prstGeom prst="rect">
            <a:avLst/>
          </a:prstGeom>
          <a:noFill/>
        </p:spPr>
        <p:txBody>
          <a:bodyPr wrap="square">
            <a:spAutoFit/>
          </a:bodyPr>
          <a:lstStyle/>
          <a:p>
            <a:pPr>
              <a:spcAft>
                <a:spcPts val="200"/>
              </a:spcAft>
            </a:pPr>
            <a:r>
              <a:rPr sz="1200" b="0" dirty="0">
                <a:solidFill>
                  <a:srgbClr val="556058"/>
                </a:solidFill>
                <a:latin typeface="Arial" panose="020B0604020202020204" pitchFamily="34" charset="0"/>
                <a:cs typeface="Arial" panose="020B0604020202020204" pitchFamily="34" charset="0"/>
              </a:rPr>
              <a:t>Project R26-IT-081  |  Panel IT-P06  |  Actions across all four individual components</a:t>
            </a:r>
          </a:p>
        </p:txBody>
      </p:sp>
      <p:graphicFrame>
        <p:nvGraphicFramePr>
          <p:cNvPr id="4" name="Table 3"/>
          <p:cNvGraphicFramePr>
            <a:graphicFrameLocks noGrp="1"/>
          </p:cNvGraphicFramePr>
          <p:nvPr>
            <p:extLst>
              <p:ext uri="{D42A27DB-BD31-4B8C-83A1-F6EECF244321}">
                <p14:modId xmlns:p14="http://schemas.microsoft.com/office/powerpoint/2010/main" val="4086482466"/>
              </p:ext>
            </p:extLst>
          </p:nvPr>
        </p:nvGraphicFramePr>
        <p:xfrm>
          <a:off x="457200" y="1234440"/>
          <a:ext cx="11247120" cy="4726201"/>
        </p:xfrm>
        <a:graphic>
          <a:graphicData uri="http://schemas.openxmlformats.org/drawingml/2006/table">
            <a:tbl>
              <a:tblPr firstRow="1" bandRow="1">
                <a:tableStyleId>{5940675A-B579-460E-94D1-54222C63F5DA}</a:tableStyleId>
              </a:tblPr>
              <a:tblGrid>
                <a:gridCol w="1527464">
                  <a:extLst>
                    <a:ext uri="{9D8B030D-6E8A-4147-A177-3AD203B41FA5}">
                      <a16:colId xmlns:a16="http://schemas.microsoft.com/office/drawing/2014/main" val="20000"/>
                    </a:ext>
                  </a:extLst>
                </a:gridCol>
                <a:gridCol w="4125191">
                  <a:extLst>
                    <a:ext uri="{9D8B030D-6E8A-4147-A177-3AD203B41FA5}">
                      <a16:colId xmlns:a16="http://schemas.microsoft.com/office/drawing/2014/main" val="20001"/>
                    </a:ext>
                  </a:extLst>
                </a:gridCol>
                <a:gridCol w="5594465">
                  <a:extLst>
                    <a:ext uri="{9D8B030D-6E8A-4147-A177-3AD203B41FA5}">
                      <a16:colId xmlns:a16="http://schemas.microsoft.com/office/drawing/2014/main" val="20002"/>
                    </a:ext>
                  </a:extLst>
                </a:gridCol>
              </a:tblGrid>
              <a:tr h="812569">
                <a:tc>
                  <a:txBody>
                    <a:bodyPr/>
                    <a:lstStyle/>
                    <a:p>
                      <a:pPr algn="l"/>
                      <a:r>
                        <a:rPr sz="1600" b="1" dirty="0">
                          <a:solidFill>
                            <a:schemeClr val="tx1"/>
                          </a:solidFill>
                        </a:rPr>
                        <a:t>MEMBER / COMPONENT</a:t>
                      </a:r>
                      <a:endParaRPr sz="1600" b="1" dirty="0">
                        <a:solidFill>
                          <a:schemeClr val="tx1"/>
                        </a:solidFill>
                        <a:latin typeface="Arial" panose="020B0604020202020204" pitchFamily="34" charset="0"/>
                        <a:cs typeface="Arial" panose="020B0604020202020204" pitchFamily="34" charset="0"/>
                      </a:endParaRPr>
                    </a:p>
                  </a:txBody>
                  <a:tcPr anchor="ctr"/>
                </a:tc>
                <a:tc>
                  <a:txBody>
                    <a:bodyPr/>
                    <a:lstStyle/>
                    <a:p>
                      <a:pPr algn="l"/>
                      <a:r>
                        <a:rPr sz="1600" b="1" dirty="0">
                          <a:solidFill>
                            <a:schemeClr val="tx1"/>
                          </a:solidFill>
                        </a:rPr>
                        <a:t>PP2 PANEL COMMENT</a:t>
                      </a:r>
                      <a:endParaRPr sz="1600" b="1" dirty="0">
                        <a:solidFill>
                          <a:schemeClr val="tx1"/>
                        </a:solidFill>
                        <a:latin typeface="Arial" panose="020B0604020202020204" pitchFamily="34" charset="0"/>
                        <a:cs typeface="Arial" panose="020B0604020202020204" pitchFamily="34" charset="0"/>
                      </a:endParaRPr>
                    </a:p>
                  </a:txBody>
                  <a:tcPr anchor="ctr"/>
                </a:tc>
                <a:tc>
                  <a:txBody>
                    <a:bodyPr/>
                    <a:lstStyle/>
                    <a:p>
                      <a:pPr algn="l"/>
                      <a:r>
                        <a:rPr sz="1600" b="1" dirty="0">
                          <a:solidFill>
                            <a:schemeClr val="tx1"/>
                          </a:solidFill>
                        </a:rPr>
                        <a:t>ACTION TAKEN FOR FINAL PRESENTATION</a:t>
                      </a:r>
                      <a:endParaRPr sz="1600" b="1" dirty="0">
                        <a:solidFill>
                          <a:schemeClr val="tx1"/>
                        </a:solidFill>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0"/>
                  </a:ext>
                </a:extLst>
              </a:tr>
              <a:tr h="978408">
                <a:tc>
                  <a:txBody>
                    <a:bodyPr/>
                    <a:lstStyle/>
                    <a:p>
                      <a:pPr>
                        <a:spcAft>
                          <a:spcPts val="200"/>
                        </a:spcAft>
                      </a:pPr>
                      <a:r>
                        <a:rPr sz="1200" b="1" dirty="0">
                          <a:solidFill>
                            <a:srgbClr val="17402B"/>
                          </a:solidFill>
                        </a:rPr>
                        <a:t>Member 01</a:t>
                      </a:r>
                    </a:p>
                    <a:p>
                      <a:pPr>
                        <a:spcAft>
                          <a:spcPts val="200"/>
                        </a:spcAft>
                      </a:pPr>
                      <a:r>
                        <a:rPr sz="1200" b="1" dirty="0">
                          <a:solidFill>
                            <a:srgbClr val="17402B"/>
                          </a:solidFill>
                        </a:rPr>
                        <a:t>Fabric Intelligence</a:t>
                      </a:r>
                      <a:endParaRPr sz="1200" b="1" dirty="0">
                        <a:solidFill>
                          <a:srgbClr val="17402B"/>
                        </a:solidFill>
                        <a:latin typeface="Arial" panose="020B0604020202020204" pitchFamily="34" charset="0"/>
                        <a:cs typeface="Arial" panose="020B0604020202020204" pitchFamily="34" charset="0"/>
                      </a:endParaRPr>
                    </a:p>
                  </a:txBody>
                  <a:tcPr marT="64008" marB="54864" anchor="ctr"/>
                </a:tc>
                <a:tc>
                  <a:txBody>
                    <a:bodyPr/>
                    <a:lstStyle/>
                    <a:p>
                      <a:pPr marL="171450" indent="-171450">
                        <a:spcAft>
                          <a:spcPts val="200"/>
                        </a:spcAft>
                        <a:buFont typeface="Arial" panose="020B0604020202020204" pitchFamily="34" charset="0"/>
                        <a:buChar char="•"/>
                      </a:pPr>
                      <a:r>
                        <a:rPr sz="1200" b="0" dirty="0">
                          <a:solidFill>
                            <a:srgbClr val="2D3630"/>
                          </a:solidFill>
                          <a:latin typeface="Arial" panose="020B0604020202020204" pitchFamily="34" charset="0"/>
                          <a:cs typeface="Arial" panose="020B0604020202020204" pitchFamily="34" charset="0"/>
                        </a:rPr>
                        <a:t>Progress was not sufficient for PP2. The implementation was basic, and the student could not clearly explain the model or outputs such as confidence and condition indicators.</a:t>
                      </a:r>
                    </a:p>
                  </a:txBody>
                  <a:tcPr marT="64008" marB="54864" anchor="ctr"/>
                </a:tc>
                <a:tc>
                  <a:txBody>
                    <a:bodyPr/>
                    <a:lstStyle/>
                    <a:p>
                      <a:pPr marL="171450" indent="-171450">
                        <a:spcAft>
                          <a:spcPts val="200"/>
                        </a:spcAft>
                        <a:buFont typeface="Arial" panose="020B0604020202020204" pitchFamily="34" charset="0"/>
                        <a:buChar char="•"/>
                      </a:pPr>
                      <a:r>
                        <a:rPr sz="1200" b="0" dirty="0">
                          <a:solidFill>
                            <a:srgbClr val="2D3630"/>
                          </a:solidFill>
                          <a:latin typeface="Arial" panose="020B0604020202020204" pitchFamily="34" charset="0"/>
                          <a:cs typeface="Arial" panose="020B0604020202020204" pitchFamily="34" charset="0"/>
                        </a:rPr>
                        <a:t>Added the image-to-prediction workflow; clarified the reported fabric/defect models, confidence meaning, output interpretation, and which condition values are model-based versus rule/formula-based. Model metrics are labelled for verification.</a:t>
                      </a:r>
                    </a:p>
                  </a:txBody>
                  <a:tcPr marT="64008" marB="54864" anchor="ctr"/>
                </a:tc>
                <a:extLst>
                  <a:ext uri="{0D108BD9-81ED-4DB2-BD59-A6C34878D82A}">
                    <a16:rowId xmlns:a16="http://schemas.microsoft.com/office/drawing/2014/main" val="10001"/>
                  </a:ext>
                </a:extLst>
              </a:tr>
              <a:tr h="978408">
                <a:tc>
                  <a:txBody>
                    <a:bodyPr/>
                    <a:lstStyle/>
                    <a:p>
                      <a:pPr>
                        <a:spcAft>
                          <a:spcPts val="200"/>
                        </a:spcAft>
                      </a:pPr>
                      <a:r>
                        <a:rPr sz="1200" b="1">
                          <a:solidFill>
                            <a:srgbClr val="17402B"/>
                          </a:solidFill>
                        </a:rPr>
                        <a:t>Member 02</a:t>
                      </a:r>
                    </a:p>
                    <a:p>
                      <a:pPr>
                        <a:spcAft>
                          <a:spcPts val="200"/>
                        </a:spcAft>
                      </a:pPr>
                      <a:r>
                        <a:rPr sz="1200" b="1">
                          <a:solidFill>
                            <a:srgbClr val="17402B"/>
                          </a:solidFill>
                        </a:rPr>
                        <a:t>Sustainability Intelligence</a:t>
                      </a:r>
                      <a:endParaRPr sz="1200" b="1">
                        <a:solidFill>
                          <a:srgbClr val="17402B"/>
                        </a:solidFill>
                        <a:latin typeface="Arial" panose="020B0604020202020204" pitchFamily="34" charset="0"/>
                        <a:cs typeface="Arial" panose="020B0604020202020204" pitchFamily="34" charset="0"/>
                      </a:endParaRPr>
                    </a:p>
                  </a:txBody>
                  <a:tcPr marT="64008" marB="54864" anchor="ctr"/>
                </a:tc>
                <a:tc>
                  <a:txBody>
                    <a:bodyPr/>
                    <a:lstStyle/>
                    <a:p>
                      <a:pPr marL="171450" indent="-171450">
                        <a:spcAft>
                          <a:spcPts val="200"/>
                        </a:spcAft>
                        <a:buFont typeface="Arial" panose="020B0604020202020204" pitchFamily="34" charset="0"/>
                        <a:buChar char="•"/>
                      </a:pPr>
                      <a:r>
                        <a:rPr sz="1200" b="0" dirty="0">
                          <a:solidFill>
                            <a:srgbClr val="2D3630"/>
                          </a:solidFill>
                          <a:latin typeface="Arial" panose="020B0604020202020204" pitchFamily="34" charset="0"/>
                          <a:cs typeface="Arial" panose="020B0604020202020204" pitchFamily="34" charset="0"/>
                        </a:rPr>
                        <a:t>Progress was not sufficient for PP2. The calculation of output values and the coding implementation were not clearly explained.</a:t>
                      </a:r>
                    </a:p>
                  </a:txBody>
                  <a:tcPr marT="64008" marB="54864" anchor="ctr"/>
                </a:tc>
                <a:tc>
                  <a:txBody>
                    <a:bodyPr/>
                    <a:lstStyle/>
                    <a:p>
                      <a:pPr marL="171450" indent="-171450">
                        <a:spcAft>
                          <a:spcPts val="200"/>
                        </a:spcAft>
                        <a:buFont typeface="Arial" panose="020B0604020202020204" pitchFamily="34" charset="0"/>
                        <a:buChar char="•"/>
                      </a:pPr>
                      <a:r>
                        <a:rPr sz="1200" b="0" dirty="0">
                          <a:solidFill>
                            <a:srgbClr val="2D3630"/>
                          </a:solidFill>
                          <a:latin typeface="Arial" panose="020B0604020202020204" pitchFamily="34" charset="0"/>
                          <a:cs typeface="Arial" panose="020B0604020202020204" pitchFamily="34" charset="0"/>
                        </a:rPr>
                        <a:t>Added the actual pipeline: eight input features → preprocessing → six </a:t>
                      </a:r>
                      <a:r>
                        <a:rPr sz="1200" b="0" dirty="0" err="1">
                          <a:solidFill>
                            <a:srgbClr val="2D3630"/>
                          </a:solidFill>
                          <a:latin typeface="Arial" panose="020B0604020202020204" pitchFamily="34" charset="0"/>
                          <a:cs typeface="Arial" panose="020B0604020202020204" pitchFamily="34" charset="0"/>
                        </a:rPr>
                        <a:t>XGBoost</a:t>
                      </a:r>
                      <a:r>
                        <a:rPr sz="1200" b="0" dirty="0">
                          <a:solidFill>
                            <a:srgbClr val="2D3630"/>
                          </a:solidFill>
                          <a:latin typeface="Arial" panose="020B0604020202020204" pitchFamily="34" charset="0"/>
                          <a:cs typeface="Arial" panose="020B0604020202020204" pitchFamily="34" charset="0"/>
                        </a:rPr>
                        <a:t> regressors → formula-derived indicators → </a:t>
                      </a:r>
                      <a:r>
                        <a:rPr sz="1200" b="0" dirty="0" err="1">
                          <a:solidFill>
                            <a:srgbClr val="2D3630"/>
                          </a:solidFill>
                          <a:latin typeface="Arial" panose="020B0604020202020204" pitchFamily="34" charset="0"/>
                          <a:cs typeface="Arial" panose="020B0604020202020204" pitchFamily="34" charset="0"/>
                        </a:rPr>
                        <a:t>XGBoost</a:t>
                      </a:r>
                      <a:r>
                        <a:rPr sz="1200" b="0" dirty="0">
                          <a:solidFill>
                            <a:srgbClr val="2D3630"/>
                          </a:solidFill>
                          <a:latin typeface="Arial" panose="020B0604020202020204" pitchFamily="34" charset="0"/>
                          <a:cs typeface="Arial" panose="020B0604020202020204" pitchFamily="34" charset="0"/>
                        </a:rPr>
                        <a:t> grade classifier and label encoder. Distinguished predicted outputs from formula-derived values and explained assumptions/limitations.</a:t>
                      </a:r>
                    </a:p>
                  </a:txBody>
                  <a:tcPr marT="64008" marB="54864" anchor="ctr"/>
                </a:tc>
                <a:extLst>
                  <a:ext uri="{0D108BD9-81ED-4DB2-BD59-A6C34878D82A}">
                    <a16:rowId xmlns:a16="http://schemas.microsoft.com/office/drawing/2014/main" val="10002"/>
                  </a:ext>
                </a:extLst>
              </a:tr>
              <a:tr h="978408">
                <a:tc>
                  <a:txBody>
                    <a:bodyPr/>
                    <a:lstStyle/>
                    <a:p>
                      <a:pPr>
                        <a:spcAft>
                          <a:spcPts val="200"/>
                        </a:spcAft>
                      </a:pPr>
                      <a:r>
                        <a:rPr sz="1200" b="1">
                          <a:solidFill>
                            <a:srgbClr val="17402B"/>
                          </a:solidFill>
                        </a:rPr>
                        <a:t>Member 03</a:t>
                      </a:r>
                    </a:p>
                    <a:p>
                      <a:pPr>
                        <a:spcAft>
                          <a:spcPts val="200"/>
                        </a:spcAft>
                      </a:pPr>
                      <a:r>
                        <a:rPr sz="1200" b="1">
                          <a:solidFill>
                            <a:srgbClr val="17402B"/>
                          </a:solidFill>
                        </a:rPr>
                        <a:t>Commercial Intelligence</a:t>
                      </a:r>
                      <a:endParaRPr sz="1200" b="1">
                        <a:solidFill>
                          <a:srgbClr val="17402B"/>
                        </a:solidFill>
                        <a:latin typeface="Arial" panose="020B0604020202020204" pitchFamily="34" charset="0"/>
                        <a:cs typeface="Arial" panose="020B0604020202020204" pitchFamily="34" charset="0"/>
                      </a:endParaRPr>
                    </a:p>
                  </a:txBody>
                  <a:tcPr marT="64008" marB="54864" anchor="ctr"/>
                </a:tc>
                <a:tc>
                  <a:txBody>
                    <a:bodyPr/>
                    <a:lstStyle/>
                    <a:p>
                      <a:pPr marL="171450" indent="-171450">
                        <a:spcAft>
                          <a:spcPts val="200"/>
                        </a:spcAft>
                        <a:buFont typeface="Arial" panose="020B0604020202020204" pitchFamily="34" charset="0"/>
                        <a:buChar char="•"/>
                      </a:pPr>
                      <a:r>
                        <a:rPr sz="1200" b="0" dirty="0">
                          <a:solidFill>
                            <a:srgbClr val="2D3630"/>
                          </a:solidFill>
                          <a:latin typeface="Arial" panose="020B0604020202020204" pitchFamily="34" charset="0"/>
                          <a:cs typeface="Arial" panose="020B0604020202020204" pitchFamily="34" charset="0"/>
                        </a:rPr>
                        <a:t>The panel did not see a clear understanding of the coding and implementation. Progress was considered insufficient for PP2.</a:t>
                      </a:r>
                    </a:p>
                  </a:txBody>
                  <a:tcPr marT="64008" marB="54864" anchor="ctr"/>
                </a:tc>
                <a:tc>
                  <a:txBody>
                    <a:bodyPr/>
                    <a:lstStyle/>
                    <a:p>
                      <a:pPr marL="171450" indent="-171450">
                        <a:spcAft>
                          <a:spcPts val="200"/>
                        </a:spcAft>
                        <a:buFont typeface="Arial" panose="020B0604020202020204" pitchFamily="34" charset="0"/>
                        <a:buChar char="•"/>
                      </a:pPr>
                      <a:r>
                        <a:rPr sz="1200" b="0" dirty="0">
                          <a:solidFill>
                            <a:srgbClr val="2D3630"/>
                          </a:solidFill>
                          <a:latin typeface="Arial" panose="020B0604020202020204" pitchFamily="34" charset="0"/>
                          <a:cs typeface="Arial" panose="020B0604020202020204" pitchFamily="34" charset="0"/>
                        </a:rPr>
                        <a:t>Clarified the pricing and buyer-recommendation workflow, the reported </a:t>
                      </a:r>
                      <a:r>
                        <a:rPr sz="1200" b="0" dirty="0" err="1">
                          <a:solidFill>
                            <a:srgbClr val="2D3630"/>
                          </a:solidFill>
                          <a:latin typeface="Arial" panose="020B0604020202020204" pitchFamily="34" charset="0"/>
                          <a:cs typeface="Arial" panose="020B0604020202020204" pitchFamily="34" charset="0"/>
                        </a:rPr>
                        <a:t>XGBoost</a:t>
                      </a:r>
                      <a:r>
                        <a:rPr sz="1200" b="0" dirty="0">
                          <a:solidFill>
                            <a:srgbClr val="2D3630"/>
                          </a:solidFill>
                          <a:latin typeface="Arial" panose="020B0604020202020204" pitchFamily="34" charset="0"/>
                          <a:cs typeface="Arial" panose="020B0604020202020204" pitchFamily="34" charset="0"/>
                        </a:rPr>
                        <a:t> pricing approach, traceability events and the distinction between model predictions and marketplace workflow. Reported metrics are identified for verification.</a:t>
                      </a:r>
                    </a:p>
                  </a:txBody>
                  <a:tcPr marT="64008" marB="54864" anchor="ctr"/>
                </a:tc>
                <a:extLst>
                  <a:ext uri="{0D108BD9-81ED-4DB2-BD59-A6C34878D82A}">
                    <a16:rowId xmlns:a16="http://schemas.microsoft.com/office/drawing/2014/main" val="10003"/>
                  </a:ext>
                </a:extLst>
              </a:tr>
              <a:tr h="978408">
                <a:tc>
                  <a:txBody>
                    <a:bodyPr/>
                    <a:lstStyle/>
                    <a:p>
                      <a:pPr>
                        <a:spcAft>
                          <a:spcPts val="200"/>
                        </a:spcAft>
                      </a:pPr>
                      <a:r>
                        <a:rPr sz="1200" b="1">
                          <a:solidFill>
                            <a:srgbClr val="17402B"/>
                          </a:solidFill>
                        </a:rPr>
                        <a:t>Member 04</a:t>
                      </a:r>
                    </a:p>
                    <a:p>
                      <a:pPr>
                        <a:spcAft>
                          <a:spcPts val="200"/>
                        </a:spcAft>
                      </a:pPr>
                      <a:r>
                        <a:rPr sz="1200" b="1">
                          <a:solidFill>
                            <a:srgbClr val="17402B"/>
                          </a:solidFill>
                        </a:rPr>
                        <a:t>Marketplace Predictive Analytics</a:t>
                      </a:r>
                      <a:endParaRPr sz="1200" b="1">
                        <a:solidFill>
                          <a:srgbClr val="17402B"/>
                        </a:solidFill>
                        <a:latin typeface="Arial" panose="020B0604020202020204" pitchFamily="34" charset="0"/>
                        <a:cs typeface="Arial" panose="020B0604020202020204" pitchFamily="34" charset="0"/>
                      </a:endParaRPr>
                    </a:p>
                  </a:txBody>
                  <a:tcPr marT="64008" marB="54864" anchor="ctr"/>
                </a:tc>
                <a:tc>
                  <a:txBody>
                    <a:bodyPr/>
                    <a:lstStyle/>
                    <a:p>
                      <a:pPr marL="171450" indent="-171450">
                        <a:spcAft>
                          <a:spcPts val="200"/>
                        </a:spcAft>
                        <a:buFont typeface="Arial" panose="020B0604020202020204" pitchFamily="34" charset="0"/>
                        <a:buChar char="•"/>
                      </a:pPr>
                      <a:r>
                        <a:rPr sz="1200" b="0" dirty="0">
                          <a:solidFill>
                            <a:srgbClr val="2D3630"/>
                          </a:solidFill>
                          <a:latin typeface="Arial" panose="020B0604020202020204" pitchFamily="34" charset="0"/>
                          <a:cs typeface="Arial" panose="020B0604020202020204" pitchFamily="34" charset="0"/>
                        </a:rPr>
                        <a:t>The student appeared unfamiliar with the coding and could not explain the code properly. Progress was considered insufficient for PP2.</a:t>
                      </a:r>
                    </a:p>
                  </a:txBody>
                  <a:tcPr marT="64008" marB="54864" anchor="ctr"/>
                </a:tc>
                <a:tc>
                  <a:txBody>
                    <a:bodyPr/>
                    <a:lstStyle/>
                    <a:p>
                      <a:pPr marL="171450" indent="-171450">
                        <a:spcAft>
                          <a:spcPts val="200"/>
                        </a:spcAft>
                        <a:buFont typeface="Arial" panose="020B0604020202020204" pitchFamily="34" charset="0"/>
                        <a:buChar char="•"/>
                      </a:pPr>
                      <a:r>
                        <a:rPr sz="1200" b="0" dirty="0">
                          <a:solidFill>
                            <a:srgbClr val="2D3630"/>
                          </a:solidFill>
                          <a:latin typeface="Arial" panose="020B0604020202020204" pitchFamily="34" charset="0"/>
                          <a:cs typeface="Arial" panose="020B0604020202020204" pitchFamily="34" charset="0"/>
                        </a:rPr>
                        <a:t>Added model-task summaries for listing success, sales-time prediction and market trends; described the input feature groups and clarified that each metric must be tied to its target, test protocol and data quality.</a:t>
                      </a:r>
                    </a:p>
                  </a:txBody>
                  <a:tcPr marT="64008" marB="54864"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66927" y="201168"/>
            <a:ext cx="5885827" cy="480131"/>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400" dirty="0">
                <a:latin typeface="Arial" panose="020B0604020202020204" pitchFamily="34" charset="0"/>
                <a:cs typeface="Arial" panose="020B0604020202020204" pitchFamily="34" charset="0"/>
              </a:rPr>
              <a:t>0</a:t>
            </a:r>
            <a:r>
              <a:rPr lang="en-US" sz="2400" dirty="0">
                <a:latin typeface="Arial" panose="020B0604020202020204" pitchFamily="34" charset="0"/>
                <a:cs typeface="Arial" panose="020B0604020202020204" pitchFamily="34" charset="0"/>
              </a:rPr>
              <a:t>2</a:t>
            </a:r>
            <a:r>
              <a:rPr sz="2400" dirty="0">
                <a:latin typeface="Arial" panose="020B0604020202020204" pitchFamily="34" charset="0"/>
                <a:cs typeface="Arial" panose="020B0604020202020204" pitchFamily="34" charset="0"/>
              </a:rPr>
              <a:t> PROJECT OVERVIEW</a:t>
            </a:r>
          </a:p>
        </p:txBody>
      </p:sp>
      <p:sp>
        <p:nvSpPr>
          <p:cNvPr id="3" name="TextBox 2"/>
          <p:cNvSpPr txBox="1"/>
          <p:nvPr/>
        </p:nvSpPr>
        <p:spPr>
          <a:xfrm>
            <a:off x="566928" y="859027"/>
            <a:ext cx="10972800" cy="480131"/>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dirty="0">
                <a:latin typeface="Arial" panose="020B0604020202020204" pitchFamily="34" charset="0"/>
                <a:cs typeface="Arial" panose="020B0604020202020204" pitchFamily="34" charset="0"/>
              </a:rPr>
              <a:t>One platform, four research contributions</a:t>
            </a:r>
          </a:p>
        </p:txBody>
      </p:sp>
      <p:sp>
        <p:nvSpPr>
          <p:cNvPr id="4" name="TextBox 3"/>
          <p:cNvSpPr txBox="1"/>
          <p:nvPr/>
        </p:nvSpPr>
        <p:spPr>
          <a:xfrm>
            <a:off x="585216" y="1309192"/>
            <a:ext cx="10972800" cy="326243"/>
          </a:xfrm>
          <a:prstGeom prst="rect">
            <a:avLst/>
          </a:prstGeom>
          <a:noFill/>
        </p:spPr>
        <p:txBody>
          <a:bodyPr wrap="square" lIns="54864" tIns="54864" rIns="54864" bIns="54864" anchor="t">
            <a:spAutoFit/>
          </a:bodyPr>
          <a:lstStyle/>
          <a:p>
            <a:pPr algn="l">
              <a:spcAft>
                <a:spcPts val="300"/>
              </a:spcAft>
              <a:defRPr sz="1000" b="0">
                <a:solidFill>
                  <a:srgbClr val="62716A"/>
                </a:solidFill>
                <a:latin typeface="Aptos"/>
              </a:defRPr>
            </a:pPr>
            <a:r>
              <a:rPr sz="1400" dirty="0" err="1">
                <a:latin typeface="Arial" panose="020B0604020202020204" pitchFamily="34" charset="0"/>
                <a:cs typeface="Arial" panose="020B0604020202020204" pitchFamily="34" charset="0"/>
              </a:rPr>
              <a:t>TexCycle</a:t>
            </a:r>
            <a:r>
              <a:rPr sz="1400" dirty="0">
                <a:latin typeface="Arial" panose="020B0604020202020204" pitchFamily="34" charset="0"/>
                <a:cs typeface="Arial" panose="020B0604020202020204" pitchFamily="34" charset="0"/>
              </a:rPr>
              <a:t> AI connects textile assessment to sustainability information and marketplace decision support</a:t>
            </a:r>
            <a:r>
              <a:rPr dirty="0">
                <a:latin typeface="Arial" panose="020B0604020202020204" pitchFamily="34" charset="0"/>
                <a:cs typeface="Arial" panose="020B0604020202020204" pitchFamily="34" charset="0"/>
              </a:rPr>
              <a:t>.</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33910"/>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49299"/>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a:latin typeface="Arial" panose="020B0604020202020204" pitchFamily="34" charset="0"/>
                <a:cs typeface="Arial" panose="020B0604020202020204" pitchFamily="34" charset="0"/>
              </a:rPr>
              <a:t>02</a:t>
            </a:r>
          </a:p>
        </p:txBody>
      </p:sp>
      <p:sp>
        <p:nvSpPr>
          <p:cNvPr id="8" name="Rounded Rectangle 7"/>
          <p:cNvSpPr/>
          <p:nvPr/>
        </p:nvSpPr>
        <p:spPr>
          <a:xfrm>
            <a:off x="653796" y="2270110"/>
            <a:ext cx="3456432" cy="182880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9" name="Rectangle 8"/>
          <p:cNvSpPr/>
          <p:nvPr/>
        </p:nvSpPr>
        <p:spPr>
          <a:xfrm>
            <a:off x="621792" y="2262916"/>
            <a:ext cx="64008" cy="1828800"/>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0" name="TextBox 9"/>
          <p:cNvSpPr txBox="1"/>
          <p:nvPr/>
        </p:nvSpPr>
        <p:spPr>
          <a:xfrm>
            <a:off x="825246" y="2381772"/>
            <a:ext cx="3145536" cy="326243"/>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400" dirty="0">
                <a:latin typeface="Arial" panose="020B0604020202020204" pitchFamily="34" charset="0"/>
                <a:cs typeface="Arial" panose="020B0604020202020204" pitchFamily="34" charset="0"/>
              </a:rPr>
              <a:t>IDENTIFY</a:t>
            </a:r>
          </a:p>
        </p:txBody>
      </p:sp>
      <p:sp>
        <p:nvSpPr>
          <p:cNvPr id="11" name="TextBox 10"/>
          <p:cNvSpPr txBox="1"/>
          <p:nvPr/>
        </p:nvSpPr>
        <p:spPr>
          <a:xfrm>
            <a:off x="825246" y="2813473"/>
            <a:ext cx="3145536" cy="541687"/>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Understand the uploaded material and visible defects.</a:t>
            </a:r>
          </a:p>
        </p:txBody>
      </p:sp>
      <p:sp>
        <p:nvSpPr>
          <p:cNvPr id="12" name="Rounded Rectangle 11"/>
          <p:cNvSpPr/>
          <p:nvPr/>
        </p:nvSpPr>
        <p:spPr>
          <a:xfrm>
            <a:off x="4434840" y="2250158"/>
            <a:ext cx="3456432" cy="182880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3" name="Rectangle 12"/>
          <p:cNvSpPr/>
          <p:nvPr/>
        </p:nvSpPr>
        <p:spPr>
          <a:xfrm>
            <a:off x="4318254" y="2222743"/>
            <a:ext cx="64008" cy="1828800"/>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4" name="TextBox 13"/>
          <p:cNvSpPr txBox="1"/>
          <p:nvPr/>
        </p:nvSpPr>
        <p:spPr>
          <a:xfrm>
            <a:off x="4646295" y="2388999"/>
            <a:ext cx="3145536" cy="326243"/>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400" dirty="0">
                <a:latin typeface="Arial" panose="020B0604020202020204" pitchFamily="34" charset="0"/>
                <a:cs typeface="Arial" panose="020B0604020202020204" pitchFamily="34" charset="0"/>
              </a:rPr>
              <a:t>ASSESS</a:t>
            </a:r>
            <a:endParaRPr sz="1600" dirty="0">
              <a:latin typeface="Arial" panose="020B0604020202020204" pitchFamily="34" charset="0"/>
              <a:cs typeface="Arial" panose="020B0604020202020204" pitchFamily="34" charset="0"/>
            </a:endParaRPr>
          </a:p>
        </p:txBody>
      </p:sp>
      <p:sp>
        <p:nvSpPr>
          <p:cNvPr id="15" name="TextBox 14"/>
          <p:cNvSpPr txBox="1"/>
          <p:nvPr/>
        </p:nvSpPr>
        <p:spPr>
          <a:xfrm>
            <a:off x="4590288" y="2816159"/>
            <a:ext cx="3145536" cy="757130"/>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Estimate sustainability-related indicators with documented assumptions.</a:t>
            </a:r>
          </a:p>
        </p:txBody>
      </p:sp>
      <p:sp>
        <p:nvSpPr>
          <p:cNvPr id="16" name="Rounded Rectangle 15"/>
          <p:cNvSpPr/>
          <p:nvPr/>
        </p:nvSpPr>
        <p:spPr>
          <a:xfrm>
            <a:off x="8081772" y="2257227"/>
            <a:ext cx="3456432" cy="182880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7" name="Rectangle 16"/>
          <p:cNvSpPr/>
          <p:nvPr/>
        </p:nvSpPr>
        <p:spPr>
          <a:xfrm>
            <a:off x="8014716" y="2207171"/>
            <a:ext cx="64008" cy="1828800"/>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8" name="TextBox 17"/>
          <p:cNvSpPr txBox="1"/>
          <p:nvPr/>
        </p:nvSpPr>
        <p:spPr>
          <a:xfrm>
            <a:off x="8275320" y="2379424"/>
            <a:ext cx="3145536" cy="326243"/>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400" dirty="0">
                <a:latin typeface="Arial" panose="020B0604020202020204" pitchFamily="34" charset="0"/>
                <a:cs typeface="Arial" panose="020B0604020202020204" pitchFamily="34" charset="0"/>
              </a:rPr>
              <a:t>CONNECT + PREDICT</a:t>
            </a:r>
          </a:p>
        </p:txBody>
      </p:sp>
      <p:sp>
        <p:nvSpPr>
          <p:cNvPr id="19" name="TextBox 18"/>
          <p:cNvSpPr txBox="1"/>
          <p:nvPr/>
        </p:nvSpPr>
        <p:spPr>
          <a:xfrm>
            <a:off x="8275320" y="2821661"/>
            <a:ext cx="3145536" cy="757130"/>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Support price decisions, buyer discovery and marketplace forecasting.</a:t>
            </a:r>
          </a:p>
        </p:txBody>
      </p:sp>
      <p:sp>
        <p:nvSpPr>
          <p:cNvPr id="20" name="Rounded Rectangle 19"/>
          <p:cNvSpPr/>
          <p:nvPr/>
        </p:nvSpPr>
        <p:spPr>
          <a:xfrm>
            <a:off x="859536" y="4635257"/>
            <a:ext cx="10424160" cy="1188721"/>
          </a:xfrm>
          <a:prstGeom prst="roundRect">
            <a:avLst/>
          </a:prstGeom>
          <a:solidFill>
            <a:srgbClr val="E6F4EC"/>
          </a:solidFill>
          <a:ln>
            <a:solidFill>
              <a:srgbClr val="E6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1" name="TextBox 20"/>
          <p:cNvSpPr txBox="1"/>
          <p:nvPr/>
        </p:nvSpPr>
        <p:spPr>
          <a:xfrm>
            <a:off x="1027037" y="4706121"/>
            <a:ext cx="1828800" cy="326243"/>
          </a:xfrm>
          <a:prstGeom prst="rect">
            <a:avLst/>
          </a:prstGeom>
          <a:noFill/>
        </p:spPr>
        <p:txBody>
          <a:bodyPr wrap="square" lIns="54864" tIns="54864" rIns="54864" bIns="54864" anchor="t">
            <a:spAutoFit/>
          </a:bodyPr>
          <a:lstStyle/>
          <a:p>
            <a:pPr algn="l">
              <a:spcAft>
                <a:spcPts val="300"/>
              </a:spcAft>
              <a:defRPr sz="1100" b="1">
                <a:solidFill>
                  <a:srgbClr val="238965"/>
                </a:solidFill>
                <a:latin typeface="Aptos"/>
              </a:defRPr>
            </a:pPr>
            <a:r>
              <a:rPr sz="1400" dirty="0">
                <a:latin typeface="Arial" panose="020B0604020202020204" pitchFamily="34" charset="0"/>
                <a:cs typeface="Arial" panose="020B0604020202020204" pitchFamily="34" charset="0"/>
              </a:rPr>
              <a:t>Core contribution</a:t>
            </a:r>
          </a:p>
        </p:txBody>
      </p:sp>
      <p:sp>
        <p:nvSpPr>
          <p:cNvPr id="22" name="TextBox 21"/>
          <p:cNvSpPr txBox="1"/>
          <p:nvPr/>
        </p:nvSpPr>
        <p:spPr>
          <a:xfrm>
            <a:off x="1116122" y="5026169"/>
            <a:ext cx="9784080" cy="541687"/>
          </a:xfrm>
          <a:prstGeom prst="rect">
            <a:avLst/>
          </a:prstGeom>
          <a:noFill/>
        </p:spPr>
        <p:txBody>
          <a:bodyPr wrap="square" lIns="54864" tIns="54864" rIns="54864" bIns="54864" anchor="t">
            <a:spAutoFit/>
          </a:bodyPr>
          <a:lstStyle/>
          <a:p>
            <a:pPr algn="l">
              <a:spcAft>
                <a:spcPts val="300"/>
              </a:spcAft>
              <a:defRPr sz="1400" b="1">
                <a:solidFill>
                  <a:srgbClr val="123730"/>
                </a:solidFill>
                <a:latin typeface="Aptos"/>
              </a:defRPr>
            </a:pPr>
            <a:r>
              <a:rPr sz="1400" dirty="0">
                <a:latin typeface="Arial" panose="020B0604020202020204" pitchFamily="34" charset="0"/>
                <a:cs typeface="Arial" panose="020B0604020202020204" pitchFamily="34" charset="0"/>
              </a:rPr>
              <a:t>A role-based digital marketplace where AI outputs help users make more informed decisions about textile-waste reuse and upcycling.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94360" y="487097"/>
            <a:ext cx="6131052" cy="541687"/>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800" dirty="0">
                <a:latin typeface="Arial" panose="020B0604020202020204" pitchFamily="34" charset="0"/>
                <a:cs typeface="Arial" panose="020B0604020202020204" pitchFamily="34" charset="0"/>
              </a:rPr>
              <a:t>03 INTRODUCTION</a:t>
            </a:r>
          </a:p>
        </p:txBody>
      </p:sp>
      <p:sp>
        <p:nvSpPr>
          <p:cNvPr id="3" name="TextBox 2"/>
          <p:cNvSpPr txBox="1"/>
          <p:nvPr/>
        </p:nvSpPr>
        <p:spPr>
          <a:xfrm>
            <a:off x="693420" y="1270528"/>
            <a:ext cx="10972800" cy="357021"/>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sz="1600" dirty="0">
                <a:latin typeface="Arial" panose="020B0604020202020204" pitchFamily="34" charset="0"/>
                <a:cs typeface="Arial" panose="020B0604020202020204" pitchFamily="34" charset="0"/>
              </a:rPr>
              <a:t>Why textile waste needs a smarter route to value</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49299"/>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sz="900">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64688"/>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sz="1000">
                <a:latin typeface="Arial" panose="020B0604020202020204" pitchFamily="34" charset="0"/>
                <a:cs typeface="Arial" panose="020B0604020202020204" pitchFamily="34" charset="0"/>
              </a:rPr>
              <a:t>04</a:t>
            </a:r>
          </a:p>
        </p:txBody>
      </p:sp>
      <p:sp>
        <p:nvSpPr>
          <p:cNvPr id="8" name="Rounded Rectangle 7"/>
          <p:cNvSpPr/>
          <p:nvPr/>
        </p:nvSpPr>
        <p:spPr>
          <a:xfrm>
            <a:off x="629412" y="2154746"/>
            <a:ext cx="3474720" cy="192024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9" name="Rectangle 8"/>
          <p:cNvSpPr/>
          <p:nvPr/>
        </p:nvSpPr>
        <p:spPr>
          <a:xfrm>
            <a:off x="629412" y="2132456"/>
            <a:ext cx="64008" cy="1920240"/>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0" name="TextBox 9"/>
          <p:cNvSpPr txBox="1"/>
          <p:nvPr/>
        </p:nvSpPr>
        <p:spPr>
          <a:xfrm>
            <a:off x="798576" y="2395728"/>
            <a:ext cx="3163824" cy="326243"/>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400">
                <a:latin typeface="Arial" panose="020B0604020202020204" pitchFamily="34" charset="0"/>
                <a:cs typeface="Arial" panose="020B0604020202020204" pitchFamily="34" charset="0"/>
              </a:rPr>
              <a:t>MATERIAL INFORMATION</a:t>
            </a:r>
          </a:p>
        </p:txBody>
      </p:sp>
      <p:sp>
        <p:nvSpPr>
          <p:cNvPr id="11" name="TextBox 10"/>
          <p:cNvSpPr txBox="1"/>
          <p:nvPr/>
        </p:nvSpPr>
        <p:spPr>
          <a:xfrm>
            <a:off x="859536" y="2827782"/>
            <a:ext cx="3163824" cy="480131"/>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200" dirty="0">
                <a:latin typeface="Arial" panose="020B0604020202020204" pitchFamily="34" charset="0"/>
                <a:cs typeface="Arial" panose="020B0604020202020204" pitchFamily="34" charset="0"/>
              </a:rPr>
              <a:t>Fabric type and condition may be unclear from a basic listing.</a:t>
            </a:r>
          </a:p>
        </p:txBody>
      </p:sp>
      <p:sp>
        <p:nvSpPr>
          <p:cNvPr id="12" name="Rounded Rectangle 11"/>
          <p:cNvSpPr/>
          <p:nvPr/>
        </p:nvSpPr>
        <p:spPr>
          <a:xfrm>
            <a:off x="4366260" y="2138552"/>
            <a:ext cx="3474720" cy="192024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Arial" panose="020B0604020202020204" pitchFamily="34" charset="0"/>
              <a:cs typeface="Arial" panose="020B0604020202020204" pitchFamily="34" charset="0"/>
            </a:endParaRPr>
          </a:p>
        </p:txBody>
      </p:sp>
      <p:sp>
        <p:nvSpPr>
          <p:cNvPr id="13" name="Rectangle 12"/>
          <p:cNvSpPr/>
          <p:nvPr/>
        </p:nvSpPr>
        <p:spPr>
          <a:xfrm>
            <a:off x="4302252" y="2132456"/>
            <a:ext cx="64008" cy="1920240"/>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4" name="TextBox 13"/>
          <p:cNvSpPr txBox="1"/>
          <p:nvPr/>
        </p:nvSpPr>
        <p:spPr>
          <a:xfrm>
            <a:off x="4628388" y="2395728"/>
            <a:ext cx="3163824" cy="326243"/>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400" dirty="0">
                <a:latin typeface="Arial" panose="020B0604020202020204" pitchFamily="34" charset="0"/>
                <a:cs typeface="Arial" panose="020B0604020202020204" pitchFamily="34" charset="0"/>
              </a:rPr>
              <a:t>VALUE UNCERTAINTY</a:t>
            </a:r>
          </a:p>
        </p:txBody>
      </p:sp>
      <p:sp>
        <p:nvSpPr>
          <p:cNvPr id="15" name="TextBox 14"/>
          <p:cNvSpPr txBox="1"/>
          <p:nvPr/>
        </p:nvSpPr>
        <p:spPr>
          <a:xfrm>
            <a:off x="4544568" y="2827782"/>
            <a:ext cx="3163824" cy="480131"/>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200" dirty="0">
                <a:latin typeface="Arial" panose="020B0604020202020204" pitchFamily="34" charset="0"/>
                <a:cs typeface="Arial" panose="020B0604020202020204" pitchFamily="34" charset="0"/>
              </a:rPr>
              <a:t>Sellers may need support estimating value and interpreting sustainability indicators.</a:t>
            </a:r>
          </a:p>
        </p:txBody>
      </p:sp>
      <p:sp>
        <p:nvSpPr>
          <p:cNvPr id="16" name="Rounded Rectangle 15"/>
          <p:cNvSpPr/>
          <p:nvPr/>
        </p:nvSpPr>
        <p:spPr>
          <a:xfrm>
            <a:off x="8054340" y="2146554"/>
            <a:ext cx="3474720" cy="192024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7" name="Rectangle 16"/>
          <p:cNvSpPr/>
          <p:nvPr/>
        </p:nvSpPr>
        <p:spPr>
          <a:xfrm>
            <a:off x="7991856" y="2132456"/>
            <a:ext cx="64008" cy="1920240"/>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8" name="TextBox 17"/>
          <p:cNvSpPr txBox="1"/>
          <p:nvPr/>
        </p:nvSpPr>
        <p:spPr>
          <a:xfrm>
            <a:off x="8311896" y="2395728"/>
            <a:ext cx="3163824" cy="326243"/>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400" dirty="0">
                <a:latin typeface="Arial" panose="020B0604020202020204" pitchFamily="34" charset="0"/>
                <a:cs typeface="Arial" panose="020B0604020202020204" pitchFamily="34" charset="0"/>
              </a:rPr>
              <a:t>FRAGMENTED DISCOVERY</a:t>
            </a:r>
          </a:p>
        </p:txBody>
      </p:sp>
      <p:sp>
        <p:nvSpPr>
          <p:cNvPr id="19" name="TextBox 18"/>
          <p:cNvSpPr txBox="1"/>
          <p:nvPr/>
        </p:nvSpPr>
        <p:spPr>
          <a:xfrm>
            <a:off x="8229600" y="2827782"/>
            <a:ext cx="3163824" cy="480131"/>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200" dirty="0">
                <a:latin typeface="Arial" panose="020B0604020202020204" pitchFamily="34" charset="0"/>
                <a:cs typeface="Arial" panose="020B0604020202020204" pitchFamily="34" charset="0"/>
              </a:rPr>
              <a:t>Relevant buyers and market signals can be difficult to connect consistently.</a:t>
            </a:r>
          </a:p>
        </p:txBody>
      </p:sp>
      <p:sp>
        <p:nvSpPr>
          <p:cNvPr id="20" name="TextBox 19"/>
          <p:cNvSpPr txBox="1"/>
          <p:nvPr/>
        </p:nvSpPr>
        <p:spPr>
          <a:xfrm>
            <a:off x="749808" y="4448366"/>
            <a:ext cx="10378440" cy="541687"/>
          </a:xfrm>
          <a:prstGeom prst="rect">
            <a:avLst/>
          </a:prstGeom>
          <a:noFill/>
        </p:spPr>
        <p:txBody>
          <a:bodyPr wrap="square" lIns="54864" tIns="54864" rIns="54864" bIns="54864" anchor="t">
            <a:spAutoFit/>
          </a:bodyPr>
          <a:lstStyle/>
          <a:p>
            <a:pPr algn="l">
              <a:spcAft>
                <a:spcPts val="300"/>
              </a:spcAft>
              <a:defRPr sz="1400" b="1">
                <a:solidFill>
                  <a:srgbClr val="123730"/>
                </a:solidFill>
                <a:latin typeface="Aptos"/>
              </a:defRPr>
            </a:pPr>
            <a:r>
              <a:rPr sz="1400" dirty="0">
                <a:latin typeface="Arial" panose="020B0604020202020204" pitchFamily="34" charset="0"/>
                <a:cs typeface="Arial" panose="020B0604020202020204" pitchFamily="34" charset="0"/>
              </a:rPr>
              <a:t>Research alignment: SDG 12 — Responsible Consumption and Production; SDG 8 — Decent Work and Economic Growth.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66927" y="307591"/>
            <a:ext cx="6810617" cy="541687"/>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800" dirty="0">
                <a:latin typeface="Arial" panose="020B0604020202020204" pitchFamily="34" charset="0"/>
                <a:cs typeface="Arial" panose="020B0604020202020204" pitchFamily="34" charset="0"/>
              </a:rPr>
              <a:t>04  RESEARCH PROBLEM &amp; GAP</a:t>
            </a:r>
          </a:p>
        </p:txBody>
      </p:sp>
      <p:sp>
        <p:nvSpPr>
          <p:cNvPr id="3" name="TextBox 2"/>
          <p:cNvSpPr txBox="1"/>
          <p:nvPr/>
        </p:nvSpPr>
        <p:spPr>
          <a:xfrm>
            <a:off x="548640" y="859375"/>
            <a:ext cx="10972800" cy="418576"/>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sz="2000" dirty="0">
                <a:latin typeface="Arial" panose="020B0604020202020204" pitchFamily="34" charset="0"/>
                <a:cs typeface="Arial" panose="020B0604020202020204" pitchFamily="34" charset="0"/>
              </a:rPr>
              <a:t>The challenge is a chain of connected decisions</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49299"/>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sz="900">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72382"/>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sz="1000">
                <a:latin typeface="Arial" panose="020B0604020202020204" pitchFamily="34" charset="0"/>
                <a:cs typeface="Arial" panose="020B0604020202020204" pitchFamily="34" charset="0"/>
              </a:rPr>
              <a:t>05</a:t>
            </a:r>
          </a:p>
        </p:txBody>
      </p:sp>
      <p:sp>
        <p:nvSpPr>
          <p:cNvPr id="8" name="Rounded Rectangle 7"/>
          <p:cNvSpPr/>
          <p:nvPr/>
        </p:nvSpPr>
        <p:spPr>
          <a:xfrm>
            <a:off x="685800" y="1572768"/>
            <a:ext cx="3474720" cy="1874519"/>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9" name="Rectangle 8"/>
          <p:cNvSpPr/>
          <p:nvPr/>
        </p:nvSpPr>
        <p:spPr>
          <a:xfrm>
            <a:off x="685800" y="1572768"/>
            <a:ext cx="64008" cy="1874519"/>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0" name="TextBox 9"/>
          <p:cNvSpPr txBox="1"/>
          <p:nvPr/>
        </p:nvSpPr>
        <p:spPr>
          <a:xfrm>
            <a:off x="1667256" y="1894453"/>
            <a:ext cx="3163824" cy="295466"/>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200" dirty="0">
                <a:latin typeface="Arial" panose="020B0604020202020204" pitchFamily="34" charset="0"/>
                <a:cs typeface="Arial" panose="020B0604020202020204" pitchFamily="34" charset="0"/>
              </a:rPr>
              <a:t>PROBLEM A</a:t>
            </a:r>
          </a:p>
        </p:txBody>
      </p:sp>
      <p:sp>
        <p:nvSpPr>
          <p:cNvPr id="11" name="TextBox 10"/>
          <p:cNvSpPr txBox="1"/>
          <p:nvPr/>
        </p:nvSpPr>
        <p:spPr>
          <a:xfrm>
            <a:off x="859536" y="2285350"/>
            <a:ext cx="3163824" cy="757130"/>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Material category and condition are not always represented in a structured way.</a:t>
            </a:r>
          </a:p>
        </p:txBody>
      </p:sp>
      <p:sp>
        <p:nvSpPr>
          <p:cNvPr id="12" name="Rounded Rectangle 11"/>
          <p:cNvSpPr/>
          <p:nvPr/>
        </p:nvSpPr>
        <p:spPr>
          <a:xfrm>
            <a:off x="4350258" y="1567671"/>
            <a:ext cx="3474720" cy="1874519"/>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3" name="Rectangle 12"/>
          <p:cNvSpPr/>
          <p:nvPr/>
        </p:nvSpPr>
        <p:spPr>
          <a:xfrm>
            <a:off x="4370832" y="1572768"/>
            <a:ext cx="64008" cy="1874519"/>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4" name="TextBox 13"/>
          <p:cNvSpPr txBox="1"/>
          <p:nvPr/>
        </p:nvSpPr>
        <p:spPr>
          <a:xfrm>
            <a:off x="5390388" y="1900656"/>
            <a:ext cx="3163824" cy="295466"/>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200" dirty="0">
                <a:latin typeface="Arial" panose="020B0604020202020204" pitchFamily="34" charset="0"/>
                <a:cs typeface="Arial" panose="020B0604020202020204" pitchFamily="34" charset="0"/>
              </a:rPr>
              <a:t>PROBLEM B</a:t>
            </a:r>
          </a:p>
        </p:txBody>
      </p:sp>
      <p:sp>
        <p:nvSpPr>
          <p:cNvPr id="15" name="TextBox 14"/>
          <p:cNvSpPr txBox="1"/>
          <p:nvPr/>
        </p:nvSpPr>
        <p:spPr>
          <a:xfrm>
            <a:off x="4681728" y="2285350"/>
            <a:ext cx="3075434" cy="757130"/>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Sustainability indicators and indicative </a:t>
            </a:r>
            <a:r>
              <a:rPr lang="en-US" sz="1400" dirty="0">
                <a:latin typeface="Arial" panose="020B0604020202020204" pitchFamily="34" charset="0"/>
                <a:cs typeface="Arial" panose="020B0604020202020204" pitchFamily="34" charset="0"/>
              </a:rPr>
              <a:t>values</a:t>
            </a:r>
            <a:r>
              <a:rPr sz="1400" dirty="0">
                <a:latin typeface="Arial" panose="020B0604020202020204" pitchFamily="34" charset="0"/>
                <a:cs typeface="Arial" panose="020B0604020202020204" pitchFamily="34" charset="0"/>
              </a:rPr>
              <a:t> need clear calculation and interpretation.</a:t>
            </a:r>
          </a:p>
        </p:txBody>
      </p:sp>
      <p:sp>
        <p:nvSpPr>
          <p:cNvPr id="16" name="Rounded Rectangle 15"/>
          <p:cNvSpPr/>
          <p:nvPr/>
        </p:nvSpPr>
        <p:spPr>
          <a:xfrm>
            <a:off x="8055864" y="1572768"/>
            <a:ext cx="3474720" cy="1874519"/>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7" name="Rectangle 16"/>
          <p:cNvSpPr/>
          <p:nvPr/>
        </p:nvSpPr>
        <p:spPr>
          <a:xfrm>
            <a:off x="8055864" y="1572768"/>
            <a:ext cx="64008" cy="1874519"/>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8" name="TextBox 17"/>
          <p:cNvSpPr txBox="1"/>
          <p:nvPr/>
        </p:nvSpPr>
        <p:spPr>
          <a:xfrm>
            <a:off x="9113520" y="1906859"/>
            <a:ext cx="3163824" cy="295466"/>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200" dirty="0">
                <a:latin typeface="Arial" panose="020B0604020202020204" pitchFamily="34" charset="0"/>
                <a:cs typeface="Arial" panose="020B0604020202020204" pitchFamily="34" charset="0"/>
              </a:rPr>
              <a:t>PROBLEM C</a:t>
            </a:r>
          </a:p>
        </p:txBody>
      </p:sp>
      <p:sp>
        <p:nvSpPr>
          <p:cNvPr id="19" name="TextBox 18"/>
          <p:cNvSpPr txBox="1"/>
          <p:nvPr/>
        </p:nvSpPr>
        <p:spPr>
          <a:xfrm>
            <a:off x="8275320" y="2239128"/>
            <a:ext cx="3163824" cy="757130"/>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Buyer matching and marketplace predictions need to be connected to listing information.</a:t>
            </a:r>
          </a:p>
        </p:txBody>
      </p:sp>
      <p:sp>
        <p:nvSpPr>
          <p:cNvPr id="20" name="Rounded Rectangle 19"/>
          <p:cNvSpPr/>
          <p:nvPr/>
        </p:nvSpPr>
        <p:spPr>
          <a:xfrm>
            <a:off x="859536" y="4073168"/>
            <a:ext cx="10424160" cy="914400"/>
          </a:xfrm>
          <a:prstGeom prst="roundRect">
            <a:avLst/>
          </a:prstGeom>
          <a:solidFill>
            <a:srgbClr val="EAF2F9"/>
          </a:solidFill>
          <a:ln>
            <a:solidFill>
              <a:srgbClr val="EA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1" name="TextBox 20"/>
          <p:cNvSpPr txBox="1"/>
          <p:nvPr/>
        </p:nvSpPr>
        <p:spPr>
          <a:xfrm>
            <a:off x="1051560" y="4142232"/>
            <a:ext cx="1828800" cy="326243"/>
          </a:xfrm>
          <a:prstGeom prst="rect">
            <a:avLst/>
          </a:prstGeom>
          <a:noFill/>
        </p:spPr>
        <p:txBody>
          <a:bodyPr wrap="square" lIns="54864" tIns="54864" rIns="54864" bIns="54864" anchor="t">
            <a:spAutoFit/>
          </a:bodyPr>
          <a:lstStyle/>
          <a:p>
            <a:pPr algn="l">
              <a:spcAft>
                <a:spcPts val="300"/>
              </a:spcAft>
              <a:defRPr sz="1100" b="1">
                <a:solidFill>
                  <a:srgbClr val="3C6F99"/>
                </a:solidFill>
                <a:latin typeface="Aptos"/>
              </a:defRPr>
            </a:pPr>
            <a:r>
              <a:rPr sz="1400" dirty="0">
                <a:latin typeface="Arial" panose="020B0604020202020204" pitchFamily="34" charset="0"/>
                <a:cs typeface="Arial" panose="020B0604020202020204" pitchFamily="34" charset="0"/>
              </a:rPr>
              <a:t>Research question</a:t>
            </a:r>
          </a:p>
        </p:txBody>
      </p:sp>
      <p:sp>
        <p:nvSpPr>
          <p:cNvPr id="22" name="TextBox 21"/>
          <p:cNvSpPr txBox="1"/>
          <p:nvPr/>
        </p:nvSpPr>
        <p:spPr>
          <a:xfrm>
            <a:off x="1051560" y="4425696"/>
            <a:ext cx="9784080" cy="541687"/>
          </a:xfrm>
          <a:prstGeom prst="rect">
            <a:avLst/>
          </a:prstGeom>
          <a:noFill/>
        </p:spPr>
        <p:txBody>
          <a:bodyPr wrap="square" lIns="54864" tIns="54864" rIns="54864" bIns="54864" anchor="t">
            <a:spAutoFit/>
          </a:bodyPr>
          <a:lstStyle/>
          <a:p>
            <a:pPr algn="l">
              <a:spcAft>
                <a:spcPts val="300"/>
              </a:spcAft>
              <a:defRPr sz="1400" b="1">
                <a:solidFill>
                  <a:srgbClr val="123730"/>
                </a:solidFill>
                <a:latin typeface="Aptos"/>
              </a:defRPr>
            </a:pPr>
            <a:r>
              <a:rPr sz="1400" dirty="0">
                <a:latin typeface="Arial" panose="020B0604020202020204" pitchFamily="34" charset="0"/>
                <a:cs typeface="Arial" panose="020B0604020202020204" pitchFamily="34" charset="0"/>
              </a:rPr>
              <a:t>How can AI-assisted textile assessment and marketplace intelligence support informed reuse, upcycling and trading decisions?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685800" y="347067"/>
            <a:ext cx="5486400" cy="541687"/>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800" dirty="0">
                <a:latin typeface="Arial" panose="020B0604020202020204" pitchFamily="34" charset="0"/>
                <a:cs typeface="Arial" panose="020B0604020202020204" pitchFamily="34" charset="0"/>
              </a:rPr>
              <a:t>05  OBJECTIVES</a:t>
            </a:r>
          </a:p>
        </p:txBody>
      </p:sp>
      <p:sp>
        <p:nvSpPr>
          <p:cNvPr id="3" name="TextBox 2"/>
          <p:cNvSpPr txBox="1"/>
          <p:nvPr/>
        </p:nvSpPr>
        <p:spPr>
          <a:xfrm>
            <a:off x="640080" y="920050"/>
            <a:ext cx="10972800" cy="357021"/>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sz="1600" dirty="0">
                <a:latin typeface="Arial" panose="020B0604020202020204" pitchFamily="34" charset="0"/>
                <a:cs typeface="Arial" panose="020B0604020202020204" pitchFamily="34" charset="0"/>
              </a:rPr>
              <a:t>One main objective </a:t>
            </a:r>
            <a:r>
              <a:rPr lang="en-US" sz="1600" dirty="0">
                <a:latin typeface="Arial" panose="020B0604020202020204" pitchFamily="34" charset="0"/>
                <a:cs typeface="Arial" panose="020B0604020202020204" pitchFamily="34" charset="0"/>
              </a:rPr>
              <a:t>is </a:t>
            </a:r>
            <a:r>
              <a:rPr sz="1600" dirty="0">
                <a:latin typeface="Arial" panose="020B0604020202020204" pitchFamily="34" charset="0"/>
                <a:cs typeface="Arial" panose="020B0604020202020204" pitchFamily="34" charset="0"/>
              </a:rPr>
              <a:t>supported by four component objectives</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49299"/>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sz="900">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64688"/>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sz="1000">
                <a:latin typeface="Arial" panose="020B0604020202020204" pitchFamily="34" charset="0"/>
                <a:cs typeface="Arial" panose="020B0604020202020204" pitchFamily="34" charset="0"/>
              </a:rPr>
              <a:t>06</a:t>
            </a:r>
          </a:p>
        </p:txBody>
      </p:sp>
      <p:sp>
        <p:nvSpPr>
          <p:cNvPr id="8" name="Rounded Rectangle 7"/>
          <p:cNvSpPr/>
          <p:nvPr/>
        </p:nvSpPr>
        <p:spPr>
          <a:xfrm>
            <a:off x="749808" y="1481328"/>
            <a:ext cx="10607040" cy="1036618"/>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9" name="Rectangle 8"/>
          <p:cNvSpPr/>
          <p:nvPr/>
        </p:nvSpPr>
        <p:spPr>
          <a:xfrm>
            <a:off x="749808" y="1481328"/>
            <a:ext cx="64008" cy="914400"/>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0" name="TextBox 9"/>
          <p:cNvSpPr txBox="1"/>
          <p:nvPr/>
        </p:nvSpPr>
        <p:spPr>
          <a:xfrm>
            <a:off x="923544" y="1581912"/>
            <a:ext cx="10296144" cy="357021"/>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600" dirty="0">
                <a:latin typeface="Arial" panose="020B0604020202020204" pitchFamily="34" charset="0"/>
                <a:cs typeface="Arial" panose="020B0604020202020204" pitchFamily="34" charset="0"/>
              </a:rPr>
              <a:t>MAIN OBJECTIVE</a:t>
            </a:r>
          </a:p>
        </p:txBody>
      </p:sp>
      <p:sp>
        <p:nvSpPr>
          <p:cNvPr id="11" name="TextBox 10"/>
          <p:cNvSpPr txBox="1"/>
          <p:nvPr/>
        </p:nvSpPr>
        <p:spPr>
          <a:xfrm>
            <a:off x="923544" y="1938528"/>
            <a:ext cx="10296144" cy="541687"/>
          </a:xfrm>
          <a:prstGeom prst="rect">
            <a:avLst/>
          </a:prstGeom>
          <a:noFill/>
        </p:spPr>
        <p:txBody>
          <a:bodyPr wrap="square" lIns="54864" tIns="54864" rIns="54864" bIns="54864" anchor="t">
            <a:spAutoFit/>
          </a:bodyPr>
          <a:lstStyle/>
          <a:p>
            <a:pPr algn="l">
              <a:spcAft>
                <a:spcPts val="300"/>
              </a:spcAft>
              <a:defRPr sz="1100" b="0">
                <a:solidFill>
                  <a:srgbClr val="1C2824"/>
                </a:solidFill>
                <a:latin typeface="Aptos"/>
              </a:defRPr>
            </a:pPr>
            <a:r>
              <a:rPr sz="1400" dirty="0">
                <a:latin typeface="Arial" panose="020B0604020202020204" pitchFamily="34" charset="0"/>
                <a:cs typeface="Arial" panose="020B0604020202020204" pitchFamily="34" charset="0"/>
              </a:rPr>
              <a:t>Develop an AI-powered digital marketplace that helps users assess textile materials and make more informed sustainability and commercial decisions.</a:t>
            </a:r>
          </a:p>
        </p:txBody>
      </p:sp>
      <p:sp>
        <p:nvSpPr>
          <p:cNvPr id="12" name="Rounded Rectangle 11"/>
          <p:cNvSpPr/>
          <p:nvPr/>
        </p:nvSpPr>
        <p:spPr>
          <a:xfrm>
            <a:off x="685800" y="2743200"/>
            <a:ext cx="5257800" cy="1060704"/>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3" name="Rectangle 12"/>
          <p:cNvSpPr/>
          <p:nvPr/>
        </p:nvSpPr>
        <p:spPr>
          <a:xfrm>
            <a:off x="685800" y="2743200"/>
            <a:ext cx="64008" cy="1060704"/>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4" name="TextBox 13"/>
          <p:cNvSpPr txBox="1"/>
          <p:nvPr/>
        </p:nvSpPr>
        <p:spPr>
          <a:xfrm>
            <a:off x="859536" y="2843784"/>
            <a:ext cx="494690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01  Identify material characteristics</a:t>
            </a:r>
          </a:p>
        </p:txBody>
      </p:sp>
      <p:sp>
        <p:nvSpPr>
          <p:cNvPr id="15" name="TextBox 14"/>
          <p:cNvSpPr txBox="1"/>
          <p:nvPr/>
        </p:nvSpPr>
        <p:spPr>
          <a:xfrm>
            <a:off x="859536" y="3200400"/>
            <a:ext cx="4946904" cy="326243"/>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Fabric classification and defect/condition assessment</a:t>
            </a:r>
          </a:p>
        </p:txBody>
      </p:sp>
      <p:sp>
        <p:nvSpPr>
          <p:cNvPr id="16" name="Rounded Rectangle 15"/>
          <p:cNvSpPr/>
          <p:nvPr/>
        </p:nvSpPr>
        <p:spPr>
          <a:xfrm>
            <a:off x="6263640" y="2743200"/>
            <a:ext cx="5257800" cy="1060704"/>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7" name="Rectangle 16"/>
          <p:cNvSpPr/>
          <p:nvPr/>
        </p:nvSpPr>
        <p:spPr>
          <a:xfrm>
            <a:off x="6263640" y="2743200"/>
            <a:ext cx="64008" cy="1060704"/>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8" name="TextBox 17"/>
          <p:cNvSpPr txBox="1"/>
          <p:nvPr/>
        </p:nvSpPr>
        <p:spPr>
          <a:xfrm>
            <a:off x="6437376" y="2843784"/>
            <a:ext cx="494690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02  Estimate sustainability indicators</a:t>
            </a:r>
          </a:p>
        </p:txBody>
      </p:sp>
      <p:sp>
        <p:nvSpPr>
          <p:cNvPr id="19" name="TextBox 18"/>
          <p:cNvSpPr txBox="1"/>
          <p:nvPr/>
        </p:nvSpPr>
        <p:spPr>
          <a:xfrm>
            <a:off x="6437376" y="3200400"/>
            <a:ext cx="4946904" cy="541687"/>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Scores, grades and environmental estimates with explicit assumptions</a:t>
            </a:r>
          </a:p>
        </p:txBody>
      </p:sp>
      <p:sp>
        <p:nvSpPr>
          <p:cNvPr id="20" name="Rounded Rectangle 19"/>
          <p:cNvSpPr/>
          <p:nvPr/>
        </p:nvSpPr>
        <p:spPr>
          <a:xfrm>
            <a:off x="685800" y="4069080"/>
            <a:ext cx="5257800" cy="1060704"/>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1" name="Rectangle 20"/>
          <p:cNvSpPr/>
          <p:nvPr/>
        </p:nvSpPr>
        <p:spPr>
          <a:xfrm>
            <a:off x="685800" y="4069080"/>
            <a:ext cx="64008" cy="1060704"/>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2" name="TextBox 21"/>
          <p:cNvSpPr txBox="1"/>
          <p:nvPr/>
        </p:nvSpPr>
        <p:spPr>
          <a:xfrm>
            <a:off x="859536" y="4169664"/>
            <a:ext cx="494690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03  Support commercial decisions</a:t>
            </a:r>
          </a:p>
        </p:txBody>
      </p:sp>
      <p:sp>
        <p:nvSpPr>
          <p:cNvPr id="23" name="TextBox 22"/>
          <p:cNvSpPr txBox="1"/>
          <p:nvPr/>
        </p:nvSpPr>
        <p:spPr>
          <a:xfrm>
            <a:off x="859536" y="4526280"/>
            <a:ext cx="4946904" cy="326243"/>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Indicative pricing, buyer recommendation and traceability</a:t>
            </a:r>
          </a:p>
        </p:txBody>
      </p:sp>
      <p:sp>
        <p:nvSpPr>
          <p:cNvPr id="24" name="Rounded Rectangle 23"/>
          <p:cNvSpPr/>
          <p:nvPr/>
        </p:nvSpPr>
        <p:spPr>
          <a:xfrm>
            <a:off x="6263640" y="4069080"/>
            <a:ext cx="5257800" cy="1060704"/>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5" name="Rectangle 24"/>
          <p:cNvSpPr/>
          <p:nvPr/>
        </p:nvSpPr>
        <p:spPr>
          <a:xfrm>
            <a:off x="6263640" y="4069080"/>
            <a:ext cx="64008" cy="1060704"/>
          </a:xfrm>
          <a:prstGeom prst="rect">
            <a:avLst/>
          </a:prstGeom>
          <a:solidFill>
            <a:srgbClr val="775E9D"/>
          </a:solidFill>
          <a:ln>
            <a:solidFill>
              <a:srgbClr val="775E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6" name="TextBox 25"/>
          <p:cNvSpPr txBox="1"/>
          <p:nvPr/>
        </p:nvSpPr>
        <p:spPr>
          <a:xfrm>
            <a:off x="6437376" y="4169664"/>
            <a:ext cx="494690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04  Predict marketplace patterns</a:t>
            </a:r>
          </a:p>
        </p:txBody>
      </p:sp>
      <p:sp>
        <p:nvSpPr>
          <p:cNvPr id="27" name="TextBox 26"/>
          <p:cNvSpPr txBox="1"/>
          <p:nvPr/>
        </p:nvSpPr>
        <p:spPr>
          <a:xfrm>
            <a:off x="6437376" y="4526280"/>
            <a:ext cx="4946904" cy="541687"/>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Listing success, sales time, market trend</a:t>
            </a:r>
            <a:r>
              <a:rPr lang="en-US" sz="1400" dirty="0">
                <a:latin typeface="Arial" panose="020B0604020202020204" pitchFamily="34" charset="0"/>
                <a:cs typeface="Arial" panose="020B0604020202020204" pitchFamily="34" charset="0"/>
              </a:rPr>
              <a:t>,</a:t>
            </a:r>
            <a:r>
              <a:rPr sz="1400" dirty="0">
                <a:latin typeface="Arial" panose="020B0604020202020204" pitchFamily="34" charset="0"/>
                <a:cs typeface="Arial" panose="020B0604020202020204" pitchFamily="34" charset="0"/>
              </a:rPr>
              <a:t> and demand </a:t>
            </a:r>
            <a:r>
              <a:rPr lang="en-US" sz="1400" dirty="0">
                <a:latin typeface="Arial" panose="020B0604020202020204" pitchFamily="34" charset="0"/>
                <a:cs typeface="Arial" panose="020B0604020202020204" pitchFamily="34" charset="0"/>
              </a:rPr>
              <a:t>were</a:t>
            </a:r>
            <a:r>
              <a:rPr sz="1400" dirty="0">
                <a:latin typeface="Arial" panose="020B0604020202020204" pitchFamily="34" charset="0"/>
                <a:cs typeface="Arial" panose="020B0604020202020204" pitchFamily="34" charset="0"/>
              </a:rPr>
              <a:t> implemented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66928" y="201168"/>
            <a:ext cx="6540454" cy="541687"/>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800" dirty="0">
                <a:latin typeface="Arial" panose="020B0604020202020204" pitchFamily="34" charset="0"/>
                <a:cs typeface="Arial" panose="020B0604020202020204" pitchFamily="34" charset="0"/>
              </a:rPr>
              <a:t>06  FULL SYSTEM ARCHITECTURE</a:t>
            </a:r>
          </a:p>
        </p:txBody>
      </p:sp>
      <p:sp>
        <p:nvSpPr>
          <p:cNvPr id="3" name="TextBox 2"/>
          <p:cNvSpPr txBox="1"/>
          <p:nvPr/>
        </p:nvSpPr>
        <p:spPr>
          <a:xfrm>
            <a:off x="594360" y="743605"/>
            <a:ext cx="10972800" cy="357021"/>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sz="1600" dirty="0">
                <a:latin typeface="Arial" panose="020B0604020202020204" pitchFamily="34" charset="0"/>
                <a:cs typeface="Arial" panose="020B0604020202020204" pitchFamily="34" charset="0"/>
              </a:rPr>
              <a:t>How the website, backend, AI services</a:t>
            </a:r>
            <a:r>
              <a:rPr lang="en-US" sz="1600" dirty="0">
                <a:latin typeface="Arial" panose="020B0604020202020204" pitchFamily="34" charset="0"/>
                <a:cs typeface="Arial" panose="020B0604020202020204" pitchFamily="34" charset="0"/>
              </a:rPr>
              <a:t>,</a:t>
            </a:r>
            <a:r>
              <a:rPr sz="1600" dirty="0">
                <a:latin typeface="Arial" panose="020B0604020202020204" pitchFamily="34" charset="0"/>
                <a:cs typeface="Arial" panose="020B0604020202020204" pitchFamily="34" charset="0"/>
              </a:rPr>
              <a:t> and data work together</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49299"/>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sz="900">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64688"/>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sz="1000">
                <a:latin typeface="Arial" panose="020B0604020202020204" pitchFamily="34" charset="0"/>
                <a:cs typeface="Arial" panose="020B0604020202020204" pitchFamily="34" charset="0"/>
              </a:rPr>
              <a:t>07</a:t>
            </a:r>
          </a:p>
        </p:txBody>
      </p:sp>
      <p:pic>
        <p:nvPicPr>
          <p:cNvPr id="23" name="Picture 22" descr="A diagram of a system&#10;&#10;Description automatically generated">
            <a:extLst>
              <a:ext uri="{FF2B5EF4-FFF2-40B4-BE49-F238E27FC236}">
                <a16:creationId xmlns:a16="http://schemas.microsoft.com/office/drawing/2014/main" id="{296AAFDE-AA40-01A2-0097-C95EE1DB2357}"/>
              </a:ext>
            </a:extLst>
          </p:cNvPr>
          <p:cNvPicPr>
            <a:picLocks noChangeAspect="1"/>
          </p:cNvPicPr>
          <p:nvPr/>
        </p:nvPicPr>
        <p:blipFill>
          <a:blip r:embed="rId3"/>
          <a:stretch>
            <a:fillRect/>
          </a:stretch>
        </p:blipFill>
        <p:spPr>
          <a:xfrm>
            <a:off x="1834674" y="1231490"/>
            <a:ext cx="8299655" cy="508081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66927" y="201168"/>
            <a:ext cx="9782418" cy="603242"/>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3200" dirty="0">
                <a:latin typeface="Arial" panose="020B0604020202020204" pitchFamily="34" charset="0"/>
                <a:cs typeface="Arial" panose="020B0604020202020204" pitchFamily="34" charset="0"/>
              </a:rPr>
              <a:t>07 USER ROLES &amp; MARKETPLACE WORKFLOW</a:t>
            </a:r>
          </a:p>
        </p:txBody>
      </p:sp>
      <p:sp>
        <p:nvSpPr>
          <p:cNvPr id="3" name="TextBox 2"/>
          <p:cNvSpPr txBox="1"/>
          <p:nvPr/>
        </p:nvSpPr>
        <p:spPr>
          <a:xfrm>
            <a:off x="566928" y="1018247"/>
            <a:ext cx="10972800" cy="480131"/>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dirty="0">
                <a:latin typeface="Arial" panose="020B0604020202020204" pitchFamily="34" charset="0"/>
                <a:cs typeface="Arial" panose="020B0604020202020204" pitchFamily="34" charset="0"/>
              </a:rPr>
              <a:t>The same platform serves different users</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64688"/>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sz="1000">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72382"/>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sz="1050">
                <a:latin typeface="Arial" panose="020B0604020202020204" pitchFamily="34" charset="0"/>
                <a:cs typeface="Arial" panose="020B0604020202020204" pitchFamily="34" charset="0"/>
              </a:rPr>
              <a:t>08</a:t>
            </a:r>
          </a:p>
        </p:txBody>
      </p:sp>
      <p:sp>
        <p:nvSpPr>
          <p:cNvPr id="8" name="Rounded Rectangle 7"/>
          <p:cNvSpPr/>
          <p:nvPr/>
        </p:nvSpPr>
        <p:spPr>
          <a:xfrm>
            <a:off x="640080" y="1481328"/>
            <a:ext cx="2697480" cy="1874519"/>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9" name="Rectangle 8"/>
          <p:cNvSpPr/>
          <p:nvPr/>
        </p:nvSpPr>
        <p:spPr>
          <a:xfrm>
            <a:off x="640080" y="1481328"/>
            <a:ext cx="64008" cy="1874519"/>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10" name="TextBox 9"/>
          <p:cNvSpPr txBox="1"/>
          <p:nvPr/>
        </p:nvSpPr>
        <p:spPr>
          <a:xfrm>
            <a:off x="813815" y="1581912"/>
            <a:ext cx="2386584" cy="295466"/>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dirty="0">
                <a:latin typeface="Arial" panose="020B0604020202020204" pitchFamily="34" charset="0"/>
                <a:cs typeface="Arial" panose="020B0604020202020204" pitchFamily="34" charset="0"/>
              </a:rPr>
              <a:t>SELLER</a:t>
            </a:r>
          </a:p>
        </p:txBody>
      </p:sp>
      <p:sp>
        <p:nvSpPr>
          <p:cNvPr id="11" name="TextBox 10"/>
          <p:cNvSpPr txBox="1"/>
          <p:nvPr/>
        </p:nvSpPr>
        <p:spPr>
          <a:xfrm>
            <a:off x="1051560" y="2007682"/>
            <a:ext cx="2386584" cy="1211101"/>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600" dirty="0">
                <a:latin typeface="Arial" panose="020B0604020202020204" pitchFamily="34" charset="0"/>
                <a:cs typeface="Arial" panose="020B0604020202020204" pitchFamily="34" charset="0"/>
              </a:rPr>
              <a:t>Upload material</a:t>
            </a:r>
          </a:p>
          <a:p>
            <a:pPr algn="l">
              <a:spcAft>
                <a:spcPts val="300"/>
              </a:spcAft>
              <a:defRPr sz="1000" b="0">
                <a:solidFill>
                  <a:srgbClr val="1C2824"/>
                </a:solidFill>
                <a:latin typeface="Aptos"/>
              </a:defRPr>
            </a:pPr>
            <a:r>
              <a:rPr sz="1600" dirty="0">
                <a:latin typeface="Arial" panose="020B0604020202020204" pitchFamily="34" charset="0"/>
                <a:cs typeface="Arial" panose="020B0604020202020204" pitchFamily="34" charset="0"/>
              </a:rPr>
              <a:t>Analyses and list</a:t>
            </a:r>
          </a:p>
          <a:p>
            <a:pPr algn="l">
              <a:spcAft>
                <a:spcPts val="300"/>
              </a:spcAft>
              <a:defRPr sz="1000" b="0">
                <a:solidFill>
                  <a:srgbClr val="1C2824"/>
                </a:solidFill>
                <a:latin typeface="Aptos"/>
              </a:defRPr>
            </a:pPr>
            <a:r>
              <a:rPr sz="1600" dirty="0">
                <a:latin typeface="Arial" panose="020B0604020202020204" pitchFamily="34" charset="0"/>
                <a:cs typeface="Arial" panose="020B0604020202020204" pitchFamily="34" charset="0"/>
              </a:rPr>
              <a:t>View predictions</a:t>
            </a:r>
          </a:p>
          <a:p>
            <a:pPr algn="l">
              <a:spcAft>
                <a:spcPts val="300"/>
              </a:spcAft>
              <a:defRPr sz="1000" b="0">
                <a:solidFill>
                  <a:srgbClr val="1C2824"/>
                </a:solidFill>
                <a:latin typeface="Aptos"/>
              </a:defRPr>
            </a:pPr>
            <a:r>
              <a:rPr sz="1600" dirty="0">
                <a:latin typeface="Arial" panose="020B0604020202020204" pitchFamily="34" charset="0"/>
                <a:cs typeface="Arial" panose="020B0604020202020204" pitchFamily="34" charset="0"/>
              </a:rPr>
              <a:t>Manage sales</a:t>
            </a:r>
          </a:p>
        </p:txBody>
      </p:sp>
      <p:sp>
        <p:nvSpPr>
          <p:cNvPr id="12" name="Rounded Rectangle 11"/>
          <p:cNvSpPr/>
          <p:nvPr/>
        </p:nvSpPr>
        <p:spPr>
          <a:xfrm>
            <a:off x="3456432" y="1481328"/>
            <a:ext cx="2697480" cy="1874519"/>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13" name="Rectangle 12"/>
          <p:cNvSpPr/>
          <p:nvPr/>
        </p:nvSpPr>
        <p:spPr>
          <a:xfrm>
            <a:off x="3456432" y="1481328"/>
            <a:ext cx="64008" cy="1874519"/>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14" name="TextBox 13"/>
          <p:cNvSpPr txBox="1"/>
          <p:nvPr/>
        </p:nvSpPr>
        <p:spPr>
          <a:xfrm>
            <a:off x="3630168" y="1581912"/>
            <a:ext cx="2386584" cy="295466"/>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dirty="0">
                <a:latin typeface="Arial" panose="020B0604020202020204" pitchFamily="34" charset="0"/>
                <a:cs typeface="Arial" panose="020B0604020202020204" pitchFamily="34" charset="0"/>
              </a:rPr>
              <a:t>BUYER</a:t>
            </a:r>
          </a:p>
        </p:txBody>
      </p:sp>
      <p:sp>
        <p:nvSpPr>
          <p:cNvPr id="15" name="TextBox 14"/>
          <p:cNvSpPr txBox="1"/>
          <p:nvPr/>
        </p:nvSpPr>
        <p:spPr>
          <a:xfrm>
            <a:off x="4000500" y="2007682"/>
            <a:ext cx="2386584" cy="1211101"/>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600" dirty="0">
                <a:latin typeface="Arial" panose="020B0604020202020204" pitchFamily="34" charset="0"/>
                <a:cs typeface="Arial" panose="020B0604020202020204" pitchFamily="34" charset="0"/>
              </a:rPr>
              <a:t>Browse materials</a:t>
            </a:r>
          </a:p>
          <a:p>
            <a:pPr algn="l">
              <a:spcAft>
                <a:spcPts val="300"/>
              </a:spcAft>
              <a:defRPr sz="1000" b="0">
                <a:solidFill>
                  <a:srgbClr val="1C2824"/>
                </a:solidFill>
                <a:latin typeface="Aptos"/>
              </a:defRPr>
            </a:pPr>
            <a:r>
              <a:rPr sz="1600" dirty="0">
                <a:latin typeface="Arial" panose="020B0604020202020204" pitchFamily="34" charset="0"/>
                <a:cs typeface="Arial" panose="020B0604020202020204" pitchFamily="34" charset="0"/>
              </a:rPr>
              <a:t>Choose quantity</a:t>
            </a:r>
          </a:p>
          <a:p>
            <a:pPr algn="l">
              <a:spcAft>
                <a:spcPts val="300"/>
              </a:spcAft>
              <a:defRPr sz="1000" b="0">
                <a:solidFill>
                  <a:srgbClr val="1C2824"/>
                </a:solidFill>
                <a:latin typeface="Aptos"/>
              </a:defRPr>
            </a:pPr>
            <a:r>
              <a:rPr sz="1600" dirty="0">
                <a:latin typeface="Arial" panose="020B0604020202020204" pitchFamily="34" charset="0"/>
                <a:cs typeface="Arial" panose="020B0604020202020204" pitchFamily="34" charset="0"/>
              </a:rPr>
              <a:t>Place orders</a:t>
            </a:r>
          </a:p>
          <a:p>
            <a:pPr algn="l">
              <a:spcAft>
                <a:spcPts val="300"/>
              </a:spcAft>
              <a:defRPr sz="1000" b="0">
                <a:solidFill>
                  <a:srgbClr val="1C2824"/>
                </a:solidFill>
                <a:latin typeface="Aptos"/>
              </a:defRPr>
            </a:pPr>
            <a:r>
              <a:rPr sz="1600" dirty="0">
                <a:latin typeface="Arial" panose="020B0604020202020204" pitchFamily="34" charset="0"/>
                <a:cs typeface="Arial" panose="020B0604020202020204" pitchFamily="34" charset="0"/>
              </a:rPr>
              <a:t>Track and review</a:t>
            </a:r>
          </a:p>
        </p:txBody>
      </p:sp>
      <p:sp>
        <p:nvSpPr>
          <p:cNvPr id="16" name="Rounded Rectangle 15"/>
          <p:cNvSpPr/>
          <p:nvPr/>
        </p:nvSpPr>
        <p:spPr>
          <a:xfrm>
            <a:off x="6272784" y="1481328"/>
            <a:ext cx="2697480" cy="1874519"/>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17" name="Rectangle 16"/>
          <p:cNvSpPr/>
          <p:nvPr/>
        </p:nvSpPr>
        <p:spPr>
          <a:xfrm>
            <a:off x="6272784" y="1481328"/>
            <a:ext cx="64008" cy="1874519"/>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18" name="TextBox 17"/>
          <p:cNvSpPr txBox="1"/>
          <p:nvPr/>
        </p:nvSpPr>
        <p:spPr>
          <a:xfrm>
            <a:off x="6446520" y="1581912"/>
            <a:ext cx="2386584" cy="295466"/>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dirty="0">
                <a:latin typeface="Arial" panose="020B0604020202020204" pitchFamily="34" charset="0"/>
                <a:cs typeface="Arial" panose="020B0604020202020204" pitchFamily="34" charset="0"/>
              </a:rPr>
              <a:t>ADMIN</a:t>
            </a:r>
          </a:p>
        </p:txBody>
      </p:sp>
      <p:sp>
        <p:nvSpPr>
          <p:cNvPr id="19" name="TextBox 18"/>
          <p:cNvSpPr txBox="1"/>
          <p:nvPr/>
        </p:nvSpPr>
        <p:spPr>
          <a:xfrm>
            <a:off x="6647688" y="2020952"/>
            <a:ext cx="2386584" cy="1172629"/>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600" dirty="0">
                <a:latin typeface="Arial" panose="020B0604020202020204" pitchFamily="34" charset="0"/>
                <a:cs typeface="Arial" panose="020B0604020202020204" pitchFamily="34" charset="0"/>
              </a:rPr>
              <a:t>Manage platform activity</a:t>
            </a:r>
          </a:p>
          <a:p>
            <a:pPr algn="l">
              <a:spcAft>
                <a:spcPts val="300"/>
              </a:spcAft>
              <a:defRPr sz="1000" b="0">
                <a:solidFill>
                  <a:srgbClr val="1C2824"/>
                </a:solidFill>
                <a:latin typeface="Aptos"/>
              </a:defRPr>
            </a:pPr>
            <a:r>
              <a:rPr sz="1600" dirty="0">
                <a:latin typeface="Arial" panose="020B0604020202020204" pitchFamily="34" charset="0"/>
                <a:cs typeface="Arial" panose="020B0604020202020204" pitchFamily="34" charset="0"/>
              </a:rPr>
              <a:t>Review users/listings</a:t>
            </a:r>
          </a:p>
          <a:p>
            <a:pPr algn="l">
              <a:spcAft>
                <a:spcPts val="300"/>
              </a:spcAft>
              <a:defRPr sz="1000" b="0">
                <a:solidFill>
                  <a:srgbClr val="1C2824"/>
                </a:solidFill>
                <a:latin typeface="Aptos"/>
              </a:defRPr>
            </a:pPr>
            <a:r>
              <a:rPr sz="1600" dirty="0">
                <a:latin typeface="Arial" panose="020B0604020202020204" pitchFamily="34" charset="0"/>
                <a:cs typeface="Arial" panose="020B0604020202020204" pitchFamily="34" charset="0"/>
              </a:rPr>
              <a:t>Monitor orders and reports</a:t>
            </a:r>
          </a:p>
        </p:txBody>
      </p:sp>
      <p:sp>
        <p:nvSpPr>
          <p:cNvPr id="20" name="Rounded Rectangle 19"/>
          <p:cNvSpPr/>
          <p:nvPr/>
        </p:nvSpPr>
        <p:spPr>
          <a:xfrm>
            <a:off x="9089136" y="1481328"/>
            <a:ext cx="2423160" cy="1874519"/>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21" name="Rectangle 20"/>
          <p:cNvSpPr/>
          <p:nvPr/>
        </p:nvSpPr>
        <p:spPr>
          <a:xfrm>
            <a:off x="9089136" y="1481328"/>
            <a:ext cx="64008" cy="1874519"/>
          </a:xfrm>
          <a:prstGeom prst="rect">
            <a:avLst/>
          </a:prstGeom>
          <a:solidFill>
            <a:srgbClr val="775E9D"/>
          </a:solidFill>
          <a:ln>
            <a:solidFill>
              <a:srgbClr val="775E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22" name="TextBox 21"/>
          <p:cNvSpPr txBox="1"/>
          <p:nvPr/>
        </p:nvSpPr>
        <p:spPr>
          <a:xfrm>
            <a:off x="9262872" y="1581912"/>
            <a:ext cx="2112264" cy="295466"/>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dirty="0">
                <a:latin typeface="Arial" panose="020B0604020202020204" pitchFamily="34" charset="0"/>
                <a:cs typeface="Arial" panose="020B0604020202020204" pitchFamily="34" charset="0"/>
              </a:rPr>
              <a:t>SUPER ADMIN</a:t>
            </a:r>
          </a:p>
        </p:txBody>
      </p:sp>
      <p:sp>
        <p:nvSpPr>
          <p:cNvPr id="23" name="TextBox 22"/>
          <p:cNvSpPr txBox="1"/>
          <p:nvPr/>
        </p:nvSpPr>
        <p:spPr>
          <a:xfrm>
            <a:off x="9400032" y="2045695"/>
            <a:ext cx="2112264" cy="887935"/>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600" dirty="0">
                <a:latin typeface="Arial" panose="020B0604020202020204" pitchFamily="34" charset="0"/>
                <a:cs typeface="Arial" panose="020B0604020202020204" pitchFamily="34" charset="0"/>
              </a:rPr>
              <a:t>Platform-level access</a:t>
            </a:r>
          </a:p>
          <a:p>
            <a:pPr algn="l">
              <a:spcAft>
                <a:spcPts val="300"/>
              </a:spcAft>
              <a:defRPr sz="1000" b="0">
                <a:solidFill>
                  <a:srgbClr val="1C2824"/>
                </a:solidFill>
                <a:latin typeface="Aptos"/>
              </a:defRPr>
            </a:pPr>
            <a:r>
              <a:rPr sz="1600" dirty="0">
                <a:latin typeface="Arial" panose="020B0604020202020204" pitchFamily="34" charset="0"/>
                <a:cs typeface="Arial" panose="020B0604020202020204" pitchFamily="34" charset="0"/>
              </a:rPr>
              <a:t>Administrative governance</a:t>
            </a:r>
          </a:p>
        </p:txBody>
      </p:sp>
      <p:sp>
        <p:nvSpPr>
          <p:cNvPr id="24" name="Rounded Rectangle 23"/>
          <p:cNvSpPr/>
          <p:nvPr/>
        </p:nvSpPr>
        <p:spPr>
          <a:xfrm>
            <a:off x="822960" y="4069080"/>
            <a:ext cx="10424160" cy="1087990"/>
          </a:xfrm>
          <a:prstGeom prst="roundRect">
            <a:avLst/>
          </a:prstGeom>
          <a:solidFill>
            <a:srgbClr val="E6F4EC"/>
          </a:solidFill>
          <a:ln>
            <a:solidFill>
              <a:srgbClr val="E6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25" name="TextBox 24"/>
          <p:cNvSpPr txBox="1"/>
          <p:nvPr/>
        </p:nvSpPr>
        <p:spPr>
          <a:xfrm>
            <a:off x="923544" y="4255939"/>
            <a:ext cx="10323576" cy="326243"/>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400" dirty="0">
                <a:latin typeface="Arial" panose="020B0604020202020204" pitchFamily="34" charset="0"/>
                <a:cs typeface="Arial" panose="020B0604020202020204" pitchFamily="34" charset="0"/>
              </a:rPr>
              <a:t>Shared services: authentication • marketplace listings • orders • notifications • reviews/ratings • history (as implemented)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66927" y="201168"/>
            <a:ext cx="6987263" cy="541687"/>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800" dirty="0">
                <a:latin typeface="Arial" panose="020B0604020202020204" pitchFamily="34" charset="0"/>
                <a:cs typeface="Arial" panose="020B0604020202020204" pitchFamily="34" charset="0"/>
              </a:rPr>
              <a:t>08 RESEARCH METHODOLOGY</a:t>
            </a:r>
          </a:p>
        </p:txBody>
      </p:sp>
      <p:sp>
        <p:nvSpPr>
          <p:cNvPr id="3" name="TextBox 2"/>
          <p:cNvSpPr txBox="1"/>
          <p:nvPr/>
        </p:nvSpPr>
        <p:spPr>
          <a:xfrm>
            <a:off x="566928" y="807530"/>
            <a:ext cx="10972800" cy="357021"/>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sz="1600" dirty="0">
                <a:latin typeface="Arial" panose="020B0604020202020204" pitchFamily="34" charset="0"/>
                <a:cs typeface="Arial" panose="020B0604020202020204" pitchFamily="34" charset="0"/>
              </a:rPr>
              <a:t>How the team moved from research to a working prototype</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49299"/>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sz="900">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64688"/>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sz="1000">
                <a:latin typeface="Arial" panose="020B0604020202020204" pitchFamily="34" charset="0"/>
                <a:cs typeface="Arial" panose="020B0604020202020204" pitchFamily="34" charset="0"/>
              </a:rPr>
              <a:t>09</a:t>
            </a:r>
          </a:p>
        </p:txBody>
      </p:sp>
      <p:sp>
        <p:nvSpPr>
          <p:cNvPr id="8" name="Oval 7"/>
          <p:cNvSpPr/>
          <p:nvPr/>
        </p:nvSpPr>
        <p:spPr>
          <a:xfrm>
            <a:off x="777240" y="1344168"/>
            <a:ext cx="329184" cy="329184"/>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9" name="TextBox 8"/>
          <p:cNvSpPr txBox="1"/>
          <p:nvPr/>
        </p:nvSpPr>
        <p:spPr>
          <a:xfrm>
            <a:off x="822960" y="1408176"/>
            <a:ext cx="228600" cy="264688"/>
          </a:xfrm>
          <a:prstGeom prst="rect">
            <a:avLst/>
          </a:prstGeom>
          <a:noFill/>
        </p:spPr>
        <p:txBody>
          <a:bodyPr wrap="square" lIns="54864" tIns="54864" rIns="54864" bIns="54864" anchor="t">
            <a:spAutoFit/>
          </a:bodyPr>
          <a:lstStyle/>
          <a:p>
            <a:pPr algn="ctr">
              <a:spcAft>
                <a:spcPts val="300"/>
              </a:spcAft>
              <a:defRPr sz="900" b="1">
                <a:solidFill>
                  <a:srgbClr val="FFFFFF"/>
                </a:solidFill>
                <a:latin typeface="Aptos"/>
              </a:defRPr>
            </a:pPr>
            <a:r>
              <a:rPr sz="1000">
                <a:latin typeface="Arial" panose="020B0604020202020204" pitchFamily="34" charset="0"/>
                <a:cs typeface="Arial" panose="020B0604020202020204" pitchFamily="34" charset="0"/>
              </a:rPr>
              <a:t>1</a:t>
            </a:r>
          </a:p>
        </p:txBody>
      </p:sp>
      <p:sp>
        <p:nvSpPr>
          <p:cNvPr id="10" name="TextBox 9"/>
          <p:cNvSpPr txBox="1"/>
          <p:nvPr/>
        </p:nvSpPr>
        <p:spPr>
          <a:xfrm>
            <a:off x="1298448" y="1298448"/>
            <a:ext cx="2420112" cy="603242"/>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Literature + requirements</a:t>
            </a:r>
          </a:p>
        </p:txBody>
      </p:sp>
      <p:sp>
        <p:nvSpPr>
          <p:cNvPr id="11" name="TextBox 10"/>
          <p:cNvSpPr txBox="1"/>
          <p:nvPr/>
        </p:nvSpPr>
        <p:spPr>
          <a:xfrm>
            <a:off x="3657600" y="1298448"/>
            <a:ext cx="7543800" cy="326243"/>
          </a:xfrm>
          <a:prstGeom prst="rect">
            <a:avLst/>
          </a:prstGeom>
          <a:noFill/>
        </p:spPr>
        <p:txBody>
          <a:bodyPr wrap="square" lIns="54864" tIns="54864" rIns="54864" bIns="54864" anchor="t">
            <a:spAutoFit/>
          </a:bodyPr>
          <a:lstStyle/>
          <a:p>
            <a:pPr algn="l">
              <a:spcAft>
                <a:spcPts val="300"/>
              </a:spcAft>
              <a:defRPr sz="1100" b="0">
                <a:solidFill>
                  <a:srgbClr val="1C2824"/>
                </a:solidFill>
                <a:latin typeface="Aptos"/>
              </a:defRPr>
            </a:pPr>
            <a:r>
              <a:rPr sz="1400" dirty="0">
                <a:latin typeface="Arial" panose="020B0604020202020204" pitchFamily="34" charset="0"/>
                <a:cs typeface="Arial" panose="020B0604020202020204" pitchFamily="34" charset="0"/>
              </a:rPr>
              <a:t>Identify problem, research gap and component targets</a:t>
            </a:r>
          </a:p>
        </p:txBody>
      </p:sp>
      <p:sp>
        <p:nvSpPr>
          <p:cNvPr id="12" name="Oval 11"/>
          <p:cNvSpPr/>
          <p:nvPr/>
        </p:nvSpPr>
        <p:spPr>
          <a:xfrm>
            <a:off x="777240" y="2057400"/>
            <a:ext cx="329184" cy="329184"/>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3" name="TextBox 12"/>
          <p:cNvSpPr txBox="1"/>
          <p:nvPr/>
        </p:nvSpPr>
        <p:spPr>
          <a:xfrm>
            <a:off x="822960" y="2121408"/>
            <a:ext cx="228600" cy="264688"/>
          </a:xfrm>
          <a:prstGeom prst="rect">
            <a:avLst/>
          </a:prstGeom>
          <a:noFill/>
        </p:spPr>
        <p:txBody>
          <a:bodyPr wrap="square" lIns="54864" tIns="54864" rIns="54864" bIns="54864" anchor="t">
            <a:spAutoFit/>
          </a:bodyPr>
          <a:lstStyle/>
          <a:p>
            <a:pPr algn="ctr">
              <a:spcAft>
                <a:spcPts val="300"/>
              </a:spcAft>
              <a:defRPr sz="900" b="1">
                <a:solidFill>
                  <a:srgbClr val="FFFFFF"/>
                </a:solidFill>
                <a:latin typeface="Aptos"/>
              </a:defRPr>
            </a:pPr>
            <a:r>
              <a:rPr sz="1000">
                <a:latin typeface="Arial" panose="020B0604020202020204" pitchFamily="34" charset="0"/>
                <a:cs typeface="Arial" panose="020B0604020202020204" pitchFamily="34" charset="0"/>
              </a:rPr>
              <a:t>2</a:t>
            </a:r>
          </a:p>
        </p:txBody>
      </p:sp>
      <p:sp>
        <p:nvSpPr>
          <p:cNvPr id="14" name="TextBox 13"/>
          <p:cNvSpPr txBox="1"/>
          <p:nvPr/>
        </p:nvSpPr>
        <p:spPr>
          <a:xfrm>
            <a:off x="1298448" y="2011680"/>
            <a:ext cx="2240280" cy="357021"/>
          </a:xfrm>
          <a:prstGeom prst="rect">
            <a:avLst/>
          </a:prstGeom>
          <a:noFill/>
        </p:spPr>
        <p:txBody>
          <a:bodyPr wrap="square" lIns="54864" tIns="54864" rIns="54864" bIns="54864" anchor="t">
            <a:spAutoFit/>
          </a:bodyPr>
          <a:lstStyle/>
          <a:p>
            <a:pPr algn="l">
              <a:spcAft>
                <a:spcPts val="400"/>
              </a:spcAft>
              <a:defRPr sz="1200" b="1">
                <a:solidFill>
                  <a:srgbClr val="123730"/>
                </a:solidFill>
                <a:latin typeface="Aptos"/>
              </a:defRPr>
            </a:pPr>
            <a:r>
              <a:rPr sz="1600" b="1">
                <a:solidFill>
                  <a:srgbClr val="17402B"/>
                </a:solidFill>
                <a:latin typeface="Arial" panose="020B0604020202020204" pitchFamily="34" charset="0"/>
                <a:cs typeface="Arial" panose="020B0604020202020204" pitchFamily="34" charset="0"/>
              </a:rPr>
              <a:t>Dataset preparation</a:t>
            </a:r>
          </a:p>
        </p:txBody>
      </p:sp>
      <p:sp>
        <p:nvSpPr>
          <p:cNvPr id="15" name="TextBox 14"/>
          <p:cNvSpPr txBox="1"/>
          <p:nvPr/>
        </p:nvSpPr>
        <p:spPr>
          <a:xfrm>
            <a:off x="3657600" y="2011680"/>
            <a:ext cx="7543800" cy="480131"/>
          </a:xfrm>
          <a:prstGeom prst="rect">
            <a:avLst/>
          </a:prstGeom>
          <a:noFill/>
        </p:spPr>
        <p:txBody>
          <a:bodyPr wrap="square" lIns="54864" tIns="54864" rIns="54864" bIns="54864" anchor="t">
            <a:spAutoFit/>
          </a:bodyPr>
          <a:lstStyle/>
          <a:p>
            <a:pPr algn="l">
              <a:spcAft>
                <a:spcPts val="400"/>
              </a:spcAft>
              <a:defRPr sz="1100" b="0">
                <a:solidFill>
                  <a:srgbClr val="1C2824"/>
                </a:solidFill>
                <a:latin typeface="Aptos"/>
              </a:defRPr>
            </a:pPr>
            <a:r>
              <a:rPr sz="1200" b="0">
                <a:solidFill>
                  <a:srgbClr val="2D3630"/>
                </a:solidFill>
                <a:latin typeface="Arial" panose="020B0604020202020204" pitchFamily="34" charset="0"/>
                <a:cs typeface="Arial" panose="020B0604020202020204" pitchFamily="34" charset="0"/>
              </a:rPr>
              <a:t>Review industry-visit notes and global/Sri Lankan reports where available; prepare and document component-specific datasets, labels and features. Identify any synthetic or derived records separately.</a:t>
            </a:r>
          </a:p>
        </p:txBody>
      </p:sp>
      <p:sp>
        <p:nvSpPr>
          <p:cNvPr id="16" name="Oval 15"/>
          <p:cNvSpPr/>
          <p:nvPr/>
        </p:nvSpPr>
        <p:spPr>
          <a:xfrm>
            <a:off x="777240" y="2770632"/>
            <a:ext cx="329184" cy="329184"/>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7" name="TextBox 16"/>
          <p:cNvSpPr txBox="1"/>
          <p:nvPr/>
        </p:nvSpPr>
        <p:spPr>
          <a:xfrm>
            <a:off x="822960" y="2834640"/>
            <a:ext cx="228600" cy="264688"/>
          </a:xfrm>
          <a:prstGeom prst="rect">
            <a:avLst/>
          </a:prstGeom>
          <a:noFill/>
        </p:spPr>
        <p:txBody>
          <a:bodyPr wrap="square" lIns="54864" tIns="54864" rIns="54864" bIns="54864" anchor="t">
            <a:spAutoFit/>
          </a:bodyPr>
          <a:lstStyle/>
          <a:p>
            <a:pPr algn="ctr">
              <a:spcAft>
                <a:spcPts val="300"/>
              </a:spcAft>
              <a:defRPr sz="900" b="1">
                <a:solidFill>
                  <a:srgbClr val="FFFFFF"/>
                </a:solidFill>
                <a:latin typeface="Aptos"/>
              </a:defRPr>
            </a:pPr>
            <a:r>
              <a:rPr sz="1000">
                <a:latin typeface="Arial" panose="020B0604020202020204" pitchFamily="34" charset="0"/>
                <a:cs typeface="Arial" panose="020B0604020202020204" pitchFamily="34" charset="0"/>
              </a:rPr>
              <a:t>3</a:t>
            </a:r>
          </a:p>
        </p:txBody>
      </p:sp>
      <p:sp>
        <p:nvSpPr>
          <p:cNvPr id="18" name="TextBox 17"/>
          <p:cNvSpPr txBox="1"/>
          <p:nvPr/>
        </p:nvSpPr>
        <p:spPr>
          <a:xfrm>
            <a:off x="1298448" y="2724912"/>
            <a:ext cx="2240280"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Model development</a:t>
            </a:r>
          </a:p>
        </p:txBody>
      </p:sp>
      <p:sp>
        <p:nvSpPr>
          <p:cNvPr id="19" name="TextBox 18"/>
          <p:cNvSpPr txBox="1"/>
          <p:nvPr/>
        </p:nvSpPr>
        <p:spPr>
          <a:xfrm>
            <a:off x="3657600" y="2724912"/>
            <a:ext cx="7543800" cy="326243"/>
          </a:xfrm>
          <a:prstGeom prst="rect">
            <a:avLst/>
          </a:prstGeom>
          <a:noFill/>
        </p:spPr>
        <p:txBody>
          <a:bodyPr wrap="square" lIns="54864" tIns="54864" rIns="54864" bIns="54864" anchor="t">
            <a:spAutoFit/>
          </a:bodyPr>
          <a:lstStyle/>
          <a:p>
            <a:pPr algn="l">
              <a:spcAft>
                <a:spcPts val="300"/>
              </a:spcAft>
              <a:defRPr sz="1100" b="0">
                <a:solidFill>
                  <a:srgbClr val="1C2824"/>
                </a:solidFill>
                <a:latin typeface="Aptos"/>
              </a:defRPr>
            </a:pPr>
            <a:r>
              <a:rPr sz="1400" dirty="0">
                <a:latin typeface="Arial" panose="020B0604020202020204" pitchFamily="34" charset="0"/>
                <a:cs typeface="Arial" panose="020B0604020202020204" pitchFamily="34" charset="0"/>
              </a:rPr>
              <a:t>Train task-specific classifiers, regressors or segmentation models</a:t>
            </a:r>
          </a:p>
        </p:txBody>
      </p:sp>
      <p:sp>
        <p:nvSpPr>
          <p:cNvPr id="20" name="Oval 19"/>
          <p:cNvSpPr/>
          <p:nvPr/>
        </p:nvSpPr>
        <p:spPr>
          <a:xfrm>
            <a:off x="777240" y="3483863"/>
            <a:ext cx="329184" cy="329184"/>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1" name="TextBox 20"/>
          <p:cNvSpPr txBox="1"/>
          <p:nvPr/>
        </p:nvSpPr>
        <p:spPr>
          <a:xfrm>
            <a:off x="822960" y="3547872"/>
            <a:ext cx="228600" cy="264688"/>
          </a:xfrm>
          <a:prstGeom prst="rect">
            <a:avLst/>
          </a:prstGeom>
          <a:noFill/>
        </p:spPr>
        <p:txBody>
          <a:bodyPr wrap="square" lIns="54864" tIns="54864" rIns="54864" bIns="54864" anchor="t">
            <a:spAutoFit/>
          </a:bodyPr>
          <a:lstStyle/>
          <a:p>
            <a:pPr algn="ctr">
              <a:spcAft>
                <a:spcPts val="300"/>
              </a:spcAft>
              <a:defRPr sz="900" b="1">
                <a:solidFill>
                  <a:srgbClr val="FFFFFF"/>
                </a:solidFill>
                <a:latin typeface="Aptos"/>
              </a:defRPr>
            </a:pPr>
            <a:r>
              <a:rPr sz="1000">
                <a:latin typeface="Arial" panose="020B0604020202020204" pitchFamily="34" charset="0"/>
                <a:cs typeface="Arial" panose="020B0604020202020204" pitchFamily="34" charset="0"/>
              </a:rPr>
              <a:t>4</a:t>
            </a:r>
          </a:p>
        </p:txBody>
      </p:sp>
      <p:sp>
        <p:nvSpPr>
          <p:cNvPr id="22" name="TextBox 21"/>
          <p:cNvSpPr txBox="1"/>
          <p:nvPr/>
        </p:nvSpPr>
        <p:spPr>
          <a:xfrm>
            <a:off x="1298448" y="3438144"/>
            <a:ext cx="2240280"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Evaluation</a:t>
            </a:r>
          </a:p>
        </p:txBody>
      </p:sp>
      <p:sp>
        <p:nvSpPr>
          <p:cNvPr id="23" name="TextBox 22"/>
          <p:cNvSpPr txBox="1"/>
          <p:nvPr/>
        </p:nvSpPr>
        <p:spPr>
          <a:xfrm>
            <a:off x="3657600" y="3438144"/>
            <a:ext cx="7543800" cy="326243"/>
          </a:xfrm>
          <a:prstGeom prst="rect">
            <a:avLst/>
          </a:prstGeom>
          <a:noFill/>
        </p:spPr>
        <p:txBody>
          <a:bodyPr wrap="square" lIns="54864" tIns="54864" rIns="54864" bIns="54864" anchor="t">
            <a:spAutoFit/>
          </a:bodyPr>
          <a:lstStyle/>
          <a:p>
            <a:pPr algn="l">
              <a:spcAft>
                <a:spcPts val="300"/>
              </a:spcAft>
              <a:defRPr sz="1100" b="0">
                <a:solidFill>
                  <a:srgbClr val="1C2824"/>
                </a:solidFill>
                <a:latin typeface="Aptos"/>
              </a:defRPr>
            </a:pPr>
            <a:r>
              <a:rPr sz="1400" dirty="0">
                <a:latin typeface="Arial" panose="020B0604020202020204" pitchFamily="34" charset="0"/>
                <a:cs typeface="Arial" panose="020B0604020202020204" pitchFamily="34" charset="0"/>
              </a:rPr>
              <a:t>Use task-appropriate metrics on held-out data</a:t>
            </a:r>
          </a:p>
        </p:txBody>
      </p:sp>
      <p:sp>
        <p:nvSpPr>
          <p:cNvPr id="24" name="Oval 23"/>
          <p:cNvSpPr/>
          <p:nvPr/>
        </p:nvSpPr>
        <p:spPr>
          <a:xfrm>
            <a:off x="777240" y="4197096"/>
            <a:ext cx="329184" cy="329184"/>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5" name="TextBox 24"/>
          <p:cNvSpPr txBox="1"/>
          <p:nvPr/>
        </p:nvSpPr>
        <p:spPr>
          <a:xfrm>
            <a:off x="822960" y="4261104"/>
            <a:ext cx="228600" cy="264688"/>
          </a:xfrm>
          <a:prstGeom prst="rect">
            <a:avLst/>
          </a:prstGeom>
          <a:noFill/>
        </p:spPr>
        <p:txBody>
          <a:bodyPr wrap="square" lIns="54864" tIns="54864" rIns="54864" bIns="54864" anchor="t">
            <a:spAutoFit/>
          </a:bodyPr>
          <a:lstStyle/>
          <a:p>
            <a:pPr algn="ctr">
              <a:spcAft>
                <a:spcPts val="300"/>
              </a:spcAft>
              <a:defRPr sz="900" b="1">
                <a:solidFill>
                  <a:srgbClr val="FFFFFF"/>
                </a:solidFill>
                <a:latin typeface="Aptos"/>
              </a:defRPr>
            </a:pPr>
            <a:r>
              <a:rPr sz="1000">
                <a:latin typeface="Arial" panose="020B0604020202020204" pitchFamily="34" charset="0"/>
                <a:cs typeface="Arial" panose="020B0604020202020204" pitchFamily="34" charset="0"/>
              </a:rPr>
              <a:t>5</a:t>
            </a:r>
          </a:p>
        </p:txBody>
      </p:sp>
      <p:sp>
        <p:nvSpPr>
          <p:cNvPr id="26" name="TextBox 25"/>
          <p:cNvSpPr txBox="1"/>
          <p:nvPr/>
        </p:nvSpPr>
        <p:spPr>
          <a:xfrm>
            <a:off x="1298448" y="4151376"/>
            <a:ext cx="2240280"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Integration</a:t>
            </a:r>
          </a:p>
        </p:txBody>
      </p:sp>
      <p:sp>
        <p:nvSpPr>
          <p:cNvPr id="27" name="TextBox 26"/>
          <p:cNvSpPr txBox="1"/>
          <p:nvPr/>
        </p:nvSpPr>
        <p:spPr>
          <a:xfrm>
            <a:off x="3657600" y="4151376"/>
            <a:ext cx="7543800" cy="326243"/>
          </a:xfrm>
          <a:prstGeom prst="rect">
            <a:avLst/>
          </a:prstGeom>
          <a:noFill/>
        </p:spPr>
        <p:txBody>
          <a:bodyPr wrap="square" lIns="54864" tIns="54864" rIns="54864" bIns="54864" anchor="t">
            <a:spAutoFit/>
          </a:bodyPr>
          <a:lstStyle/>
          <a:p>
            <a:pPr algn="l">
              <a:spcAft>
                <a:spcPts val="300"/>
              </a:spcAft>
              <a:defRPr sz="1100" b="0">
                <a:solidFill>
                  <a:srgbClr val="1C2824"/>
                </a:solidFill>
                <a:latin typeface="Aptos"/>
              </a:defRPr>
            </a:pPr>
            <a:r>
              <a:rPr sz="1400" dirty="0">
                <a:latin typeface="Arial" panose="020B0604020202020204" pitchFamily="34" charset="0"/>
                <a:cs typeface="Arial" panose="020B0604020202020204" pitchFamily="34" charset="0"/>
              </a:rPr>
              <a:t>Connect inference/results to API and role-based website workflows</a:t>
            </a:r>
          </a:p>
        </p:txBody>
      </p:sp>
      <p:sp>
        <p:nvSpPr>
          <p:cNvPr id="28" name="Oval 27"/>
          <p:cNvSpPr/>
          <p:nvPr/>
        </p:nvSpPr>
        <p:spPr>
          <a:xfrm>
            <a:off x="777240" y="4910328"/>
            <a:ext cx="329184" cy="329184"/>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9" name="TextBox 28"/>
          <p:cNvSpPr txBox="1"/>
          <p:nvPr/>
        </p:nvSpPr>
        <p:spPr>
          <a:xfrm>
            <a:off x="822960" y="4974336"/>
            <a:ext cx="228600" cy="264688"/>
          </a:xfrm>
          <a:prstGeom prst="rect">
            <a:avLst/>
          </a:prstGeom>
          <a:noFill/>
        </p:spPr>
        <p:txBody>
          <a:bodyPr wrap="square" lIns="54864" tIns="54864" rIns="54864" bIns="54864" anchor="t">
            <a:spAutoFit/>
          </a:bodyPr>
          <a:lstStyle/>
          <a:p>
            <a:pPr algn="ctr">
              <a:spcAft>
                <a:spcPts val="300"/>
              </a:spcAft>
              <a:defRPr sz="900" b="1">
                <a:solidFill>
                  <a:srgbClr val="FFFFFF"/>
                </a:solidFill>
                <a:latin typeface="Aptos"/>
              </a:defRPr>
            </a:pPr>
            <a:r>
              <a:rPr sz="1000">
                <a:latin typeface="Arial" panose="020B0604020202020204" pitchFamily="34" charset="0"/>
                <a:cs typeface="Arial" panose="020B0604020202020204" pitchFamily="34" charset="0"/>
              </a:rPr>
              <a:t>6</a:t>
            </a:r>
          </a:p>
        </p:txBody>
      </p:sp>
      <p:sp>
        <p:nvSpPr>
          <p:cNvPr id="30" name="TextBox 29"/>
          <p:cNvSpPr txBox="1"/>
          <p:nvPr/>
        </p:nvSpPr>
        <p:spPr>
          <a:xfrm>
            <a:off x="1298448" y="4864608"/>
            <a:ext cx="2240280"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Testing + analysis</a:t>
            </a:r>
          </a:p>
        </p:txBody>
      </p:sp>
      <p:sp>
        <p:nvSpPr>
          <p:cNvPr id="31" name="TextBox 30"/>
          <p:cNvSpPr txBox="1"/>
          <p:nvPr/>
        </p:nvSpPr>
        <p:spPr>
          <a:xfrm>
            <a:off x="3657600" y="4864608"/>
            <a:ext cx="7543800" cy="326243"/>
          </a:xfrm>
          <a:prstGeom prst="rect">
            <a:avLst/>
          </a:prstGeom>
          <a:noFill/>
        </p:spPr>
        <p:txBody>
          <a:bodyPr wrap="square" lIns="54864" tIns="54864" rIns="54864" bIns="54864" anchor="t">
            <a:spAutoFit/>
          </a:bodyPr>
          <a:lstStyle/>
          <a:p>
            <a:pPr algn="l">
              <a:spcAft>
                <a:spcPts val="300"/>
              </a:spcAft>
              <a:defRPr sz="1100" b="0">
                <a:solidFill>
                  <a:srgbClr val="1C2824"/>
                </a:solidFill>
                <a:latin typeface="Aptos"/>
              </a:defRPr>
            </a:pPr>
            <a:r>
              <a:rPr sz="1400" dirty="0">
                <a:latin typeface="Arial" panose="020B0604020202020204" pitchFamily="34" charset="0"/>
                <a:cs typeface="Arial" panose="020B0604020202020204" pitchFamily="34" charset="0"/>
              </a:rPr>
              <a:t>Test workflows, document limitations and interpret results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66927" y="201168"/>
            <a:ext cx="8504337" cy="541687"/>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800" dirty="0">
                <a:latin typeface="Arial" panose="020B0604020202020204" pitchFamily="34" charset="0"/>
                <a:cs typeface="Arial" panose="020B0604020202020204" pitchFamily="34" charset="0"/>
              </a:rPr>
              <a:t>09  INDIVIDUAL RESEARCH CONTRIBUTIONS</a:t>
            </a:r>
          </a:p>
        </p:txBody>
      </p:sp>
      <p:sp>
        <p:nvSpPr>
          <p:cNvPr id="3" name="TextBox 2"/>
          <p:cNvSpPr txBox="1"/>
          <p:nvPr/>
        </p:nvSpPr>
        <p:spPr>
          <a:xfrm>
            <a:off x="777240" y="738747"/>
            <a:ext cx="10972800" cy="357021"/>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sz="1600" dirty="0">
                <a:latin typeface="Arial" panose="020B0604020202020204" pitchFamily="34" charset="0"/>
                <a:cs typeface="Arial" panose="020B0604020202020204" pitchFamily="34" charset="0"/>
              </a:rPr>
              <a:t>Four components, four different research questions</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49299"/>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sz="900">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64688"/>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sz="1000">
                <a:latin typeface="Arial" panose="020B0604020202020204" pitchFamily="34" charset="0"/>
                <a:cs typeface="Arial" panose="020B0604020202020204" pitchFamily="34" charset="0"/>
              </a:rPr>
              <a:t>10</a:t>
            </a:r>
          </a:p>
        </p:txBody>
      </p:sp>
      <p:sp>
        <p:nvSpPr>
          <p:cNvPr id="8" name="Rounded Rectangle 7"/>
          <p:cNvSpPr/>
          <p:nvPr/>
        </p:nvSpPr>
        <p:spPr>
          <a:xfrm>
            <a:off x="685800" y="1554480"/>
            <a:ext cx="5257800" cy="1389888"/>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9" name="Rectangle 8"/>
          <p:cNvSpPr/>
          <p:nvPr/>
        </p:nvSpPr>
        <p:spPr>
          <a:xfrm>
            <a:off x="685800" y="1554480"/>
            <a:ext cx="64008" cy="1389888"/>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0" name="TextBox 9"/>
          <p:cNvSpPr txBox="1"/>
          <p:nvPr/>
        </p:nvSpPr>
        <p:spPr>
          <a:xfrm>
            <a:off x="859536" y="1655064"/>
            <a:ext cx="4946904" cy="357021"/>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600" dirty="0">
                <a:latin typeface="Arial" panose="020B0604020202020204" pitchFamily="34" charset="0"/>
                <a:cs typeface="Arial" panose="020B0604020202020204" pitchFamily="34" charset="0"/>
              </a:rPr>
              <a:t>MEMBER 01  |  Fabric Intelligence</a:t>
            </a:r>
          </a:p>
        </p:txBody>
      </p:sp>
      <p:sp>
        <p:nvSpPr>
          <p:cNvPr id="11" name="TextBox 10"/>
          <p:cNvSpPr txBox="1"/>
          <p:nvPr/>
        </p:nvSpPr>
        <p:spPr>
          <a:xfrm>
            <a:off x="859536" y="2011680"/>
            <a:ext cx="4946904" cy="326243"/>
          </a:xfrm>
          <a:prstGeom prst="rect">
            <a:avLst/>
          </a:prstGeom>
          <a:noFill/>
        </p:spPr>
        <p:txBody>
          <a:bodyPr wrap="square" lIns="54864" tIns="54864" rIns="54864" bIns="54864" anchor="t">
            <a:spAutoFit/>
          </a:bodyPr>
          <a:lstStyle/>
          <a:p>
            <a:pPr algn="l">
              <a:spcAft>
                <a:spcPts val="300"/>
              </a:spcAft>
              <a:defRPr sz="1100" b="0">
                <a:solidFill>
                  <a:srgbClr val="1C2824"/>
                </a:solidFill>
                <a:latin typeface="Aptos"/>
              </a:defRPr>
            </a:pPr>
            <a:r>
              <a:rPr sz="1400" dirty="0">
                <a:latin typeface="Arial" panose="020B0604020202020204" pitchFamily="34" charset="0"/>
                <a:cs typeface="Arial" panose="020B0604020202020204" pitchFamily="34" charset="0"/>
              </a:rPr>
              <a:t>What material is it? What defects can be identified?</a:t>
            </a:r>
          </a:p>
        </p:txBody>
      </p:sp>
      <p:sp>
        <p:nvSpPr>
          <p:cNvPr id="12" name="Rounded Rectangle 11"/>
          <p:cNvSpPr/>
          <p:nvPr/>
        </p:nvSpPr>
        <p:spPr>
          <a:xfrm>
            <a:off x="6263640" y="1554480"/>
            <a:ext cx="5257800" cy="1389888"/>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3" name="Rectangle 12"/>
          <p:cNvSpPr/>
          <p:nvPr/>
        </p:nvSpPr>
        <p:spPr>
          <a:xfrm>
            <a:off x="6263640" y="1554480"/>
            <a:ext cx="64008" cy="1389888"/>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4" name="TextBox 13"/>
          <p:cNvSpPr txBox="1"/>
          <p:nvPr/>
        </p:nvSpPr>
        <p:spPr>
          <a:xfrm>
            <a:off x="6437376" y="1655064"/>
            <a:ext cx="4946904" cy="357021"/>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600" dirty="0">
                <a:latin typeface="Arial" panose="020B0604020202020204" pitchFamily="34" charset="0"/>
                <a:cs typeface="Arial" panose="020B0604020202020204" pitchFamily="34" charset="0"/>
              </a:rPr>
              <a:t>MEMBER 02  |  Sustainability Intelligence</a:t>
            </a:r>
          </a:p>
        </p:txBody>
      </p:sp>
      <p:sp>
        <p:nvSpPr>
          <p:cNvPr id="15" name="TextBox 14"/>
          <p:cNvSpPr txBox="1"/>
          <p:nvPr/>
        </p:nvSpPr>
        <p:spPr>
          <a:xfrm>
            <a:off x="6437376" y="2011680"/>
            <a:ext cx="4946904" cy="541687"/>
          </a:xfrm>
          <a:prstGeom prst="rect">
            <a:avLst/>
          </a:prstGeom>
          <a:noFill/>
        </p:spPr>
        <p:txBody>
          <a:bodyPr wrap="square" lIns="54864" tIns="54864" rIns="54864" bIns="54864" anchor="t">
            <a:spAutoFit/>
          </a:bodyPr>
          <a:lstStyle/>
          <a:p>
            <a:pPr algn="l">
              <a:spcAft>
                <a:spcPts val="300"/>
              </a:spcAft>
              <a:defRPr sz="1100" b="0">
                <a:solidFill>
                  <a:srgbClr val="1C2824"/>
                </a:solidFill>
                <a:latin typeface="Aptos"/>
              </a:defRPr>
            </a:pPr>
            <a:r>
              <a:rPr sz="1400" dirty="0">
                <a:latin typeface="Arial" panose="020B0604020202020204" pitchFamily="34" charset="0"/>
                <a:cs typeface="Arial" panose="020B0604020202020204" pitchFamily="34" charset="0"/>
              </a:rPr>
              <a:t>What environmental/sustainability indicators can be estimated?</a:t>
            </a:r>
          </a:p>
        </p:txBody>
      </p:sp>
      <p:sp>
        <p:nvSpPr>
          <p:cNvPr id="16" name="Rounded Rectangle 15"/>
          <p:cNvSpPr/>
          <p:nvPr/>
        </p:nvSpPr>
        <p:spPr>
          <a:xfrm>
            <a:off x="685800" y="3246120"/>
            <a:ext cx="5257800" cy="1389888"/>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7" name="Rectangle 16"/>
          <p:cNvSpPr/>
          <p:nvPr/>
        </p:nvSpPr>
        <p:spPr>
          <a:xfrm>
            <a:off x="685800" y="3246120"/>
            <a:ext cx="64008" cy="1389888"/>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8" name="TextBox 17"/>
          <p:cNvSpPr txBox="1"/>
          <p:nvPr/>
        </p:nvSpPr>
        <p:spPr>
          <a:xfrm>
            <a:off x="859536" y="3346703"/>
            <a:ext cx="4946904" cy="357021"/>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600" dirty="0">
                <a:latin typeface="Arial" panose="020B0604020202020204" pitchFamily="34" charset="0"/>
                <a:cs typeface="Arial" panose="020B0604020202020204" pitchFamily="34" charset="0"/>
              </a:rPr>
              <a:t>MEMBER 03  |  Commercial Intelligence</a:t>
            </a:r>
          </a:p>
        </p:txBody>
      </p:sp>
      <p:sp>
        <p:nvSpPr>
          <p:cNvPr id="19" name="TextBox 18"/>
          <p:cNvSpPr txBox="1"/>
          <p:nvPr/>
        </p:nvSpPr>
        <p:spPr>
          <a:xfrm>
            <a:off x="873252" y="3842354"/>
            <a:ext cx="4946904" cy="326243"/>
          </a:xfrm>
          <a:prstGeom prst="rect">
            <a:avLst/>
          </a:prstGeom>
          <a:noFill/>
        </p:spPr>
        <p:txBody>
          <a:bodyPr wrap="square" lIns="54864" tIns="54864" rIns="54864" bIns="54864" anchor="t">
            <a:spAutoFit/>
          </a:bodyPr>
          <a:lstStyle/>
          <a:p>
            <a:pPr algn="l">
              <a:spcAft>
                <a:spcPts val="300"/>
              </a:spcAft>
              <a:defRPr sz="1100" b="0">
                <a:solidFill>
                  <a:srgbClr val="1C2824"/>
                </a:solidFill>
                <a:latin typeface="Aptos"/>
              </a:defRPr>
            </a:pPr>
            <a:r>
              <a:rPr sz="1400" dirty="0">
                <a:latin typeface="Arial" panose="020B0604020202020204" pitchFamily="34" charset="0"/>
                <a:cs typeface="Arial" panose="020B0604020202020204" pitchFamily="34" charset="0"/>
              </a:rPr>
              <a:t>What price and buyer options may help the seller?</a:t>
            </a:r>
          </a:p>
        </p:txBody>
      </p:sp>
      <p:sp>
        <p:nvSpPr>
          <p:cNvPr id="20" name="Rounded Rectangle 19"/>
          <p:cNvSpPr/>
          <p:nvPr/>
        </p:nvSpPr>
        <p:spPr>
          <a:xfrm>
            <a:off x="6263640" y="3246120"/>
            <a:ext cx="5257800" cy="1389888"/>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1" name="Rectangle 20"/>
          <p:cNvSpPr/>
          <p:nvPr/>
        </p:nvSpPr>
        <p:spPr>
          <a:xfrm>
            <a:off x="6263640" y="3246120"/>
            <a:ext cx="64008" cy="1389888"/>
          </a:xfrm>
          <a:prstGeom prst="rect">
            <a:avLst/>
          </a:prstGeom>
          <a:solidFill>
            <a:srgbClr val="775E9D"/>
          </a:solidFill>
          <a:ln>
            <a:solidFill>
              <a:srgbClr val="775E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2" name="TextBox 21"/>
          <p:cNvSpPr txBox="1"/>
          <p:nvPr/>
        </p:nvSpPr>
        <p:spPr>
          <a:xfrm>
            <a:off x="6437376" y="3346703"/>
            <a:ext cx="4946904" cy="357021"/>
          </a:xfrm>
          <a:prstGeom prst="rect">
            <a:avLst/>
          </a:prstGeom>
          <a:noFill/>
        </p:spPr>
        <p:txBody>
          <a:bodyPr wrap="square" lIns="54864" tIns="54864" rIns="54864" bIns="54864" anchor="t">
            <a:spAutoFit/>
          </a:bodyPr>
          <a:lstStyle/>
          <a:p>
            <a:pPr algn="l">
              <a:spcAft>
                <a:spcPts val="300"/>
              </a:spcAft>
              <a:defRPr sz="1300" b="1">
                <a:solidFill>
                  <a:srgbClr val="123730"/>
                </a:solidFill>
                <a:latin typeface="Aptos"/>
              </a:defRPr>
            </a:pPr>
            <a:r>
              <a:rPr sz="1600" dirty="0">
                <a:latin typeface="Arial" panose="020B0604020202020204" pitchFamily="34" charset="0"/>
                <a:cs typeface="Arial" panose="020B0604020202020204" pitchFamily="34" charset="0"/>
              </a:rPr>
              <a:t>MEMBER 04  |  Marketplace Predictive Analytics</a:t>
            </a:r>
          </a:p>
        </p:txBody>
      </p:sp>
      <p:sp>
        <p:nvSpPr>
          <p:cNvPr id="23" name="TextBox 22"/>
          <p:cNvSpPr txBox="1"/>
          <p:nvPr/>
        </p:nvSpPr>
        <p:spPr>
          <a:xfrm>
            <a:off x="6437376" y="3703320"/>
            <a:ext cx="4946904" cy="326243"/>
          </a:xfrm>
          <a:prstGeom prst="rect">
            <a:avLst/>
          </a:prstGeom>
          <a:noFill/>
        </p:spPr>
        <p:txBody>
          <a:bodyPr wrap="square" lIns="54864" tIns="54864" rIns="54864" bIns="54864" anchor="t">
            <a:spAutoFit/>
          </a:bodyPr>
          <a:lstStyle/>
          <a:p>
            <a:pPr algn="l">
              <a:spcAft>
                <a:spcPts val="300"/>
              </a:spcAft>
              <a:defRPr sz="1100" b="0">
                <a:solidFill>
                  <a:srgbClr val="1C2824"/>
                </a:solidFill>
                <a:latin typeface="Aptos"/>
              </a:defRPr>
            </a:pPr>
            <a:r>
              <a:rPr sz="1400" dirty="0">
                <a:latin typeface="Arial" panose="020B0604020202020204" pitchFamily="34" charset="0"/>
                <a:cs typeface="Arial" panose="020B0604020202020204" pitchFamily="34" charset="0"/>
              </a:rPr>
              <a:t>What marketplace outcomes or trends can be predicted?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66927" y="201168"/>
            <a:ext cx="8616401" cy="541687"/>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800" dirty="0">
                <a:latin typeface="Arial" panose="020B0604020202020204" pitchFamily="34" charset="0"/>
                <a:cs typeface="Arial" panose="020B0604020202020204" pitchFamily="34" charset="0"/>
              </a:rPr>
              <a:t>10 </a:t>
            </a:r>
            <a:r>
              <a:rPr lang="en-US" sz="2800" dirty="0">
                <a:latin typeface="Arial" panose="020B0604020202020204" pitchFamily="34" charset="0"/>
                <a:cs typeface="Arial" panose="020B0604020202020204" pitchFamily="34" charset="0"/>
              </a:rPr>
              <a:t>MEMBER 01 |</a:t>
            </a:r>
            <a:r>
              <a:rPr sz="2800" dirty="0">
                <a:latin typeface="Arial" panose="020B0604020202020204" pitchFamily="34" charset="0"/>
                <a:cs typeface="Arial" panose="020B0604020202020204" pitchFamily="34" charset="0"/>
              </a:rPr>
              <a:t> IT22281814</a:t>
            </a:r>
            <a:r>
              <a:rPr lang="en-US" sz="2800" dirty="0">
                <a:latin typeface="Arial" panose="020B0604020202020204" pitchFamily="34" charset="0"/>
                <a:cs typeface="Arial" panose="020B0604020202020204" pitchFamily="34" charset="0"/>
              </a:rPr>
              <a:t> | Sandeepa S.A.C.</a:t>
            </a:r>
            <a:endParaRPr sz="2800" dirty="0">
              <a:latin typeface="Arial" panose="020B0604020202020204" pitchFamily="34" charset="0"/>
              <a:cs typeface="Arial" panose="020B0604020202020204" pitchFamily="34" charset="0"/>
            </a:endParaRPr>
          </a:p>
        </p:txBody>
      </p:sp>
      <p:sp>
        <p:nvSpPr>
          <p:cNvPr id="3" name="TextBox 2"/>
          <p:cNvSpPr txBox="1"/>
          <p:nvPr/>
        </p:nvSpPr>
        <p:spPr>
          <a:xfrm>
            <a:off x="640080" y="821400"/>
            <a:ext cx="10972800" cy="357021"/>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sz="1600" dirty="0">
                <a:latin typeface="Arial" panose="020B0604020202020204" pitchFamily="34" charset="0"/>
                <a:cs typeface="Arial" panose="020B0604020202020204" pitchFamily="34" charset="0"/>
              </a:rPr>
              <a:t>Fabric Intelligence — research focus &amp; solution</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49299"/>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sz="900">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64688"/>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sz="1000">
                <a:latin typeface="Arial" panose="020B0604020202020204" pitchFamily="34" charset="0"/>
                <a:cs typeface="Arial" panose="020B0604020202020204" pitchFamily="34" charset="0"/>
              </a:rPr>
              <a:t>11</a:t>
            </a:r>
          </a:p>
        </p:txBody>
      </p:sp>
      <p:sp>
        <p:nvSpPr>
          <p:cNvPr id="10" name="Rounded Rectangle 9"/>
          <p:cNvSpPr/>
          <p:nvPr/>
        </p:nvSpPr>
        <p:spPr>
          <a:xfrm>
            <a:off x="685800" y="1481328"/>
            <a:ext cx="3474720" cy="194767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1" name="Rectangle 10"/>
          <p:cNvSpPr/>
          <p:nvPr/>
        </p:nvSpPr>
        <p:spPr>
          <a:xfrm flipH="1">
            <a:off x="640081" y="1481327"/>
            <a:ext cx="45719" cy="1875197"/>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2" name="TextBox 11"/>
          <p:cNvSpPr txBox="1"/>
          <p:nvPr/>
        </p:nvSpPr>
        <p:spPr>
          <a:xfrm>
            <a:off x="859536" y="1691301"/>
            <a:ext cx="316382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RESEARCH INPUT</a:t>
            </a:r>
          </a:p>
        </p:txBody>
      </p:sp>
      <p:sp>
        <p:nvSpPr>
          <p:cNvPr id="13" name="TextBox 12"/>
          <p:cNvSpPr txBox="1"/>
          <p:nvPr/>
        </p:nvSpPr>
        <p:spPr>
          <a:xfrm>
            <a:off x="841248" y="2142744"/>
            <a:ext cx="3163824" cy="541687"/>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Uploaded textile image; image validation and preprocessing.</a:t>
            </a:r>
          </a:p>
        </p:txBody>
      </p:sp>
      <p:sp>
        <p:nvSpPr>
          <p:cNvPr id="14" name="Rounded Rectangle 13"/>
          <p:cNvSpPr/>
          <p:nvPr/>
        </p:nvSpPr>
        <p:spPr>
          <a:xfrm>
            <a:off x="4370832" y="1481328"/>
            <a:ext cx="3474720" cy="194767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5" name="Rectangle 14"/>
          <p:cNvSpPr/>
          <p:nvPr/>
        </p:nvSpPr>
        <p:spPr>
          <a:xfrm>
            <a:off x="4370832" y="1481327"/>
            <a:ext cx="64008" cy="1819173"/>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6" name="TextBox 15"/>
          <p:cNvSpPr txBox="1"/>
          <p:nvPr/>
        </p:nvSpPr>
        <p:spPr>
          <a:xfrm>
            <a:off x="4558284" y="1691300"/>
            <a:ext cx="316382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MODELS REPORTED</a:t>
            </a:r>
          </a:p>
        </p:txBody>
      </p:sp>
      <p:sp>
        <p:nvSpPr>
          <p:cNvPr id="17" name="TextBox 16"/>
          <p:cNvSpPr txBox="1"/>
          <p:nvPr/>
        </p:nvSpPr>
        <p:spPr>
          <a:xfrm>
            <a:off x="4544568" y="2112483"/>
            <a:ext cx="3163824" cy="1188018"/>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400" dirty="0">
                <a:latin typeface="Arial" panose="020B0604020202020204" pitchFamily="34" charset="0"/>
                <a:cs typeface="Arial" panose="020B0604020202020204" pitchFamily="34" charset="0"/>
              </a:rPr>
              <a:t>EfficientNet-B3 for fabric classification; MobileNetV2 for defect-related classification; U-Net for segmentation only if confirmed in final implementation.</a:t>
            </a:r>
          </a:p>
        </p:txBody>
      </p:sp>
      <p:sp>
        <p:nvSpPr>
          <p:cNvPr id="18" name="Rounded Rectangle 17"/>
          <p:cNvSpPr/>
          <p:nvPr/>
        </p:nvSpPr>
        <p:spPr>
          <a:xfrm>
            <a:off x="8055864" y="1481327"/>
            <a:ext cx="3474720" cy="1819173"/>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9" name="Rectangle 18"/>
          <p:cNvSpPr/>
          <p:nvPr/>
        </p:nvSpPr>
        <p:spPr>
          <a:xfrm>
            <a:off x="8055864" y="1481327"/>
            <a:ext cx="45719" cy="1947671"/>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0" name="TextBox 19"/>
          <p:cNvSpPr txBox="1"/>
          <p:nvPr/>
        </p:nvSpPr>
        <p:spPr>
          <a:xfrm>
            <a:off x="8257032" y="1741330"/>
            <a:ext cx="316382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USER OUTPUT</a:t>
            </a:r>
          </a:p>
        </p:txBody>
      </p:sp>
      <p:sp>
        <p:nvSpPr>
          <p:cNvPr id="21" name="TextBox 20"/>
          <p:cNvSpPr txBox="1"/>
          <p:nvPr/>
        </p:nvSpPr>
        <p:spPr>
          <a:xfrm>
            <a:off x="8243316" y="2192773"/>
            <a:ext cx="3163824" cy="972574"/>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400" dirty="0">
                <a:latin typeface="Arial" panose="020B0604020202020204" pitchFamily="34" charset="0"/>
                <a:cs typeface="Arial" panose="020B0604020202020204" pitchFamily="34" charset="0"/>
              </a:rPr>
              <a:t>Fabric category + confidence; defect result / mask where integrated; condition indicators only where implemented.</a:t>
            </a:r>
          </a:p>
        </p:txBody>
      </p:sp>
      <p:sp>
        <p:nvSpPr>
          <p:cNvPr id="22" name="TextBox 21"/>
          <p:cNvSpPr txBox="1"/>
          <p:nvPr/>
        </p:nvSpPr>
        <p:spPr>
          <a:xfrm>
            <a:off x="685800" y="4455057"/>
            <a:ext cx="10872216" cy="603242"/>
          </a:xfrm>
          <a:prstGeom prst="rect">
            <a:avLst/>
          </a:prstGeom>
          <a:noFill/>
        </p:spPr>
        <p:txBody>
          <a:bodyPr wrap="square" lIns="54864" tIns="54864" rIns="54864" bIns="54864" anchor="t">
            <a:spAutoFit/>
          </a:bodyPr>
          <a:lstStyle/>
          <a:p>
            <a:pPr algn="l">
              <a:spcAft>
                <a:spcPts val="300"/>
              </a:spcAft>
              <a:defRPr sz="1100" b="1">
                <a:solidFill>
                  <a:srgbClr val="123730"/>
                </a:solidFill>
                <a:latin typeface="Aptos"/>
              </a:defRPr>
            </a:pPr>
            <a:r>
              <a:rPr sz="1600" dirty="0">
                <a:latin typeface="Arial" panose="020B0604020202020204" pitchFamily="34" charset="0"/>
                <a:cs typeface="Arial" panose="020B0604020202020204" pitchFamily="34" charset="0"/>
              </a:rPr>
              <a:t>Reported result from earlier project notes: EfficientNet-B3 test accuracy 89.68%; MobileNetV2 result 90.87% (verify exact metric and task).</a:t>
            </a:r>
          </a:p>
        </p:txBody>
      </p:sp>
      <p:pic>
        <p:nvPicPr>
          <p:cNvPr id="4" name="Picture 3">
            <a:extLst>
              <a:ext uri="{FF2B5EF4-FFF2-40B4-BE49-F238E27FC236}">
                <a16:creationId xmlns:a16="http://schemas.microsoft.com/office/drawing/2014/main" id="{5DCFBA78-815D-C75A-EC96-359CDAF27017}"/>
              </a:ext>
            </a:extLst>
          </p:cNvPr>
          <p:cNvPicPr>
            <a:picLocks noChangeAspect="1"/>
          </p:cNvPicPr>
          <p:nvPr/>
        </p:nvPicPr>
        <p:blipFill rotWithShape="1">
          <a:blip r:embed="rId3"/>
          <a:srcRect t="13817" b="25658"/>
          <a:stretch/>
        </p:blipFill>
        <p:spPr>
          <a:xfrm>
            <a:off x="10917542" y="138976"/>
            <a:ext cx="1226084" cy="1218953"/>
          </a:xfrm>
          <a:prstGeom prst="flowChartConnector">
            <a:avLst/>
          </a:prstGeom>
          <a:ln w="12700">
            <a:solidFill>
              <a:schemeClr val="tx1"/>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66928" y="357424"/>
            <a:ext cx="5486400" cy="541687"/>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800" dirty="0">
                <a:latin typeface="Arial" panose="020B0604020202020204" pitchFamily="34" charset="0"/>
                <a:cs typeface="Arial" panose="020B0604020202020204" pitchFamily="34" charset="0"/>
              </a:rPr>
              <a:t>11 </a:t>
            </a:r>
            <a:r>
              <a:rPr lang="en-US" sz="2800" dirty="0">
                <a:latin typeface="Arial" panose="020B0604020202020204" pitchFamily="34" charset="0"/>
                <a:cs typeface="Arial" panose="020B0604020202020204" pitchFamily="34" charset="0"/>
              </a:rPr>
              <a:t> MEMBER 01 | METHOD</a:t>
            </a:r>
            <a:endParaRPr sz="2800" dirty="0">
              <a:latin typeface="Arial" panose="020B0604020202020204" pitchFamily="34" charset="0"/>
              <a:cs typeface="Arial" panose="020B0604020202020204" pitchFamily="34" charset="0"/>
            </a:endParaRPr>
          </a:p>
        </p:txBody>
      </p:sp>
      <p:sp>
        <p:nvSpPr>
          <p:cNvPr id="3" name="TextBox 2"/>
          <p:cNvSpPr txBox="1"/>
          <p:nvPr/>
        </p:nvSpPr>
        <p:spPr>
          <a:xfrm>
            <a:off x="594360" y="1033677"/>
            <a:ext cx="10972800" cy="357021"/>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sz="1600" dirty="0">
                <a:latin typeface="Arial" panose="020B0604020202020204" pitchFamily="34" charset="0"/>
                <a:cs typeface="Arial" panose="020B0604020202020204" pitchFamily="34" charset="0"/>
              </a:rPr>
              <a:t>From textile image to a useful result</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49299"/>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sz="900">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64688"/>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sz="1000">
                <a:latin typeface="Arial" panose="020B0604020202020204" pitchFamily="34" charset="0"/>
                <a:cs typeface="Arial" panose="020B0604020202020204" pitchFamily="34" charset="0"/>
              </a:rPr>
              <a:t>12</a:t>
            </a:r>
          </a:p>
        </p:txBody>
      </p:sp>
      <p:sp>
        <p:nvSpPr>
          <p:cNvPr id="10" name="Rounded Rectangle 9"/>
          <p:cNvSpPr/>
          <p:nvPr/>
        </p:nvSpPr>
        <p:spPr>
          <a:xfrm>
            <a:off x="566928" y="1828800"/>
            <a:ext cx="1810512" cy="13533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1" name="Rectangle 10"/>
          <p:cNvSpPr/>
          <p:nvPr/>
        </p:nvSpPr>
        <p:spPr>
          <a:xfrm>
            <a:off x="566928" y="1828800"/>
            <a:ext cx="64008" cy="1353312"/>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2" name="TextBox 11"/>
          <p:cNvSpPr txBox="1"/>
          <p:nvPr/>
        </p:nvSpPr>
        <p:spPr>
          <a:xfrm>
            <a:off x="740664" y="1929384"/>
            <a:ext cx="1499616" cy="357021"/>
          </a:xfrm>
          <a:prstGeom prst="rect">
            <a:avLst/>
          </a:prstGeom>
          <a:noFill/>
        </p:spPr>
        <p:txBody>
          <a:bodyPr wrap="square" lIns="54864" tIns="54864" rIns="54864" bIns="54864" anchor="t">
            <a:spAutoFit/>
          </a:bodyPr>
          <a:lstStyle/>
          <a:p>
            <a:pPr algn="l">
              <a:spcAft>
                <a:spcPts val="300"/>
              </a:spcAft>
              <a:defRPr sz="1100" b="1">
                <a:solidFill>
                  <a:srgbClr val="123730"/>
                </a:solidFill>
                <a:latin typeface="Aptos"/>
              </a:defRPr>
            </a:pPr>
            <a:r>
              <a:rPr sz="1600" dirty="0">
                <a:latin typeface="Arial" panose="020B0604020202020204" pitchFamily="34" charset="0"/>
                <a:cs typeface="Arial" panose="020B0604020202020204" pitchFamily="34" charset="0"/>
              </a:rPr>
              <a:t>Upload</a:t>
            </a:r>
          </a:p>
        </p:txBody>
      </p:sp>
      <p:sp>
        <p:nvSpPr>
          <p:cNvPr id="13" name="TextBox 12"/>
          <p:cNvSpPr txBox="1"/>
          <p:nvPr/>
        </p:nvSpPr>
        <p:spPr>
          <a:xfrm>
            <a:off x="859536" y="2356211"/>
            <a:ext cx="1499616" cy="326243"/>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Image</a:t>
            </a:r>
          </a:p>
        </p:txBody>
      </p:sp>
      <p:cxnSp>
        <p:nvCxnSpPr>
          <p:cNvPr id="14" name="Connector 13"/>
          <p:cNvCxnSpPr/>
          <p:nvPr/>
        </p:nvCxnSpPr>
        <p:spPr>
          <a:xfrm>
            <a:off x="2386584" y="2505456"/>
            <a:ext cx="438912" cy="0"/>
          </a:xfrm>
          <a:prstGeom prst="line">
            <a:avLst/>
          </a:prstGeom>
          <a:ln w="25400">
            <a:solidFill>
              <a:srgbClr val="23896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80360" y="1828800"/>
            <a:ext cx="1810512" cy="13533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6" name="Rectangle 15"/>
          <p:cNvSpPr/>
          <p:nvPr/>
        </p:nvSpPr>
        <p:spPr>
          <a:xfrm>
            <a:off x="2880360" y="1828800"/>
            <a:ext cx="64008" cy="1353312"/>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7" name="TextBox 16"/>
          <p:cNvSpPr txBox="1"/>
          <p:nvPr/>
        </p:nvSpPr>
        <p:spPr>
          <a:xfrm>
            <a:off x="3054096" y="1929384"/>
            <a:ext cx="1499616" cy="357021"/>
          </a:xfrm>
          <a:prstGeom prst="rect">
            <a:avLst/>
          </a:prstGeom>
          <a:noFill/>
        </p:spPr>
        <p:txBody>
          <a:bodyPr wrap="square" lIns="54864" tIns="54864" rIns="54864" bIns="54864" anchor="t">
            <a:spAutoFit/>
          </a:bodyPr>
          <a:lstStyle/>
          <a:p>
            <a:pPr algn="l">
              <a:spcAft>
                <a:spcPts val="300"/>
              </a:spcAft>
              <a:defRPr sz="1100" b="1">
                <a:solidFill>
                  <a:srgbClr val="123730"/>
                </a:solidFill>
                <a:latin typeface="Aptos"/>
              </a:defRPr>
            </a:pPr>
            <a:r>
              <a:rPr sz="1600" dirty="0">
                <a:latin typeface="Arial" panose="020B0604020202020204" pitchFamily="34" charset="0"/>
                <a:cs typeface="Arial" panose="020B0604020202020204" pitchFamily="34" charset="0"/>
              </a:rPr>
              <a:t>Preprocess</a:t>
            </a:r>
          </a:p>
        </p:txBody>
      </p:sp>
      <p:sp>
        <p:nvSpPr>
          <p:cNvPr id="18" name="TextBox 17"/>
          <p:cNvSpPr txBox="1"/>
          <p:nvPr/>
        </p:nvSpPr>
        <p:spPr>
          <a:xfrm>
            <a:off x="3113532" y="2356211"/>
            <a:ext cx="1499616" cy="541687"/>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Resize / normalize</a:t>
            </a:r>
          </a:p>
        </p:txBody>
      </p:sp>
      <p:cxnSp>
        <p:nvCxnSpPr>
          <p:cNvPr id="19" name="Connector 18"/>
          <p:cNvCxnSpPr/>
          <p:nvPr/>
        </p:nvCxnSpPr>
        <p:spPr>
          <a:xfrm>
            <a:off x="4700016" y="2505456"/>
            <a:ext cx="438912" cy="0"/>
          </a:xfrm>
          <a:prstGeom prst="line">
            <a:avLst/>
          </a:prstGeom>
          <a:ln w="25400">
            <a:solidFill>
              <a:srgbClr val="238965"/>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93792" y="1828800"/>
            <a:ext cx="1810512" cy="13533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1" name="Rectangle 20"/>
          <p:cNvSpPr/>
          <p:nvPr/>
        </p:nvSpPr>
        <p:spPr>
          <a:xfrm>
            <a:off x="5193792" y="1828800"/>
            <a:ext cx="64008" cy="1353312"/>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2" name="TextBox 21"/>
          <p:cNvSpPr txBox="1"/>
          <p:nvPr/>
        </p:nvSpPr>
        <p:spPr>
          <a:xfrm>
            <a:off x="5367528" y="1929384"/>
            <a:ext cx="1499616" cy="357021"/>
          </a:xfrm>
          <a:prstGeom prst="rect">
            <a:avLst/>
          </a:prstGeom>
          <a:noFill/>
        </p:spPr>
        <p:txBody>
          <a:bodyPr wrap="square" lIns="54864" tIns="54864" rIns="54864" bIns="54864" anchor="t">
            <a:spAutoFit/>
          </a:bodyPr>
          <a:lstStyle/>
          <a:p>
            <a:pPr algn="l">
              <a:spcAft>
                <a:spcPts val="300"/>
              </a:spcAft>
              <a:defRPr sz="1100" b="1">
                <a:solidFill>
                  <a:srgbClr val="123730"/>
                </a:solidFill>
                <a:latin typeface="Aptos"/>
              </a:defRPr>
            </a:pPr>
            <a:r>
              <a:rPr sz="1600" dirty="0">
                <a:latin typeface="Arial" panose="020B0604020202020204" pitchFamily="34" charset="0"/>
                <a:cs typeface="Arial" panose="020B0604020202020204" pitchFamily="34" charset="0"/>
              </a:rPr>
              <a:t>Inference</a:t>
            </a:r>
          </a:p>
        </p:txBody>
      </p:sp>
      <p:sp>
        <p:nvSpPr>
          <p:cNvPr id="23" name="TextBox 22"/>
          <p:cNvSpPr txBox="1"/>
          <p:nvPr/>
        </p:nvSpPr>
        <p:spPr>
          <a:xfrm>
            <a:off x="5532120" y="2356211"/>
            <a:ext cx="1499616" cy="326243"/>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Trained model</a:t>
            </a:r>
          </a:p>
        </p:txBody>
      </p:sp>
      <p:cxnSp>
        <p:nvCxnSpPr>
          <p:cNvPr id="24" name="Connector 23"/>
          <p:cNvCxnSpPr/>
          <p:nvPr/>
        </p:nvCxnSpPr>
        <p:spPr>
          <a:xfrm>
            <a:off x="7013448" y="2505456"/>
            <a:ext cx="438912" cy="0"/>
          </a:xfrm>
          <a:prstGeom prst="line">
            <a:avLst/>
          </a:prstGeom>
          <a:ln w="25400">
            <a:solidFill>
              <a:srgbClr val="238965"/>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507224" y="1828800"/>
            <a:ext cx="1810512" cy="13533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6" name="Rectangle 25"/>
          <p:cNvSpPr/>
          <p:nvPr/>
        </p:nvSpPr>
        <p:spPr>
          <a:xfrm>
            <a:off x="7507224" y="1828800"/>
            <a:ext cx="64008" cy="1353312"/>
          </a:xfrm>
          <a:prstGeom prst="rect">
            <a:avLst/>
          </a:prstGeom>
          <a:solidFill>
            <a:srgbClr val="775E9D"/>
          </a:solidFill>
          <a:ln>
            <a:solidFill>
              <a:srgbClr val="775E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7" name="TextBox 26"/>
          <p:cNvSpPr txBox="1"/>
          <p:nvPr/>
        </p:nvSpPr>
        <p:spPr>
          <a:xfrm>
            <a:off x="7680960" y="1929384"/>
            <a:ext cx="1499616" cy="357021"/>
          </a:xfrm>
          <a:prstGeom prst="rect">
            <a:avLst/>
          </a:prstGeom>
          <a:noFill/>
        </p:spPr>
        <p:txBody>
          <a:bodyPr wrap="square" lIns="54864" tIns="54864" rIns="54864" bIns="54864" anchor="t">
            <a:spAutoFit/>
          </a:bodyPr>
          <a:lstStyle/>
          <a:p>
            <a:pPr algn="l">
              <a:spcAft>
                <a:spcPts val="300"/>
              </a:spcAft>
              <a:defRPr sz="1100" b="1">
                <a:solidFill>
                  <a:srgbClr val="123730"/>
                </a:solidFill>
                <a:latin typeface="Aptos"/>
              </a:defRPr>
            </a:pPr>
            <a:r>
              <a:rPr sz="1600" dirty="0">
                <a:latin typeface="Arial" panose="020B0604020202020204" pitchFamily="34" charset="0"/>
                <a:cs typeface="Arial" panose="020B0604020202020204" pitchFamily="34" charset="0"/>
              </a:rPr>
              <a:t>Post-process</a:t>
            </a:r>
          </a:p>
        </p:txBody>
      </p:sp>
      <p:sp>
        <p:nvSpPr>
          <p:cNvPr id="28" name="TextBox 27"/>
          <p:cNvSpPr txBox="1"/>
          <p:nvPr/>
        </p:nvSpPr>
        <p:spPr>
          <a:xfrm>
            <a:off x="7818120" y="2351793"/>
            <a:ext cx="1499616" cy="326243"/>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lang="en-US" sz="1400" dirty="0">
                <a:latin typeface="Arial" panose="020B0604020202020204" pitchFamily="34" charset="0"/>
                <a:cs typeface="Arial" panose="020B0604020202020204" pitchFamily="34" charset="0"/>
              </a:rPr>
              <a:t>Class/mask</a:t>
            </a:r>
            <a:endParaRPr sz="1400" dirty="0">
              <a:latin typeface="Arial" panose="020B0604020202020204" pitchFamily="34" charset="0"/>
              <a:cs typeface="Arial" panose="020B0604020202020204" pitchFamily="34" charset="0"/>
            </a:endParaRPr>
          </a:p>
        </p:txBody>
      </p:sp>
      <p:cxnSp>
        <p:nvCxnSpPr>
          <p:cNvPr id="29" name="Connector 28"/>
          <p:cNvCxnSpPr/>
          <p:nvPr/>
        </p:nvCxnSpPr>
        <p:spPr>
          <a:xfrm>
            <a:off x="9326880" y="2505456"/>
            <a:ext cx="438912" cy="0"/>
          </a:xfrm>
          <a:prstGeom prst="line">
            <a:avLst/>
          </a:prstGeom>
          <a:ln w="25400">
            <a:solidFill>
              <a:srgbClr val="238965"/>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820656" y="1828800"/>
            <a:ext cx="1810512" cy="13533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31" name="Rectangle 30"/>
          <p:cNvSpPr/>
          <p:nvPr/>
        </p:nvSpPr>
        <p:spPr>
          <a:xfrm>
            <a:off x="9820656" y="1828800"/>
            <a:ext cx="64008" cy="1353312"/>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32" name="TextBox 31"/>
          <p:cNvSpPr txBox="1"/>
          <p:nvPr/>
        </p:nvSpPr>
        <p:spPr>
          <a:xfrm>
            <a:off x="9994392" y="1929384"/>
            <a:ext cx="1499616" cy="357021"/>
          </a:xfrm>
          <a:prstGeom prst="rect">
            <a:avLst/>
          </a:prstGeom>
          <a:noFill/>
        </p:spPr>
        <p:txBody>
          <a:bodyPr wrap="square" lIns="54864" tIns="54864" rIns="54864" bIns="54864" anchor="t">
            <a:spAutoFit/>
          </a:bodyPr>
          <a:lstStyle/>
          <a:p>
            <a:pPr algn="l">
              <a:spcAft>
                <a:spcPts val="300"/>
              </a:spcAft>
              <a:defRPr sz="1100" b="1">
                <a:solidFill>
                  <a:srgbClr val="123730"/>
                </a:solidFill>
                <a:latin typeface="Aptos"/>
              </a:defRPr>
            </a:pPr>
            <a:r>
              <a:rPr sz="1600" dirty="0">
                <a:latin typeface="Arial" panose="020B0604020202020204" pitchFamily="34" charset="0"/>
                <a:cs typeface="Arial" panose="020B0604020202020204" pitchFamily="34" charset="0"/>
              </a:rPr>
              <a:t>Display</a:t>
            </a:r>
          </a:p>
        </p:txBody>
      </p:sp>
      <p:sp>
        <p:nvSpPr>
          <p:cNvPr id="33" name="TextBox 32"/>
          <p:cNvSpPr txBox="1"/>
          <p:nvPr/>
        </p:nvSpPr>
        <p:spPr>
          <a:xfrm>
            <a:off x="10058400" y="2356211"/>
            <a:ext cx="1499616" cy="326243"/>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Prediction</a:t>
            </a:r>
          </a:p>
        </p:txBody>
      </p:sp>
      <p:pic>
        <p:nvPicPr>
          <p:cNvPr id="34" name="Picture 33">
            <a:extLst>
              <a:ext uri="{FF2B5EF4-FFF2-40B4-BE49-F238E27FC236}">
                <a16:creationId xmlns:a16="http://schemas.microsoft.com/office/drawing/2014/main" id="{0FEACDB6-CFB9-3077-9380-267DFEDBFE9C}"/>
              </a:ext>
            </a:extLst>
          </p:cNvPr>
          <p:cNvPicPr>
            <a:picLocks noChangeAspect="1"/>
          </p:cNvPicPr>
          <p:nvPr/>
        </p:nvPicPr>
        <p:blipFill rotWithShape="1">
          <a:blip r:embed="rId3"/>
          <a:srcRect t="13817" b="25658"/>
          <a:stretch/>
        </p:blipFill>
        <p:spPr>
          <a:xfrm>
            <a:off x="11311128" y="259596"/>
            <a:ext cx="544856" cy="541687"/>
          </a:xfrm>
          <a:prstGeom prst="flowChartConnector">
            <a:avLst/>
          </a:prstGeom>
          <a:ln w="12700">
            <a:solidFill>
              <a:schemeClr val="tx1"/>
            </a:solidFill>
          </a:ln>
        </p:spPr>
      </p:pic>
      <p:pic>
        <p:nvPicPr>
          <p:cNvPr id="4" name="Picture 3">
            <a:extLst>
              <a:ext uri="{FF2B5EF4-FFF2-40B4-BE49-F238E27FC236}">
                <a16:creationId xmlns:a16="http://schemas.microsoft.com/office/drawing/2014/main" id="{38D30090-A40D-C9A4-534C-469A159E80B9}"/>
              </a:ext>
            </a:extLst>
          </p:cNvPr>
          <p:cNvPicPr>
            <a:picLocks noChangeAspect="1"/>
          </p:cNvPicPr>
          <p:nvPr/>
        </p:nvPicPr>
        <p:blipFill rotWithShape="1">
          <a:blip r:embed="rId3"/>
          <a:srcRect t="13817" b="25658"/>
          <a:stretch/>
        </p:blipFill>
        <p:spPr>
          <a:xfrm>
            <a:off x="10744200" y="128594"/>
            <a:ext cx="1226084" cy="1218953"/>
          </a:xfrm>
          <a:prstGeom prst="flowChartConnector">
            <a:avLst/>
          </a:prstGeom>
          <a:ln w="12700">
            <a:solidFill>
              <a:schemeClr val="tx1"/>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66927" y="201168"/>
            <a:ext cx="7802521" cy="480131"/>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400" dirty="0">
                <a:latin typeface="Arial" panose="020B0604020202020204" pitchFamily="34" charset="0"/>
                <a:cs typeface="Arial" panose="020B0604020202020204" pitchFamily="34" charset="0"/>
              </a:rPr>
              <a:t>12  MEMBER 02 | IT22215338</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Siriwardhana</a:t>
            </a:r>
            <a:r>
              <a:rPr lang="en-US" sz="2400" dirty="0">
                <a:latin typeface="Arial" panose="020B0604020202020204" pitchFamily="34" charset="0"/>
                <a:cs typeface="Arial" panose="020B0604020202020204" pitchFamily="34" charset="0"/>
              </a:rPr>
              <a:t> N.S.T.N</a:t>
            </a:r>
            <a:endParaRPr sz="2400" dirty="0">
              <a:latin typeface="Arial" panose="020B0604020202020204" pitchFamily="34" charset="0"/>
              <a:cs typeface="Arial" panose="020B0604020202020204" pitchFamily="34" charset="0"/>
            </a:endParaRPr>
          </a:p>
        </p:txBody>
      </p:sp>
      <p:sp>
        <p:nvSpPr>
          <p:cNvPr id="3" name="TextBox 2"/>
          <p:cNvSpPr txBox="1"/>
          <p:nvPr/>
        </p:nvSpPr>
        <p:spPr>
          <a:xfrm>
            <a:off x="585216" y="851930"/>
            <a:ext cx="10972800" cy="326243"/>
          </a:xfrm>
          <a:prstGeom prst="rect">
            <a:avLst/>
          </a:prstGeom>
          <a:noFill/>
        </p:spPr>
        <p:txBody>
          <a:bodyPr wrap="square" lIns="54864" tIns="54864" rIns="54864" bIns="54864" anchor="t">
            <a:spAutoFit/>
          </a:bodyPr>
          <a:lstStyle/>
          <a:p>
            <a:pPr algn="l">
              <a:spcAft>
                <a:spcPts val="400"/>
              </a:spcAft>
              <a:defRPr sz="2400" b="1">
                <a:solidFill>
                  <a:srgbClr val="123730"/>
                </a:solidFill>
                <a:latin typeface="Aptos"/>
              </a:defRPr>
            </a:pPr>
            <a:r>
              <a:rPr sz="2200" b="1">
                <a:solidFill>
                  <a:srgbClr val="17402B"/>
                </a:solidFill>
                <a:latin typeface="Aptos"/>
              </a:rPr>
              <a:t>Sustainability Intelligence — model outputs and calculations</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33910"/>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49299"/>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a:latin typeface="Arial" panose="020B0604020202020204" pitchFamily="34" charset="0"/>
                <a:cs typeface="Arial" panose="020B0604020202020204" pitchFamily="34" charset="0"/>
              </a:rPr>
              <a:t>13</a:t>
            </a:r>
          </a:p>
        </p:txBody>
      </p:sp>
      <p:sp>
        <p:nvSpPr>
          <p:cNvPr id="10" name="Rounded Rectangle 9"/>
          <p:cNvSpPr/>
          <p:nvPr/>
        </p:nvSpPr>
        <p:spPr>
          <a:xfrm>
            <a:off x="658368" y="1444752"/>
            <a:ext cx="2606040" cy="11247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1" name="Rectangle 10"/>
          <p:cNvSpPr/>
          <p:nvPr/>
        </p:nvSpPr>
        <p:spPr>
          <a:xfrm>
            <a:off x="658368" y="1444752"/>
            <a:ext cx="64008" cy="1124712"/>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2" name="TextBox 11"/>
          <p:cNvSpPr txBox="1"/>
          <p:nvPr/>
        </p:nvSpPr>
        <p:spPr>
          <a:xfrm>
            <a:off x="832103" y="1545336"/>
            <a:ext cx="2295144" cy="326243"/>
          </a:xfrm>
          <a:prstGeom prst="rect">
            <a:avLst/>
          </a:prstGeom>
          <a:noFill/>
        </p:spPr>
        <p:txBody>
          <a:bodyPr wrap="square" lIns="54864" tIns="54864" rIns="54864" bIns="54864" anchor="t">
            <a:spAutoFit/>
          </a:bodyPr>
          <a:lstStyle/>
          <a:p>
            <a:pPr algn="l">
              <a:spcAft>
                <a:spcPts val="400"/>
              </a:spcAft>
              <a:defRPr sz="1000" b="1">
                <a:solidFill>
                  <a:srgbClr val="123730"/>
                </a:solidFill>
                <a:latin typeface="Aptos"/>
              </a:defRPr>
            </a:pPr>
            <a:r>
              <a:rPr sz="1400" b="1" dirty="0">
                <a:solidFill>
                  <a:srgbClr val="17402B"/>
                </a:solidFill>
                <a:latin typeface="Aptos"/>
              </a:rPr>
              <a:t>01  Circularity score</a:t>
            </a:r>
          </a:p>
          <a:p>
            <a:pPr>
              <a:spcAft>
                <a:spcPts val="400"/>
              </a:spcAft>
            </a:pPr>
            <a:r>
              <a:rPr sz="1400" b="1" dirty="0" err="1">
                <a:solidFill>
                  <a:srgbClr val="17402B"/>
                </a:solidFill>
                <a:latin typeface="Aptos"/>
              </a:rPr>
              <a:t>XGBoost</a:t>
            </a:r>
            <a:r>
              <a:rPr sz="1400" b="1" dirty="0">
                <a:solidFill>
                  <a:srgbClr val="17402B"/>
                </a:solidFill>
                <a:latin typeface="Aptos"/>
              </a:rPr>
              <a:t> Regressor</a:t>
            </a:r>
          </a:p>
        </p:txBody>
      </p:sp>
      <p:sp>
        <p:nvSpPr>
          <p:cNvPr id="13" name="TextBox 12"/>
          <p:cNvSpPr txBox="1"/>
          <p:nvPr/>
        </p:nvSpPr>
        <p:spPr>
          <a:xfrm>
            <a:off x="922363" y="2046411"/>
            <a:ext cx="2295144" cy="295466"/>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lang="en-US" sz="1200" dirty="0">
                <a:latin typeface="Arial" panose="020B0604020202020204" pitchFamily="34" charset="0"/>
                <a:cs typeface="Arial" panose="020B0604020202020204" pitchFamily="34" charset="0"/>
              </a:rPr>
              <a:t>Model/target</a:t>
            </a:r>
            <a:r>
              <a:rPr sz="1200" dirty="0">
                <a:latin typeface="Arial" panose="020B0604020202020204" pitchFamily="34" charset="0"/>
                <a:cs typeface="Arial" panose="020B0604020202020204" pitchFamily="34" charset="0"/>
              </a:rPr>
              <a:t> scale</a:t>
            </a:r>
          </a:p>
        </p:txBody>
      </p:sp>
      <p:sp>
        <p:nvSpPr>
          <p:cNvPr id="14" name="Rounded Rectangle 13"/>
          <p:cNvSpPr/>
          <p:nvPr/>
        </p:nvSpPr>
        <p:spPr>
          <a:xfrm>
            <a:off x="3520439" y="1444752"/>
            <a:ext cx="2606040" cy="11247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5" name="Rectangle 14"/>
          <p:cNvSpPr/>
          <p:nvPr/>
        </p:nvSpPr>
        <p:spPr>
          <a:xfrm>
            <a:off x="3520439" y="1444752"/>
            <a:ext cx="64008" cy="1124712"/>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6" name="TextBox 15"/>
          <p:cNvSpPr txBox="1"/>
          <p:nvPr/>
        </p:nvSpPr>
        <p:spPr>
          <a:xfrm>
            <a:off x="3694176" y="1545336"/>
            <a:ext cx="2295144" cy="326243"/>
          </a:xfrm>
          <a:prstGeom prst="rect">
            <a:avLst/>
          </a:prstGeom>
          <a:noFill/>
        </p:spPr>
        <p:txBody>
          <a:bodyPr wrap="square" lIns="54864" tIns="54864" rIns="54864" bIns="54864" anchor="t">
            <a:spAutoFit/>
          </a:bodyPr>
          <a:lstStyle/>
          <a:p>
            <a:pPr algn="l">
              <a:spcAft>
                <a:spcPts val="400"/>
              </a:spcAft>
              <a:defRPr sz="1000" b="1">
                <a:solidFill>
                  <a:srgbClr val="123730"/>
                </a:solidFill>
                <a:latin typeface="Aptos"/>
              </a:defRPr>
            </a:pPr>
            <a:r>
              <a:rPr sz="1400" b="1" dirty="0">
                <a:solidFill>
                  <a:srgbClr val="17402B"/>
                </a:solidFill>
                <a:latin typeface="Aptos"/>
              </a:rPr>
              <a:t>02  Sustainability grade</a:t>
            </a:r>
          </a:p>
          <a:p>
            <a:pPr>
              <a:spcAft>
                <a:spcPts val="400"/>
              </a:spcAft>
            </a:pPr>
            <a:r>
              <a:rPr sz="1400" b="1" dirty="0" err="1">
                <a:solidFill>
                  <a:srgbClr val="17402B"/>
                </a:solidFill>
                <a:latin typeface="Aptos"/>
              </a:rPr>
              <a:t>XGBoost</a:t>
            </a:r>
            <a:r>
              <a:rPr sz="1400" b="1" dirty="0">
                <a:solidFill>
                  <a:srgbClr val="17402B"/>
                </a:solidFill>
                <a:latin typeface="Aptos"/>
              </a:rPr>
              <a:t> Classifier + label encoder</a:t>
            </a:r>
          </a:p>
        </p:txBody>
      </p:sp>
      <p:sp>
        <p:nvSpPr>
          <p:cNvPr id="17" name="TextBox 16"/>
          <p:cNvSpPr txBox="1"/>
          <p:nvPr/>
        </p:nvSpPr>
        <p:spPr>
          <a:xfrm>
            <a:off x="3977640" y="2265472"/>
            <a:ext cx="2295144" cy="295466"/>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200" dirty="0">
                <a:latin typeface="Arial" panose="020B0604020202020204" pitchFamily="34" charset="0"/>
                <a:cs typeface="Arial" panose="020B0604020202020204" pitchFamily="34" charset="0"/>
              </a:rPr>
              <a:t>Grade model or mapping</a:t>
            </a:r>
          </a:p>
        </p:txBody>
      </p:sp>
      <p:sp>
        <p:nvSpPr>
          <p:cNvPr id="18" name="Rounded Rectangle 17"/>
          <p:cNvSpPr/>
          <p:nvPr/>
        </p:nvSpPr>
        <p:spPr>
          <a:xfrm>
            <a:off x="6382512" y="1444752"/>
            <a:ext cx="2606040" cy="11247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9" name="Rectangle 18"/>
          <p:cNvSpPr/>
          <p:nvPr/>
        </p:nvSpPr>
        <p:spPr>
          <a:xfrm>
            <a:off x="6382512" y="1444752"/>
            <a:ext cx="64008" cy="1124712"/>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0" name="TextBox 19"/>
          <p:cNvSpPr txBox="1"/>
          <p:nvPr/>
        </p:nvSpPr>
        <p:spPr>
          <a:xfrm>
            <a:off x="6556248" y="1545336"/>
            <a:ext cx="2295144" cy="326243"/>
          </a:xfrm>
          <a:prstGeom prst="rect">
            <a:avLst/>
          </a:prstGeom>
          <a:noFill/>
        </p:spPr>
        <p:txBody>
          <a:bodyPr wrap="square" lIns="54864" tIns="54864" rIns="54864" bIns="54864" anchor="t">
            <a:spAutoFit/>
          </a:bodyPr>
          <a:lstStyle/>
          <a:p>
            <a:pPr algn="l">
              <a:spcAft>
                <a:spcPts val="400"/>
              </a:spcAft>
              <a:defRPr sz="1000" b="1">
                <a:solidFill>
                  <a:srgbClr val="123730"/>
                </a:solidFill>
                <a:latin typeface="Aptos"/>
              </a:defRPr>
            </a:pPr>
            <a:r>
              <a:rPr sz="1400" b="1">
                <a:solidFill>
                  <a:srgbClr val="17402B"/>
                </a:solidFill>
                <a:latin typeface="Aptos"/>
              </a:rPr>
              <a:t>03  Recyclability score</a:t>
            </a:r>
          </a:p>
          <a:p>
            <a:pPr>
              <a:spcAft>
                <a:spcPts val="400"/>
              </a:spcAft>
            </a:pPr>
            <a:r>
              <a:rPr sz="1400" b="1">
                <a:solidFill>
                  <a:srgbClr val="17402B"/>
                </a:solidFill>
                <a:latin typeface="Aptos"/>
              </a:rPr>
              <a:t>XGBoost Regressor</a:t>
            </a:r>
          </a:p>
        </p:txBody>
      </p:sp>
      <p:sp>
        <p:nvSpPr>
          <p:cNvPr id="21" name="TextBox 20"/>
          <p:cNvSpPr txBox="1"/>
          <p:nvPr/>
        </p:nvSpPr>
        <p:spPr>
          <a:xfrm>
            <a:off x="6556248" y="2073749"/>
            <a:ext cx="2295144" cy="295466"/>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200" dirty="0">
                <a:latin typeface="Arial" panose="020B0604020202020204" pitchFamily="34" charset="0"/>
                <a:cs typeface="Arial" panose="020B0604020202020204" pitchFamily="34" charset="0"/>
              </a:rPr>
              <a:t>Exact implemented formula</a:t>
            </a:r>
          </a:p>
        </p:txBody>
      </p:sp>
      <p:sp>
        <p:nvSpPr>
          <p:cNvPr id="22" name="Rounded Rectangle 21"/>
          <p:cNvSpPr/>
          <p:nvPr/>
        </p:nvSpPr>
        <p:spPr>
          <a:xfrm>
            <a:off x="9244584" y="1444752"/>
            <a:ext cx="2606040" cy="11247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3" name="Rectangle 22"/>
          <p:cNvSpPr/>
          <p:nvPr/>
        </p:nvSpPr>
        <p:spPr>
          <a:xfrm>
            <a:off x="9244584" y="1444752"/>
            <a:ext cx="64008" cy="1124712"/>
          </a:xfrm>
          <a:prstGeom prst="rect">
            <a:avLst/>
          </a:prstGeom>
          <a:solidFill>
            <a:srgbClr val="775E9D"/>
          </a:solidFill>
          <a:ln>
            <a:solidFill>
              <a:srgbClr val="775E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4" name="TextBox 23"/>
          <p:cNvSpPr txBox="1"/>
          <p:nvPr/>
        </p:nvSpPr>
        <p:spPr>
          <a:xfrm>
            <a:off x="9418320" y="1545336"/>
            <a:ext cx="2295144" cy="326243"/>
          </a:xfrm>
          <a:prstGeom prst="rect">
            <a:avLst/>
          </a:prstGeom>
          <a:noFill/>
        </p:spPr>
        <p:txBody>
          <a:bodyPr wrap="square" lIns="54864" tIns="54864" rIns="54864" bIns="54864" anchor="t">
            <a:spAutoFit/>
          </a:bodyPr>
          <a:lstStyle/>
          <a:p>
            <a:pPr algn="l">
              <a:spcAft>
                <a:spcPts val="400"/>
              </a:spcAft>
              <a:defRPr sz="1000" b="1">
                <a:solidFill>
                  <a:srgbClr val="123730"/>
                </a:solidFill>
                <a:latin typeface="Aptos"/>
              </a:defRPr>
            </a:pPr>
            <a:r>
              <a:rPr sz="1400" b="1">
                <a:solidFill>
                  <a:srgbClr val="17402B"/>
                </a:solidFill>
                <a:latin typeface="Aptos"/>
              </a:rPr>
              <a:t>04  CO₂ saved (estimate)</a:t>
            </a:r>
          </a:p>
          <a:p>
            <a:pPr>
              <a:spcAft>
                <a:spcPts val="400"/>
              </a:spcAft>
            </a:pPr>
            <a:r>
              <a:rPr sz="1400" b="1">
                <a:solidFill>
                  <a:srgbClr val="17402B"/>
                </a:solidFill>
                <a:latin typeface="Aptos"/>
              </a:rPr>
              <a:t>XGBoost Regressor</a:t>
            </a:r>
          </a:p>
        </p:txBody>
      </p:sp>
      <p:sp>
        <p:nvSpPr>
          <p:cNvPr id="25" name="TextBox 24"/>
          <p:cNvSpPr txBox="1"/>
          <p:nvPr/>
        </p:nvSpPr>
        <p:spPr>
          <a:xfrm>
            <a:off x="9536776" y="2129953"/>
            <a:ext cx="2295144" cy="295466"/>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200" dirty="0">
                <a:latin typeface="Arial" panose="020B0604020202020204" pitchFamily="34" charset="0"/>
                <a:cs typeface="Arial" panose="020B0604020202020204" pitchFamily="34" charset="0"/>
              </a:rPr>
              <a:t>Units + baseline factor</a:t>
            </a:r>
          </a:p>
        </p:txBody>
      </p:sp>
      <p:sp>
        <p:nvSpPr>
          <p:cNvPr id="26" name="Rounded Rectangle 25"/>
          <p:cNvSpPr/>
          <p:nvPr/>
        </p:nvSpPr>
        <p:spPr>
          <a:xfrm>
            <a:off x="658368" y="2834640"/>
            <a:ext cx="2606040" cy="11247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7" name="Rectangle 26"/>
          <p:cNvSpPr/>
          <p:nvPr/>
        </p:nvSpPr>
        <p:spPr>
          <a:xfrm>
            <a:off x="658368" y="2834640"/>
            <a:ext cx="64008" cy="1124712"/>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8" name="TextBox 27"/>
          <p:cNvSpPr txBox="1"/>
          <p:nvPr/>
        </p:nvSpPr>
        <p:spPr>
          <a:xfrm>
            <a:off x="832103" y="2935224"/>
            <a:ext cx="2295144" cy="326243"/>
          </a:xfrm>
          <a:prstGeom prst="rect">
            <a:avLst/>
          </a:prstGeom>
          <a:noFill/>
        </p:spPr>
        <p:txBody>
          <a:bodyPr wrap="square" lIns="54864" tIns="54864" rIns="54864" bIns="54864" anchor="t">
            <a:spAutoFit/>
          </a:bodyPr>
          <a:lstStyle/>
          <a:p>
            <a:pPr algn="l">
              <a:spcAft>
                <a:spcPts val="400"/>
              </a:spcAft>
              <a:defRPr sz="1000" b="1">
                <a:solidFill>
                  <a:srgbClr val="123730"/>
                </a:solidFill>
                <a:latin typeface="Aptos"/>
              </a:defRPr>
            </a:pPr>
            <a:r>
              <a:rPr sz="1400" b="1">
                <a:solidFill>
                  <a:srgbClr val="17402B"/>
                </a:solidFill>
                <a:latin typeface="Aptos"/>
              </a:rPr>
              <a:t>05  Water saved (estimate)</a:t>
            </a:r>
          </a:p>
          <a:p>
            <a:pPr>
              <a:spcAft>
                <a:spcPts val="400"/>
              </a:spcAft>
            </a:pPr>
            <a:r>
              <a:rPr sz="1400" b="1">
                <a:solidFill>
                  <a:srgbClr val="17402B"/>
                </a:solidFill>
                <a:latin typeface="Aptos"/>
              </a:rPr>
              <a:t>XGBoost Regressor</a:t>
            </a:r>
          </a:p>
        </p:txBody>
      </p:sp>
      <p:sp>
        <p:nvSpPr>
          <p:cNvPr id="29" name="TextBox 28"/>
          <p:cNvSpPr txBox="1"/>
          <p:nvPr/>
        </p:nvSpPr>
        <p:spPr>
          <a:xfrm>
            <a:off x="1000008" y="3530596"/>
            <a:ext cx="2295144" cy="295466"/>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200" dirty="0">
                <a:latin typeface="Arial" panose="020B0604020202020204" pitchFamily="34" charset="0"/>
                <a:cs typeface="Arial" panose="020B0604020202020204" pitchFamily="34" charset="0"/>
              </a:rPr>
              <a:t>Units + baseline factor</a:t>
            </a:r>
          </a:p>
        </p:txBody>
      </p:sp>
      <p:sp>
        <p:nvSpPr>
          <p:cNvPr id="30" name="Rounded Rectangle 29"/>
          <p:cNvSpPr/>
          <p:nvPr/>
        </p:nvSpPr>
        <p:spPr>
          <a:xfrm>
            <a:off x="3520439" y="2834640"/>
            <a:ext cx="2606040" cy="11247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31" name="Rectangle 30"/>
          <p:cNvSpPr/>
          <p:nvPr/>
        </p:nvSpPr>
        <p:spPr>
          <a:xfrm>
            <a:off x="3520439" y="2834640"/>
            <a:ext cx="64008" cy="1124712"/>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32" name="TextBox 31"/>
          <p:cNvSpPr txBox="1"/>
          <p:nvPr/>
        </p:nvSpPr>
        <p:spPr>
          <a:xfrm>
            <a:off x="3694176" y="2935224"/>
            <a:ext cx="2295144" cy="326243"/>
          </a:xfrm>
          <a:prstGeom prst="rect">
            <a:avLst/>
          </a:prstGeom>
          <a:noFill/>
        </p:spPr>
        <p:txBody>
          <a:bodyPr wrap="square" lIns="54864" tIns="54864" rIns="54864" bIns="54864" anchor="t">
            <a:spAutoFit/>
          </a:bodyPr>
          <a:lstStyle/>
          <a:p>
            <a:pPr algn="l">
              <a:spcAft>
                <a:spcPts val="400"/>
              </a:spcAft>
              <a:defRPr sz="1000" b="1">
                <a:solidFill>
                  <a:srgbClr val="123730"/>
                </a:solidFill>
                <a:latin typeface="Aptos"/>
              </a:defRPr>
            </a:pPr>
            <a:r>
              <a:rPr sz="1400" b="1">
                <a:solidFill>
                  <a:srgbClr val="17402B"/>
                </a:solidFill>
                <a:latin typeface="Aptos"/>
              </a:rPr>
              <a:t>06  Carbon reduction %</a:t>
            </a:r>
          </a:p>
          <a:p>
            <a:pPr>
              <a:spcAft>
                <a:spcPts val="400"/>
              </a:spcAft>
            </a:pPr>
            <a:r>
              <a:rPr sz="1400" b="1">
                <a:solidFill>
                  <a:srgbClr val="17402B"/>
                </a:solidFill>
                <a:latin typeface="Aptos"/>
              </a:rPr>
              <a:t>XGBoost Regressor</a:t>
            </a:r>
          </a:p>
        </p:txBody>
      </p:sp>
      <p:sp>
        <p:nvSpPr>
          <p:cNvPr id="33" name="TextBox 32"/>
          <p:cNvSpPr txBox="1"/>
          <p:nvPr/>
        </p:nvSpPr>
        <p:spPr>
          <a:xfrm>
            <a:off x="3892823" y="3482518"/>
            <a:ext cx="2295144" cy="295466"/>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200" dirty="0">
                <a:latin typeface="Arial" panose="020B0604020202020204" pitchFamily="34" charset="0"/>
                <a:cs typeface="Arial" panose="020B0604020202020204" pitchFamily="34" charset="0"/>
              </a:rPr>
              <a:t>Boundary + units</a:t>
            </a:r>
          </a:p>
        </p:txBody>
      </p:sp>
      <p:sp>
        <p:nvSpPr>
          <p:cNvPr id="34" name="Rounded Rectangle 33"/>
          <p:cNvSpPr/>
          <p:nvPr/>
        </p:nvSpPr>
        <p:spPr>
          <a:xfrm>
            <a:off x="6382512" y="2834640"/>
            <a:ext cx="2606040" cy="11247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35" name="Rectangle 34"/>
          <p:cNvSpPr/>
          <p:nvPr/>
        </p:nvSpPr>
        <p:spPr>
          <a:xfrm>
            <a:off x="6382512" y="2834640"/>
            <a:ext cx="64008" cy="1124712"/>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36" name="TextBox 35"/>
          <p:cNvSpPr txBox="1"/>
          <p:nvPr/>
        </p:nvSpPr>
        <p:spPr>
          <a:xfrm>
            <a:off x="6556248" y="2935224"/>
            <a:ext cx="2295144" cy="326243"/>
          </a:xfrm>
          <a:prstGeom prst="rect">
            <a:avLst/>
          </a:prstGeom>
          <a:noFill/>
        </p:spPr>
        <p:txBody>
          <a:bodyPr wrap="square" lIns="54864" tIns="54864" rIns="54864" bIns="54864" anchor="t">
            <a:spAutoFit/>
          </a:bodyPr>
          <a:lstStyle/>
          <a:p>
            <a:pPr algn="l">
              <a:spcAft>
                <a:spcPts val="400"/>
              </a:spcAft>
              <a:defRPr sz="1000" b="1">
                <a:solidFill>
                  <a:srgbClr val="123730"/>
                </a:solidFill>
                <a:latin typeface="Aptos"/>
              </a:defRPr>
            </a:pPr>
            <a:r>
              <a:rPr sz="1400" b="1">
                <a:solidFill>
                  <a:srgbClr val="17402B"/>
                </a:solidFill>
                <a:latin typeface="Aptos"/>
              </a:rPr>
              <a:t>07  Water reduction %</a:t>
            </a:r>
          </a:p>
          <a:p>
            <a:pPr>
              <a:spcAft>
                <a:spcPts val="400"/>
              </a:spcAft>
            </a:pPr>
            <a:r>
              <a:rPr sz="1400" b="1">
                <a:solidFill>
                  <a:srgbClr val="17402B"/>
                </a:solidFill>
                <a:latin typeface="Aptos"/>
              </a:rPr>
              <a:t>XGBoost Regressor</a:t>
            </a:r>
          </a:p>
        </p:txBody>
      </p:sp>
      <p:sp>
        <p:nvSpPr>
          <p:cNvPr id="37" name="TextBox 36"/>
          <p:cNvSpPr txBox="1"/>
          <p:nvPr/>
        </p:nvSpPr>
        <p:spPr>
          <a:xfrm>
            <a:off x="6556248" y="3482518"/>
            <a:ext cx="2295144" cy="295466"/>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200" dirty="0">
                <a:latin typeface="Arial" panose="020B0604020202020204" pitchFamily="34" charset="0"/>
                <a:cs typeface="Arial" panose="020B0604020202020204" pitchFamily="34" charset="0"/>
              </a:rPr>
              <a:t>Inputs combined</a:t>
            </a:r>
          </a:p>
        </p:txBody>
      </p:sp>
      <p:sp>
        <p:nvSpPr>
          <p:cNvPr id="38" name="Rounded Rectangle 37"/>
          <p:cNvSpPr/>
          <p:nvPr/>
        </p:nvSpPr>
        <p:spPr>
          <a:xfrm>
            <a:off x="9244584" y="2834639"/>
            <a:ext cx="2606040" cy="1453898"/>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39" name="Rectangle 38"/>
          <p:cNvSpPr/>
          <p:nvPr/>
        </p:nvSpPr>
        <p:spPr>
          <a:xfrm>
            <a:off x="9244584" y="2834640"/>
            <a:ext cx="64008" cy="1124712"/>
          </a:xfrm>
          <a:prstGeom prst="rect">
            <a:avLst/>
          </a:prstGeom>
          <a:solidFill>
            <a:srgbClr val="775E9D"/>
          </a:solidFill>
          <a:ln>
            <a:solidFill>
              <a:srgbClr val="775E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40" name="TextBox 39"/>
          <p:cNvSpPr txBox="1"/>
          <p:nvPr/>
        </p:nvSpPr>
        <p:spPr>
          <a:xfrm>
            <a:off x="9418320" y="2865882"/>
            <a:ext cx="2295144" cy="541687"/>
          </a:xfrm>
          <a:prstGeom prst="rect">
            <a:avLst/>
          </a:prstGeom>
          <a:noFill/>
        </p:spPr>
        <p:txBody>
          <a:bodyPr wrap="square" lIns="54864" tIns="54864" rIns="54864" bIns="54864" anchor="t">
            <a:spAutoFit/>
          </a:bodyPr>
          <a:lstStyle/>
          <a:p>
            <a:pPr algn="l">
              <a:spcAft>
                <a:spcPts val="400"/>
              </a:spcAft>
              <a:defRPr sz="1000" b="1">
                <a:solidFill>
                  <a:srgbClr val="123730"/>
                </a:solidFill>
                <a:latin typeface="Aptos"/>
              </a:defRPr>
            </a:pPr>
            <a:r>
              <a:rPr sz="1400" b="1">
                <a:solidFill>
                  <a:srgbClr val="17402B"/>
                </a:solidFill>
                <a:latin typeface="Aptos"/>
              </a:rPr>
              <a:t>08  Derived indicators</a:t>
            </a:r>
          </a:p>
          <a:p>
            <a:pPr>
              <a:spcAft>
                <a:spcPts val="400"/>
              </a:spcAft>
            </a:pPr>
            <a:r>
              <a:rPr sz="1400" b="1">
                <a:solidFill>
                  <a:srgbClr val="17402B"/>
                </a:solidFill>
                <a:latin typeface="Aptos"/>
              </a:rPr>
              <a:t>Energy, landfill, SDG &amp; economic proxy scores</a:t>
            </a:r>
          </a:p>
        </p:txBody>
      </p:sp>
      <p:sp>
        <p:nvSpPr>
          <p:cNvPr id="41" name="TextBox 40"/>
          <p:cNvSpPr txBox="1"/>
          <p:nvPr/>
        </p:nvSpPr>
        <p:spPr>
          <a:xfrm>
            <a:off x="9432505" y="3730752"/>
            <a:ext cx="2295144" cy="480131"/>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lang="en-US" sz="1200" dirty="0">
                <a:latin typeface="Arial" panose="020B0604020202020204" pitchFamily="34" charset="0"/>
                <a:cs typeface="Arial" panose="020B0604020202020204" pitchFamily="34" charset="0"/>
              </a:rPr>
              <a:t>Reuse/recycle/upcycle</a:t>
            </a:r>
            <a:r>
              <a:rPr sz="1200" dirty="0">
                <a:latin typeface="Arial" panose="020B0604020202020204" pitchFamily="34" charset="0"/>
                <a:cs typeface="Arial" panose="020B0604020202020204" pitchFamily="34" charset="0"/>
              </a:rPr>
              <a:t> if implemented</a:t>
            </a:r>
          </a:p>
        </p:txBody>
      </p:sp>
      <p:sp>
        <p:nvSpPr>
          <p:cNvPr id="42" name="Rounded Rectangle 41"/>
          <p:cNvSpPr/>
          <p:nvPr/>
        </p:nvSpPr>
        <p:spPr>
          <a:xfrm>
            <a:off x="822960" y="4617720"/>
            <a:ext cx="10424160" cy="829162"/>
          </a:xfrm>
          <a:prstGeom prst="roundRect">
            <a:avLst/>
          </a:prstGeom>
          <a:solidFill>
            <a:srgbClr val="FAF4E4"/>
          </a:solidFill>
          <a:ln>
            <a:solidFill>
              <a:srgbClr val="FAF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43" name="TextBox 42"/>
          <p:cNvSpPr txBox="1"/>
          <p:nvPr/>
        </p:nvSpPr>
        <p:spPr>
          <a:xfrm>
            <a:off x="1005840" y="4773168"/>
            <a:ext cx="10012680" cy="541687"/>
          </a:xfrm>
          <a:prstGeom prst="rect">
            <a:avLst/>
          </a:prstGeom>
          <a:noFill/>
        </p:spPr>
        <p:txBody>
          <a:bodyPr wrap="square" lIns="54864" tIns="54864" rIns="54864" bIns="54864" anchor="t">
            <a:spAutoFit/>
          </a:bodyPr>
          <a:lstStyle/>
          <a:p>
            <a:pPr algn="l">
              <a:spcAft>
                <a:spcPts val="400"/>
              </a:spcAft>
              <a:defRPr sz="1000" b="1">
                <a:solidFill>
                  <a:srgbClr val="123730"/>
                </a:solidFill>
                <a:latin typeface="Aptos"/>
              </a:defRPr>
            </a:pPr>
            <a:r>
              <a:rPr sz="1400" b="0" dirty="0">
                <a:solidFill>
                  <a:srgbClr val="556058"/>
                </a:solidFill>
                <a:latin typeface="Aptos"/>
              </a:rPr>
              <a:t>Earlier notes report R² = 0.9389–0.9887 across sustainability experiments. Verify each value against its exact model, target and held-out test set before presenting it as a final result.</a:t>
            </a:r>
          </a:p>
        </p:txBody>
      </p:sp>
      <p:pic>
        <p:nvPicPr>
          <p:cNvPr id="4" name="Picture 3">
            <a:extLst>
              <a:ext uri="{FF2B5EF4-FFF2-40B4-BE49-F238E27FC236}">
                <a16:creationId xmlns:a16="http://schemas.microsoft.com/office/drawing/2014/main" id="{0202A5FC-D16D-120F-BEE5-7FE771F30B7B}"/>
              </a:ext>
            </a:extLst>
          </p:cNvPr>
          <p:cNvPicPr>
            <a:picLocks noChangeAspect="1"/>
          </p:cNvPicPr>
          <p:nvPr/>
        </p:nvPicPr>
        <p:blipFill rotWithShape="1">
          <a:blip r:embed="rId3"/>
          <a:srcRect l="10250" t="2278" r="8829" b="33563"/>
          <a:stretch/>
        </p:blipFill>
        <p:spPr>
          <a:xfrm>
            <a:off x="10823310" y="55709"/>
            <a:ext cx="1283346" cy="1357040"/>
          </a:xfrm>
          <a:prstGeom prst="flowChartConnector">
            <a:avLst/>
          </a:prstGeom>
          <a:ln w="19050">
            <a:solidFill>
              <a:schemeClr val="tx1"/>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677934" y="407465"/>
            <a:ext cx="5486400" cy="480131"/>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400" dirty="0">
                <a:latin typeface="Arial" panose="020B0604020202020204" pitchFamily="34" charset="0"/>
                <a:cs typeface="Arial" panose="020B0604020202020204" pitchFamily="34" charset="0"/>
              </a:rPr>
              <a:t>13  MEMBER 02 | METHOD</a:t>
            </a:r>
          </a:p>
        </p:txBody>
      </p:sp>
      <p:sp>
        <p:nvSpPr>
          <p:cNvPr id="3" name="TextBox 2"/>
          <p:cNvSpPr txBox="1"/>
          <p:nvPr/>
        </p:nvSpPr>
        <p:spPr>
          <a:xfrm>
            <a:off x="717804" y="979949"/>
            <a:ext cx="10972800" cy="449354"/>
          </a:xfrm>
          <a:prstGeom prst="rect">
            <a:avLst/>
          </a:prstGeom>
          <a:noFill/>
        </p:spPr>
        <p:txBody>
          <a:bodyPr wrap="square" lIns="54864" tIns="54864" rIns="54864" bIns="54864" anchor="t">
            <a:spAutoFit/>
          </a:bodyPr>
          <a:lstStyle/>
          <a:p>
            <a:pPr algn="l">
              <a:spcAft>
                <a:spcPts val="400"/>
              </a:spcAft>
              <a:defRPr sz="2400" b="1">
                <a:solidFill>
                  <a:srgbClr val="123730"/>
                </a:solidFill>
                <a:latin typeface="Aptos"/>
              </a:defRPr>
            </a:pPr>
            <a:r>
              <a:rPr sz="2200" b="1">
                <a:solidFill>
                  <a:srgbClr val="17402B"/>
                </a:solidFill>
                <a:latin typeface="Arial" panose="020B0604020202020204" pitchFamily="34" charset="0"/>
                <a:cs typeface="Arial" panose="020B0604020202020204" pitchFamily="34" charset="0"/>
              </a:rPr>
              <a:t>Member 02 method: inputs → predictions → derived indicators</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33910"/>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49299"/>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a:latin typeface="Arial" panose="020B0604020202020204" pitchFamily="34" charset="0"/>
                <a:cs typeface="Arial" panose="020B0604020202020204" pitchFamily="34" charset="0"/>
              </a:rPr>
              <a:t>14</a:t>
            </a:r>
          </a:p>
        </p:txBody>
      </p:sp>
      <p:sp>
        <p:nvSpPr>
          <p:cNvPr id="10" name="Rounded Rectangle 9"/>
          <p:cNvSpPr/>
          <p:nvPr/>
        </p:nvSpPr>
        <p:spPr>
          <a:xfrm>
            <a:off x="685800" y="1554479"/>
            <a:ext cx="3450337" cy="2072747"/>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1" name="Rectangle 10"/>
          <p:cNvSpPr/>
          <p:nvPr/>
        </p:nvSpPr>
        <p:spPr>
          <a:xfrm>
            <a:off x="685800" y="1554480"/>
            <a:ext cx="64008" cy="1645920"/>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2" name="TextBox 11"/>
          <p:cNvSpPr txBox="1"/>
          <p:nvPr/>
        </p:nvSpPr>
        <p:spPr>
          <a:xfrm>
            <a:off x="868680" y="1639979"/>
            <a:ext cx="3163824" cy="326243"/>
          </a:xfrm>
          <a:prstGeom prst="rect">
            <a:avLst/>
          </a:prstGeom>
          <a:noFill/>
        </p:spPr>
        <p:txBody>
          <a:bodyPr wrap="square" lIns="54864" tIns="54864" rIns="54864" bIns="54864" anchor="t">
            <a:spAutoFit/>
          </a:bodyPr>
          <a:lstStyle/>
          <a:p>
            <a:pPr algn="l">
              <a:spcAft>
                <a:spcPts val="400"/>
              </a:spcAft>
              <a:defRPr sz="1200" b="1">
                <a:solidFill>
                  <a:srgbClr val="123730"/>
                </a:solidFill>
                <a:latin typeface="Aptos"/>
              </a:defRPr>
            </a:pPr>
            <a:r>
              <a:rPr sz="1400" b="1">
                <a:solidFill>
                  <a:srgbClr val="17402B"/>
                </a:solidFill>
                <a:latin typeface="Arial" panose="020B0604020202020204" pitchFamily="34" charset="0"/>
                <a:cs typeface="Arial" panose="020B0604020202020204" pitchFamily="34" charset="0"/>
              </a:rPr>
              <a:t>STAGE 1 — MODEL-BASED</a:t>
            </a:r>
          </a:p>
        </p:txBody>
      </p:sp>
      <p:sp>
        <p:nvSpPr>
          <p:cNvPr id="13" name="TextBox 12"/>
          <p:cNvSpPr txBox="1"/>
          <p:nvPr/>
        </p:nvSpPr>
        <p:spPr>
          <a:xfrm>
            <a:off x="816864" y="1949193"/>
            <a:ext cx="3163824" cy="1403461"/>
          </a:xfrm>
          <a:prstGeom prst="rect">
            <a:avLst/>
          </a:prstGeom>
          <a:noFill/>
        </p:spPr>
        <p:txBody>
          <a:bodyPr wrap="square" lIns="54864" tIns="54864" rIns="54864" bIns="54864" anchor="t">
            <a:spAutoFit/>
          </a:bodyPr>
          <a:lstStyle/>
          <a:p>
            <a:pPr algn="l">
              <a:spcAft>
                <a:spcPts val="400"/>
              </a:spcAft>
              <a:defRPr sz="1000" b="0">
                <a:solidFill>
                  <a:srgbClr val="1C2824"/>
                </a:solidFill>
                <a:latin typeface="Aptos"/>
              </a:defRPr>
            </a:pPr>
            <a:r>
              <a:rPr sz="1200" b="0" dirty="0">
                <a:solidFill>
                  <a:srgbClr val="2D3630"/>
                </a:solidFill>
                <a:latin typeface="Arial" panose="020B0604020202020204" pitchFamily="34" charset="0"/>
                <a:cs typeface="Arial" panose="020B0604020202020204" pitchFamily="34" charset="0"/>
              </a:rPr>
              <a:t>Inputs: fabric type, weight (kg), health score, repairability, condition, district, province and industry type. A saved preprocessor transforms inputs; six </a:t>
            </a:r>
            <a:r>
              <a:rPr sz="1200" b="0" dirty="0" err="1">
                <a:solidFill>
                  <a:srgbClr val="2D3630"/>
                </a:solidFill>
                <a:latin typeface="Arial" panose="020B0604020202020204" pitchFamily="34" charset="0"/>
                <a:cs typeface="Arial" panose="020B0604020202020204" pitchFamily="34" charset="0"/>
              </a:rPr>
              <a:t>XGBoost</a:t>
            </a:r>
            <a:r>
              <a:rPr sz="1200" b="0" dirty="0">
                <a:solidFill>
                  <a:srgbClr val="2D3630"/>
                </a:solidFill>
                <a:latin typeface="Arial" panose="020B0604020202020204" pitchFamily="34" charset="0"/>
                <a:cs typeface="Arial" panose="020B0604020202020204" pitchFamily="34" charset="0"/>
              </a:rPr>
              <a:t> regressors predict six indicators. Dataset preparation should be explained with the actual industry-visit/report sources used for this component.</a:t>
            </a:r>
          </a:p>
        </p:txBody>
      </p:sp>
      <p:sp>
        <p:nvSpPr>
          <p:cNvPr id="14" name="Rounded Rectangle 13"/>
          <p:cNvSpPr/>
          <p:nvPr/>
        </p:nvSpPr>
        <p:spPr>
          <a:xfrm>
            <a:off x="4395215" y="1554479"/>
            <a:ext cx="3474720" cy="1952873"/>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5" name="Rectangle 14"/>
          <p:cNvSpPr/>
          <p:nvPr/>
        </p:nvSpPr>
        <p:spPr>
          <a:xfrm>
            <a:off x="4370832" y="1554480"/>
            <a:ext cx="64008" cy="1645920"/>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6" name="TextBox 15"/>
          <p:cNvSpPr txBox="1"/>
          <p:nvPr/>
        </p:nvSpPr>
        <p:spPr>
          <a:xfrm>
            <a:off x="4558284" y="1773974"/>
            <a:ext cx="3163824" cy="326243"/>
          </a:xfrm>
          <a:prstGeom prst="rect">
            <a:avLst/>
          </a:prstGeom>
          <a:noFill/>
        </p:spPr>
        <p:txBody>
          <a:bodyPr wrap="square" lIns="54864" tIns="54864" rIns="54864" bIns="54864" anchor="t">
            <a:spAutoFit/>
          </a:bodyPr>
          <a:lstStyle/>
          <a:p>
            <a:pPr algn="l">
              <a:spcAft>
                <a:spcPts val="400"/>
              </a:spcAft>
              <a:defRPr sz="1200" b="1">
                <a:solidFill>
                  <a:srgbClr val="123730"/>
                </a:solidFill>
                <a:latin typeface="Aptos"/>
              </a:defRPr>
            </a:pPr>
            <a:r>
              <a:rPr sz="1400" b="1">
                <a:solidFill>
                  <a:srgbClr val="17402B"/>
                </a:solidFill>
                <a:latin typeface="Arial" panose="020B0604020202020204" pitchFamily="34" charset="0"/>
                <a:cs typeface="Arial" panose="020B0604020202020204" pitchFamily="34" charset="0"/>
              </a:rPr>
              <a:t>STAGE 2 — FORMULA-BASED</a:t>
            </a:r>
          </a:p>
        </p:txBody>
      </p:sp>
      <p:sp>
        <p:nvSpPr>
          <p:cNvPr id="17" name="TextBox 16"/>
          <p:cNvSpPr txBox="1"/>
          <p:nvPr/>
        </p:nvSpPr>
        <p:spPr>
          <a:xfrm>
            <a:off x="4544568" y="2131573"/>
            <a:ext cx="3163824" cy="1034129"/>
          </a:xfrm>
          <a:prstGeom prst="rect">
            <a:avLst/>
          </a:prstGeom>
          <a:noFill/>
        </p:spPr>
        <p:txBody>
          <a:bodyPr wrap="square" lIns="54864" tIns="54864" rIns="54864" bIns="54864" anchor="t">
            <a:spAutoFit/>
          </a:bodyPr>
          <a:lstStyle/>
          <a:p>
            <a:pPr algn="l">
              <a:spcAft>
                <a:spcPts val="400"/>
              </a:spcAft>
              <a:defRPr sz="1000" b="0">
                <a:solidFill>
                  <a:srgbClr val="1C2824"/>
                </a:solidFill>
                <a:latin typeface="Aptos"/>
              </a:defRPr>
            </a:pPr>
            <a:r>
              <a:rPr sz="1200" b="0" dirty="0">
                <a:solidFill>
                  <a:srgbClr val="2D3630"/>
                </a:solidFill>
                <a:latin typeface="Arial" panose="020B0604020202020204" pitchFamily="34" charset="0"/>
                <a:cs typeface="Arial" panose="020B0604020202020204" pitchFamily="34" charset="0"/>
              </a:rPr>
              <a:t>Code-derived examples: </a:t>
            </a:r>
            <a:r>
              <a:rPr sz="1200" b="0" dirty="0" err="1">
                <a:solidFill>
                  <a:srgbClr val="2D3630"/>
                </a:solidFill>
                <a:latin typeface="Arial" panose="020B0604020202020204" pitchFamily="34" charset="0"/>
                <a:cs typeface="Arial" panose="020B0604020202020204" pitchFamily="34" charset="0"/>
              </a:rPr>
              <a:t>energy_saved_kwh</a:t>
            </a:r>
            <a:r>
              <a:rPr sz="1200" b="0" dirty="0">
                <a:solidFill>
                  <a:srgbClr val="2D3630"/>
                </a:solidFill>
                <a:latin typeface="Arial" panose="020B0604020202020204" pitchFamily="34" charset="0"/>
                <a:cs typeface="Arial" panose="020B0604020202020204" pitchFamily="34" charset="0"/>
              </a:rPr>
              <a:t> = CO₂_</a:t>
            </a:r>
            <a:r>
              <a:rPr sz="1200" b="0" dirty="0" err="1">
                <a:solidFill>
                  <a:srgbClr val="2D3630"/>
                </a:solidFill>
                <a:latin typeface="Arial" panose="020B0604020202020204" pitchFamily="34" charset="0"/>
                <a:cs typeface="Arial" panose="020B0604020202020204" pitchFamily="34" charset="0"/>
              </a:rPr>
              <a:t>saved_kg</a:t>
            </a:r>
            <a:r>
              <a:rPr sz="1200" b="0" dirty="0">
                <a:solidFill>
                  <a:srgbClr val="2D3630"/>
                </a:solidFill>
                <a:latin typeface="Arial" panose="020B0604020202020204" pitchFamily="34" charset="0"/>
                <a:cs typeface="Arial" panose="020B0604020202020204" pitchFamily="34" charset="0"/>
              </a:rPr>
              <a:t> × 1.5; </a:t>
            </a:r>
            <a:r>
              <a:rPr sz="1200" b="0" dirty="0" err="1">
                <a:solidFill>
                  <a:srgbClr val="2D3630"/>
                </a:solidFill>
                <a:latin typeface="Arial" panose="020B0604020202020204" pitchFamily="34" charset="0"/>
                <a:cs typeface="Arial" panose="020B0604020202020204" pitchFamily="34" charset="0"/>
              </a:rPr>
              <a:t>landfill_diverted_kg</a:t>
            </a:r>
            <a:r>
              <a:rPr sz="1200" b="0" dirty="0">
                <a:solidFill>
                  <a:srgbClr val="2D3630"/>
                </a:solidFill>
                <a:latin typeface="Arial" panose="020B0604020202020204" pitchFamily="34" charset="0"/>
                <a:cs typeface="Arial" panose="020B0604020202020204" pitchFamily="34" charset="0"/>
              </a:rPr>
              <a:t> = </a:t>
            </a:r>
            <a:r>
              <a:rPr sz="1200" b="0" dirty="0" err="1">
                <a:solidFill>
                  <a:srgbClr val="2D3630"/>
                </a:solidFill>
                <a:latin typeface="Arial" panose="020B0604020202020204" pitchFamily="34" charset="0"/>
                <a:cs typeface="Arial" panose="020B0604020202020204" pitchFamily="34" charset="0"/>
              </a:rPr>
              <a:t>weight_kg</a:t>
            </a:r>
            <a:r>
              <a:rPr sz="1200" b="0" dirty="0">
                <a:solidFill>
                  <a:srgbClr val="2D3630"/>
                </a:solidFill>
                <a:latin typeface="Arial" panose="020B0604020202020204" pitchFamily="34" charset="0"/>
                <a:cs typeface="Arial" panose="020B0604020202020204" pitchFamily="34" charset="0"/>
              </a:rPr>
              <a:t> × 0.95; SDG proxy = mean(circularity, recyclability). These are estimates/proxies, not measured impacts.</a:t>
            </a:r>
          </a:p>
        </p:txBody>
      </p:sp>
      <p:sp>
        <p:nvSpPr>
          <p:cNvPr id="18" name="Rounded Rectangle 17"/>
          <p:cNvSpPr/>
          <p:nvPr/>
        </p:nvSpPr>
        <p:spPr>
          <a:xfrm>
            <a:off x="8055864" y="1554480"/>
            <a:ext cx="3474720" cy="164592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9" name="Rectangle 18"/>
          <p:cNvSpPr/>
          <p:nvPr/>
        </p:nvSpPr>
        <p:spPr>
          <a:xfrm>
            <a:off x="8055864" y="1554480"/>
            <a:ext cx="64008" cy="1645920"/>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0" name="TextBox 19"/>
          <p:cNvSpPr txBox="1"/>
          <p:nvPr/>
        </p:nvSpPr>
        <p:spPr>
          <a:xfrm>
            <a:off x="8087868" y="1620525"/>
            <a:ext cx="3735324" cy="326243"/>
          </a:xfrm>
          <a:prstGeom prst="rect">
            <a:avLst/>
          </a:prstGeom>
          <a:noFill/>
        </p:spPr>
        <p:txBody>
          <a:bodyPr wrap="square" lIns="54864" tIns="54864" rIns="54864" bIns="54864" anchor="t">
            <a:spAutoFit/>
          </a:bodyPr>
          <a:lstStyle/>
          <a:p>
            <a:pPr algn="l">
              <a:spcAft>
                <a:spcPts val="400"/>
              </a:spcAft>
              <a:defRPr sz="1200" b="1">
                <a:solidFill>
                  <a:srgbClr val="123730"/>
                </a:solidFill>
                <a:latin typeface="Aptos"/>
              </a:defRPr>
            </a:pPr>
            <a:r>
              <a:rPr sz="1400" b="1" dirty="0">
                <a:solidFill>
                  <a:srgbClr val="17402B"/>
                </a:solidFill>
                <a:latin typeface="Arial" panose="020B0604020202020204" pitchFamily="34" charset="0"/>
                <a:cs typeface="Arial" panose="020B0604020202020204" pitchFamily="34" charset="0"/>
              </a:rPr>
              <a:t>STAGE 3 — GRADE CLASSIFICATION</a:t>
            </a:r>
          </a:p>
        </p:txBody>
      </p:sp>
      <p:sp>
        <p:nvSpPr>
          <p:cNvPr id="21" name="TextBox 20"/>
          <p:cNvSpPr txBox="1"/>
          <p:nvPr/>
        </p:nvSpPr>
        <p:spPr>
          <a:xfrm>
            <a:off x="8211312" y="2052586"/>
            <a:ext cx="3163824" cy="849463"/>
          </a:xfrm>
          <a:prstGeom prst="rect">
            <a:avLst/>
          </a:prstGeom>
          <a:noFill/>
        </p:spPr>
        <p:txBody>
          <a:bodyPr wrap="square" lIns="54864" tIns="54864" rIns="54864" bIns="54864" anchor="t">
            <a:spAutoFit/>
          </a:bodyPr>
          <a:lstStyle/>
          <a:p>
            <a:pPr algn="l">
              <a:spcAft>
                <a:spcPts val="400"/>
              </a:spcAft>
              <a:defRPr sz="1000" b="0">
                <a:solidFill>
                  <a:srgbClr val="1C2824"/>
                </a:solidFill>
                <a:latin typeface="Aptos"/>
              </a:defRPr>
            </a:pPr>
            <a:r>
              <a:rPr sz="1200" b="0" dirty="0">
                <a:solidFill>
                  <a:srgbClr val="2D3630"/>
                </a:solidFill>
                <a:latin typeface="Arial" panose="020B0604020202020204" pitchFamily="34" charset="0"/>
                <a:cs typeface="Arial" panose="020B0604020202020204" pitchFamily="34" charset="0"/>
              </a:rPr>
              <a:t>A separate </a:t>
            </a:r>
            <a:r>
              <a:rPr sz="1200" b="0" dirty="0" err="1">
                <a:solidFill>
                  <a:srgbClr val="2D3630"/>
                </a:solidFill>
                <a:latin typeface="Arial" panose="020B0604020202020204" pitchFamily="34" charset="0"/>
                <a:cs typeface="Arial" panose="020B0604020202020204" pitchFamily="34" charset="0"/>
              </a:rPr>
              <a:t>XGBoost</a:t>
            </a:r>
            <a:r>
              <a:rPr sz="1200" b="0" dirty="0">
                <a:solidFill>
                  <a:srgbClr val="2D3630"/>
                </a:solidFill>
                <a:latin typeface="Arial" panose="020B0604020202020204" pitchFamily="34" charset="0"/>
                <a:cs typeface="Arial" panose="020B0604020202020204" pitchFamily="34" charset="0"/>
              </a:rPr>
              <a:t> classifier predicts the sustainability grade from the prepared feature row; a saved label encoder converts the class to its grade label.</a:t>
            </a:r>
          </a:p>
        </p:txBody>
      </p:sp>
      <p:sp>
        <p:nvSpPr>
          <p:cNvPr id="22" name="Oval 21"/>
          <p:cNvSpPr/>
          <p:nvPr/>
        </p:nvSpPr>
        <p:spPr>
          <a:xfrm>
            <a:off x="868680" y="3785615"/>
            <a:ext cx="68580" cy="68580"/>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3" name="TextBox 22"/>
          <p:cNvSpPr txBox="1"/>
          <p:nvPr/>
        </p:nvSpPr>
        <p:spPr>
          <a:xfrm>
            <a:off x="1014983" y="3703320"/>
            <a:ext cx="10094976" cy="295466"/>
          </a:xfrm>
          <a:prstGeom prst="rect">
            <a:avLst/>
          </a:prstGeom>
          <a:noFill/>
        </p:spPr>
        <p:txBody>
          <a:bodyPr wrap="square" lIns="54864" tIns="54864" rIns="54864" bIns="54864" anchor="t">
            <a:spAutoFit/>
          </a:bodyPr>
          <a:lstStyle/>
          <a:p>
            <a:pPr algn="l">
              <a:spcAft>
                <a:spcPts val="400"/>
              </a:spcAft>
              <a:defRPr sz="1100" b="0">
                <a:solidFill>
                  <a:srgbClr val="1C2824"/>
                </a:solidFill>
                <a:latin typeface="Aptos"/>
              </a:defRPr>
            </a:pPr>
            <a:r>
              <a:rPr sz="1200" b="0" dirty="0">
                <a:solidFill>
                  <a:srgbClr val="2D3630"/>
                </a:solidFill>
                <a:latin typeface="Arial" panose="020B0604020202020204" pitchFamily="34" charset="0"/>
                <a:cs typeface="Arial" panose="020B0604020202020204" pitchFamily="34" charset="0"/>
              </a:rPr>
              <a:t>State input features and units.</a:t>
            </a:r>
          </a:p>
        </p:txBody>
      </p:sp>
      <p:sp>
        <p:nvSpPr>
          <p:cNvPr id="24" name="Oval 23"/>
          <p:cNvSpPr/>
          <p:nvPr/>
        </p:nvSpPr>
        <p:spPr>
          <a:xfrm>
            <a:off x="868680" y="4123944"/>
            <a:ext cx="68580" cy="68580"/>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5" name="TextBox 24"/>
          <p:cNvSpPr txBox="1"/>
          <p:nvPr/>
        </p:nvSpPr>
        <p:spPr>
          <a:xfrm>
            <a:off x="1014984" y="4074286"/>
            <a:ext cx="10094976" cy="295466"/>
          </a:xfrm>
          <a:prstGeom prst="rect">
            <a:avLst/>
          </a:prstGeom>
          <a:noFill/>
        </p:spPr>
        <p:txBody>
          <a:bodyPr wrap="square" lIns="54864" tIns="54864" rIns="54864" bIns="54864" anchor="t">
            <a:spAutoFit/>
          </a:bodyPr>
          <a:lstStyle/>
          <a:p>
            <a:pPr algn="l">
              <a:spcAft>
                <a:spcPts val="400"/>
              </a:spcAft>
              <a:defRPr sz="1100" b="0">
                <a:solidFill>
                  <a:srgbClr val="1C2824"/>
                </a:solidFill>
                <a:latin typeface="Aptos"/>
              </a:defRPr>
            </a:pPr>
            <a:r>
              <a:rPr sz="1200" b="0" dirty="0">
                <a:solidFill>
                  <a:srgbClr val="2D3630"/>
                </a:solidFill>
                <a:latin typeface="Arial" panose="020B0604020202020204" pitchFamily="34" charset="0"/>
                <a:cs typeface="Arial" panose="020B0604020202020204" pitchFamily="34" charset="0"/>
              </a:rPr>
              <a:t>Explain each predicted output and derived formula.</a:t>
            </a:r>
          </a:p>
        </p:txBody>
      </p:sp>
      <p:sp>
        <p:nvSpPr>
          <p:cNvPr id="26" name="Oval 25"/>
          <p:cNvSpPr/>
          <p:nvPr/>
        </p:nvSpPr>
        <p:spPr>
          <a:xfrm>
            <a:off x="868680" y="4462272"/>
            <a:ext cx="68580" cy="68580"/>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7" name="TextBox 26"/>
          <p:cNvSpPr txBox="1"/>
          <p:nvPr/>
        </p:nvSpPr>
        <p:spPr>
          <a:xfrm>
            <a:off x="1014983" y="4379976"/>
            <a:ext cx="10094976" cy="295466"/>
          </a:xfrm>
          <a:prstGeom prst="rect">
            <a:avLst/>
          </a:prstGeom>
          <a:noFill/>
        </p:spPr>
        <p:txBody>
          <a:bodyPr wrap="square" lIns="54864" tIns="54864" rIns="54864" bIns="54864" anchor="t">
            <a:spAutoFit/>
          </a:bodyPr>
          <a:lstStyle/>
          <a:p>
            <a:pPr algn="l">
              <a:spcAft>
                <a:spcPts val="400"/>
              </a:spcAft>
              <a:defRPr sz="1100" b="0">
                <a:solidFill>
                  <a:srgbClr val="1C2824"/>
                </a:solidFill>
                <a:latin typeface="Aptos"/>
              </a:defRPr>
            </a:pPr>
            <a:r>
              <a:rPr sz="1200" b="0" dirty="0">
                <a:solidFill>
                  <a:srgbClr val="2D3630"/>
                </a:solidFill>
                <a:latin typeface="Arial" panose="020B0604020202020204" pitchFamily="34" charset="0"/>
                <a:cs typeface="Arial" panose="020B0604020202020204" pitchFamily="34" charset="0"/>
              </a:rPr>
              <a:t>Disclose baselines and assumptions.</a:t>
            </a:r>
          </a:p>
        </p:txBody>
      </p:sp>
      <p:sp>
        <p:nvSpPr>
          <p:cNvPr id="28" name="Oval 27"/>
          <p:cNvSpPr/>
          <p:nvPr/>
        </p:nvSpPr>
        <p:spPr>
          <a:xfrm>
            <a:off x="868680" y="4800600"/>
            <a:ext cx="68580" cy="68580"/>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9" name="TextBox 28"/>
          <p:cNvSpPr txBox="1"/>
          <p:nvPr/>
        </p:nvSpPr>
        <p:spPr>
          <a:xfrm>
            <a:off x="1014983" y="4718304"/>
            <a:ext cx="10094976" cy="295466"/>
          </a:xfrm>
          <a:prstGeom prst="rect">
            <a:avLst/>
          </a:prstGeom>
          <a:noFill/>
        </p:spPr>
        <p:txBody>
          <a:bodyPr wrap="square" lIns="54864" tIns="54864" rIns="54864" bIns="54864" anchor="t">
            <a:spAutoFit/>
          </a:bodyPr>
          <a:lstStyle/>
          <a:p>
            <a:pPr algn="l">
              <a:spcAft>
                <a:spcPts val="400"/>
              </a:spcAft>
              <a:defRPr sz="1100" b="0">
                <a:solidFill>
                  <a:srgbClr val="1C2824"/>
                </a:solidFill>
                <a:latin typeface="Aptos"/>
              </a:defRPr>
            </a:pPr>
            <a:r>
              <a:rPr sz="1200" b="0" dirty="0">
                <a:solidFill>
                  <a:srgbClr val="2D3630"/>
                </a:solidFill>
                <a:latin typeface="Arial" panose="020B0604020202020204" pitchFamily="34" charset="0"/>
                <a:cs typeface="Arial" panose="020B0604020202020204" pitchFamily="34" charset="0"/>
              </a:rPr>
              <a:t>Outputs are clipped to defined ranges and rounded to 2 decimals.</a:t>
            </a:r>
          </a:p>
        </p:txBody>
      </p:sp>
      <p:sp>
        <p:nvSpPr>
          <p:cNvPr id="30" name="Oval 29"/>
          <p:cNvSpPr/>
          <p:nvPr/>
        </p:nvSpPr>
        <p:spPr>
          <a:xfrm>
            <a:off x="868680" y="5138927"/>
            <a:ext cx="68580" cy="68580"/>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31" name="TextBox 30"/>
          <p:cNvSpPr txBox="1"/>
          <p:nvPr/>
        </p:nvSpPr>
        <p:spPr>
          <a:xfrm>
            <a:off x="1014983" y="5056631"/>
            <a:ext cx="10094976" cy="295466"/>
          </a:xfrm>
          <a:prstGeom prst="rect">
            <a:avLst/>
          </a:prstGeom>
          <a:noFill/>
        </p:spPr>
        <p:txBody>
          <a:bodyPr wrap="square" lIns="54864" tIns="54864" rIns="54864" bIns="54864" anchor="t">
            <a:spAutoFit/>
          </a:bodyPr>
          <a:lstStyle/>
          <a:p>
            <a:pPr algn="l">
              <a:spcAft>
                <a:spcPts val="400"/>
              </a:spcAft>
              <a:defRPr sz="1100" b="0">
                <a:solidFill>
                  <a:srgbClr val="1C2824"/>
                </a:solidFill>
                <a:latin typeface="Aptos"/>
              </a:defRPr>
            </a:pPr>
            <a:r>
              <a:rPr sz="1200" b="0" dirty="0">
                <a:solidFill>
                  <a:srgbClr val="2D3630"/>
                </a:solidFill>
                <a:latin typeface="Arial" panose="020B0604020202020204" pitchFamily="34" charset="0"/>
                <a:cs typeface="Arial" panose="020B0604020202020204" pitchFamily="34" charset="0"/>
              </a:rPr>
              <a:t>No public hosting or independent environmental certification is claimed.</a:t>
            </a:r>
          </a:p>
        </p:txBody>
      </p:sp>
      <p:pic>
        <p:nvPicPr>
          <p:cNvPr id="4" name="Picture 3">
            <a:extLst>
              <a:ext uri="{FF2B5EF4-FFF2-40B4-BE49-F238E27FC236}">
                <a16:creationId xmlns:a16="http://schemas.microsoft.com/office/drawing/2014/main" id="{976F5CD0-C408-9D7B-216A-A2E8EB434E83}"/>
              </a:ext>
            </a:extLst>
          </p:cNvPr>
          <p:cNvPicPr>
            <a:picLocks noChangeAspect="1"/>
          </p:cNvPicPr>
          <p:nvPr/>
        </p:nvPicPr>
        <p:blipFill rotWithShape="1">
          <a:blip r:embed="rId3"/>
          <a:srcRect l="10250" t="2278" r="8829" b="33563"/>
          <a:stretch/>
        </p:blipFill>
        <p:spPr>
          <a:xfrm>
            <a:off x="11332994" y="154045"/>
            <a:ext cx="517630" cy="547354"/>
          </a:xfrm>
          <a:prstGeom prst="flowChartConnector">
            <a:avLst/>
          </a:prstGeom>
          <a:ln w="19050">
            <a:solidFill>
              <a:schemeClr val="tx1"/>
            </a:solidFill>
          </a:ln>
        </p:spPr>
      </p:pic>
      <p:pic>
        <p:nvPicPr>
          <p:cNvPr id="8" name="Picture 7">
            <a:extLst>
              <a:ext uri="{FF2B5EF4-FFF2-40B4-BE49-F238E27FC236}">
                <a16:creationId xmlns:a16="http://schemas.microsoft.com/office/drawing/2014/main" id="{D92D44E3-5E9A-D555-7564-A70CE9D0DE70}"/>
              </a:ext>
            </a:extLst>
          </p:cNvPr>
          <p:cNvPicPr>
            <a:picLocks noChangeAspect="1"/>
          </p:cNvPicPr>
          <p:nvPr/>
        </p:nvPicPr>
        <p:blipFill rotWithShape="1">
          <a:blip r:embed="rId3"/>
          <a:srcRect l="10250" t="2278" r="8829" b="33563"/>
          <a:stretch/>
        </p:blipFill>
        <p:spPr>
          <a:xfrm>
            <a:off x="10823310" y="55709"/>
            <a:ext cx="1283346" cy="1357040"/>
          </a:xfrm>
          <a:prstGeom prst="flowChartConnector">
            <a:avLst/>
          </a:prstGeom>
          <a:ln w="19050">
            <a:solidFill>
              <a:schemeClr val="tx1"/>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66928" y="328012"/>
            <a:ext cx="8900338" cy="541687"/>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800" dirty="0">
                <a:latin typeface="Arial" panose="020B0604020202020204" pitchFamily="34" charset="0"/>
                <a:cs typeface="Arial" panose="020B0604020202020204" pitchFamily="34" charset="0"/>
              </a:rPr>
              <a:t>14 </a:t>
            </a:r>
            <a:r>
              <a:rPr lang="en-US" sz="2800" dirty="0">
                <a:latin typeface="Arial" panose="020B0604020202020204" pitchFamily="34" charset="0"/>
                <a:cs typeface="Arial" panose="020B0604020202020204" pitchFamily="34" charset="0"/>
              </a:rPr>
              <a:t> </a:t>
            </a:r>
            <a:r>
              <a:rPr sz="2800" dirty="0">
                <a:latin typeface="Arial" panose="020B0604020202020204" pitchFamily="34" charset="0"/>
                <a:cs typeface="Arial" panose="020B0604020202020204" pitchFamily="34" charset="0"/>
              </a:rPr>
              <a:t>MEMBER 03 | </a:t>
            </a:r>
            <a:r>
              <a:rPr lang="en-US" sz="2800" dirty="0">
                <a:latin typeface="Arial" panose="020B0604020202020204" pitchFamily="34" charset="0"/>
                <a:cs typeface="Arial" panose="020B0604020202020204" pitchFamily="34" charset="0"/>
              </a:rPr>
              <a:t>IT22221278 | </a:t>
            </a:r>
            <a:r>
              <a:rPr lang="en-US" sz="2800" dirty="0" err="1">
                <a:latin typeface="Arial" panose="020B0604020202020204" pitchFamily="34" charset="0"/>
                <a:cs typeface="Arial" panose="020B0604020202020204" pitchFamily="34" charset="0"/>
              </a:rPr>
              <a:t>Madushanka</a:t>
            </a:r>
            <a:r>
              <a:rPr lang="en-US" sz="2800" dirty="0">
                <a:latin typeface="Arial" panose="020B0604020202020204" pitchFamily="34" charset="0"/>
                <a:cs typeface="Arial" panose="020B0604020202020204" pitchFamily="34" charset="0"/>
              </a:rPr>
              <a:t> H.M.T.G</a:t>
            </a:r>
            <a:endParaRPr sz="2800" dirty="0">
              <a:latin typeface="Arial" panose="020B0604020202020204" pitchFamily="34" charset="0"/>
              <a:cs typeface="Arial" panose="020B0604020202020204" pitchFamily="34" charset="0"/>
            </a:endParaRPr>
          </a:p>
        </p:txBody>
      </p:sp>
      <p:sp>
        <p:nvSpPr>
          <p:cNvPr id="3" name="TextBox 2"/>
          <p:cNvSpPr txBox="1"/>
          <p:nvPr/>
        </p:nvSpPr>
        <p:spPr>
          <a:xfrm>
            <a:off x="566928" y="921905"/>
            <a:ext cx="10972800" cy="357021"/>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sz="1600" dirty="0">
                <a:latin typeface="Arial" panose="020B0604020202020204" pitchFamily="34" charset="0"/>
                <a:cs typeface="Arial" panose="020B0604020202020204" pitchFamily="34" charset="0"/>
              </a:rPr>
              <a:t>Commercial Intelligence — pricing and buyer recommendation</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49299"/>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sz="900">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64688"/>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sz="1000">
                <a:latin typeface="Arial" panose="020B0604020202020204" pitchFamily="34" charset="0"/>
                <a:cs typeface="Arial" panose="020B0604020202020204" pitchFamily="34" charset="0"/>
              </a:rPr>
              <a:t>15</a:t>
            </a:r>
          </a:p>
        </p:txBody>
      </p:sp>
      <p:sp>
        <p:nvSpPr>
          <p:cNvPr id="10" name="Rounded Rectangle 9"/>
          <p:cNvSpPr/>
          <p:nvPr/>
        </p:nvSpPr>
        <p:spPr>
          <a:xfrm>
            <a:off x="585265" y="1731141"/>
            <a:ext cx="3520440" cy="162763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1" name="Rectangle 10"/>
          <p:cNvSpPr/>
          <p:nvPr/>
        </p:nvSpPr>
        <p:spPr>
          <a:xfrm>
            <a:off x="610876" y="1714508"/>
            <a:ext cx="64008" cy="1627632"/>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2" name="TextBox 11"/>
          <p:cNvSpPr txBox="1"/>
          <p:nvPr/>
        </p:nvSpPr>
        <p:spPr>
          <a:xfrm>
            <a:off x="839475" y="1934814"/>
            <a:ext cx="320954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PRICE MODEL</a:t>
            </a:r>
          </a:p>
        </p:txBody>
      </p:sp>
      <p:sp>
        <p:nvSpPr>
          <p:cNvPr id="13" name="TextBox 12"/>
          <p:cNvSpPr txBox="1"/>
          <p:nvPr/>
        </p:nvSpPr>
        <p:spPr>
          <a:xfrm>
            <a:off x="930134" y="2277966"/>
            <a:ext cx="3209544" cy="834074"/>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err="1">
                <a:latin typeface="Arial" panose="020B0604020202020204" pitchFamily="34" charset="0"/>
                <a:cs typeface="Arial" panose="020B0604020202020204" pitchFamily="34" charset="0"/>
              </a:rPr>
              <a:t>XGBoost</a:t>
            </a:r>
            <a:r>
              <a:rPr sz="1400" dirty="0">
                <a:latin typeface="Arial" panose="020B0604020202020204" pitchFamily="34" charset="0"/>
                <a:cs typeface="Arial" panose="020B0604020202020204" pitchFamily="34" charset="0"/>
              </a:rPr>
              <a:t> Regressor</a:t>
            </a:r>
          </a:p>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MAE 12.24 • RMSE 15.40</a:t>
            </a:r>
          </a:p>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R² 0.9590 (prior reported result)</a:t>
            </a:r>
          </a:p>
        </p:txBody>
      </p:sp>
      <p:sp>
        <p:nvSpPr>
          <p:cNvPr id="14" name="Rounded Rectangle 13"/>
          <p:cNvSpPr/>
          <p:nvPr/>
        </p:nvSpPr>
        <p:spPr>
          <a:xfrm>
            <a:off x="4343400" y="1669447"/>
            <a:ext cx="3520440" cy="162763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5" name="Rectangle 14"/>
          <p:cNvSpPr/>
          <p:nvPr/>
        </p:nvSpPr>
        <p:spPr>
          <a:xfrm>
            <a:off x="4282242" y="1632457"/>
            <a:ext cx="64008" cy="1627632"/>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6" name="TextBox 15"/>
          <p:cNvSpPr txBox="1"/>
          <p:nvPr/>
        </p:nvSpPr>
        <p:spPr>
          <a:xfrm>
            <a:off x="4517136" y="1888278"/>
            <a:ext cx="320954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BUYER RECOMMENDATION</a:t>
            </a:r>
          </a:p>
        </p:txBody>
      </p:sp>
      <p:sp>
        <p:nvSpPr>
          <p:cNvPr id="17" name="TextBox 16"/>
          <p:cNvSpPr txBox="1"/>
          <p:nvPr/>
        </p:nvSpPr>
        <p:spPr>
          <a:xfrm>
            <a:off x="4474266" y="2219866"/>
            <a:ext cx="3209544" cy="972574"/>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400" dirty="0">
                <a:latin typeface="Arial" panose="020B0604020202020204" pitchFamily="34" charset="0"/>
                <a:cs typeface="Arial" panose="020B0604020202020204" pitchFamily="34" charset="0"/>
              </a:rPr>
              <a:t>Prior notes describe Random Forest + </a:t>
            </a:r>
            <a:r>
              <a:rPr sz="1400" dirty="0" err="1">
                <a:latin typeface="Arial" panose="020B0604020202020204" pitchFamily="34" charset="0"/>
                <a:cs typeface="Arial" panose="020B0604020202020204" pitchFamily="34" charset="0"/>
              </a:rPr>
              <a:t>XGBoost</a:t>
            </a:r>
            <a:r>
              <a:rPr sz="1400" dirty="0">
                <a:latin typeface="Arial" panose="020B0604020202020204" pitchFamily="34" charset="0"/>
                <a:cs typeface="Arial" panose="020B0604020202020204" pitchFamily="34" charset="0"/>
              </a:rPr>
              <a:t>. Reported matching result: 83.56%; verify how matching quality was measured.</a:t>
            </a:r>
          </a:p>
        </p:txBody>
      </p:sp>
      <p:sp>
        <p:nvSpPr>
          <p:cNvPr id="18" name="Rounded Rectangle 17"/>
          <p:cNvSpPr/>
          <p:nvPr/>
        </p:nvSpPr>
        <p:spPr>
          <a:xfrm>
            <a:off x="8037576" y="1669447"/>
            <a:ext cx="3520440" cy="162763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9" name="Rectangle 18"/>
          <p:cNvSpPr/>
          <p:nvPr/>
        </p:nvSpPr>
        <p:spPr>
          <a:xfrm>
            <a:off x="8028431" y="1632457"/>
            <a:ext cx="64008" cy="1627632"/>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0" name="TextBox 19"/>
          <p:cNvSpPr txBox="1"/>
          <p:nvPr/>
        </p:nvSpPr>
        <p:spPr>
          <a:xfrm>
            <a:off x="8234172" y="1867133"/>
            <a:ext cx="320954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TRACEABILITY</a:t>
            </a:r>
          </a:p>
        </p:txBody>
      </p:sp>
      <p:sp>
        <p:nvSpPr>
          <p:cNvPr id="21" name="TextBox 20"/>
          <p:cNvSpPr txBox="1"/>
          <p:nvPr/>
        </p:nvSpPr>
        <p:spPr>
          <a:xfrm>
            <a:off x="8243317" y="2158656"/>
            <a:ext cx="3209544" cy="972574"/>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400" dirty="0">
                <a:latin typeface="Arial" panose="020B0604020202020204" pitchFamily="34" charset="0"/>
                <a:cs typeface="Arial" panose="020B0604020202020204" pitchFamily="34" charset="0"/>
              </a:rPr>
              <a:t>Track analysis/listing/order events and history where implemented. Traceability is a system workflow, not automatically an ML model.</a:t>
            </a:r>
          </a:p>
        </p:txBody>
      </p:sp>
      <p:sp>
        <p:nvSpPr>
          <p:cNvPr id="22" name="Rounded Rectangle 21"/>
          <p:cNvSpPr/>
          <p:nvPr/>
        </p:nvSpPr>
        <p:spPr>
          <a:xfrm>
            <a:off x="850392" y="3700247"/>
            <a:ext cx="10424160" cy="1488306"/>
          </a:xfrm>
          <a:prstGeom prst="roundRect">
            <a:avLst/>
          </a:prstGeom>
          <a:solidFill>
            <a:srgbClr val="E6F4EC"/>
          </a:solidFill>
          <a:ln>
            <a:solidFill>
              <a:srgbClr val="E6F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3" name="TextBox 22"/>
          <p:cNvSpPr txBox="1"/>
          <p:nvPr/>
        </p:nvSpPr>
        <p:spPr>
          <a:xfrm>
            <a:off x="1051560" y="3877056"/>
            <a:ext cx="1828800" cy="357021"/>
          </a:xfrm>
          <a:prstGeom prst="rect">
            <a:avLst/>
          </a:prstGeom>
          <a:noFill/>
        </p:spPr>
        <p:txBody>
          <a:bodyPr wrap="square" lIns="54864" tIns="54864" rIns="54864" bIns="54864" anchor="t">
            <a:spAutoFit/>
          </a:bodyPr>
          <a:lstStyle/>
          <a:p>
            <a:pPr algn="l">
              <a:spcAft>
                <a:spcPts val="300"/>
              </a:spcAft>
              <a:defRPr sz="1000" b="1">
                <a:solidFill>
                  <a:srgbClr val="238965"/>
                </a:solidFill>
                <a:latin typeface="Aptos"/>
              </a:defRPr>
            </a:pPr>
            <a:r>
              <a:rPr sz="1600" dirty="0">
                <a:latin typeface="Arial" panose="020B0604020202020204" pitchFamily="34" charset="0"/>
                <a:cs typeface="Arial" panose="020B0604020202020204" pitchFamily="34" charset="0"/>
              </a:rPr>
              <a:t>Commercial flow</a:t>
            </a:r>
          </a:p>
        </p:txBody>
      </p:sp>
      <p:sp>
        <p:nvSpPr>
          <p:cNvPr id="24" name="TextBox 23"/>
          <p:cNvSpPr txBox="1"/>
          <p:nvPr/>
        </p:nvSpPr>
        <p:spPr>
          <a:xfrm>
            <a:off x="1211580" y="4212521"/>
            <a:ext cx="9784080" cy="603242"/>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Material + condition + quantity + market features → feature preparation → price </a:t>
            </a:r>
            <a:r>
              <a:rPr lang="en-US" sz="1600" dirty="0">
                <a:latin typeface="Arial" panose="020B0604020202020204" pitchFamily="34" charset="0"/>
                <a:cs typeface="Arial" panose="020B0604020202020204" pitchFamily="34" charset="0"/>
              </a:rPr>
              <a:t>estimate/buyer</a:t>
            </a:r>
            <a:r>
              <a:rPr sz="1600" dirty="0">
                <a:latin typeface="Arial" panose="020B0604020202020204" pitchFamily="34" charset="0"/>
                <a:cs typeface="Arial" panose="020B0604020202020204" pitchFamily="34" charset="0"/>
              </a:rPr>
              <a:t> suggestions → seller decision.</a:t>
            </a:r>
          </a:p>
        </p:txBody>
      </p:sp>
      <p:pic>
        <p:nvPicPr>
          <p:cNvPr id="4" name="Picture 3" descr="A person in a suit and glasses&#10;&#10;Description automatically generated">
            <a:extLst>
              <a:ext uri="{FF2B5EF4-FFF2-40B4-BE49-F238E27FC236}">
                <a16:creationId xmlns:a16="http://schemas.microsoft.com/office/drawing/2014/main" id="{636C05DD-4177-5255-5205-077483B48400}"/>
              </a:ext>
            </a:extLst>
          </p:cNvPr>
          <p:cNvPicPr>
            <a:picLocks noChangeAspect="1"/>
          </p:cNvPicPr>
          <p:nvPr/>
        </p:nvPicPr>
        <p:blipFill rotWithShape="1">
          <a:blip r:embed="rId3"/>
          <a:srcRect t="2707" b="14387"/>
          <a:stretch/>
        </p:blipFill>
        <p:spPr>
          <a:xfrm>
            <a:off x="10667029" y="114552"/>
            <a:ext cx="1251621" cy="1295637"/>
          </a:xfrm>
          <a:prstGeom prst="flowChartConnector">
            <a:avLst/>
          </a:prstGeom>
          <a:ln w="28575">
            <a:solidFill>
              <a:schemeClr val="tx1"/>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612648" y="452176"/>
            <a:ext cx="9226296" cy="541687"/>
          </a:xfrm>
          <a:prstGeom prst="rect">
            <a:avLst/>
          </a:prstGeom>
          <a:noFill/>
        </p:spPr>
        <p:txBody>
          <a:bodyPr wrap="square" lIns="54864" tIns="54864" rIns="54864" bIns="54864" anchor="t">
            <a:spAutoFit/>
          </a:bodyPr>
          <a:lstStyle/>
          <a:p>
            <a:pPr>
              <a:spcAft>
                <a:spcPts val="300"/>
              </a:spcAft>
              <a:defRPr sz="900" b="1">
                <a:solidFill>
                  <a:srgbClr val="238965"/>
                </a:solidFill>
                <a:latin typeface="Aptos"/>
              </a:defRPr>
            </a:pPr>
            <a:r>
              <a:rPr lang="en-US" sz="2800" dirty="0">
                <a:latin typeface="Arial" panose="020B0604020202020204" pitchFamily="34" charset="0"/>
                <a:cs typeface="Arial" panose="020B0604020202020204" pitchFamily="34" charset="0"/>
              </a:rPr>
              <a:t>15  MEMBER 03 | METHOD</a:t>
            </a:r>
            <a:endParaRPr sz="2800" dirty="0">
              <a:latin typeface="Arial" panose="020B0604020202020204" pitchFamily="34" charset="0"/>
              <a:cs typeface="Arial" panose="020B0604020202020204" pitchFamily="34" charset="0"/>
            </a:endParaRPr>
          </a:p>
        </p:txBody>
      </p:sp>
      <p:sp>
        <p:nvSpPr>
          <p:cNvPr id="3" name="TextBox 2"/>
          <p:cNvSpPr txBox="1"/>
          <p:nvPr/>
        </p:nvSpPr>
        <p:spPr>
          <a:xfrm>
            <a:off x="685800" y="1198158"/>
            <a:ext cx="10972800" cy="357021"/>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sz="1600" dirty="0">
                <a:latin typeface="Arial" panose="020B0604020202020204" pitchFamily="34" charset="0"/>
                <a:cs typeface="Arial" panose="020B0604020202020204" pitchFamily="34" charset="0"/>
              </a:rPr>
              <a:t>Traceability links the material journey</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49299"/>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sz="900">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64688"/>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sz="1000">
                <a:latin typeface="Arial" panose="020B0604020202020204" pitchFamily="34" charset="0"/>
                <a:cs typeface="Arial" panose="020B0604020202020204" pitchFamily="34" charset="0"/>
              </a:rPr>
              <a:t>16</a:t>
            </a:r>
          </a:p>
        </p:txBody>
      </p:sp>
      <p:sp>
        <p:nvSpPr>
          <p:cNvPr id="10" name="Rounded Rectangle 9"/>
          <p:cNvSpPr/>
          <p:nvPr/>
        </p:nvSpPr>
        <p:spPr>
          <a:xfrm>
            <a:off x="566928" y="1828800"/>
            <a:ext cx="1810512" cy="13533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1" name="Rectangle 10"/>
          <p:cNvSpPr/>
          <p:nvPr/>
        </p:nvSpPr>
        <p:spPr>
          <a:xfrm>
            <a:off x="566928" y="1828800"/>
            <a:ext cx="64008" cy="1353312"/>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2" name="TextBox 11"/>
          <p:cNvSpPr txBox="1"/>
          <p:nvPr/>
        </p:nvSpPr>
        <p:spPr>
          <a:xfrm>
            <a:off x="740664" y="1929384"/>
            <a:ext cx="1499616" cy="357021"/>
          </a:xfrm>
          <a:prstGeom prst="rect">
            <a:avLst/>
          </a:prstGeom>
          <a:noFill/>
        </p:spPr>
        <p:txBody>
          <a:bodyPr wrap="square" lIns="54864" tIns="54864" rIns="54864" bIns="54864" anchor="t">
            <a:spAutoFit/>
          </a:bodyPr>
          <a:lstStyle/>
          <a:p>
            <a:pPr algn="l">
              <a:spcAft>
                <a:spcPts val="300"/>
              </a:spcAft>
              <a:defRPr sz="1100" b="1">
                <a:solidFill>
                  <a:srgbClr val="123730"/>
                </a:solidFill>
                <a:latin typeface="Aptos"/>
              </a:defRPr>
            </a:pPr>
            <a:r>
              <a:rPr sz="1600" dirty="0">
                <a:latin typeface="Arial" panose="020B0604020202020204" pitchFamily="34" charset="0"/>
                <a:cs typeface="Arial" panose="020B0604020202020204" pitchFamily="34" charset="0"/>
              </a:rPr>
              <a:t>Material</a:t>
            </a:r>
          </a:p>
        </p:txBody>
      </p:sp>
      <p:sp>
        <p:nvSpPr>
          <p:cNvPr id="13" name="TextBox 12"/>
          <p:cNvSpPr txBox="1"/>
          <p:nvPr/>
        </p:nvSpPr>
        <p:spPr>
          <a:xfrm>
            <a:off x="740664" y="2286000"/>
            <a:ext cx="1499616" cy="326243"/>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Upload / details</a:t>
            </a:r>
          </a:p>
        </p:txBody>
      </p:sp>
      <p:cxnSp>
        <p:nvCxnSpPr>
          <p:cNvPr id="14" name="Connector 13"/>
          <p:cNvCxnSpPr/>
          <p:nvPr/>
        </p:nvCxnSpPr>
        <p:spPr>
          <a:xfrm>
            <a:off x="2386584" y="2505456"/>
            <a:ext cx="438912" cy="0"/>
          </a:xfrm>
          <a:prstGeom prst="line">
            <a:avLst/>
          </a:prstGeom>
          <a:ln w="25400">
            <a:solidFill>
              <a:srgbClr val="23896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80360" y="1828800"/>
            <a:ext cx="1810512" cy="13533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6" name="Rectangle 15"/>
          <p:cNvSpPr/>
          <p:nvPr/>
        </p:nvSpPr>
        <p:spPr>
          <a:xfrm>
            <a:off x="2880360" y="1828800"/>
            <a:ext cx="64008" cy="1353312"/>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7" name="TextBox 16"/>
          <p:cNvSpPr txBox="1"/>
          <p:nvPr/>
        </p:nvSpPr>
        <p:spPr>
          <a:xfrm>
            <a:off x="3054096" y="1929384"/>
            <a:ext cx="1499616" cy="357021"/>
          </a:xfrm>
          <a:prstGeom prst="rect">
            <a:avLst/>
          </a:prstGeom>
          <a:noFill/>
        </p:spPr>
        <p:txBody>
          <a:bodyPr wrap="square" lIns="54864" tIns="54864" rIns="54864" bIns="54864" anchor="t">
            <a:spAutoFit/>
          </a:bodyPr>
          <a:lstStyle/>
          <a:p>
            <a:pPr algn="l">
              <a:spcAft>
                <a:spcPts val="300"/>
              </a:spcAft>
              <a:defRPr sz="1100" b="1">
                <a:solidFill>
                  <a:srgbClr val="123730"/>
                </a:solidFill>
                <a:latin typeface="Aptos"/>
              </a:defRPr>
            </a:pPr>
            <a:r>
              <a:rPr sz="1600" dirty="0">
                <a:latin typeface="Arial" panose="020B0604020202020204" pitchFamily="34" charset="0"/>
                <a:cs typeface="Arial" panose="020B0604020202020204" pitchFamily="34" charset="0"/>
              </a:rPr>
              <a:t>Analysis</a:t>
            </a:r>
          </a:p>
        </p:txBody>
      </p:sp>
      <p:sp>
        <p:nvSpPr>
          <p:cNvPr id="18" name="TextBox 17"/>
          <p:cNvSpPr txBox="1"/>
          <p:nvPr/>
        </p:nvSpPr>
        <p:spPr>
          <a:xfrm>
            <a:off x="3054096" y="2286000"/>
            <a:ext cx="1499616" cy="326243"/>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Outputs / history</a:t>
            </a:r>
          </a:p>
        </p:txBody>
      </p:sp>
      <p:cxnSp>
        <p:nvCxnSpPr>
          <p:cNvPr id="19" name="Connector 18"/>
          <p:cNvCxnSpPr/>
          <p:nvPr/>
        </p:nvCxnSpPr>
        <p:spPr>
          <a:xfrm>
            <a:off x="4700016" y="2505456"/>
            <a:ext cx="438912" cy="0"/>
          </a:xfrm>
          <a:prstGeom prst="line">
            <a:avLst/>
          </a:prstGeom>
          <a:ln w="25400">
            <a:solidFill>
              <a:srgbClr val="238965"/>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93792" y="1828800"/>
            <a:ext cx="1810512" cy="13533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1" name="Rectangle 20"/>
          <p:cNvSpPr/>
          <p:nvPr/>
        </p:nvSpPr>
        <p:spPr>
          <a:xfrm>
            <a:off x="5193792" y="1828800"/>
            <a:ext cx="64008" cy="1353312"/>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2" name="TextBox 21"/>
          <p:cNvSpPr txBox="1"/>
          <p:nvPr/>
        </p:nvSpPr>
        <p:spPr>
          <a:xfrm>
            <a:off x="5367528" y="1929384"/>
            <a:ext cx="1499616" cy="357021"/>
          </a:xfrm>
          <a:prstGeom prst="rect">
            <a:avLst/>
          </a:prstGeom>
          <a:noFill/>
        </p:spPr>
        <p:txBody>
          <a:bodyPr wrap="square" lIns="54864" tIns="54864" rIns="54864" bIns="54864" anchor="t">
            <a:spAutoFit/>
          </a:bodyPr>
          <a:lstStyle/>
          <a:p>
            <a:pPr algn="l">
              <a:spcAft>
                <a:spcPts val="300"/>
              </a:spcAft>
              <a:defRPr sz="1100" b="1">
                <a:solidFill>
                  <a:srgbClr val="123730"/>
                </a:solidFill>
                <a:latin typeface="Aptos"/>
              </a:defRPr>
            </a:pPr>
            <a:r>
              <a:rPr sz="1600" dirty="0">
                <a:latin typeface="Arial" panose="020B0604020202020204" pitchFamily="34" charset="0"/>
                <a:cs typeface="Arial" panose="020B0604020202020204" pitchFamily="34" charset="0"/>
              </a:rPr>
              <a:t>Listing</a:t>
            </a:r>
          </a:p>
        </p:txBody>
      </p:sp>
      <p:sp>
        <p:nvSpPr>
          <p:cNvPr id="23" name="TextBox 22"/>
          <p:cNvSpPr txBox="1"/>
          <p:nvPr/>
        </p:nvSpPr>
        <p:spPr>
          <a:xfrm>
            <a:off x="5367528" y="2286000"/>
            <a:ext cx="1499616" cy="326243"/>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Published offer</a:t>
            </a:r>
          </a:p>
        </p:txBody>
      </p:sp>
      <p:cxnSp>
        <p:nvCxnSpPr>
          <p:cNvPr id="24" name="Connector 23"/>
          <p:cNvCxnSpPr/>
          <p:nvPr/>
        </p:nvCxnSpPr>
        <p:spPr>
          <a:xfrm>
            <a:off x="7013448" y="2505456"/>
            <a:ext cx="438912" cy="0"/>
          </a:xfrm>
          <a:prstGeom prst="line">
            <a:avLst/>
          </a:prstGeom>
          <a:ln w="25400">
            <a:solidFill>
              <a:srgbClr val="238965"/>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507224" y="1828800"/>
            <a:ext cx="1810512" cy="13533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6" name="Rectangle 25"/>
          <p:cNvSpPr/>
          <p:nvPr/>
        </p:nvSpPr>
        <p:spPr>
          <a:xfrm>
            <a:off x="7507224" y="1828800"/>
            <a:ext cx="64008" cy="1353312"/>
          </a:xfrm>
          <a:prstGeom prst="rect">
            <a:avLst/>
          </a:prstGeom>
          <a:solidFill>
            <a:srgbClr val="775E9D"/>
          </a:solidFill>
          <a:ln>
            <a:solidFill>
              <a:srgbClr val="775E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7" name="TextBox 26"/>
          <p:cNvSpPr txBox="1"/>
          <p:nvPr/>
        </p:nvSpPr>
        <p:spPr>
          <a:xfrm>
            <a:off x="7680960" y="1929384"/>
            <a:ext cx="1499616" cy="357021"/>
          </a:xfrm>
          <a:prstGeom prst="rect">
            <a:avLst/>
          </a:prstGeom>
          <a:noFill/>
        </p:spPr>
        <p:txBody>
          <a:bodyPr wrap="square" lIns="54864" tIns="54864" rIns="54864" bIns="54864" anchor="t">
            <a:spAutoFit/>
          </a:bodyPr>
          <a:lstStyle/>
          <a:p>
            <a:pPr algn="l">
              <a:spcAft>
                <a:spcPts val="300"/>
              </a:spcAft>
              <a:defRPr sz="1100" b="1">
                <a:solidFill>
                  <a:srgbClr val="123730"/>
                </a:solidFill>
                <a:latin typeface="Aptos"/>
              </a:defRPr>
            </a:pPr>
            <a:r>
              <a:rPr sz="1600" dirty="0">
                <a:latin typeface="Arial" panose="020B0604020202020204" pitchFamily="34" charset="0"/>
                <a:cs typeface="Arial" panose="020B0604020202020204" pitchFamily="34" charset="0"/>
              </a:rPr>
              <a:t>Order</a:t>
            </a:r>
          </a:p>
        </p:txBody>
      </p:sp>
      <p:sp>
        <p:nvSpPr>
          <p:cNvPr id="28" name="TextBox 27"/>
          <p:cNvSpPr txBox="1"/>
          <p:nvPr/>
        </p:nvSpPr>
        <p:spPr>
          <a:xfrm>
            <a:off x="7680960" y="2286000"/>
            <a:ext cx="1499616" cy="326243"/>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Status / delivery</a:t>
            </a:r>
          </a:p>
        </p:txBody>
      </p:sp>
      <p:cxnSp>
        <p:nvCxnSpPr>
          <p:cNvPr id="29" name="Connector 28"/>
          <p:cNvCxnSpPr/>
          <p:nvPr/>
        </p:nvCxnSpPr>
        <p:spPr>
          <a:xfrm>
            <a:off x="9326880" y="2505456"/>
            <a:ext cx="438912" cy="0"/>
          </a:xfrm>
          <a:prstGeom prst="line">
            <a:avLst/>
          </a:prstGeom>
          <a:ln w="25400">
            <a:solidFill>
              <a:srgbClr val="238965"/>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820656" y="1828800"/>
            <a:ext cx="1810512" cy="135331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31" name="Rectangle 30"/>
          <p:cNvSpPr/>
          <p:nvPr/>
        </p:nvSpPr>
        <p:spPr>
          <a:xfrm>
            <a:off x="9820656" y="1828800"/>
            <a:ext cx="64008" cy="1353312"/>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32" name="TextBox 31"/>
          <p:cNvSpPr txBox="1"/>
          <p:nvPr/>
        </p:nvSpPr>
        <p:spPr>
          <a:xfrm>
            <a:off x="9994392" y="1929384"/>
            <a:ext cx="1499616" cy="357021"/>
          </a:xfrm>
          <a:prstGeom prst="rect">
            <a:avLst/>
          </a:prstGeom>
          <a:noFill/>
        </p:spPr>
        <p:txBody>
          <a:bodyPr wrap="square" lIns="54864" tIns="54864" rIns="54864" bIns="54864" anchor="t">
            <a:spAutoFit/>
          </a:bodyPr>
          <a:lstStyle/>
          <a:p>
            <a:pPr algn="l">
              <a:spcAft>
                <a:spcPts val="300"/>
              </a:spcAft>
              <a:defRPr sz="1100" b="1">
                <a:solidFill>
                  <a:srgbClr val="123730"/>
                </a:solidFill>
                <a:latin typeface="Aptos"/>
              </a:defRPr>
            </a:pPr>
            <a:r>
              <a:rPr sz="1600" dirty="0">
                <a:latin typeface="Arial" panose="020B0604020202020204" pitchFamily="34" charset="0"/>
                <a:cs typeface="Arial" panose="020B0604020202020204" pitchFamily="34" charset="0"/>
              </a:rPr>
              <a:t>Feedback</a:t>
            </a:r>
          </a:p>
        </p:txBody>
      </p:sp>
      <p:sp>
        <p:nvSpPr>
          <p:cNvPr id="33" name="TextBox 32"/>
          <p:cNvSpPr txBox="1"/>
          <p:nvPr/>
        </p:nvSpPr>
        <p:spPr>
          <a:xfrm>
            <a:off x="9994392" y="2286000"/>
            <a:ext cx="1499616" cy="541687"/>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Review / rating if implemented</a:t>
            </a:r>
          </a:p>
        </p:txBody>
      </p:sp>
      <p:sp>
        <p:nvSpPr>
          <p:cNvPr id="34" name="Rounded Rectangle 33"/>
          <p:cNvSpPr/>
          <p:nvPr/>
        </p:nvSpPr>
        <p:spPr>
          <a:xfrm>
            <a:off x="822960" y="3840480"/>
            <a:ext cx="5029200" cy="98755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35" name="Rectangle 34"/>
          <p:cNvSpPr/>
          <p:nvPr/>
        </p:nvSpPr>
        <p:spPr>
          <a:xfrm>
            <a:off x="822960" y="3840480"/>
            <a:ext cx="64008" cy="987552"/>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36" name="TextBox 35"/>
          <p:cNvSpPr txBox="1"/>
          <p:nvPr/>
        </p:nvSpPr>
        <p:spPr>
          <a:xfrm>
            <a:off x="996696" y="3941064"/>
            <a:ext cx="471830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Why it matters</a:t>
            </a:r>
          </a:p>
        </p:txBody>
      </p:sp>
      <p:sp>
        <p:nvSpPr>
          <p:cNvPr id="37" name="TextBox 36"/>
          <p:cNvSpPr txBox="1"/>
          <p:nvPr/>
        </p:nvSpPr>
        <p:spPr>
          <a:xfrm>
            <a:off x="996696" y="4297680"/>
            <a:ext cx="4718304" cy="541687"/>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A more structured history can support visibility and accountability.</a:t>
            </a:r>
          </a:p>
        </p:txBody>
      </p:sp>
      <p:sp>
        <p:nvSpPr>
          <p:cNvPr id="38" name="Rounded Rectangle 37"/>
          <p:cNvSpPr/>
          <p:nvPr/>
        </p:nvSpPr>
        <p:spPr>
          <a:xfrm>
            <a:off x="6172200" y="3840480"/>
            <a:ext cx="5029200" cy="98755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39" name="Rectangle 38"/>
          <p:cNvSpPr/>
          <p:nvPr/>
        </p:nvSpPr>
        <p:spPr>
          <a:xfrm>
            <a:off x="6172200" y="3840480"/>
            <a:ext cx="64008" cy="987552"/>
          </a:xfrm>
          <a:prstGeom prst="rect">
            <a:avLst/>
          </a:prstGeom>
          <a:solidFill>
            <a:srgbClr val="A6423C"/>
          </a:solidFill>
          <a:ln>
            <a:solidFill>
              <a:srgbClr val="A64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40" name="TextBox 39"/>
          <p:cNvSpPr txBox="1"/>
          <p:nvPr/>
        </p:nvSpPr>
        <p:spPr>
          <a:xfrm>
            <a:off x="6345936" y="3941064"/>
            <a:ext cx="471830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What it cannot prove alone</a:t>
            </a:r>
          </a:p>
        </p:txBody>
      </p:sp>
      <p:sp>
        <p:nvSpPr>
          <p:cNvPr id="41" name="TextBox 40"/>
          <p:cNvSpPr txBox="1"/>
          <p:nvPr/>
        </p:nvSpPr>
        <p:spPr>
          <a:xfrm>
            <a:off x="6345936" y="4297680"/>
            <a:ext cx="4718304" cy="541687"/>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400" dirty="0">
                <a:latin typeface="Arial" panose="020B0604020202020204" pitchFamily="34" charset="0"/>
                <a:cs typeface="Arial" panose="020B0604020202020204" pitchFamily="34" charset="0"/>
              </a:rPr>
              <a:t>Records </a:t>
            </a:r>
            <a:r>
              <a:rPr lang="en-US" sz="1400" dirty="0">
                <a:latin typeface="Arial" panose="020B0604020202020204" pitchFamily="34" charset="0"/>
                <a:cs typeface="Arial" panose="020B0604020202020204" pitchFamily="34" charset="0"/>
              </a:rPr>
              <a:t>alone do not verify origin or environmental impact</a:t>
            </a:r>
            <a:r>
              <a:rPr sz="1400" dirty="0">
                <a:latin typeface="Arial" panose="020B0604020202020204" pitchFamily="34" charset="0"/>
                <a:cs typeface="Arial" panose="020B0604020202020204" pitchFamily="34" charset="0"/>
              </a:rPr>
              <a:t>.</a:t>
            </a:r>
          </a:p>
        </p:txBody>
      </p:sp>
      <p:pic>
        <p:nvPicPr>
          <p:cNvPr id="8" name="Picture 7" descr="A person in a suit and glasses&#10;&#10;Description automatically generated">
            <a:extLst>
              <a:ext uri="{FF2B5EF4-FFF2-40B4-BE49-F238E27FC236}">
                <a16:creationId xmlns:a16="http://schemas.microsoft.com/office/drawing/2014/main" id="{70800430-8D1C-F998-E6A7-3F31FA919DA9}"/>
              </a:ext>
            </a:extLst>
          </p:cNvPr>
          <p:cNvPicPr>
            <a:picLocks noChangeAspect="1"/>
          </p:cNvPicPr>
          <p:nvPr/>
        </p:nvPicPr>
        <p:blipFill rotWithShape="1">
          <a:blip r:embed="rId3"/>
          <a:srcRect t="2707" b="14387"/>
          <a:stretch/>
        </p:blipFill>
        <p:spPr>
          <a:xfrm>
            <a:off x="10725912" y="140983"/>
            <a:ext cx="1251621" cy="1295637"/>
          </a:xfrm>
          <a:prstGeom prst="flowChartConnector">
            <a:avLst/>
          </a:prstGeom>
          <a:ln w="28575">
            <a:solidFill>
              <a:schemeClr val="tx1"/>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475487" y="831960"/>
            <a:ext cx="7183958" cy="480131"/>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400" dirty="0">
                <a:latin typeface="Arial" panose="020B0604020202020204" pitchFamily="34" charset="0"/>
                <a:cs typeface="Arial" panose="020B0604020202020204" pitchFamily="34" charset="0"/>
              </a:rPr>
              <a:t>16  MEMBER 04 | IT22281678</a:t>
            </a:r>
            <a:r>
              <a:rPr lang="en-US" sz="2400" dirty="0">
                <a:latin typeface="Arial" panose="020B0604020202020204" pitchFamily="34" charset="0"/>
                <a:cs typeface="Arial" panose="020B0604020202020204" pitchFamily="34" charset="0"/>
              </a:rPr>
              <a:t> | </a:t>
            </a:r>
            <a:r>
              <a:rPr lang="en-US" sz="2400" dirty="0" err="1">
                <a:latin typeface="Arial"/>
                <a:cs typeface="Arial"/>
              </a:rPr>
              <a:t>Thalagala</a:t>
            </a:r>
            <a:r>
              <a:rPr lang="en-US" sz="2400" dirty="0">
                <a:latin typeface="Arial"/>
                <a:cs typeface="Arial"/>
              </a:rPr>
              <a:t> T.A.D.V</a:t>
            </a:r>
            <a:r>
              <a:rPr lang="en-US" sz="2400" dirty="0">
                <a:latin typeface="Arial" panose="020B0604020202020204" pitchFamily="34" charset="0"/>
                <a:cs typeface="Arial" panose="020B0604020202020204" pitchFamily="34" charset="0"/>
              </a:rPr>
              <a:t> </a:t>
            </a:r>
            <a:endParaRPr sz="2400" dirty="0">
              <a:latin typeface="Arial" panose="020B0604020202020204" pitchFamily="34" charset="0"/>
              <a:cs typeface="Arial" panose="020B0604020202020204" pitchFamily="34" charset="0"/>
            </a:endParaRPr>
          </a:p>
        </p:txBody>
      </p:sp>
      <p:sp>
        <p:nvSpPr>
          <p:cNvPr id="3" name="TextBox 2"/>
          <p:cNvSpPr txBox="1"/>
          <p:nvPr/>
        </p:nvSpPr>
        <p:spPr>
          <a:xfrm>
            <a:off x="640080" y="1881264"/>
            <a:ext cx="10972800" cy="326243"/>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sz="1400" dirty="0">
                <a:latin typeface="Arial" panose="020B0604020202020204" pitchFamily="34" charset="0"/>
                <a:cs typeface="Arial" panose="020B0604020202020204" pitchFamily="34" charset="0"/>
              </a:rPr>
              <a:t>Marketplace Predictive Analytics — model tasks</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33910"/>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49299"/>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a:latin typeface="Arial" panose="020B0604020202020204" pitchFamily="34" charset="0"/>
                <a:cs typeface="Arial" panose="020B0604020202020204" pitchFamily="34" charset="0"/>
              </a:rPr>
              <a:t>17</a:t>
            </a:r>
          </a:p>
        </p:txBody>
      </p:sp>
      <p:sp>
        <p:nvSpPr>
          <p:cNvPr id="10" name="Rounded Rectangle 9"/>
          <p:cNvSpPr/>
          <p:nvPr/>
        </p:nvSpPr>
        <p:spPr>
          <a:xfrm>
            <a:off x="640080" y="2701427"/>
            <a:ext cx="2697480" cy="169164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1" name="Rectangle 10"/>
          <p:cNvSpPr/>
          <p:nvPr/>
        </p:nvSpPr>
        <p:spPr>
          <a:xfrm>
            <a:off x="594360" y="2681310"/>
            <a:ext cx="64008" cy="1691640"/>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2" name="TextBox 11"/>
          <p:cNvSpPr txBox="1"/>
          <p:nvPr/>
        </p:nvSpPr>
        <p:spPr>
          <a:xfrm>
            <a:off x="882396" y="3017520"/>
            <a:ext cx="2386584" cy="326243"/>
          </a:xfrm>
          <a:prstGeom prst="rect">
            <a:avLst/>
          </a:prstGeom>
          <a:noFill/>
        </p:spPr>
        <p:txBody>
          <a:bodyPr wrap="square" lIns="54864" tIns="54864" rIns="54864" bIns="54864" anchor="t">
            <a:spAutoFit/>
          </a:bodyPr>
          <a:lstStyle/>
          <a:p>
            <a:pPr algn="l">
              <a:spcAft>
                <a:spcPts val="300"/>
              </a:spcAft>
              <a:defRPr sz="1100" b="1">
                <a:solidFill>
                  <a:srgbClr val="123730"/>
                </a:solidFill>
                <a:latin typeface="Aptos"/>
              </a:defRPr>
            </a:pPr>
            <a:r>
              <a:rPr sz="1400" dirty="0">
                <a:latin typeface="Arial" panose="020B0604020202020204" pitchFamily="34" charset="0"/>
                <a:cs typeface="Arial" panose="020B0604020202020204" pitchFamily="34" charset="0"/>
              </a:rPr>
              <a:t>LISTING SUCCESS</a:t>
            </a:r>
          </a:p>
        </p:txBody>
      </p:sp>
      <p:sp>
        <p:nvSpPr>
          <p:cNvPr id="13" name="TextBox 12"/>
          <p:cNvSpPr txBox="1"/>
          <p:nvPr/>
        </p:nvSpPr>
        <p:spPr>
          <a:xfrm>
            <a:off x="832103" y="3469609"/>
            <a:ext cx="2386584" cy="741742"/>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200" dirty="0" err="1">
                <a:latin typeface="Arial" panose="020B0604020202020204" pitchFamily="34" charset="0"/>
                <a:cs typeface="Arial" panose="020B0604020202020204" pitchFamily="34" charset="0"/>
              </a:rPr>
              <a:t>XGBoost</a:t>
            </a:r>
            <a:r>
              <a:rPr sz="1200" dirty="0">
                <a:latin typeface="Arial" panose="020B0604020202020204" pitchFamily="34" charset="0"/>
                <a:cs typeface="Arial" panose="020B0604020202020204" pitchFamily="34" charset="0"/>
              </a:rPr>
              <a:t> Classifier</a:t>
            </a:r>
          </a:p>
          <a:p>
            <a:pPr algn="l">
              <a:spcAft>
                <a:spcPts val="300"/>
              </a:spcAft>
              <a:defRPr sz="900" b="0">
                <a:solidFill>
                  <a:srgbClr val="1C2824"/>
                </a:solidFill>
                <a:latin typeface="Aptos"/>
              </a:defRPr>
            </a:pPr>
            <a:r>
              <a:rPr sz="1200" dirty="0">
                <a:latin typeface="Arial" panose="020B0604020202020204" pitchFamily="34" charset="0"/>
                <a:cs typeface="Arial" panose="020B0604020202020204" pitchFamily="34" charset="0"/>
              </a:rPr>
              <a:t>Reported accuracy: 83.65%</a:t>
            </a:r>
          </a:p>
          <a:p>
            <a:pPr algn="l">
              <a:spcAft>
                <a:spcPts val="300"/>
              </a:spcAft>
              <a:defRPr sz="900" b="0">
                <a:solidFill>
                  <a:srgbClr val="1C2824"/>
                </a:solidFill>
                <a:latin typeface="Aptos"/>
              </a:defRPr>
            </a:pPr>
            <a:r>
              <a:rPr sz="1200" dirty="0">
                <a:latin typeface="Arial" panose="020B0604020202020204" pitchFamily="34" charset="0"/>
                <a:cs typeface="Arial" panose="020B0604020202020204" pitchFamily="34" charset="0"/>
              </a:rPr>
              <a:t>Define the success label.</a:t>
            </a:r>
          </a:p>
        </p:txBody>
      </p:sp>
      <p:sp>
        <p:nvSpPr>
          <p:cNvPr id="14" name="Rounded Rectangle 13"/>
          <p:cNvSpPr/>
          <p:nvPr/>
        </p:nvSpPr>
        <p:spPr>
          <a:xfrm>
            <a:off x="3538728" y="2681310"/>
            <a:ext cx="2697480" cy="169164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5" name="Rectangle 14"/>
          <p:cNvSpPr/>
          <p:nvPr/>
        </p:nvSpPr>
        <p:spPr>
          <a:xfrm>
            <a:off x="3474720" y="2701427"/>
            <a:ext cx="64008" cy="1691640"/>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6" name="TextBox 15"/>
          <p:cNvSpPr txBox="1"/>
          <p:nvPr/>
        </p:nvSpPr>
        <p:spPr>
          <a:xfrm>
            <a:off x="3666744" y="3013594"/>
            <a:ext cx="2386584" cy="326243"/>
          </a:xfrm>
          <a:prstGeom prst="rect">
            <a:avLst/>
          </a:prstGeom>
          <a:noFill/>
        </p:spPr>
        <p:txBody>
          <a:bodyPr wrap="square" lIns="54864" tIns="54864" rIns="54864" bIns="54864" anchor="t">
            <a:spAutoFit/>
          </a:bodyPr>
          <a:lstStyle/>
          <a:p>
            <a:pPr algn="l">
              <a:spcAft>
                <a:spcPts val="300"/>
              </a:spcAft>
              <a:defRPr sz="1100" b="1">
                <a:solidFill>
                  <a:srgbClr val="123730"/>
                </a:solidFill>
                <a:latin typeface="Aptos"/>
              </a:defRPr>
            </a:pPr>
            <a:r>
              <a:rPr sz="1400" dirty="0">
                <a:latin typeface="Arial" panose="020B0604020202020204" pitchFamily="34" charset="0"/>
                <a:cs typeface="Arial" panose="020B0604020202020204" pitchFamily="34" charset="0"/>
              </a:rPr>
              <a:t>SALES TIME</a:t>
            </a:r>
          </a:p>
        </p:txBody>
      </p:sp>
      <p:sp>
        <p:nvSpPr>
          <p:cNvPr id="17" name="TextBox 16"/>
          <p:cNvSpPr txBox="1"/>
          <p:nvPr/>
        </p:nvSpPr>
        <p:spPr>
          <a:xfrm>
            <a:off x="3730752" y="3376231"/>
            <a:ext cx="2386584" cy="703269"/>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200" dirty="0" err="1">
                <a:latin typeface="Arial" panose="020B0604020202020204" pitchFamily="34" charset="0"/>
                <a:cs typeface="Arial" panose="020B0604020202020204" pitchFamily="34" charset="0"/>
              </a:rPr>
              <a:t>XGBoost</a:t>
            </a:r>
            <a:r>
              <a:rPr sz="1200" dirty="0">
                <a:latin typeface="Arial" panose="020B0604020202020204" pitchFamily="34" charset="0"/>
                <a:cs typeface="Arial" panose="020B0604020202020204" pitchFamily="34" charset="0"/>
              </a:rPr>
              <a:t> Regressor</a:t>
            </a:r>
          </a:p>
          <a:p>
            <a:pPr algn="l">
              <a:spcAft>
                <a:spcPts val="300"/>
              </a:spcAft>
              <a:defRPr sz="900" b="0">
                <a:solidFill>
                  <a:srgbClr val="1C2824"/>
                </a:solidFill>
                <a:latin typeface="Aptos"/>
              </a:defRPr>
            </a:pPr>
            <a:r>
              <a:rPr sz="1200" dirty="0">
                <a:latin typeface="Arial" panose="020B0604020202020204" pitchFamily="34" charset="0"/>
                <a:cs typeface="Arial" panose="020B0604020202020204" pitchFamily="34" charset="0"/>
              </a:rPr>
              <a:t>Prior notes: MAE 14.53 days; RMSE 20.87; R² 0.76</a:t>
            </a:r>
          </a:p>
        </p:txBody>
      </p:sp>
      <p:sp>
        <p:nvSpPr>
          <p:cNvPr id="18" name="Rounded Rectangle 17"/>
          <p:cNvSpPr/>
          <p:nvPr/>
        </p:nvSpPr>
        <p:spPr>
          <a:xfrm>
            <a:off x="6338039" y="2630215"/>
            <a:ext cx="2697480" cy="169164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9" name="Rectangle 18"/>
          <p:cNvSpPr/>
          <p:nvPr/>
        </p:nvSpPr>
        <p:spPr>
          <a:xfrm>
            <a:off x="6327648" y="2718089"/>
            <a:ext cx="64008" cy="1691640"/>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0" name="TextBox 19"/>
          <p:cNvSpPr txBox="1"/>
          <p:nvPr/>
        </p:nvSpPr>
        <p:spPr>
          <a:xfrm>
            <a:off x="6539207" y="3019220"/>
            <a:ext cx="2386584" cy="326243"/>
          </a:xfrm>
          <a:prstGeom prst="rect">
            <a:avLst/>
          </a:prstGeom>
          <a:noFill/>
        </p:spPr>
        <p:txBody>
          <a:bodyPr wrap="square" lIns="54864" tIns="54864" rIns="54864" bIns="54864" anchor="t">
            <a:spAutoFit/>
          </a:bodyPr>
          <a:lstStyle/>
          <a:p>
            <a:pPr algn="l">
              <a:spcAft>
                <a:spcPts val="300"/>
              </a:spcAft>
              <a:defRPr sz="1100" b="1">
                <a:solidFill>
                  <a:srgbClr val="123730"/>
                </a:solidFill>
                <a:latin typeface="Aptos"/>
              </a:defRPr>
            </a:pPr>
            <a:r>
              <a:rPr sz="1400" dirty="0">
                <a:latin typeface="Arial" panose="020B0604020202020204" pitchFamily="34" charset="0"/>
                <a:cs typeface="Arial" panose="020B0604020202020204" pitchFamily="34" charset="0"/>
              </a:rPr>
              <a:t>MARKET TREND</a:t>
            </a:r>
          </a:p>
        </p:txBody>
      </p:sp>
      <p:sp>
        <p:nvSpPr>
          <p:cNvPr id="21" name="TextBox 20"/>
          <p:cNvSpPr txBox="1"/>
          <p:nvPr/>
        </p:nvSpPr>
        <p:spPr>
          <a:xfrm>
            <a:off x="6539207" y="3362422"/>
            <a:ext cx="2386584" cy="664797"/>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200" dirty="0">
                <a:latin typeface="Arial" panose="020B0604020202020204" pitchFamily="34" charset="0"/>
                <a:cs typeface="Arial" panose="020B0604020202020204" pitchFamily="34" charset="0"/>
              </a:rPr>
              <a:t>Increasing / Stable / Decreasing classes. Prior reported accuracy: 98.72%; verify </a:t>
            </a:r>
            <a:r>
              <a:rPr lang="en-US" sz="1200" dirty="0">
                <a:latin typeface="Arial" panose="020B0604020202020204" pitchFamily="34" charset="0"/>
                <a:cs typeface="Arial" panose="020B0604020202020204" pitchFamily="34" charset="0"/>
              </a:rPr>
              <a:t>the </a:t>
            </a:r>
            <a:r>
              <a:rPr sz="1200" dirty="0">
                <a:latin typeface="Arial" panose="020B0604020202020204" pitchFamily="34" charset="0"/>
                <a:cs typeface="Arial" panose="020B0604020202020204" pitchFamily="34" charset="0"/>
              </a:rPr>
              <a:t>test protocol.</a:t>
            </a:r>
          </a:p>
        </p:txBody>
      </p:sp>
      <p:sp>
        <p:nvSpPr>
          <p:cNvPr id="22" name="Rounded Rectangle 21"/>
          <p:cNvSpPr/>
          <p:nvPr/>
        </p:nvSpPr>
        <p:spPr>
          <a:xfrm>
            <a:off x="9162288" y="2610098"/>
            <a:ext cx="2331720" cy="169164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3" name="Rectangle 22"/>
          <p:cNvSpPr/>
          <p:nvPr/>
        </p:nvSpPr>
        <p:spPr>
          <a:xfrm>
            <a:off x="9130284" y="2630215"/>
            <a:ext cx="64008" cy="1691640"/>
          </a:xfrm>
          <a:prstGeom prst="rect">
            <a:avLst/>
          </a:prstGeom>
          <a:solidFill>
            <a:srgbClr val="775E9D"/>
          </a:solidFill>
          <a:ln>
            <a:solidFill>
              <a:srgbClr val="775E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4" name="TextBox 23"/>
          <p:cNvSpPr txBox="1"/>
          <p:nvPr/>
        </p:nvSpPr>
        <p:spPr>
          <a:xfrm>
            <a:off x="9454896" y="2989263"/>
            <a:ext cx="2020824" cy="326243"/>
          </a:xfrm>
          <a:prstGeom prst="rect">
            <a:avLst/>
          </a:prstGeom>
          <a:noFill/>
        </p:spPr>
        <p:txBody>
          <a:bodyPr wrap="square" lIns="54864" tIns="54864" rIns="54864" bIns="54864" anchor="t">
            <a:spAutoFit/>
          </a:bodyPr>
          <a:lstStyle/>
          <a:p>
            <a:pPr algn="l">
              <a:spcAft>
                <a:spcPts val="300"/>
              </a:spcAft>
              <a:defRPr sz="1100" b="1">
                <a:solidFill>
                  <a:srgbClr val="123730"/>
                </a:solidFill>
                <a:latin typeface="Aptos"/>
              </a:defRPr>
            </a:pPr>
            <a:r>
              <a:rPr sz="1400" dirty="0">
                <a:latin typeface="Arial" panose="020B0604020202020204" pitchFamily="34" charset="0"/>
                <a:cs typeface="Arial" panose="020B0604020202020204" pitchFamily="34" charset="0"/>
              </a:rPr>
              <a:t>DEMAND</a:t>
            </a:r>
          </a:p>
        </p:txBody>
      </p:sp>
      <p:sp>
        <p:nvSpPr>
          <p:cNvPr id="25" name="TextBox 24"/>
          <p:cNvSpPr txBox="1"/>
          <p:nvPr/>
        </p:nvSpPr>
        <p:spPr>
          <a:xfrm>
            <a:off x="9381744" y="3378996"/>
            <a:ext cx="2020824" cy="664797"/>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200" dirty="0">
                <a:latin typeface="Arial" panose="020B0604020202020204" pitchFamily="34" charset="0"/>
                <a:cs typeface="Arial" panose="020B0604020202020204" pitchFamily="34" charset="0"/>
              </a:rPr>
              <a:t>Present separately only if a distinct trained model and evaluation exist.</a:t>
            </a:r>
          </a:p>
        </p:txBody>
      </p:sp>
      <p:sp>
        <p:nvSpPr>
          <p:cNvPr id="27" name="TextBox 26"/>
          <p:cNvSpPr txBox="1"/>
          <p:nvPr/>
        </p:nvSpPr>
        <p:spPr>
          <a:xfrm>
            <a:off x="1051560" y="3840480"/>
            <a:ext cx="2194560" cy="387798"/>
          </a:xfrm>
          <a:prstGeom prst="rect">
            <a:avLst/>
          </a:prstGeom>
          <a:noFill/>
        </p:spPr>
        <p:txBody>
          <a:bodyPr wrap="square" lIns="54864" tIns="54864" rIns="54864" bIns="54864" anchor="t">
            <a:spAutoFit/>
          </a:bodyPr>
          <a:lstStyle/>
          <a:p>
            <a:endParaRPr>
              <a:latin typeface="Arial" panose="020B0604020202020204" pitchFamily="34" charset="0"/>
              <a:cs typeface="Arial" panose="020B0604020202020204" pitchFamily="34" charset="0"/>
            </a:endParaRPr>
          </a:p>
        </p:txBody>
      </p:sp>
      <p:pic>
        <p:nvPicPr>
          <p:cNvPr id="4" name="Picture 3" descr="A person in a white shirt&#10;&#10;AI-generated content may be incorrect.">
            <a:extLst>
              <a:ext uri="{FF2B5EF4-FFF2-40B4-BE49-F238E27FC236}">
                <a16:creationId xmlns:a16="http://schemas.microsoft.com/office/drawing/2014/main" id="{F544BA30-2ED5-0303-E358-9CA7A7288290}"/>
              </a:ext>
            </a:extLst>
          </p:cNvPr>
          <p:cNvPicPr>
            <a:picLocks noChangeAspect="1"/>
          </p:cNvPicPr>
          <p:nvPr/>
        </p:nvPicPr>
        <p:blipFill rotWithShape="1">
          <a:blip r:embed="rId3"/>
          <a:srcRect b="30777"/>
          <a:stretch/>
        </p:blipFill>
        <p:spPr>
          <a:xfrm>
            <a:off x="10848109" y="100737"/>
            <a:ext cx="1148181" cy="1194086"/>
          </a:xfrm>
          <a:prstGeom prst="flowChartConnector">
            <a:avLst/>
          </a:prstGeom>
          <a:ln w="57150">
            <a:solidFill>
              <a:schemeClr val="tx1"/>
            </a:solid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25780" y="357744"/>
            <a:ext cx="5486400" cy="541687"/>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800" dirty="0">
                <a:latin typeface="Arial" panose="020B0604020202020204" pitchFamily="34" charset="0"/>
                <a:cs typeface="Arial" panose="020B0604020202020204" pitchFamily="34" charset="0"/>
              </a:rPr>
              <a:t>17  MEMBER 04</a:t>
            </a:r>
          </a:p>
        </p:txBody>
      </p:sp>
      <p:sp>
        <p:nvSpPr>
          <p:cNvPr id="3" name="TextBox 2"/>
          <p:cNvSpPr txBox="1"/>
          <p:nvPr/>
        </p:nvSpPr>
        <p:spPr>
          <a:xfrm>
            <a:off x="566928" y="937390"/>
            <a:ext cx="10972800" cy="480131"/>
          </a:xfrm>
          <a:prstGeom prst="rect">
            <a:avLst/>
          </a:prstGeom>
          <a:noFill/>
        </p:spPr>
        <p:txBody>
          <a:bodyPr wrap="square" lIns="54864" tIns="54864" rIns="54864" bIns="54864" anchor="t">
            <a:spAutoFit/>
          </a:bodyPr>
          <a:lstStyle/>
          <a:p>
            <a:pPr algn="l">
              <a:spcAft>
                <a:spcPts val="400"/>
              </a:spcAft>
              <a:defRPr sz="2400" b="1">
                <a:solidFill>
                  <a:srgbClr val="123730"/>
                </a:solidFill>
                <a:latin typeface="Aptos"/>
              </a:defRPr>
            </a:pPr>
            <a:r>
              <a:rPr sz="2400" b="1">
                <a:solidFill>
                  <a:srgbClr val="17402B"/>
                </a:solidFill>
                <a:latin typeface="Arial" panose="020B0604020202020204" pitchFamily="34" charset="0"/>
                <a:cs typeface="Arial" panose="020B0604020202020204" pitchFamily="34" charset="0"/>
              </a:rPr>
              <a:t>Marketplace dataset and feature groups</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49299"/>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sz="900">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64688"/>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sz="1000">
                <a:latin typeface="Arial" panose="020B0604020202020204" pitchFamily="34" charset="0"/>
                <a:cs typeface="Arial" panose="020B0604020202020204" pitchFamily="34" charset="0"/>
              </a:rPr>
              <a:t>18</a:t>
            </a:r>
          </a:p>
        </p:txBody>
      </p:sp>
      <p:sp>
        <p:nvSpPr>
          <p:cNvPr id="10" name="Rounded Rectangle 9"/>
          <p:cNvSpPr/>
          <p:nvPr/>
        </p:nvSpPr>
        <p:spPr>
          <a:xfrm>
            <a:off x="685800" y="1444752"/>
            <a:ext cx="5257800" cy="128016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1" name="Rectangle 10"/>
          <p:cNvSpPr/>
          <p:nvPr/>
        </p:nvSpPr>
        <p:spPr>
          <a:xfrm>
            <a:off x="685800" y="1444752"/>
            <a:ext cx="64008" cy="1280160"/>
          </a:xfrm>
          <a:prstGeom prst="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2" name="TextBox 11"/>
          <p:cNvSpPr txBox="1"/>
          <p:nvPr/>
        </p:nvSpPr>
        <p:spPr>
          <a:xfrm>
            <a:off x="873252" y="1612496"/>
            <a:ext cx="494690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lang="en-US" sz="1600" dirty="0">
                <a:latin typeface="Arial" panose="020B0604020202020204" pitchFamily="34" charset="0"/>
                <a:cs typeface="Arial" panose="020B0604020202020204" pitchFamily="34" charset="0"/>
              </a:rPr>
              <a:t>Material/condition</a:t>
            </a:r>
            <a:endParaRPr sz="1600" dirty="0">
              <a:latin typeface="Arial" panose="020B0604020202020204" pitchFamily="34" charset="0"/>
              <a:cs typeface="Arial" panose="020B0604020202020204" pitchFamily="34" charset="0"/>
            </a:endParaRPr>
          </a:p>
        </p:txBody>
      </p:sp>
      <p:sp>
        <p:nvSpPr>
          <p:cNvPr id="13" name="TextBox 12"/>
          <p:cNvSpPr txBox="1"/>
          <p:nvPr/>
        </p:nvSpPr>
        <p:spPr>
          <a:xfrm>
            <a:off x="822960" y="1976786"/>
            <a:ext cx="4946904" cy="580159"/>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400" dirty="0" err="1">
                <a:latin typeface="Arial" panose="020B0604020202020204" pitchFamily="34" charset="0"/>
                <a:cs typeface="Arial" panose="020B0604020202020204" pitchFamily="34" charset="0"/>
              </a:rPr>
              <a:t>fabric_type</a:t>
            </a:r>
            <a:r>
              <a:rPr sz="1400" dirty="0">
                <a:latin typeface="Arial" panose="020B0604020202020204" pitchFamily="34" charset="0"/>
                <a:cs typeface="Arial" panose="020B0604020202020204" pitchFamily="34" charset="0"/>
              </a:rPr>
              <a:t> • condition • </a:t>
            </a:r>
            <a:r>
              <a:rPr sz="1400" dirty="0" err="1">
                <a:latin typeface="Arial" panose="020B0604020202020204" pitchFamily="34" charset="0"/>
                <a:cs typeface="Arial" panose="020B0604020202020204" pitchFamily="34" charset="0"/>
              </a:rPr>
              <a:t>health_score</a:t>
            </a:r>
            <a:r>
              <a:rPr sz="1400" dirty="0">
                <a:latin typeface="Arial" panose="020B0604020202020204" pitchFamily="34" charset="0"/>
                <a:cs typeface="Arial" panose="020B0604020202020204" pitchFamily="34" charset="0"/>
              </a:rPr>
              <a:t> • </a:t>
            </a:r>
            <a:r>
              <a:rPr sz="1400" dirty="0" err="1">
                <a:latin typeface="Arial" panose="020B0604020202020204" pitchFamily="34" charset="0"/>
                <a:cs typeface="Arial" panose="020B0604020202020204" pitchFamily="34" charset="0"/>
              </a:rPr>
              <a:t>defect_area</a:t>
            </a:r>
            <a:r>
              <a:rPr sz="1400" dirty="0">
                <a:latin typeface="Arial" panose="020B0604020202020204" pitchFamily="34" charset="0"/>
                <a:cs typeface="Arial" panose="020B0604020202020204" pitchFamily="34" charset="0"/>
              </a:rPr>
              <a:t> </a:t>
            </a:r>
            <a:endParaRPr lang="en-US" sz="1400" dirty="0">
              <a:latin typeface="Arial" panose="020B0604020202020204" pitchFamily="34" charset="0"/>
              <a:cs typeface="Arial" panose="020B0604020202020204" pitchFamily="34" charset="0"/>
            </a:endParaRPr>
          </a:p>
          <a:p>
            <a:pPr algn="l">
              <a:spcAft>
                <a:spcPts val="300"/>
              </a:spcAft>
              <a:defRPr sz="900" b="0">
                <a:solidFill>
                  <a:srgbClr val="1C2824"/>
                </a:solidFill>
                <a:latin typeface="Aptos"/>
              </a:defRPr>
            </a:pPr>
            <a:r>
              <a:rPr sz="1400" dirty="0">
                <a:latin typeface="Arial" panose="020B0604020202020204" pitchFamily="34" charset="0"/>
                <a:cs typeface="Arial" panose="020B0604020202020204" pitchFamily="34" charset="0"/>
              </a:rPr>
              <a:t>• repairability • </a:t>
            </a:r>
            <a:r>
              <a:rPr sz="1400" dirty="0" err="1">
                <a:latin typeface="Arial" panose="020B0604020202020204" pitchFamily="34" charset="0"/>
                <a:cs typeface="Arial" panose="020B0604020202020204" pitchFamily="34" charset="0"/>
              </a:rPr>
              <a:t>remaining_lifespan</a:t>
            </a:r>
            <a:r>
              <a:rPr sz="1400" dirty="0">
                <a:latin typeface="Arial" panose="020B0604020202020204" pitchFamily="34" charset="0"/>
                <a:cs typeface="Arial" panose="020B0604020202020204" pitchFamily="34" charset="0"/>
              </a:rPr>
              <a:t> • </a:t>
            </a:r>
            <a:r>
              <a:rPr sz="1400" dirty="0" err="1">
                <a:latin typeface="Arial" panose="020B0604020202020204" pitchFamily="34" charset="0"/>
                <a:cs typeface="Arial" panose="020B0604020202020204" pitchFamily="34" charset="0"/>
              </a:rPr>
              <a:t>weight_kg</a:t>
            </a:r>
            <a:endParaRPr sz="1400" dirty="0">
              <a:latin typeface="Arial" panose="020B0604020202020204" pitchFamily="34" charset="0"/>
              <a:cs typeface="Arial" panose="020B0604020202020204" pitchFamily="34" charset="0"/>
            </a:endParaRPr>
          </a:p>
        </p:txBody>
      </p:sp>
      <p:sp>
        <p:nvSpPr>
          <p:cNvPr id="14" name="Rounded Rectangle 13"/>
          <p:cNvSpPr/>
          <p:nvPr/>
        </p:nvSpPr>
        <p:spPr>
          <a:xfrm>
            <a:off x="6263640" y="1444752"/>
            <a:ext cx="5257800" cy="128016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5" name="Rectangle 14"/>
          <p:cNvSpPr/>
          <p:nvPr/>
        </p:nvSpPr>
        <p:spPr>
          <a:xfrm>
            <a:off x="6263640" y="1444752"/>
            <a:ext cx="64008" cy="1280160"/>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6" name="TextBox 15"/>
          <p:cNvSpPr txBox="1"/>
          <p:nvPr/>
        </p:nvSpPr>
        <p:spPr>
          <a:xfrm>
            <a:off x="6422136" y="1639717"/>
            <a:ext cx="494690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lang="en-US" sz="1600" dirty="0">
                <a:latin typeface="Arial" panose="020B0604020202020204" pitchFamily="34" charset="0"/>
                <a:cs typeface="Arial" panose="020B0604020202020204" pitchFamily="34" charset="0"/>
              </a:rPr>
              <a:t>Sustainability/price</a:t>
            </a:r>
            <a:endParaRPr sz="1600" dirty="0">
              <a:latin typeface="Arial" panose="020B0604020202020204" pitchFamily="34" charset="0"/>
              <a:cs typeface="Arial" panose="020B0604020202020204" pitchFamily="34" charset="0"/>
            </a:endParaRPr>
          </a:p>
        </p:txBody>
      </p:sp>
      <p:sp>
        <p:nvSpPr>
          <p:cNvPr id="17" name="TextBox 16"/>
          <p:cNvSpPr txBox="1"/>
          <p:nvPr/>
        </p:nvSpPr>
        <p:spPr>
          <a:xfrm>
            <a:off x="6422136" y="2016252"/>
            <a:ext cx="4946904" cy="541687"/>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400" dirty="0" err="1">
                <a:latin typeface="Arial" panose="020B0604020202020204" pitchFamily="34" charset="0"/>
                <a:cs typeface="Arial" panose="020B0604020202020204" pitchFamily="34" charset="0"/>
              </a:rPr>
              <a:t>sustainability_score</a:t>
            </a:r>
            <a:r>
              <a:rPr sz="1400" dirty="0">
                <a:latin typeface="Arial" panose="020B0604020202020204" pitchFamily="34" charset="0"/>
                <a:cs typeface="Arial" panose="020B0604020202020204" pitchFamily="34" charset="0"/>
              </a:rPr>
              <a:t> • </a:t>
            </a:r>
            <a:r>
              <a:rPr sz="1400" dirty="0" err="1">
                <a:latin typeface="Arial" panose="020B0604020202020204" pitchFamily="34" charset="0"/>
                <a:cs typeface="Arial" panose="020B0604020202020204" pitchFamily="34" charset="0"/>
              </a:rPr>
              <a:t>green_score</a:t>
            </a:r>
            <a:r>
              <a:rPr sz="1400" dirty="0">
                <a:latin typeface="Arial" panose="020B0604020202020204" pitchFamily="34" charset="0"/>
                <a:cs typeface="Arial" panose="020B0604020202020204" pitchFamily="34" charset="0"/>
              </a:rPr>
              <a:t> • co2_saving • </a:t>
            </a:r>
            <a:r>
              <a:rPr sz="1400" dirty="0" err="1">
                <a:latin typeface="Arial" panose="020B0604020202020204" pitchFamily="34" charset="0"/>
                <a:cs typeface="Arial" panose="020B0604020202020204" pitchFamily="34" charset="0"/>
              </a:rPr>
              <a:t>water_saving</a:t>
            </a:r>
            <a:r>
              <a:rPr sz="1400" dirty="0">
                <a:latin typeface="Arial" panose="020B0604020202020204" pitchFamily="34" charset="0"/>
                <a:cs typeface="Arial" panose="020B0604020202020204" pitchFamily="34" charset="0"/>
              </a:rPr>
              <a:t> • </a:t>
            </a:r>
            <a:r>
              <a:rPr sz="1400" dirty="0" err="1">
                <a:latin typeface="Arial" panose="020B0604020202020204" pitchFamily="34" charset="0"/>
                <a:cs typeface="Arial" panose="020B0604020202020204" pitchFamily="34" charset="0"/>
              </a:rPr>
              <a:t>predicted_price</a:t>
            </a:r>
            <a:r>
              <a:rPr sz="1400" dirty="0">
                <a:latin typeface="Arial" panose="020B0604020202020204" pitchFamily="34" charset="0"/>
                <a:cs typeface="Arial" panose="020B0604020202020204" pitchFamily="34" charset="0"/>
              </a:rPr>
              <a:t> • </a:t>
            </a:r>
            <a:r>
              <a:rPr sz="1400" dirty="0" err="1">
                <a:latin typeface="Arial" panose="020B0604020202020204" pitchFamily="34" charset="0"/>
                <a:cs typeface="Arial" panose="020B0604020202020204" pitchFamily="34" charset="0"/>
              </a:rPr>
              <a:t>average_market_price</a:t>
            </a:r>
            <a:endParaRPr sz="1400" dirty="0">
              <a:latin typeface="Arial" panose="020B0604020202020204" pitchFamily="34" charset="0"/>
              <a:cs typeface="Arial" panose="020B0604020202020204" pitchFamily="34" charset="0"/>
            </a:endParaRPr>
          </a:p>
        </p:txBody>
      </p:sp>
      <p:sp>
        <p:nvSpPr>
          <p:cNvPr id="18" name="Rounded Rectangle 17"/>
          <p:cNvSpPr/>
          <p:nvPr/>
        </p:nvSpPr>
        <p:spPr>
          <a:xfrm>
            <a:off x="685800" y="3017520"/>
            <a:ext cx="5257800" cy="128016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9" name="Rectangle 18"/>
          <p:cNvSpPr/>
          <p:nvPr/>
        </p:nvSpPr>
        <p:spPr>
          <a:xfrm>
            <a:off x="685800" y="3017520"/>
            <a:ext cx="64008" cy="1280160"/>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0" name="TextBox 19"/>
          <p:cNvSpPr txBox="1"/>
          <p:nvPr/>
        </p:nvSpPr>
        <p:spPr>
          <a:xfrm>
            <a:off x="859536" y="3118103"/>
            <a:ext cx="494690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sz="1600" dirty="0">
                <a:latin typeface="Arial" panose="020B0604020202020204" pitchFamily="34" charset="0"/>
                <a:cs typeface="Arial" panose="020B0604020202020204" pitchFamily="34" charset="0"/>
              </a:rPr>
              <a:t>Market context</a:t>
            </a:r>
          </a:p>
        </p:txBody>
      </p:sp>
      <p:sp>
        <p:nvSpPr>
          <p:cNvPr id="21" name="TextBox 20"/>
          <p:cNvSpPr txBox="1"/>
          <p:nvPr/>
        </p:nvSpPr>
        <p:spPr>
          <a:xfrm>
            <a:off x="859536" y="3474720"/>
            <a:ext cx="4946904" cy="541687"/>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400" dirty="0" err="1">
                <a:latin typeface="Arial" panose="020B0604020202020204" pitchFamily="34" charset="0"/>
                <a:cs typeface="Arial" panose="020B0604020202020204" pitchFamily="34" charset="0"/>
              </a:rPr>
              <a:t>buyer_type</a:t>
            </a:r>
            <a:r>
              <a:rPr sz="1400" dirty="0">
                <a:latin typeface="Arial" panose="020B0604020202020204" pitchFamily="34" charset="0"/>
                <a:cs typeface="Arial" panose="020B0604020202020204" pitchFamily="34" charset="0"/>
              </a:rPr>
              <a:t> • </a:t>
            </a:r>
            <a:r>
              <a:rPr sz="1400" dirty="0" err="1">
                <a:latin typeface="Arial" panose="020B0604020202020204" pitchFamily="34" charset="0"/>
                <a:cs typeface="Arial" panose="020B0604020202020204" pitchFamily="34" charset="0"/>
              </a:rPr>
              <a:t>demand_level</a:t>
            </a:r>
            <a:r>
              <a:rPr sz="1400" dirty="0">
                <a:latin typeface="Arial" panose="020B0604020202020204" pitchFamily="34" charset="0"/>
                <a:cs typeface="Arial" panose="020B0604020202020204" pitchFamily="34" charset="0"/>
              </a:rPr>
              <a:t> • </a:t>
            </a:r>
            <a:r>
              <a:rPr sz="1400" dirty="0" err="1">
                <a:latin typeface="Arial" panose="020B0604020202020204" pitchFamily="34" charset="0"/>
                <a:cs typeface="Arial" panose="020B0604020202020204" pitchFamily="34" charset="0"/>
              </a:rPr>
              <a:t>listing_month</a:t>
            </a:r>
            <a:r>
              <a:rPr sz="1400" dirty="0">
                <a:latin typeface="Arial" panose="020B0604020202020204" pitchFamily="34" charset="0"/>
                <a:cs typeface="Arial" panose="020B0604020202020204" pitchFamily="34" charset="0"/>
              </a:rPr>
              <a:t> • season • district • province • competition • </a:t>
            </a:r>
            <a:r>
              <a:rPr sz="1400" dirty="0" err="1">
                <a:latin typeface="Arial" panose="020B0604020202020204" pitchFamily="34" charset="0"/>
                <a:cs typeface="Arial" panose="020B0604020202020204" pitchFamily="34" charset="0"/>
              </a:rPr>
              <a:t>economic_index</a:t>
            </a:r>
            <a:endParaRPr sz="1400" dirty="0">
              <a:latin typeface="Arial" panose="020B0604020202020204" pitchFamily="34" charset="0"/>
              <a:cs typeface="Arial" panose="020B0604020202020204" pitchFamily="34" charset="0"/>
            </a:endParaRPr>
          </a:p>
        </p:txBody>
      </p:sp>
      <p:sp>
        <p:nvSpPr>
          <p:cNvPr id="22" name="Rounded Rectangle 21"/>
          <p:cNvSpPr/>
          <p:nvPr/>
        </p:nvSpPr>
        <p:spPr>
          <a:xfrm>
            <a:off x="6263640" y="3017520"/>
            <a:ext cx="5257800" cy="1280160"/>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3" name="Rectangle 22"/>
          <p:cNvSpPr/>
          <p:nvPr/>
        </p:nvSpPr>
        <p:spPr>
          <a:xfrm>
            <a:off x="6263640" y="3017520"/>
            <a:ext cx="64008" cy="1280160"/>
          </a:xfrm>
          <a:prstGeom prst="rect">
            <a:avLst/>
          </a:prstGeom>
          <a:solidFill>
            <a:srgbClr val="775E9D"/>
          </a:solidFill>
          <a:ln>
            <a:solidFill>
              <a:srgbClr val="775E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4" name="TextBox 23"/>
          <p:cNvSpPr txBox="1"/>
          <p:nvPr/>
        </p:nvSpPr>
        <p:spPr>
          <a:xfrm>
            <a:off x="6437376" y="3118103"/>
            <a:ext cx="4946904" cy="357021"/>
          </a:xfrm>
          <a:prstGeom prst="rect">
            <a:avLst/>
          </a:prstGeom>
          <a:noFill/>
        </p:spPr>
        <p:txBody>
          <a:bodyPr wrap="square" lIns="54864" tIns="54864" rIns="54864" bIns="54864" anchor="t">
            <a:spAutoFit/>
          </a:bodyPr>
          <a:lstStyle/>
          <a:p>
            <a:pPr algn="l">
              <a:spcAft>
                <a:spcPts val="300"/>
              </a:spcAft>
              <a:defRPr sz="1200" b="1">
                <a:solidFill>
                  <a:srgbClr val="123730"/>
                </a:solidFill>
                <a:latin typeface="Aptos"/>
              </a:defRPr>
            </a:pPr>
            <a:r>
              <a:rPr lang="en-US" sz="1600" dirty="0">
                <a:latin typeface="Arial" panose="020B0604020202020204" pitchFamily="34" charset="0"/>
                <a:cs typeface="Arial" panose="020B0604020202020204" pitchFamily="34" charset="0"/>
              </a:rPr>
              <a:t>Seller/engagement</a:t>
            </a:r>
            <a:endParaRPr sz="1600" dirty="0">
              <a:latin typeface="Arial" panose="020B0604020202020204" pitchFamily="34" charset="0"/>
              <a:cs typeface="Arial" panose="020B0604020202020204" pitchFamily="34" charset="0"/>
            </a:endParaRPr>
          </a:p>
        </p:txBody>
      </p:sp>
      <p:sp>
        <p:nvSpPr>
          <p:cNvPr id="25" name="TextBox 24"/>
          <p:cNvSpPr txBox="1"/>
          <p:nvPr/>
        </p:nvSpPr>
        <p:spPr>
          <a:xfrm>
            <a:off x="6437376" y="3474720"/>
            <a:ext cx="4946904" cy="541687"/>
          </a:xfrm>
          <a:prstGeom prst="rect">
            <a:avLst/>
          </a:prstGeom>
          <a:noFill/>
        </p:spPr>
        <p:txBody>
          <a:bodyPr wrap="square" lIns="54864" tIns="54864" rIns="54864" bIns="54864" anchor="t">
            <a:spAutoFit/>
          </a:bodyPr>
          <a:lstStyle/>
          <a:p>
            <a:pPr algn="l">
              <a:spcAft>
                <a:spcPts val="300"/>
              </a:spcAft>
              <a:defRPr sz="900" b="0">
                <a:solidFill>
                  <a:srgbClr val="1C2824"/>
                </a:solidFill>
                <a:latin typeface="Aptos"/>
              </a:defRPr>
            </a:pPr>
            <a:r>
              <a:rPr sz="1400" dirty="0" err="1">
                <a:latin typeface="Arial" panose="020B0604020202020204" pitchFamily="34" charset="0"/>
                <a:cs typeface="Arial" panose="020B0604020202020204" pitchFamily="34" charset="0"/>
              </a:rPr>
              <a:t>seller_rating</a:t>
            </a:r>
            <a:r>
              <a:rPr sz="1400" dirty="0">
                <a:latin typeface="Arial" panose="020B0604020202020204" pitchFamily="34" charset="0"/>
                <a:cs typeface="Arial" panose="020B0604020202020204" pitchFamily="34" charset="0"/>
              </a:rPr>
              <a:t> • </a:t>
            </a:r>
            <a:r>
              <a:rPr sz="1400" dirty="0" err="1">
                <a:latin typeface="Arial" panose="020B0604020202020204" pitchFamily="34" charset="0"/>
                <a:cs typeface="Arial" panose="020B0604020202020204" pitchFamily="34" charset="0"/>
              </a:rPr>
              <a:t>weekly_views</a:t>
            </a:r>
            <a:r>
              <a:rPr sz="1400" dirty="0">
                <a:latin typeface="Arial" panose="020B0604020202020204" pitchFamily="34" charset="0"/>
                <a:cs typeface="Arial" panose="020B0604020202020204" pitchFamily="34" charset="0"/>
              </a:rPr>
              <a:t> • </a:t>
            </a:r>
            <a:r>
              <a:rPr sz="1400" dirty="0" err="1">
                <a:latin typeface="Arial" panose="020B0604020202020204" pitchFamily="34" charset="0"/>
                <a:cs typeface="Arial" panose="020B0604020202020204" pitchFamily="34" charset="0"/>
              </a:rPr>
              <a:t>wishlist_count</a:t>
            </a:r>
            <a:r>
              <a:rPr sz="1400" dirty="0">
                <a:latin typeface="Arial" panose="020B0604020202020204" pitchFamily="34" charset="0"/>
                <a:cs typeface="Arial" panose="020B0604020202020204" pitchFamily="34" charset="0"/>
              </a:rPr>
              <a:t> • </a:t>
            </a:r>
            <a:r>
              <a:rPr sz="1400" dirty="0" err="1">
                <a:latin typeface="Arial" panose="020B0604020202020204" pitchFamily="34" charset="0"/>
                <a:cs typeface="Arial" panose="020B0604020202020204" pitchFamily="34" charset="0"/>
              </a:rPr>
              <a:t>click_rate</a:t>
            </a:r>
            <a:r>
              <a:rPr sz="1400" dirty="0">
                <a:latin typeface="Arial" panose="020B0604020202020204" pitchFamily="34" charset="0"/>
                <a:cs typeface="Arial" panose="020B0604020202020204" pitchFamily="34" charset="0"/>
              </a:rPr>
              <a:t> • </a:t>
            </a:r>
            <a:r>
              <a:rPr sz="1400" dirty="0" err="1">
                <a:latin typeface="Arial" panose="020B0604020202020204" pitchFamily="34" charset="0"/>
                <a:cs typeface="Arial" panose="020B0604020202020204" pitchFamily="34" charset="0"/>
              </a:rPr>
              <a:t>seller_experience</a:t>
            </a:r>
            <a:r>
              <a:rPr sz="1400" dirty="0">
                <a:latin typeface="Arial" panose="020B0604020202020204" pitchFamily="34" charset="0"/>
                <a:cs typeface="Arial" panose="020B0604020202020204" pitchFamily="34" charset="0"/>
              </a:rPr>
              <a:t> • </a:t>
            </a:r>
            <a:r>
              <a:rPr sz="1400" dirty="0" err="1">
                <a:latin typeface="Arial" panose="020B0604020202020204" pitchFamily="34" charset="0"/>
                <a:cs typeface="Arial" panose="020B0604020202020204" pitchFamily="34" charset="0"/>
              </a:rPr>
              <a:t>listing_status</a:t>
            </a:r>
            <a:r>
              <a:rPr sz="1400" dirty="0">
                <a:latin typeface="Arial" panose="020B0604020202020204" pitchFamily="34" charset="0"/>
                <a:cs typeface="Arial" panose="020B0604020202020204" pitchFamily="34" charset="0"/>
              </a:rPr>
              <a:t> • </a:t>
            </a:r>
            <a:r>
              <a:rPr sz="1400" dirty="0" err="1">
                <a:latin typeface="Arial" panose="020B0604020202020204" pitchFamily="34" charset="0"/>
                <a:cs typeface="Arial" panose="020B0604020202020204" pitchFamily="34" charset="0"/>
              </a:rPr>
              <a:t>days_to_sell</a:t>
            </a:r>
            <a:endParaRPr sz="1400" dirty="0">
              <a:latin typeface="Arial" panose="020B0604020202020204" pitchFamily="34" charset="0"/>
              <a:cs typeface="Arial" panose="020B0604020202020204" pitchFamily="34" charset="0"/>
            </a:endParaRPr>
          </a:p>
        </p:txBody>
      </p:sp>
      <p:pic>
        <p:nvPicPr>
          <p:cNvPr id="8" name="Picture 7" descr="A person in a white shirt&#10;&#10;AI-generated content may be incorrect.">
            <a:extLst>
              <a:ext uri="{FF2B5EF4-FFF2-40B4-BE49-F238E27FC236}">
                <a16:creationId xmlns:a16="http://schemas.microsoft.com/office/drawing/2014/main" id="{6D9149DC-136C-C65B-1EF1-60FF1E1DA39C}"/>
              </a:ext>
            </a:extLst>
          </p:cNvPr>
          <p:cNvPicPr>
            <a:picLocks noChangeAspect="1"/>
          </p:cNvPicPr>
          <p:nvPr/>
        </p:nvPicPr>
        <p:blipFill rotWithShape="1">
          <a:blip r:embed="rId3"/>
          <a:srcRect b="30777"/>
          <a:stretch/>
        </p:blipFill>
        <p:spPr>
          <a:xfrm>
            <a:off x="10794949" y="91928"/>
            <a:ext cx="1148181" cy="1194086"/>
          </a:xfrm>
          <a:prstGeom prst="flowChartConnector">
            <a:avLst/>
          </a:prstGeom>
          <a:ln w="57150">
            <a:solidFill>
              <a:schemeClr val="tx1"/>
            </a:solid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66927" y="201168"/>
            <a:ext cx="7537981" cy="541687"/>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800" dirty="0">
                <a:latin typeface="Arial" panose="020B0604020202020204" pitchFamily="34" charset="0"/>
                <a:cs typeface="Arial" panose="020B0604020202020204" pitchFamily="34" charset="0"/>
              </a:rPr>
              <a:t>18  INTEGRATED USER JOURNEY</a:t>
            </a:r>
          </a:p>
        </p:txBody>
      </p:sp>
      <p:sp>
        <p:nvSpPr>
          <p:cNvPr id="3" name="TextBox 2"/>
          <p:cNvSpPr txBox="1"/>
          <p:nvPr/>
        </p:nvSpPr>
        <p:spPr>
          <a:xfrm>
            <a:off x="777240" y="810836"/>
            <a:ext cx="10972800" cy="418576"/>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sz="2000" dirty="0">
                <a:latin typeface="Arial" panose="020B0604020202020204" pitchFamily="34" charset="0"/>
                <a:cs typeface="Arial" panose="020B0604020202020204" pitchFamily="34" charset="0"/>
              </a:rPr>
              <a:t>How the four components work together on the website</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64688"/>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sz="1000">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72382"/>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sz="1050">
                <a:latin typeface="Arial" panose="020B0604020202020204" pitchFamily="34" charset="0"/>
                <a:cs typeface="Arial" panose="020B0604020202020204" pitchFamily="34" charset="0"/>
              </a:rPr>
              <a:t>19</a:t>
            </a:r>
          </a:p>
        </p:txBody>
      </p:sp>
      <p:sp>
        <p:nvSpPr>
          <p:cNvPr id="10" name="Rounded Rectangle 9"/>
          <p:cNvSpPr/>
          <p:nvPr/>
        </p:nvSpPr>
        <p:spPr>
          <a:xfrm>
            <a:off x="777240" y="1353312"/>
            <a:ext cx="2103120" cy="502920"/>
          </a:xfrm>
          <a:prstGeom prst="roundRect">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11" name="TextBox 10"/>
          <p:cNvSpPr txBox="1"/>
          <p:nvPr/>
        </p:nvSpPr>
        <p:spPr>
          <a:xfrm>
            <a:off x="859536" y="1499616"/>
            <a:ext cx="1938528" cy="264688"/>
          </a:xfrm>
          <a:prstGeom prst="rect">
            <a:avLst/>
          </a:prstGeom>
          <a:noFill/>
        </p:spPr>
        <p:txBody>
          <a:bodyPr wrap="square" lIns="54864" tIns="54864" rIns="54864" bIns="54864" anchor="t">
            <a:spAutoFit/>
          </a:bodyPr>
          <a:lstStyle/>
          <a:p>
            <a:pPr algn="ctr">
              <a:spcAft>
                <a:spcPts val="300"/>
              </a:spcAft>
              <a:defRPr sz="1000" b="1">
                <a:solidFill>
                  <a:srgbClr val="FFFFFF"/>
                </a:solidFill>
                <a:latin typeface="Aptos"/>
              </a:defRPr>
            </a:pPr>
            <a:r>
              <a:rPr dirty="0">
                <a:latin typeface="Arial" panose="020B0604020202020204" pitchFamily="34" charset="0"/>
                <a:cs typeface="Arial" panose="020B0604020202020204" pitchFamily="34" charset="0"/>
              </a:rPr>
              <a:t>01 • Upload</a:t>
            </a:r>
          </a:p>
        </p:txBody>
      </p:sp>
      <p:sp>
        <p:nvSpPr>
          <p:cNvPr id="12" name="TextBox 11"/>
          <p:cNvSpPr txBox="1"/>
          <p:nvPr/>
        </p:nvSpPr>
        <p:spPr>
          <a:xfrm>
            <a:off x="3154680" y="1444752"/>
            <a:ext cx="7772400" cy="357021"/>
          </a:xfrm>
          <a:prstGeom prst="rect">
            <a:avLst/>
          </a:prstGeom>
          <a:noFill/>
        </p:spPr>
        <p:txBody>
          <a:bodyPr wrap="square" lIns="54864" tIns="54864" rIns="54864" bIns="54864" anchor="t">
            <a:spAutoFit/>
          </a:bodyPr>
          <a:lstStyle/>
          <a:p>
            <a:pPr algn="l">
              <a:spcAft>
                <a:spcPts val="300"/>
              </a:spcAft>
              <a:defRPr sz="1100" b="1">
                <a:solidFill>
                  <a:srgbClr val="1C2824"/>
                </a:solidFill>
                <a:latin typeface="Aptos"/>
              </a:defRPr>
            </a:pPr>
            <a:r>
              <a:rPr sz="1600" dirty="0">
                <a:latin typeface="Arial" panose="020B0604020202020204" pitchFamily="34" charset="0"/>
                <a:cs typeface="Arial" panose="020B0604020202020204" pitchFamily="34" charset="0"/>
              </a:rPr>
              <a:t>Seller uploads an image and enters material details.</a:t>
            </a:r>
          </a:p>
        </p:txBody>
      </p:sp>
      <p:sp>
        <p:nvSpPr>
          <p:cNvPr id="13" name="Rounded Rectangle 12"/>
          <p:cNvSpPr/>
          <p:nvPr/>
        </p:nvSpPr>
        <p:spPr>
          <a:xfrm>
            <a:off x="777240" y="2139696"/>
            <a:ext cx="2103120" cy="502920"/>
          </a:xfrm>
          <a:prstGeom prst="round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14" name="TextBox 13"/>
          <p:cNvSpPr txBox="1"/>
          <p:nvPr/>
        </p:nvSpPr>
        <p:spPr>
          <a:xfrm>
            <a:off x="859536" y="2286000"/>
            <a:ext cx="1938528" cy="264688"/>
          </a:xfrm>
          <a:prstGeom prst="rect">
            <a:avLst/>
          </a:prstGeom>
          <a:noFill/>
        </p:spPr>
        <p:txBody>
          <a:bodyPr wrap="square" lIns="54864" tIns="54864" rIns="54864" bIns="54864" anchor="t">
            <a:spAutoFit/>
          </a:bodyPr>
          <a:lstStyle/>
          <a:p>
            <a:pPr algn="ctr">
              <a:spcAft>
                <a:spcPts val="300"/>
              </a:spcAft>
              <a:defRPr sz="1000" b="1">
                <a:solidFill>
                  <a:srgbClr val="FFFFFF"/>
                </a:solidFill>
                <a:latin typeface="Aptos"/>
              </a:defRPr>
            </a:pPr>
            <a:r>
              <a:rPr dirty="0">
                <a:latin typeface="Arial" panose="020B0604020202020204" pitchFamily="34" charset="0"/>
                <a:cs typeface="Arial" panose="020B0604020202020204" pitchFamily="34" charset="0"/>
              </a:rPr>
              <a:t>02 • Identify</a:t>
            </a:r>
          </a:p>
        </p:txBody>
      </p:sp>
      <p:sp>
        <p:nvSpPr>
          <p:cNvPr id="15" name="TextBox 14"/>
          <p:cNvSpPr txBox="1"/>
          <p:nvPr/>
        </p:nvSpPr>
        <p:spPr>
          <a:xfrm>
            <a:off x="3154680" y="2231136"/>
            <a:ext cx="7772400" cy="357021"/>
          </a:xfrm>
          <a:prstGeom prst="rect">
            <a:avLst/>
          </a:prstGeom>
          <a:noFill/>
        </p:spPr>
        <p:txBody>
          <a:bodyPr wrap="square" lIns="54864" tIns="54864" rIns="54864" bIns="54864" anchor="t">
            <a:spAutoFit/>
          </a:bodyPr>
          <a:lstStyle/>
          <a:p>
            <a:pPr algn="l">
              <a:spcAft>
                <a:spcPts val="300"/>
              </a:spcAft>
              <a:defRPr sz="1100" b="1">
                <a:solidFill>
                  <a:srgbClr val="1C2824"/>
                </a:solidFill>
                <a:latin typeface="Aptos"/>
              </a:defRPr>
            </a:pPr>
            <a:r>
              <a:rPr sz="1600" dirty="0">
                <a:latin typeface="Arial" panose="020B0604020202020204" pitchFamily="34" charset="0"/>
                <a:cs typeface="Arial" panose="020B0604020202020204" pitchFamily="34" charset="0"/>
              </a:rPr>
              <a:t>Member 01 model classifies fabric and analyses defects where supported.</a:t>
            </a:r>
          </a:p>
        </p:txBody>
      </p:sp>
      <p:sp>
        <p:nvSpPr>
          <p:cNvPr id="16" name="Rounded Rectangle 15"/>
          <p:cNvSpPr/>
          <p:nvPr/>
        </p:nvSpPr>
        <p:spPr>
          <a:xfrm>
            <a:off x="777240" y="2926080"/>
            <a:ext cx="2103120" cy="502920"/>
          </a:xfrm>
          <a:prstGeom prst="round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17" name="TextBox 16"/>
          <p:cNvSpPr txBox="1"/>
          <p:nvPr/>
        </p:nvSpPr>
        <p:spPr>
          <a:xfrm>
            <a:off x="859536" y="3072384"/>
            <a:ext cx="1938528" cy="264688"/>
          </a:xfrm>
          <a:prstGeom prst="rect">
            <a:avLst/>
          </a:prstGeom>
          <a:noFill/>
        </p:spPr>
        <p:txBody>
          <a:bodyPr wrap="square" lIns="54864" tIns="54864" rIns="54864" bIns="54864" anchor="t">
            <a:spAutoFit/>
          </a:bodyPr>
          <a:lstStyle/>
          <a:p>
            <a:pPr algn="ctr">
              <a:spcAft>
                <a:spcPts val="300"/>
              </a:spcAft>
              <a:defRPr sz="1000" b="1">
                <a:solidFill>
                  <a:srgbClr val="FFFFFF"/>
                </a:solidFill>
                <a:latin typeface="Aptos"/>
              </a:defRPr>
            </a:pPr>
            <a:r>
              <a:rPr dirty="0">
                <a:latin typeface="Arial" panose="020B0604020202020204" pitchFamily="34" charset="0"/>
                <a:cs typeface="Arial" panose="020B0604020202020204" pitchFamily="34" charset="0"/>
              </a:rPr>
              <a:t>03 • Assess</a:t>
            </a:r>
          </a:p>
        </p:txBody>
      </p:sp>
      <p:sp>
        <p:nvSpPr>
          <p:cNvPr id="18" name="TextBox 17"/>
          <p:cNvSpPr txBox="1"/>
          <p:nvPr/>
        </p:nvSpPr>
        <p:spPr>
          <a:xfrm>
            <a:off x="3154680" y="3017520"/>
            <a:ext cx="7772400" cy="357021"/>
          </a:xfrm>
          <a:prstGeom prst="rect">
            <a:avLst/>
          </a:prstGeom>
          <a:noFill/>
        </p:spPr>
        <p:txBody>
          <a:bodyPr wrap="square" lIns="54864" tIns="54864" rIns="54864" bIns="54864" anchor="t">
            <a:spAutoFit/>
          </a:bodyPr>
          <a:lstStyle/>
          <a:p>
            <a:pPr algn="l">
              <a:spcAft>
                <a:spcPts val="300"/>
              </a:spcAft>
              <a:defRPr sz="1100" b="1">
                <a:solidFill>
                  <a:srgbClr val="1C2824"/>
                </a:solidFill>
                <a:latin typeface="Aptos"/>
              </a:defRPr>
            </a:pPr>
            <a:r>
              <a:rPr sz="1600" dirty="0">
                <a:latin typeface="Arial" panose="020B0604020202020204" pitchFamily="34" charset="0"/>
                <a:cs typeface="Arial" panose="020B0604020202020204" pitchFamily="34" charset="0"/>
              </a:rPr>
              <a:t>Member 02 produces sustainability indicators and environmental estimates.</a:t>
            </a:r>
          </a:p>
        </p:txBody>
      </p:sp>
      <p:sp>
        <p:nvSpPr>
          <p:cNvPr id="19" name="Rounded Rectangle 18"/>
          <p:cNvSpPr/>
          <p:nvPr/>
        </p:nvSpPr>
        <p:spPr>
          <a:xfrm>
            <a:off x="777240" y="3712464"/>
            <a:ext cx="2103120" cy="502920"/>
          </a:xfrm>
          <a:prstGeom prst="roundRect">
            <a:avLst/>
          </a:prstGeom>
          <a:solidFill>
            <a:srgbClr val="775E9D"/>
          </a:solidFill>
          <a:ln>
            <a:solidFill>
              <a:srgbClr val="775E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20" name="TextBox 19"/>
          <p:cNvSpPr txBox="1"/>
          <p:nvPr/>
        </p:nvSpPr>
        <p:spPr>
          <a:xfrm>
            <a:off x="859536" y="3858768"/>
            <a:ext cx="1938528" cy="264688"/>
          </a:xfrm>
          <a:prstGeom prst="rect">
            <a:avLst/>
          </a:prstGeom>
          <a:noFill/>
        </p:spPr>
        <p:txBody>
          <a:bodyPr wrap="square" lIns="54864" tIns="54864" rIns="54864" bIns="54864" anchor="t">
            <a:spAutoFit/>
          </a:bodyPr>
          <a:lstStyle/>
          <a:p>
            <a:pPr algn="ctr">
              <a:spcAft>
                <a:spcPts val="300"/>
              </a:spcAft>
              <a:defRPr sz="1000" b="1">
                <a:solidFill>
                  <a:srgbClr val="FFFFFF"/>
                </a:solidFill>
                <a:latin typeface="Aptos"/>
              </a:defRPr>
            </a:pPr>
            <a:r>
              <a:rPr dirty="0">
                <a:latin typeface="Arial" panose="020B0604020202020204" pitchFamily="34" charset="0"/>
                <a:cs typeface="Arial" panose="020B0604020202020204" pitchFamily="34" charset="0"/>
              </a:rPr>
              <a:t>04 • </a:t>
            </a:r>
            <a:r>
              <a:rPr dirty="0" err="1">
                <a:latin typeface="Arial" panose="020B0604020202020204" pitchFamily="34" charset="0"/>
                <a:cs typeface="Arial" panose="020B0604020202020204" pitchFamily="34" charset="0"/>
              </a:rPr>
              <a:t>Commercialise</a:t>
            </a:r>
            <a:endParaRPr dirty="0">
              <a:latin typeface="Arial" panose="020B0604020202020204" pitchFamily="34" charset="0"/>
              <a:cs typeface="Arial" panose="020B0604020202020204" pitchFamily="34" charset="0"/>
            </a:endParaRPr>
          </a:p>
        </p:txBody>
      </p:sp>
      <p:sp>
        <p:nvSpPr>
          <p:cNvPr id="21" name="TextBox 20"/>
          <p:cNvSpPr txBox="1"/>
          <p:nvPr/>
        </p:nvSpPr>
        <p:spPr>
          <a:xfrm>
            <a:off x="3154680" y="3803904"/>
            <a:ext cx="7772400" cy="357021"/>
          </a:xfrm>
          <a:prstGeom prst="rect">
            <a:avLst/>
          </a:prstGeom>
          <a:noFill/>
        </p:spPr>
        <p:txBody>
          <a:bodyPr wrap="square" lIns="54864" tIns="54864" rIns="54864" bIns="54864" anchor="t">
            <a:spAutoFit/>
          </a:bodyPr>
          <a:lstStyle/>
          <a:p>
            <a:pPr algn="l">
              <a:spcAft>
                <a:spcPts val="300"/>
              </a:spcAft>
              <a:defRPr sz="1100" b="1">
                <a:solidFill>
                  <a:srgbClr val="1C2824"/>
                </a:solidFill>
                <a:latin typeface="Aptos"/>
              </a:defRPr>
            </a:pPr>
            <a:r>
              <a:rPr sz="1600" dirty="0">
                <a:latin typeface="Arial" panose="020B0604020202020204" pitchFamily="34" charset="0"/>
                <a:cs typeface="Arial" panose="020B0604020202020204" pitchFamily="34" charset="0"/>
              </a:rPr>
              <a:t>Member 03 provides indicative price, buyer recommendations and traceability.</a:t>
            </a:r>
          </a:p>
        </p:txBody>
      </p:sp>
      <p:sp>
        <p:nvSpPr>
          <p:cNvPr id="22" name="Rounded Rectangle 21"/>
          <p:cNvSpPr/>
          <p:nvPr/>
        </p:nvSpPr>
        <p:spPr>
          <a:xfrm>
            <a:off x="777240" y="4498848"/>
            <a:ext cx="2103120" cy="502920"/>
          </a:xfrm>
          <a:prstGeom prst="roundRect">
            <a:avLst/>
          </a:prstGeom>
          <a:solidFill>
            <a:srgbClr val="123730"/>
          </a:solidFill>
          <a:ln>
            <a:solidFill>
              <a:srgbClr val="1237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23" name="TextBox 22"/>
          <p:cNvSpPr txBox="1"/>
          <p:nvPr/>
        </p:nvSpPr>
        <p:spPr>
          <a:xfrm>
            <a:off x="859536" y="4645152"/>
            <a:ext cx="1938528" cy="264688"/>
          </a:xfrm>
          <a:prstGeom prst="rect">
            <a:avLst/>
          </a:prstGeom>
          <a:noFill/>
        </p:spPr>
        <p:txBody>
          <a:bodyPr wrap="square" lIns="54864" tIns="54864" rIns="54864" bIns="54864" anchor="t">
            <a:spAutoFit/>
          </a:bodyPr>
          <a:lstStyle/>
          <a:p>
            <a:pPr algn="ctr">
              <a:spcAft>
                <a:spcPts val="300"/>
              </a:spcAft>
              <a:defRPr sz="1000" b="1">
                <a:solidFill>
                  <a:srgbClr val="FFFFFF"/>
                </a:solidFill>
                <a:latin typeface="Aptos"/>
              </a:defRPr>
            </a:pPr>
            <a:r>
              <a:rPr dirty="0">
                <a:latin typeface="Arial" panose="020B0604020202020204" pitchFamily="34" charset="0"/>
                <a:cs typeface="Arial" panose="020B0604020202020204" pitchFamily="34" charset="0"/>
              </a:rPr>
              <a:t>05 • Predict + trade</a:t>
            </a:r>
          </a:p>
        </p:txBody>
      </p:sp>
      <p:sp>
        <p:nvSpPr>
          <p:cNvPr id="24" name="TextBox 23"/>
          <p:cNvSpPr txBox="1"/>
          <p:nvPr/>
        </p:nvSpPr>
        <p:spPr>
          <a:xfrm>
            <a:off x="3154680" y="4590288"/>
            <a:ext cx="7772400" cy="603242"/>
          </a:xfrm>
          <a:prstGeom prst="rect">
            <a:avLst/>
          </a:prstGeom>
          <a:noFill/>
        </p:spPr>
        <p:txBody>
          <a:bodyPr wrap="square" lIns="54864" tIns="54864" rIns="54864" bIns="54864" anchor="t">
            <a:spAutoFit/>
          </a:bodyPr>
          <a:lstStyle/>
          <a:p>
            <a:pPr algn="l">
              <a:spcAft>
                <a:spcPts val="300"/>
              </a:spcAft>
              <a:defRPr sz="1100" b="1">
                <a:solidFill>
                  <a:srgbClr val="1C2824"/>
                </a:solidFill>
                <a:latin typeface="Aptos"/>
              </a:defRPr>
            </a:pPr>
            <a:r>
              <a:rPr sz="1600" dirty="0">
                <a:latin typeface="Arial" panose="020B0604020202020204" pitchFamily="34" charset="0"/>
                <a:cs typeface="Arial" panose="020B0604020202020204" pitchFamily="34" charset="0"/>
              </a:rPr>
              <a:t>Member 04 provides marketplace predictions; users continue through listings and orders.</a:t>
            </a:r>
          </a:p>
        </p:txBody>
      </p:sp>
      <p:sp>
        <p:nvSpPr>
          <p:cNvPr id="25" name="Rounded Rectangle 24"/>
          <p:cNvSpPr/>
          <p:nvPr/>
        </p:nvSpPr>
        <p:spPr>
          <a:xfrm>
            <a:off x="280555" y="5532119"/>
            <a:ext cx="11725515" cy="763027"/>
          </a:xfrm>
          <a:prstGeom prst="roundRect">
            <a:avLst/>
          </a:prstGeom>
          <a:solidFill>
            <a:srgbClr val="EAF2F9"/>
          </a:solidFill>
          <a:ln>
            <a:solidFill>
              <a:srgbClr val="EA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rial" panose="020B0604020202020204" pitchFamily="34" charset="0"/>
              <a:cs typeface="Arial" panose="020B0604020202020204" pitchFamily="34" charset="0"/>
            </a:endParaRPr>
          </a:p>
        </p:txBody>
      </p:sp>
      <p:sp>
        <p:nvSpPr>
          <p:cNvPr id="26" name="TextBox 25"/>
          <p:cNvSpPr txBox="1"/>
          <p:nvPr/>
        </p:nvSpPr>
        <p:spPr>
          <a:xfrm>
            <a:off x="441960" y="5648133"/>
            <a:ext cx="11725515" cy="603242"/>
          </a:xfrm>
          <a:prstGeom prst="rect">
            <a:avLst/>
          </a:prstGeom>
          <a:noFill/>
        </p:spPr>
        <p:txBody>
          <a:bodyPr wrap="square" lIns="54864" tIns="54864" rIns="54864" bIns="54864" anchor="t">
            <a:spAutoFit/>
          </a:bodyPr>
          <a:lstStyle/>
          <a:p>
            <a:pPr algn="l">
              <a:spcAft>
                <a:spcPts val="300"/>
              </a:spcAft>
              <a:defRPr sz="900" b="1">
                <a:solidFill>
                  <a:srgbClr val="123730"/>
                </a:solidFill>
                <a:latin typeface="Aptos"/>
              </a:defRPr>
            </a:pPr>
            <a:r>
              <a:rPr sz="1600" dirty="0">
                <a:latin typeface="Arial" panose="020B0604020202020204" pitchFamily="34" charset="0"/>
                <a:cs typeface="Arial" panose="020B0604020202020204" pitchFamily="34" charset="0"/>
              </a:rPr>
              <a:t>Claim automatic data hand-offs only where the current code implements them; otherwise</a:t>
            </a:r>
            <a:r>
              <a:rPr lang="en-US" sz="1600" dirty="0">
                <a:latin typeface="Arial" panose="020B0604020202020204" pitchFamily="34" charset="0"/>
                <a:cs typeface="Arial" panose="020B0604020202020204" pitchFamily="34" charset="0"/>
              </a:rPr>
              <a:t>,</a:t>
            </a:r>
            <a:r>
              <a:rPr sz="1600" dirty="0">
                <a:latin typeface="Arial" panose="020B0604020202020204" pitchFamily="34" charset="0"/>
                <a:cs typeface="Arial" panose="020B0604020202020204" pitchFamily="34" charset="0"/>
              </a:rPr>
              <a:t> describe the components as connected through shared workflows.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66928" y="316029"/>
            <a:ext cx="5486400" cy="541687"/>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800" dirty="0">
                <a:latin typeface="Arial" panose="020B0604020202020204" pitchFamily="34" charset="0"/>
                <a:cs typeface="Arial" panose="020B0604020202020204" pitchFamily="34" charset="0"/>
              </a:rPr>
              <a:t>19 SUMMARY</a:t>
            </a:r>
          </a:p>
        </p:txBody>
      </p:sp>
      <p:sp>
        <p:nvSpPr>
          <p:cNvPr id="3" name="TextBox 2"/>
          <p:cNvSpPr txBox="1"/>
          <p:nvPr/>
        </p:nvSpPr>
        <p:spPr>
          <a:xfrm>
            <a:off x="566928" y="861946"/>
            <a:ext cx="10972800" cy="357021"/>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sz="1600" dirty="0">
                <a:latin typeface="Arial" panose="020B0604020202020204" pitchFamily="34" charset="0"/>
                <a:cs typeface="Arial" panose="020B0604020202020204" pitchFamily="34" charset="0"/>
              </a:rPr>
              <a:t>Report the metric that matches the model task</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49299"/>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sz="900">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64688"/>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sz="1000">
                <a:latin typeface="Arial" panose="020B0604020202020204" pitchFamily="34" charset="0"/>
                <a:cs typeface="Arial" panose="020B0604020202020204" pitchFamily="34" charset="0"/>
              </a:rPr>
              <a:t>20</a:t>
            </a:r>
          </a:p>
        </p:txBody>
      </p:sp>
      <p:graphicFrame>
        <p:nvGraphicFramePr>
          <p:cNvPr id="8" name="Table 7"/>
          <p:cNvGraphicFramePr>
            <a:graphicFrameLocks noGrp="1"/>
          </p:cNvGraphicFramePr>
          <p:nvPr>
            <p:extLst>
              <p:ext uri="{D42A27DB-BD31-4B8C-83A1-F6EECF244321}">
                <p14:modId xmlns:p14="http://schemas.microsoft.com/office/powerpoint/2010/main" val="800457528"/>
              </p:ext>
            </p:extLst>
          </p:nvPr>
        </p:nvGraphicFramePr>
        <p:xfrm>
          <a:off x="621792" y="1353312"/>
          <a:ext cx="10972800" cy="4768088"/>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523240">
                <a:tc>
                  <a:txBody>
                    <a:bodyPr/>
                    <a:lstStyle/>
                    <a:p>
                      <a:pPr>
                        <a:defRPr sz="900" b="1">
                          <a:solidFill>
                            <a:srgbClr val="FFFFFF"/>
                          </a:solidFill>
                          <a:latin typeface="Aptos"/>
                        </a:defRPr>
                      </a:pPr>
                      <a:r>
                        <a:rPr sz="1600" dirty="0">
                          <a:latin typeface="Arial" panose="020B0604020202020204" pitchFamily="34" charset="0"/>
                          <a:cs typeface="Arial" panose="020B0604020202020204" pitchFamily="34" charset="0"/>
                        </a:rPr>
                        <a:t>Task</a:t>
                      </a:r>
                    </a:p>
                  </a:txBody>
                  <a:tcPr>
                    <a:solidFill>
                      <a:srgbClr val="123730"/>
                    </a:solidFill>
                  </a:tcPr>
                </a:tc>
                <a:tc>
                  <a:txBody>
                    <a:bodyPr/>
                    <a:lstStyle/>
                    <a:p>
                      <a:pPr>
                        <a:defRPr sz="900" b="1">
                          <a:solidFill>
                            <a:srgbClr val="FFFFFF"/>
                          </a:solidFill>
                          <a:latin typeface="Aptos"/>
                        </a:defRPr>
                      </a:pPr>
                      <a:r>
                        <a:rPr sz="1600" dirty="0">
                          <a:latin typeface="Arial" panose="020B0604020202020204" pitchFamily="34" charset="0"/>
                          <a:cs typeface="Arial" panose="020B0604020202020204" pitchFamily="34" charset="0"/>
                        </a:rPr>
                        <a:t>Model / method</a:t>
                      </a:r>
                    </a:p>
                  </a:txBody>
                  <a:tcPr>
                    <a:solidFill>
                      <a:srgbClr val="123730"/>
                    </a:solidFill>
                  </a:tcPr>
                </a:tc>
                <a:tc>
                  <a:txBody>
                    <a:bodyPr/>
                    <a:lstStyle/>
                    <a:p>
                      <a:pPr>
                        <a:defRPr sz="900" b="1">
                          <a:solidFill>
                            <a:srgbClr val="FFFFFF"/>
                          </a:solidFill>
                          <a:latin typeface="Aptos"/>
                        </a:defRPr>
                      </a:pPr>
                      <a:r>
                        <a:rPr sz="1600">
                          <a:latin typeface="Arial" panose="020B0604020202020204" pitchFamily="34" charset="0"/>
                          <a:cs typeface="Arial" panose="020B0604020202020204" pitchFamily="34" charset="0"/>
                        </a:rPr>
                        <a:t>Prior reported result</a:t>
                      </a:r>
                    </a:p>
                  </a:txBody>
                  <a:tcPr>
                    <a:solidFill>
                      <a:srgbClr val="123730"/>
                    </a:solidFill>
                  </a:tcPr>
                </a:tc>
                <a:tc>
                  <a:txBody>
                    <a:bodyPr/>
                    <a:lstStyle/>
                    <a:p>
                      <a:pPr>
                        <a:defRPr sz="900" b="1">
                          <a:solidFill>
                            <a:srgbClr val="FFFFFF"/>
                          </a:solidFill>
                          <a:latin typeface="Aptos"/>
                        </a:defRPr>
                      </a:pPr>
                      <a:r>
                        <a:rPr sz="1600">
                          <a:latin typeface="Arial" panose="020B0604020202020204" pitchFamily="34" charset="0"/>
                          <a:cs typeface="Arial" panose="020B0604020202020204" pitchFamily="34" charset="0"/>
                        </a:rPr>
                        <a:t>Required verification</a:t>
                      </a:r>
                    </a:p>
                  </a:txBody>
                  <a:tcPr>
                    <a:solidFill>
                      <a:srgbClr val="123730"/>
                    </a:solidFill>
                  </a:tcPr>
                </a:tc>
                <a:extLst>
                  <a:ext uri="{0D108BD9-81ED-4DB2-BD59-A6C34878D82A}">
                    <a16:rowId xmlns:a16="http://schemas.microsoft.com/office/drawing/2014/main" val="10000"/>
                  </a:ext>
                </a:extLst>
              </a:tr>
              <a:tr h="523240">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Fabric classification</a:t>
                      </a:r>
                    </a:p>
                  </a:txBody>
                  <a:tcPr marL="54864" marR="36576" marT="32004" marB="18288">
                    <a:solidFill>
                      <a:srgbClr val="FFFFFF"/>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EfficientNet-B3</a:t>
                      </a:r>
                    </a:p>
                  </a:txBody>
                  <a:tcPr marL="54864" marR="36576" marT="32004" marB="18288">
                    <a:solidFill>
                      <a:srgbClr val="FFFFFF"/>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Accuracy 89.68%</a:t>
                      </a:r>
                    </a:p>
                  </a:txBody>
                  <a:tcPr marL="54864" marR="36576" marT="32004" marB="18288">
                    <a:solidFill>
                      <a:srgbClr val="FFFFFF"/>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Confirm classes / test split</a:t>
                      </a:r>
                    </a:p>
                  </a:txBody>
                  <a:tcPr marL="54864" marR="36576" marT="32004" marB="18288">
                    <a:solidFill>
                      <a:srgbClr val="FFFFFF"/>
                    </a:solidFill>
                  </a:tcPr>
                </a:tc>
                <a:extLst>
                  <a:ext uri="{0D108BD9-81ED-4DB2-BD59-A6C34878D82A}">
                    <a16:rowId xmlns:a16="http://schemas.microsoft.com/office/drawing/2014/main" val="10001"/>
                  </a:ext>
                </a:extLst>
              </a:tr>
              <a:tr h="523240">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Defect model</a:t>
                      </a:r>
                    </a:p>
                  </a:txBody>
                  <a:tcPr marL="54864" marR="36576" marT="32004" marB="18288">
                    <a:solidFill>
                      <a:srgbClr val="E6F4EC"/>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MobileNetV2 / U-Net</a:t>
                      </a:r>
                    </a:p>
                  </a:txBody>
                  <a:tcPr marL="54864" marR="36576" marT="32004" marB="18288">
                    <a:solidFill>
                      <a:srgbClr val="E6F4EC"/>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90.87% reported</a:t>
                      </a:r>
                    </a:p>
                  </a:txBody>
                  <a:tcPr marL="54864" marR="36576" marT="32004" marB="18288">
                    <a:solidFill>
                      <a:srgbClr val="E6F4EC"/>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Confirm exact metric and model</a:t>
                      </a:r>
                    </a:p>
                  </a:txBody>
                  <a:tcPr marL="54864" marR="36576" marT="32004" marB="18288">
                    <a:solidFill>
                      <a:srgbClr val="E6F4EC"/>
                    </a:solidFill>
                  </a:tcPr>
                </a:tc>
                <a:extLst>
                  <a:ext uri="{0D108BD9-81ED-4DB2-BD59-A6C34878D82A}">
                    <a16:rowId xmlns:a16="http://schemas.microsoft.com/office/drawing/2014/main" val="10002"/>
                  </a:ext>
                </a:extLst>
              </a:tr>
              <a:tr h="523240">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Price prediction</a:t>
                      </a:r>
                    </a:p>
                  </a:txBody>
                  <a:tcPr marL="54864" marR="36576" marT="32004" marB="18288">
                    <a:solidFill>
                      <a:srgbClr val="FFFFFF"/>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XGBoost regressor</a:t>
                      </a:r>
                    </a:p>
                  </a:txBody>
                  <a:tcPr marL="54864" marR="36576" marT="32004" marB="18288">
                    <a:solidFill>
                      <a:srgbClr val="FFFFFF"/>
                    </a:solidFill>
                  </a:tcPr>
                </a:tc>
                <a:tc>
                  <a:txBody>
                    <a:bodyPr/>
                    <a:lstStyle/>
                    <a:p>
                      <a:pPr>
                        <a:defRPr sz="800">
                          <a:solidFill>
                            <a:srgbClr val="1C2824"/>
                          </a:solidFill>
                          <a:latin typeface="Aptos"/>
                        </a:defRPr>
                      </a:pPr>
                      <a:r>
                        <a:rPr sz="1600" dirty="0">
                          <a:latin typeface="Arial" panose="020B0604020202020204" pitchFamily="34" charset="0"/>
                          <a:cs typeface="Arial" panose="020B0604020202020204" pitchFamily="34" charset="0"/>
                        </a:rPr>
                        <a:t>MAE 12.24 • RMSE 15.40 • R² 0.9590</a:t>
                      </a:r>
                    </a:p>
                  </a:txBody>
                  <a:tcPr marL="54864" marR="36576" marT="32004" marB="18288">
                    <a:solidFill>
                      <a:srgbClr val="FFFFFF"/>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Confirm currency/unit</a:t>
                      </a:r>
                    </a:p>
                  </a:txBody>
                  <a:tcPr marL="54864" marR="36576" marT="32004" marB="18288">
                    <a:solidFill>
                      <a:srgbClr val="FFFFFF"/>
                    </a:solidFill>
                  </a:tcPr>
                </a:tc>
                <a:extLst>
                  <a:ext uri="{0D108BD9-81ED-4DB2-BD59-A6C34878D82A}">
                    <a16:rowId xmlns:a16="http://schemas.microsoft.com/office/drawing/2014/main" val="10003"/>
                  </a:ext>
                </a:extLst>
              </a:tr>
              <a:tr h="523240">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Listing success</a:t>
                      </a:r>
                    </a:p>
                  </a:txBody>
                  <a:tcPr marL="54864" marR="36576" marT="32004" marB="18288">
                    <a:solidFill>
                      <a:srgbClr val="E6F4EC"/>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XGBoost classifier</a:t>
                      </a:r>
                    </a:p>
                  </a:txBody>
                  <a:tcPr marL="54864" marR="36576" marT="32004" marB="18288">
                    <a:solidFill>
                      <a:srgbClr val="E6F4EC"/>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Accuracy 83.65%</a:t>
                      </a:r>
                    </a:p>
                  </a:txBody>
                  <a:tcPr marL="54864" marR="36576" marT="32004" marB="18288">
                    <a:solidFill>
                      <a:srgbClr val="E6F4EC"/>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Confirm success label</a:t>
                      </a:r>
                    </a:p>
                  </a:txBody>
                  <a:tcPr marL="54864" marR="36576" marT="32004" marB="18288">
                    <a:solidFill>
                      <a:srgbClr val="E6F4EC"/>
                    </a:solidFill>
                  </a:tcPr>
                </a:tc>
                <a:extLst>
                  <a:ext uri="{0D108BD9-81ED-4DB2-BD59-A6C34878D82A}">
                    <a16:rowId xmlns:a16="http://schemas.microsoft.com/office/drawing/2014/main" val="10004"/>
                  </a:ext>
                </a:extLst>
              </a:tr>
              <a:tr h="523240">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Sales time</a:t>
                      </a:r>
                    </a:p>
                  </a:txBody>
                  <a:tcPr marL="54864" marR="36576" marT="32004" marB="18288">
                    <a:solidFill>
                      <a:srgbClr val="FFFFFF"/>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XGBoost regressor</a:t>
                      </a:r>
                    </a:p>
                  </a:txBody>
                  <a:tcPr marL="54864" marR="36576" marT="32004" marB="18288">
                    <a:solidFill>
                      <a:srgbClr val="FFFFFF"/>
                    </a:solidFill>
                  </a:tcPr>
                </a:tc>
                <a:tc>
                  <a:txBody>
                    <a:bodyPr/>
                    <a:lstStyle/>
                    <a:p>
                      <a:pPr>
                        <a:defRPr sz="800">
                          <a:solidFill>
                            <a:srgbClr val="1C2824"/>
                          </a:solidFill>
                          <a:latin typeface="Aptos"/>
                        </a:defRPr>
                      </a:pPr>
                      <a:r>
                        <a:rPr sz="1600" dirty="0">
                          <a:latin typeface="Arial" panose="020B0604020202020204" pitchFamily="34" charset="0"/>
                          <a:cs typeface="Arial" panose="020B0604020202020204" pitchFamily="34" charset="0"/>
                        </a:rPr>
                        <a:t>MAE 14.53 days • RMSE 20.87 • R² 0</a:t>
                      </a:r>
                      <a:r>
                        <a:rPr lang="en-US" sz="1600" dirty="0">
                          <a:latin typeface="Arial" panose="020B0604020202020204" pitchFamily="34" charset="0"/>
                          <a:cs typeface="Arial" panose="020B0604020202020204" pitchFamily="34" charset="0"/>
                        </a:rPr>
                        <a:t>.</a:t>
                      </a:r>
                      <a:r>
                        <a:rPr sz="1600" dirty="0">
                          <a:latin typeface="Arial" panose="020B0604020202020204" pitchFamily="34" charset="0"/>
                          <a:cs typeface="Arial" panose="020B0604020202020204" pitchFamily="34" charset="0"/>
                        </a:rPr>
                        <a:t>76</a:t>
                      </a:r>
                    </a:p>
                  </a:txBody>
                  <a:tcPr marL="54864" marR="36576" marT="32004" marB="18288">
                    <a:solidFill>
                      <a:srgbClr val="FFFFFF"/>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Weak explanatory power</a:t>
                      </a:r>
                    </a:p>
                  </a:txBody>
                  <a:tcPr marL="54864" marR="36576" marT="32004" marB="18288">
                    <a:solidFill>
                      <a:srgbClr val="FFFFFF"/>
                    </a:solidFill>
                  </a:tcPr>
                </a:tc>
                <a:extLst>
                  <a:ext uri="{0D108BD9-81ED-4DB2-BD59-A6C34878D82A}">
                    <a16:rowId xmlns:a16="http://schemas.microsoft.com/office/drawing/2014/main" val="10005"/>
                  </a:ext>
                </a:extLst>
              </a:tr>
              <a:tr h="523240">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Market trend</a:t>
                      </a:r>
                    </a:p>
                  </a:txBody>
                  <a:tcPr marL="54864" marR="36576" marT="32004" marB="18288">
                    <a:solidFill>
                      <a:srgbClr val="E6F4EC"/>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Classifier</a:t>
                      </a:r>
                    </a:p>
                  </a:txBody>
                  <a:tcPr marL="54864" marR="36576" marT="32004" marB="18288">
                    <a:solidFill>
                      <a:srgbClr val="E6F4EC"/>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Accuracy 98.72% reported</a:t>
                      </a:r>
                    </a:p>
                  </a:txBody>
                  <a:tcPr marL="54864" marR="36576" marT="32004" marB="18288">
                    <a:solidFill>
                      <a:srgbClr val="E6F4EC"/>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Check generated labels / leakage</a:t>
                      </a:r>
                    </a:p>
                  </a:txBody>
                  <a:tcPr marL="54864" marR="36576" marT="32004" marB="18288">
                    <a:solidFill>
                      <a:srgbClr val="E6F4EC"/>
                    </a:solidFill>
                  </a:tcPr>
                </a:tc>
                <a:extLst>
                  <a:ext uri="{0D108BD9-81ED-4DB2-BD59-A6C34878D82A}">
                    <a16:rowId xmlns:a16="http://schemas.microsoft.com/office/drawing/2014/main" val="10006"/>
                  </a:ext>
                </a:extLst>
              </a:tr>
              <a:tr h="523240">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Buyer recommendation</a:t>
                      </a:r>
                    </a:p>
                  </a:txBody>
                  <a:tcPr marL="54864" marR="36576" marT="32004" marB="18288">
                    <a:solidFill>
                      <a:srgbClr val="FFFFFF"/>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RF + XGBoost approach</a:t>
                      </a:r>
                    </a:p>
                  </a:txBody>
                  <a:tcPr marL="54864" marR="36576" marT="32004" marB="18288">
                    <a:solidFill>
                      <a:srgbClr val="FFFFFF"/>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83.56% reported</a:t>
                      </a:r>
                    </a:p>
                  </a:txBody>
                  <a:tcPr marL="54864" marR="36576" marT="32004" marB="18288">
                    <a:solidFill>
                      <a:srgbClr val="FFFFFF"/>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Define evaluation protocol</a:t>
                      </a:r>
                    </a:p>
                  </a:txBody>
                  <a:tcPr marL="54864" marR="36576" marT="32004" marB="18288">
                    <a:solidFill>
                      <a:srgbClr val="FFFFFF"/>
                    </a:solidFill>
                  </a:tcPr>
                </a:tc>
                <a:extLst>
                  <a:ext uri="{0D108BD9-81ED-4DB2-BD59-A6C34878D82A}">
                    <a16:rowId xmlns:a16="http://schemas.microsoft.com/office/drawing/2014/main" val="10007"/>
                  </a:ext>
                </a:extLst>
              </a:tr>
              <a:tr h="523240">
                <a:tc>
                  <a:txBody>
                    <a:bodyPr/>
                    <a:lstStyle/>
                    <a:p>
                      <a:pPr>
                        <a:defRPr sz="800">
                          <a:solidFill>
                            <a:srgbClr val="1C2824"/>
                          </a:solidFill>
                          <a:latin typeface="Aptos"/>
                        </a:defRPr>
                      </a:pPr>
                      <a:r>
                        <a:rPr sz="1600" dirty="0">
                          <a:latin typeface="Arial" panose="020B0604020202020204" pitchFamily="34" charset="0"/>
                          <a:cs typeface="Arial" panose="020B0604020202020204" pitchFamily="34" charset="0"/>
                        </a:rPr>
                        <a:t>Sustainability models</a:t>
                      </a:r>
                    </a:p>
                  </a:txBody>
                  <a:tcPr marL="54864" marR="36576" marT="32004" marB="18288">
                    <a:solidFill>
                      <a:srgbClr val="E6F4EC"/>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Regressors / grade model</a:t>
                      </a:r>
                    </a:p>
                  </a:txBody>
                  <a:tcPr marL="54864" marR="36576" marT="32004" marB="18288">
                    <a:solidFill>
                      <a:srgbClr val="E6F4EC"/>
                    </a:solidFill>
                  </a:tcPr>
                </a:tc>
                <a:tc>
                  <a:txBody>
                    <a:bodyPr/>
                    <a:lstStyle/>
                    <a:p>
                      <a:pPr>
                        <a:defRPr sz="800">
                          <a:solidFill>
                            <a:srgbClr val="1C2824"/>
                          </a:solidFill>
                          <a:latin typeface="Aptos"/>
                        </a:defRPr>
                      </a:pPr>
                      <a:r>
                        <a:rPr sz="1600">
                          <a:latin typeface="Arial" panose="020B0604020202020204" pitchFamily="34" charset="0"/>
                          <a:cs typeface="Arial" panose="020B0604020202020204" pitchFamily="34" charset="0"/>
                        </a:rPr>
                        <a:t>R² range 0.9389–0.9887</a:t>
                      </a:r>
                    </a:p>
                  </a:txBody>
                  <a:tcPr marL="54864" marR="36576" marT="32004" marB="18288">
                    <a:solidFill>
                      <a:srgbClr val="E6F4EC"/>
                    </a:solidFill>
                  </a:tcPr>
                </a:tc>
                <a:tc>
                  <a:txBody>
                    <a:bodyPr/>
                    <a:lstStyle/>
                    <a:p>
                      <a:pPr>
                        <a:defRPr sz="800">
                          <a:solidFill>
                            <a:srgbClr val="1C2824"/>
                          </a:solidFill>
                          <a:latin typeface="Aptos"/>
                        </a:defRPr>
                      </a:pPr>
                      <a:r>
                        <a:rPr sz="1600" dirty="0">
                          <a:latin typeface="Arial" panose="020B0604020202020204" pitchFamily="34" charset="0"/>
                          <a:cs typeface="Arial" panose="020B0604020202020204" pitchFamily="34" charset="0"/>
                        </a:rPr>
                        <a:t>Map each value to target</a:t>
                      </a:r>
                    </a:p>
                  </a:txBody>
                  <a:tcPr marL="54864" marR="36576" marT="32004" marB="18288">
                    <a:solidFill>
                      <a:srgbClr val="E6F4EC"/>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459485" y="689530"/>
            <a:ext cx="7708392" cy="541687"/>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800" dirty="0">
                <a:latin typeface="Arial" panose="020B0604020202020204" pitchFamily="34" charset="0"/>
                <a:cs typeface="Arial" panose="020B0604020202020204" pitchFamily="34" charset="0"/>
              </a:rPr>
              <a:t>21  LIMITATIONS &amp; NEXT VALIDATION</a:t>
            </a:r>
          </a:p>
        </p:txBody>
      </p:sp>
      <p:sp>
        <p:nvSpPr>
          <p:cNvPr id="3" name="TextBox 2"/>
          <p:cNvSpPr txBox="1"/>
          <p:nvPr/>
        </p:nvSpPr>
        <p:spPr>
          <a:xfrm>
            <a:off x="585216" y="1554927"/>
            <a:ext cx="10972800" cy="480131"/>
          </a:xfrm>
          <a:prstGeom prst="rect">
            <a:avLst/>
          </a:prstGeom>
          <a:noFill/>
        </p:spPr>
        <p:txBody>
          <a:bodyPr wrap="square" lIns="54864" tIns="54864" rIns="54864" bIns="54864" anchor="t">
            <a:spAutoFit/>
          </a:bodyPr>
          <a:lstStyle/>
          <a:p>
            <a:pPr algn="l">
              <a:spcAft>
                <a:spcPts val="400"/>
              </a:spcAft>
              <a:defRPr sz="2400" b="1">
                <a:solidFill>
                  <a:srgbClr val="123730"/>
                </a:solidFill>
                <a:latin typeface="Aptos"/>
              </a:defRPr>
            </a:pPr>
            <a:r>
              <a:rPr sz="2400" b="1">
                <a:solidFill>
                  <a:srgbClr val="17402B"/>
                </a:solidFill>
                <a:latin typeface="Arial" panose="020B0604020202020204" pitchFamily="34" charset="0"/>
                <a:cs typeface="Arial" panose="020B0604020202020204" pitchFamily="34" charset="0"/>
              </a:rPr>
              <a:t>Limitations, testing status and future improvements</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49299"/>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sz="900">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64688"/>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sz="1000">
                <a:latin typeface="Arial" panose="020B0604020202020204" pitchFamily="34" charset="0"/>
                <a:cs typeface="Arial" panose="020B0604020202020204" pitchFamily="34" charset="0"/>
              </a:rPr>
              <a:t>22</a:t>
            </a:r>
          </a:p>
        </p:txBody>
      </p:sp>
      <p:sp>
        <p:nvSpPr>
          <p:cNvPr id="8" name="Rounded Rectangle 7"/>
          <p:cNvSpPr/>
          <p:nvPr/>
        </p:nvSpPr>
        <p:spPr>
          <a:xfrm>
            <a:off x="9784080" y="182880"/>
            <a:ext cx="1828800" cy="256032"/>
          </a:xfrm>
          <a:prstGeom prst="roundRect">
            <a:avLst/>
          </a:prstGeom>
          <a:solidFill>
            <a:srgbClr val="EAF2F9"/>
          </a:solidFill>
          <a:ln>
            <a:solidFill>
              <a:srgbClr val="EA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9" name="TextBox 8"/>
          <p:cNvSpPr txBox="1"/>
          <p:nvPr/>
        </p:nvSpPr>
        <p:spPr>
          <a:xfrm>
            <a:off x="9838944" y="177103"/>
            <a:ext cx="1719072" cy="249299"/>
          </a:xfrm>
          <a:prstGeom prst="rect">
            <a:avLst/>
          </a:prstGeom>
          <a:noFill/>
        </p:spPr>
        <p:txBody>
          <a:bodyPr wrap="square" lIns="54864" tIns="54864" rIns="54864" bIns="54864" anchor="ctr">
            <a:spAutoFit/>
          </a:bodyPr>
          <a:lstStyle/>
          <a:p>
            <a:pPr algn="ctr">
              <a:spcAft>
                <a:spcPts val="300"/>
              </a:spcAft>
              <a:defRPr sz="800" b="1">
                <a:solidFill>
                  <a:srgbClr val="3C6F99"/>
                </a:solidFill>
                <a:latin typeface="Aptos"/>
              </a:defRPr>
            </a:pPr>
            <a:r>
              <a:rPr sz="900">
                <a:latin typeface="Arial" panose="020B0604020202020204" pitchFamily="34" charset="0"/>
                <a:cs typeface="Arial" panose="020B0604020202020204" pitchFamily="34" charset="0"/>
              </a:rPr>
              <a:t>ALL MEMBERS</a:t>
            </a:r>
          </a:p>
        </p:txBody>
      </p:sp>
      <p:sp>
        <p:nvSpPr>
          <p:cNvPr id="10" name="Rounded Rectangle 9"/>
          <p:cNvSpPr/>
          <p:nvPr/>
        </p:nvSpPr>
        <p:spPr>
          <a:xfrm>
            <a:off x="713232" y="2253995"/>
            <a:ext cx="3474720" cy="2530565"/>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1" name="Rectangle 10"/>
          <p:cNvSpPr/>
          <p:nvPr/>
        </p:nvSpPr>
        <p:spPr>
          <a:xfrm>
            <a:off x="681228" y="2175247"/>
            <a:ext cx="45719" cy="2353441"/>
          </a:xfrm>
          <a:prstGeom prst="rect">
            <a:avLst/>
          </a:prstGeom>
          <a:solidFill>
            <a:srgbClr val="A6423C"/>
          </a:solidFill>
          <a:ln>
            <a:solidFill>
              <a:srgbClr val="A64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2" name="TextBox 11"/>
          <p:cNvSpPr txBox="1"/>
          <p:nvPr/>
        </p:nvSpPr>
        <p:spPr>
          <a:xfrm>
            <a:off x="976122" y="2531307"/>
            <a:ext cx="3163824" cy="357021"/>
          </a:xfrm>
          <a:prstGeom prst="rect">
            <a:avLst/>
          </a:prstGeom>
          <a:noFill/>
        </p:spPr>
        <p:txBody>
          <a:bodyPr wrap="square" lIns="54864" tIns="54864" rIns="54864" bIns="54864" anchor="t">
            <a:spAutoFit/>
          </a:bodyPr>
          <a:lstStyle/>
          <a:p>
            <a:pPr algn="l">
              <a:spcAft>
                <a:spcPts val="400"/>
              </a:spcAft>
              <a:defRPr sz="1200" b="1">
                <a:solidFill>
                  <a:srgbClr val="123730"/>
                </a:solidFill>
                <a:latin typeface="Aptos"/>
              </a:defRPr>
            </a:pPr>
            <a:r>
              <a:rPr sz="1600" b="1">
                <a:solidFill>
                  <a:srgbClr val="17402B"/>
                </a:solidFill>
                <a:latin typeface="Arial" panose="020B0604020202020204" pitchFamily="34" charset="0"/>
                <a:cs typeface="Arial" panose="020B0604020202020204" pitchFamily="34" charset="0"/>
              </a:rPr>
              <a:t>DATA SOURCES</a:t>
            </a:r>
          </a:p>
        </p:txBody>
      </p:sp>
      <p:sp>
        <p:nvSpPr>
          <p:cNvPr id="13" name="TextBox 12"/>
          <p:cNvSpPr txBox="1"/>
          <p:nvPr/>
        </p:nvSpPr>
        <p:spPr>
          <a:xfrm>
            <a:off x="886968" y="2999647"/>
            <a:ext cx="3163824" cy="1588127"/>
          </a:xfrm>
          <a:prstGeom prst="rect">
            <a:avLst/>
          </a:prstGeom>
          <a:noFill/>
        </p:spPr>
        <p:txBody>
          <a:bodyPr wrap="square" lIns="54864" tIns="54864" rIns="54864" bIns="54864" anchor="t">
            <a:spAutoFit/>
          </a:bodyPr>
          <a:lstStyle/>
          <a:p>
            <a:pPr algn="l">
              <a:spcAft>
                <a:spcPts val="400"/>
              </a:spcAft>
              <a:defRPr sz="1000" b="0">
                <a:solidFill>
                  <a:srgbClr val="1C2824"/>
                </a:solidFill>
                <a:latin typeface="Aptos"/>
              </a:defRPr>
            </a:pPr>
            <a:r>
              <a:rPr sz="1200" b="0" dirty="0">
                <a:solidFill>
                  <a:srgbClr val="2D3630"/>
                </a:solidFill>
                <a:latin typeface="Arial" panose="020B0604020202020204" pitchFamily="34" charset="0"/>
                <a:cs typeface="Arial" panose="020B0604020202020204" pitchFamily="34" charset="0"/>
              </a:rPr>
              <a:t>Dataset sources differ by component. Industry visits and global/Sri Lankan industry reports informed dataset preparation where documented. The marketplace predictive dataset includes synthetic/prototype records; therefore, real buyer </a:t>
            </a:r>
            <a:r>
              <a:rPr sz="1200" b="0" dirty="0" err="1">
                <a:solidFill>
                  <a:srgbClr val="2D3630"/>
                </a:solidFill>
                <a:latin typeface="Arial" panose="020B0604020202020204" pitchFamily="34" charset="0"/>
                <a:cs typeface="Arial" panose="020B0604020202020204" pitchFamily="34" charset="0"/>
              </a:rPr>
              <a:t>behaviour</a:t>
            </a:r>
            <a:r>
              <a:rPr sz="1200" b="0" dirty="0">
                <a:solidFill>
                  <a:srgbClr val="2D3630"/>
                </a:solidFill>
                <a:latin typeface="Arial" panose="020B0604020202020204" pitchFamily="34" charset="0"/>
                <a:cs typeface="Arial" panose="020B0604020202020204" pitchFamily="34" charset="0"/>
              </a:rPr>
              <a:t>, transaction prices and seasonal demand still require validation.</a:t>
            </a:r>
          </a:p>
        </p:txBody>
      </p:sp>
      <p:sp>
        <p:nvSpPr>
          <p:cNvPr id="14" name="Rounded Rectangle 13"/>
          <p:cNvSpPr/>
          <p:nvPr/>
        </p:nvSpPr>
        <p:spPr>
          <a:xfrm>
            <a:off x="4434840" y="2212158"/>
            <a:ext cx="3474720" cy="257240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Arial" panose="020B0604020202020204" pitchFamily="34" charset="0"/>
              <a:cs typeface="Arial" panose="020B0604020202020204" pitchFamily="34" charset="0"/>
            </a:endParaRPr>
          </a:p>
        </p:txBody>
      </p:sp>
      <p:sp>
        <p:nvSpPr>
          <p:cNvPr id="15" name="Rectangle 14"/>
          <p:cNvSpPr/>
          <p:nvPr/>
        </p:nvSpPr>
        <p:spPr>
          <a:xfrm flipH="1">
            <a:off x="4361689" y="2130967"/>
            <a:ext cx="45719" cy="2353440"/>
          </a:xfrm>
          <a:prstGeom prst="rect">
            <a:avLst/>
          </a:prstGeom>
          <a:solidFill>
            <a:srgbClr val="CD9737"/>
          </a:solidFill>
          <a:ln>
            <a:solidFill>
              <a:srgbClr val="CD9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6" name="TextBox 15"/>
          <p:cNvSpPr txBox="1"/>
          <p:nvPr/>
        </p:nvSpPr>
        <p:spPr>
          <a:xfrm>
            <a:off x="4668011" y="2538424"/>
            <a:ext cx="3163824" cy="357021"/>
          </a:xfrm>
          <a:prstGeom prst="rect">
            <a:avLst/>
          </a:prstGeom>
          <a:noFill/>
        </p:spPr>
        <p:txBody>
          <a:bodyPr wrap="square" lIns="54864" tIns="54864" rIns="54864" bIns="54864" anchor="t">
            <a:spAutoFit/>
          </a:bodyPr>
          <a:lstStyle/>
          <a:p>
            <a:pPr algn="l">
              <a:spcAft>
                <a:spcPts val="400"/>
              </a:spcAft>
              <a:defRPr sz="1200" b="1">
                <a:solidFill>
                  <a:srgbClr val="123730"/>
                </a:solidFill>
                <a:latin typeface="Aptos"/>
              </a:defRPr>
            </a:pPr>
            <a:r>
              <a:rPr sz="1600" b="1">
                <a:solidFill>
                  <a:srgbClr val="17402B"/>
                </a:solidFill>
                <a:latin typeface="Arial" panose="020B0604020202020204" pitchFamily="34" charset="0"/>
                <a:cs typeface="Arial" panose="020B0604020202020204" pitchFamily="34" charset="0"/>
              </a:rPr>
              <a:t>MODEL VALIDATION</a:t>
            </a:r>
          </a:p>
        </p:txBody>
      </p:sp>
      <p:sp>
        <p:nvSpPr>
          <p:cNvPr id="17" name="TextBox 16"/>
          <p:cNvSpPr txBox="1"/>
          <p:nvPr/>
        </p:nvSpPr>
        <p:spPr>
          <a:xfrm>
            <a:off x="4668011" y="2999647"/>
            <a:ext cx="3163824" cy="1034129"/>
          </a:xfrm>
          <a:prstGeom prst="rect">
            <a:avLst/>
          </a:prstGeom>
          <a:noFill/>
        </p:spPr>
        <p:txBody>
          <a:bodyPr wrap="square" lIns="54864" tIns="54864" rIns="54864" bIns="54864" anchor="t">
            <a:spAutoFit/>
          </a:bodyPr>
          <a:lstStyle/>
          <a:p>
            <a:pPr algn="l">
              <a:spcAft>
                <a:spcPts val="400"/>
              </a:spcAft>
              <a:defRPr sz="1000" b="0">
                <a:solidFill>
                  <a:srgbClr val="1C2824"/>
                </a:solidFill>
                <a:latin typeface="Aptos"/>
              </a:defRPr>
            </a:pPr>
            <a:r>
              <a:rPr sz="1200" b="0" dirty="0">
                <a:solidFill>
                  <a:srgbClr val="2D3630"/>
                </a:solidFill>
                <a:latin typeface="Arial" panose="020B0604020202020204" pitchFamily="34" charset="0"/>
                <a:cs typeface="Arial" panose="020B0604020202020204" pitchFamily="34" charset="0"/>
              </a:rPr>
              <a:t>Reported metrics must be verified for each model and target. Check for data leakage and evaluate on independent held-out data. Report only metrics supported by the relevant test evidence.</a:t>
            </a:r>
            <a:endParaRPr dirty="0">
              <a:latin typeface="Arial" panose="020B0604020202020204" pitchFamily="34" charset="0"/>
              <a:cs typeface="Arial" panose="020B0604020202020204" pitchFamily="34" charset="0"/>
            </a:endParaRPr>
          </a:p>
        </p:txBody>
      </p:sp>
      <p:sp>
        <p:nvSpPr>
          <p:cNvPr id="18" name="Rounded Rectangle 17"/>
          <p:cNvSpPr/>
          <p:nvPr/>
        </p:nvSpPr>
        <p:spPr>
          <a:xfrm>
            <a:off x="8036052" y="2230958"/>
            <a:ext cx="3474720" cy="2572402"/>
          </a:xfrm>
          <a:prstGeom prst="roundRect">
            <a:avLst/>
          </a:prstGeom>
          <a:solidFill>
            <a:srgbClr val="FFFFFF"/>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19" name="Rectangle 18"/>
          <p:cNvSpPr/>
          <p:nvPr/>
        </p:nvSpPr>
        <p:spPr>
          <a:xfrm>
            <a:off x="8060435" y="2171770"/>
            <a:ext cx="45719" cy="2356917"/>
          </a:xfrm>
          <a:prstGeom prst="rect">
            <a:avLst/>
          </a:prstGeom>
          <a:solidFill>
            <a:srgbClr val="3C6F99"/>
          </a:solidFill>
          <a:ln>
            <a:solidFill>
              <a:srgbClr val="3C6F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rial" panose="020B0604020202020204" pitchFamily="34" charset="0"/>
              <a:cs typeface="Arial" panose="020B0604020202020204" pitchFamily="34" charset="0"/>
            </a:endParaRPr>
          </a:p>
        </p:txBody>
      </p:sp>
      <p:sp>
        <p:nvSpPr>
          <p:cNvPr id="20" name="TextBox 19"/>
          <p:cNvSpPr txBox="1"/>
          <p:nvPr/>
        </p:nvSpPr>
        <p:spPr>
          <a:xfrm>
            <a:off x="8346948" y="2532809"/>
            <a:ext cx="3163824" cy="357021"/>
          </a:xfrm>
          <a:prstGeom prst="rect">
            <a:avLst/>
          </a:prstGeom>
          <a:noFill/>
        </p:spPr>
        <p:txBody>
          <a:bodyPr wrap="square" lIns="54864" tIns="54864" rIns="54864" bIns="54864" anchor="t">
            <a:spAutoFit/>
          </a:bodyPr>
          <a:lstStyle/>
          <a:p>
            <a:pPr algn="l">
              <a:spcAft>
                <a:spcPts val="400"/>
              </a:spcAft>
              <a:defRPr sz="1200" b="1">
                <a:solidFill>
                  <a:srgbClr val="123730"/>
                </a:solidFill>
                <a:latin typeface="Aptos"/>
              </a:defRPr>
            </a:pPr>
            <a:r>
              <a:rPr sz="1600" b="1">
                <a:solidFill>
                  <a:srgbClr val="17402B"/>
                </a:solidFill>
                <a:latin typeface="Arial" panose="020B0604020202020204" pitchFamily="34" charset="0"/>
                <a:cs typeface="Arial" panose="020B0604020202020204" pitchFamily="34" charset="0"/>
              </a:rPr>
              <a:t>DEPLOYMENT &amp; IMPACT</a:t>
            </a:r>
          </a:p>
        </p:txBody>
      </p:sp>
      <p:sp>
        <p:nvSpPr>
          <p:cNvPr id="21" name="TextBox 20"/>
          <p:cNvSpPr txBox="1"/>
          <p:nvPr/>
        </p:nvSpPr>
        <p:spPr>
          <a:xfrm>
            <a:off x="8346948" y="3040451"/>
            <a:ext cx="3163824" cy="1588127"/>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200" dirty="0">
                <a:solidFill>
                  <a:srgbClr val="2D3630"/>
                </a:solidFill>
                <a:latin typeface="Arial" panose="020B0604020202020204" pitchFamily="34" charset="0"/>
                <a:cs typeface="Arial" panose="020B0604020202020204" pitchFamily="34" charset="0"/>
              </a:rPr>
              <a:t>The prototype was tested locally and reviewed by external users/stakeholders. Feedback was positive, and users expressed satisfaction with the system. The prototype has not been publicly hosted. Independent environmental-impact certification remains future work. Next steps: secure deployment and broader validation.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10972800" cy="584775"/>
          </a:xfrm>
          <a:prstGeom prst="rect">
            <a:avLst/>
          </a:prstGeom>
          <a:noFill/>
        </p:spPr>
        <p:txBody>
          <a:bodyPr wrap="square">
            <a:spAutoFit/>
          </a:bodyPr>
          <a:lstStyle/>
          <a:p>
            <a:pPr>
              <a:spcAft>
                <a:spcPts val="500"/>
              </a:spcAft>
            </a:pPr>
            <a:r>
              <a:rPr sz="3200" b="1">
                <a:solidFill>
                  <a:srgbClr val="17402B"/>
                </a:solidFill>
                <a:latin typeface="Arial" panose="020B0604020202020204" pitchFamily="34" charset="0"/>
                <a:cs typeface="Arial" panose="020B0604020202020204" pitchFamily="34" charset="0"/>
              </a:rPr>
              <a:t>RESULTS, TESTING &amp; FUTURE IMPROVEMENTS</a:t>
            </a:r>
          </a:p>
        </p:txBody>
      </p:sp>
      <p:sp>
        <p:nvSpPr>
          <p:cNvPr id="3" name="TextBox 2"/>
          <p:cNvSpPr txBox="1"/>
          <p:nvPr/>
        </p:nvSpPr>
        <p:spPr>
          <a:xfrm>
            <a:off x="530352" y="822960"/>
            <a:ext cx="10972800" cy="523220"/>
          </a:xfrm>
          <a:prstGeom prst="rect">
            <a:avLst/>
          </a:prstGeom>
          <a:noFill/>
        </p:spPr>
        <p:txBody>
          <a:bodyPr wrap="square">
            <a:spAutoFit/>
          </a:bodyPr>
          <a:lstStyle/>
          <a:p>
            <a:pPr>
              <a:spcAft>
                <a:spcPts val="300"/>
              </a:spcAft>
            </a:pPr>
            <a:r>
              <a:rPr sz="1400" dirty="0">
                <a:solidFill>
                  <a:srgbClr val="2D3630"/>
                </a:solidFill>
                <a:latin typeface="Arial" panose="020B0604020202020204" pitchFamily="34" charset="0"/>
                <a:cs typeface="Arial" panose="020B0604020202020204" pitchFamily="34" charset="0"/>
              </a:rPr>
              <a:t>Prototype status — tested locally and reviewed by external users/stakeholders. Feedback was positive and users expressed satisfaction. The prototype has not been publicly hosted.</a:t>
            </a:r>
          </a:p>
        </p:txBody>
      </p:sp>
      <p:sp>
        <p:nvSpPr>
          <p:cNvPr id="4" name="Rounded Rectangle 3"/>
          <p:cNvSpPr/>
          <p:nvPr/>
        </p:nvSpPr>
        <p:spPr>
          <a:xfrm>
            <a:off x="548640" y="1325880"/>
            <a:ext cx="3566160" cy="1874519"/>
          </a:xfrm>
          <a:prstGeom prst="roundRect">
            <a:avLst/>
          </a:prstGeom>
          <a:solidFill>
            <a:srgbClr val="F7F3E6"/>
          </a:solidFill>
          <a:ln>
            <a:solidFill>
              <a:srgbClr val="DCE1D8"/>
            </a:solidFill>
          </a:ln>
        </p:spPr>
        <p:style>
          <a:lnRef idx="1">
            <a:schemeClr val="accent1"/>
          </a:lnRef>
          <a:fillRef idx="3">
            <a:schemeClr val="accent1"/>
          </a:fillRef>
          <a:effectRef idx="2">
            <a:schemeClr val="accent1"/>
          </a:effectRef>
          <a:fontRef idx="minor">
            <a:schemeClr val="lt1"/>
          </a:fontRef>
        </p:style>
        <p:txBody>
          <a:bodyPr wrap="square" lIns="155448" tIns="109728" rIns="155448" rtlCol="0" anchor="ctr"/>
          <a:lstStyle/>
          <a:p>
            <a:pPr algn="ctr">
              <a:spcAft>
                <a:spcPts val="400"/>
              </a:spcAft>
            </a:pPr>
            <a:r>
              <a:rPr sz="1100" b="0">
                <a:solidFill>
                  <a:srgbClr val="2D3630"/>
                </a:solidFill>
                <a:latin typeface="Arial" panose="020B0604020202020204" pitchFamily="34" charset="0"/>
                <a:cs typeface="Arial" panose="020B0604020202020204" pitchFamily="34" charset="0"/>
              </a:rPr>
              <a:t>Earlier notes report sustainability R² values from 0.9389–0.9887. Verify each model, target, dataset source, split and held-out result before treating these as final.</a:t>
            </a:r>
          </a:p>
        </p:txBody>
      </p:sp>
      <p:sp>
        <p:nvSpPr>
          <p:cNvPr id="5" name="Rounded Rectangle 4"/>
          <p:cNvSpPr/>
          <p:nvPr/>
        </p:nvSpPr>
        <p:spPr>
          <a:xfrm>
            <a:off x="4315968" y="1325880"/>
            <a:ext cx="3566160" cy="1874519"/>
          </a:xfrm>
          <a:prstGeom prst="roundRect">
            <a:avLst/>
          </a:prstGeom>
          <a:solidFill>
            <a:srgbClr val="E6EFE5"/>
          </a:solidFill>
          <a:ln>
            <a:solidFill>
              <a:srgbClr val="DCE1D8"/>
            </a:solidFill>
          </a:ln>
        </p:spPr>
        <p:style>
          <a:lnRef idx="1">
            <a:schemeClr val="accent1"/>
          </a:lnRef>
          <a:fillRef idx="3">
            <a:schemeClr val="accent1"/>
          </a:fillRef>
          <a:effectRef idx="2">
            <a:schemeClr val="accent1"/>
          </a:effectRef>
          <a:fontRef idx="minor">
            <a:schemeClr val="lt1"/>
          </a:fontRef>
        </p:style>
        <p:txBody>
          <a:bodyPr wrap="square" lIns="155448" tIns="109728" rIns="155448" rtlCol="0" anchor="ctr"/>
          <a:lstStyle/>
          <a:p>
            <a:pPr algn="ctr">
              <a:spcAft>
                <a:spcPts val="600"/>
              </a:spcAft>
            </a:pPr>
            <a:r>
              <a:rPr b="1">
                <a:solidFill>
                  <a:srgbClr val="17402B"/>
                </a:solidFill>
                <a:latin typeface="Arial" panose="020B0604020202020204" pitchFamily="34" charset="0"/>
                <a:cs typeface="Arial" panose="020B0604020202020204" pitchFamily="34" charset="0"/>
              </a:rPr>
              <a:t>Functional testing</a:t>
            </a:r>
          </a:p>
          <a:p>
            <a:pPr>
              <a:spcAft>
                <a:spcPts val="600"/>
              </a:spcAft>
            </a:pPr>
            <a:r>
              <a:rPr sz="1100" b="0">
                <a:solidFill>
                  <a:srgbClr val="2D3630"/>
                </a:solidFill>
                <a:latin typeface="Arial" panose="020B0604020202020204" pitchFamily="34" charset="0"/>
                <a:cs typeface="Arial" panose="020B0604020202020204" pitchFamily="34" charset="0"/>
              </a:rPr>
              <a:t>Demonstrate locally: input validation → preprocessing → model predictions → derived indicators → grade response. Add pass/fail evidence only from tests actually run.</a:t>
            </a:r>
          </a:p>
        </p:txBody>
      </p:sp>
      <p:sp>
        <p:nvSpPr>
          <p:cNvPr id="6" name="Rounded Rectangle 5"/>
          <p:cNvSpPr/>
          <p:nvPr/>
        </p:nvSpPr>
        <p:spPr>
          <a:xfrm>
            <a:off x="8083296" y="1325880"/>
            <a:ext cx="3520440" cy="1874519"/>
          </a:xfrm>
          <a:prstGeom prst="roundRect">
            <a:avLst/>
          </a:prstGeom>
          <a:solidFill>
            <a:srgbClr val="F7F3E6"/>
          </a:solidFill>
          <a:ln>
            <a:solidFill>
              <a:srgbClr val="DCE1D8"/>
            </a:solidFill>
          </a:ln>
        </p:spPr>
        <p:style>
          <a:lnRef idx="1">
            <a:schemeClr val="accent1"/>
          </a:lnRef>
          <a:fillRef idx="3">
            <a:schemeClr val="accent1"/>
          </a:fillRef>
          <a:effectRef idx="2">
            <a:schemeClr val="accent1"/>
          </a:effectRef>
          <a:fontRef idx="minor">
            <a:schemeClr val="lt1"/>
          </a:fontRef>
        </p:style>
        <p:txBody>
          <a:bodyPr wrap="square" lIns="155448" tIns="109728" rIns="155448" rtlCol="0" anchor="ctr"/>
          <a:lstStyle/>
          <a:p>
            <a:pPr algn="ctr">
              <a:spcAft>
                <a:spcPts val="300"/>
              </a:spcAft>
            </a:pPr>
            <a:r>
              <a:rPr sz="1100">
                <a:solidFill>
                  <a:srgbClr val="2D3630"/>
                </a:solidFill>
                <a:latin typeface="Arial" panose="020B0604020202020204" pitchFamily="34" charset="0"/>
                <a:cs typeface="Arial" panose="020B0604020202020204" pitchFamily="34" charset="0"/>
              </a:rPr>
              <a:t>External users/stakeholders reviewed and tested the locally run prototype. Feedback was positive, and users expressed satisfaction with the system. Keep available test notes, feedback and screenshots as supporting evidence. No numeric satisfaction rate or independent benchmark score is claimed.</a:t>
            </a:r>
          </a:p>
        </p:txBody>
      </p:sp>
      <p:sp>
        <p:nvSpPr>
          <p:cNvPr id="7" name="Rounded Rectangle 6"/>
          <p:cNvSpPr/>
          <p:nvPr/>
        </p:nvSpPr>
        <p:spPr>
          <a:xfrm>
            <a:off x="548640" y="3520440"/>
            <a:ext cx="5440680" cy="1874519"/>
          </a:xfrm>
          <a:prstGeom prst="roundRect">
            <a:avLst/>
          </a:prstGeom>
          <a:solidFill>
            <a:srgbClr val="F7F3E6"/>
          </a:solidFill>
          <a:ln>
            <a:solidFill>
              <a:srgbClr val="DCE1D8"/>
            </a:solidFill>
          </a:ln>
        </p:spPr>
        <p:style>
          <a:lnRef idx="1">
            <a:schemeClr val="accent1"/>
          </a:lnRef>
          <a:fillRef idx="3">
            <a:schemeClr val="accent1"/>
          </a:fillRef>
          <a:effectRef idx="2">
            <a:schemeClr val="accent1"/>
          </a:effectRef>
          <a:fontRef idx="minor">
            <a:schemeClr val="lt1"/>
          </a:fontRef>
        </p:style>
        <p:txBody>
          <a:bodyPr wrap="square" lIns="155448" tIns="109728" rIns="155448" rtlCol="0" anchor="ctr"/>
          <a:lstStyle/>
          <a:p>
            <a:pPr algn="ctr">
              <a:spcAft>
                <a:spcPts val="600"/>
              </a:spcAft>
            </a:pPr>
            <a:r>
              <a:rPr b="1">
                <a:solidFill>
                  <a:srgbClr val="17402B"/>
                </a:solidFill>
                <a:latin typeface="Arial" panose="020B0604020202020204" pitchFamily="34" charset="0"/>
                <a:cs typeface="Arial" panose="020B0604020202020204" pitchFamily="34" charset="0"/>
              </a:rPr>
              <a:t>Limitations</a:t>
            </a:r>
          </a:p>
          <a:p>
            <a:pPr>
              <a:spcAft>
                <a:spcPts val="600"/>
              </a:spcAft>
            </a:pPr>
            <a:r>
              <a:rPr sz="1100" b="0">
                <a:solidFill>
                  <a:srgbClr val="2D3630"/>
                </a:solidFill>
                <a:latin typeface="Arial" panose="020B0604020202020204" pitchFamily="34" charset="0"/>
                <a:cs typeface="Arial" panose="020B0604020202020204" pitchFamily="34" charset="0"/>
              </a:rPr>
              <a:t>Not publicly hosted; environmental savings are estimates based on model outputs and code-defined factors; prototype/synthetic data may not represent real Sri Lankan market behaviour.</a:t>
            </a:r>
          </a:p>
        </p:txBody>
      </p:sp>
      <p:sp>
        <p:nvSpPr>
          <p:cNvPr id="8" name="Rounded Rectangle 7"/>
          <p:cNvSpPr/>
          <p:nvPr/>
        </p:nvSpPr>
        <p:spPr>
          <a:xfrm>
            <a:off x="6217920" y="3520440"/>
            <a:ext cx="5394960" cy="1874519"/>
          </a:xfrm>
          <a:prstGeom prst="roundRect">
            <a:avLst/>
          </a:prstGeom>
          <a:solidFill>
            <a:srgbClr val="E6EFE5"/>
          </a:solidFill>
          <a:ln>
            <a:solidFill>
              <a:srgbClr val="DCE1D8"/>
            </a:solidFill>
          </a:ln>
        </p:spPr>
        <p:style>
          <a:lnRef idx="1">
            <a:schemeClr val="accent1"/>
          </a:lnRef>
          <a:fillRef idx="3">
            <a:schemeClr val="accent1"/>
          </a:fillRef>
          <a:effectRef idx="2">
            <a:schemeClr val="accent1"/>
          </a:effectRef>
          <a:fontRef idx="minor">
            <a:schemeClr val="lt1"/>
          </a:fontRef>
        </p:style>
        <p:txBody>
          <a:bodyPr wrap="square" lIns="155448" tIns="109728" rIns="155448" rtlCol="0" anchor="ctr"/>
          <a:lstStyle/>
          <a:p>
            <a:pPr algn="ctr">
              <a:spcAft>
                <a:spcPts val="300"/>
              </a:spcAft>
            </a:pPr>
            <a:r>
              <a:rPr sz="1400" b="1" dirty="0">
                <a:solidFill>
                  <a:srgbClr val="2D3630"/>
                </a:solidFill>
                <a:latin typeface="Arial" panose="020B0604020202020204" pitchFamily="34" charset="0"/>
                <a:cs typeface="Arial" panose="020B0604020202020204" pitchFamily="34" charset="0"/>
              </a:rPr>
              <a:t>Future improvements</a:t>
            </a:r>
          </a:p>
          <a:p>
            <a:pPr>
              <a:spcAft>
                <a:spcPts val="300"/>
              </a:spcAft>
            </a:pPr>
            <a:r>
              <a:rPr sz="1100" dirty="0">
                <a:solidFill>
                  <a:srgbClr val="2D3630"/>
                </a:solidFill>
                <a:latin typeface="Arial" panose="020B0604020202020204" pitchFamily="34" charset="0"/>
                <a:cs typeface="Arial" panose="020B0604020202020204" pitchFamily="34" charset="0"/>
              </a:rPr>
              <a:t>Deploy securely; broaden testing with more sellers, buyers and textile stakeholders; collect real listings and transactions; validate environmental factors; report MAE/RMSE/R² or accuracy/precision/recall/F1 as appropriate.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566928" y="201168"/>
            <a:ext cx="5486400" cy="480131"/>
          </a:xfrm>
          <a:prstGeom prst="rect">
            <a:avLst/>
          </a:prstGeom>
          <a:noFill/>
        </p:spPr>
        <p:txBody>
          <a:bodyPr wrap="square" lIns="54864" tIns="54864" rIns="54864" bIns="54864" anchor="t">
            <a:spAutoFit/>
          </a:bodyPr>
          <a:lstStyle/>
          <a:p>
            <a:pPr algn="l">
              <a:spcAft>
                <a:spcPts val="300"/>
              </a:spcAft>
              <a:defRPr sz="900" b="1">
                <a:solidFill>
                  <a:srgbClr val="238965"/>
                </a:solidFill>
                <a:latin typeface="Aptos"/>
              </a:defRPr>
            </a:pPr>
            <a:r>
              <a:rPr sz="2400" dirty="0">
                <a:latin typeface="Arial" panose="020B0604020202020204" pitchFamily="34" charset="0"/>
                <a:cs typeface="Arial" panose="020B0604020202020204" pitchFamily="34" charset="0"/>
              </a:rPr>
              <a:t>REFERENCES</a:t>
            </a:r>
          </a:p>
        </p:txBody>
      </p:sp>
      <p:sp>
        <p:nvSpPr>
          <p:cNvPr id="3" name="TextBox 2"/>
          <p:cNvSpPr txBox="1"/>
          <p:nvPr/>
        </p:nvSpPr>
        <p:spPr>
          <a:xfrm>
            <a:off x="566928" y="781407"/>
            <a:ext cx="10972800" cy="326243"/>
          </a:xfrm>
          <a:prstGeom prst="rect">
            <a:avLst/>
          </a:prstGeom>
          <a:noFill/>
        </p:spPr>
        <p:txBody>
          <a:bodyPr wrap="square" lIns="54864" tIns="54864" rIns="54864" bIns="54864" anchor="t">
            <a:spAutoFit/>
          </a:bodyPr>
          <a:lstStyle/>
          <a:p>
            <a:pPr algn="l">
              <a:spcAft>
                <a:spcPts val="300"/>
              </a:spcAft>
              <a:defRPr sz="2400" b="1">
                <a:solidFill>
                  <a:srgbClr val="123730"/>
                </a:solidFill>
                <a:latin typeface="Aptos"/>
              </a:defRPr>
            </a:pPr>
            <a:r>
              <a:rPr sz="1400" dirty="0">
                <a:latin typeface="Arial" panose="020B0604020202020204" pitchFamily="34" charset="0"/>
                <a:cs typeface="Arial" panose="020B0604020202020204" pitchFamily="34" charset="0"/>
              </a:rPr>
              <a:t>Reference slide — align with the approved thesis bibliography</a:t>
            </a:r>
          </a:p>
        </p:txBody>
      </p:sp>
      <p:sp>
        <p:nvSpPr>
          <p:cNvPr id="5" name="Rectangle 4"/>
          <p:cNvSpPr/>
          <p:nvPr/>
        </p:nvSpPr>
        <p:spPr>
          <a:xfrm>
            <a:off x="566928" y="6473952"/>
            <a:ext cx="11045952" cy="16459"/>
          </a:xfrm>
          <a:prstGeom prst="rect">
            <a:avLst/>
          </a:prstGeom>
          <a:solidFill>
            <a:srgbClr val="D6E2DB"/>
          </a:solidFill>
          <a:ln>
            <a:solidFill>
              <a:srgbClr val="D6E2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6" name="TextBox 5"/>
          <p:cNvSpPr txBox="1"/>
          <p:nvPr/>
        </p:nvSpPr>
        <p:spPr>
          <a:xfrm>
            <a:off x="594360" y="6510528"/>
            <a:ext cx="7680960" cy="233910"/>
          </a:xfrm>
          <a:prstGeom prst="rect">
            <a:avLst/>
          </a:prstGeom>
          <a:noFill/>
        </p:spPr>
        <p:txBody>
          <a:bodyPr wrap="square" lIns="54864" tIns="54864" rIns="54864" bIns="54864" anchor="t">
            <a:spAutoFit/>
          </a:bodyPr>
          <a:lstStyle/>
          <a:p>
            <a:pPr algn="l">
              <a:spcAft>
                <a:spcPts val="300"/>
              </a:spcAft>
              <a:defRPr sz="800" b="0">
                <a:solidFill>
                  <a:srgbClr val="62716A"/>
                </a:solidFill>
                <a:latin typeface="Aptos"/>
              </a:defRPr>
            </a:pPr>
            <a:r>
              <a:rPr>
                <a:latin typeface="Arial" panose="020B0604020202020204" pitchFamily="34" charset="0"/>
                <a:cs typeface="Arial" panose="020B0604020202020204" pitchFamily="34" charset="0"/>
              </a:rPr>
              <a:t>TEXCYCLE AI  |  R26-IT-081  |  FINAL RESEARCH PRESENTATION</a:t>
            </a:r>
          </a:p>
        </p:txBody>
      </p:sp>
      <p:sp>
        <p:nvSpPr>
          <p:cNvPr id="7" name="TextBox 6"/>
          <p:cNvSpPr txBox="1"/>
          <p:nvPr/>
        </p:nvSpPr>
        <p:spPr>
          <a:xfrm>
            <a:off x="11109960" y="6501384"/>
            <a:ext cx="365760" cy="249299"/>
          </a:xfrm>
          <a:prstGeom prst="rect">
            <a:avLst/>
          </a:prstGeom>
          <a:noFill/>
        </p:spPr>
        <p:txBody>
          <a:bodyPr wrap="square" lIns="54864" tIns="54864" rIns="54864" bIns="54864" anchor="t">
            <a:spAutoFit/>
          </a:bodyPr>
          <a:lstStyle/>
          <a:p>
            <a:pPr algn="r">
              <a:spcAft>
                <a:spcPts val="300"/>
              </a:spcAft>
              <a:defRPr sz="900" b="1">
                <a:solidFill>
                  <a:srgbClr val="238965"/>
                </a:solidFill>
                <a:latin typeface="Aptos"/>
              </a:defRPr>
            </a:pPr>
            <a:r>
              <a:rPr>
                <a:latin typeface="Arial" panose="020B0604020202020204" pitchFamily="34" charset="0"/>
                <a:cs typeface="Arial" panose="020B0604020202020204" pitchFamily="34" charset="0"/>
              </a:rPr>
              <a:t>25</a:t>
            </a:r>
          </a:p>
        </p:txBody>
      </p:sp>
      <p:sp>
        <p:nvSpPr>
          <p:cNvPr id="8" name="Rounded Rectangle 7"/>
          <p:cNvSpPr/>
          <p:nvPr/>
        </p:nvSpPr>
        <p:spPr>
          <a:xfrm>
            <a:off x="9784080" y="182880"/>
            <a:ext cx="1828800" cy="256032"/>
          </a:xfrm>
          <a:prstGeom prst="roundRect">
            <a:avLst/>
          </a:prstGeom>
          <a:solidFill>
            <a:srgbClr val="EAF2F9"/>
          </a:solidFill>
          <a:ln>
            <a:solidFill>
              <a:srgbClr val="EAF2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9" name="TextBox 8"/>
          <p:cNvSpPr txBox="1"/>
          <p:nvPr/>
        </p:nvSpPr>
        <p:spPr>
          <a:xfrm>
            <a:off x="9838944" y="184797"/>
            <a:ext cx="1719072" cy="233910"/>
          </a:xfrm>
          <a:prstGeom prst="rect">
            <a:avLst/>
          </a:prstGeom>
          <a:noFill/>
        </p:spPr>
        <p:txBody>
          <a:bodyPr wrap="square" lIns="54864" tIns="54864" rIns="54864" bIns="54864" anchor="ctr">
            <a:spAutoFit/>
          </a:bodyPr>
          <a:lstStyle/>
          <a:p>
            <a:pPr algn="ctr">
              <a:spcAft>
                <a:spcPts val="300"/>
              </a:spcAft>
              <a:defRPr sz="800" b="1">
                <a:solidFill>
                  <a:srgbClr val="3C6F99"/>
                </a:solidFill>
                <a:latin typeface="Aptos"/>
              </a:defRPr>
            </a:pPr>
            <a:r>
              <a:rPr>
                <a:latin typeface="Arial" panose="020B0604020202020204" pitchFamily="34" charset="0"/>
                <a:cs typeface="Arial" panose="020B0604020202020204" pitchFamily="34" charset="0"/>
              </a:rPr>
              <a:t>ALL MEMBERS</a:t>
            </a:r>
          </a:p>
        </p:txBody>
      </p:sp>
      <p:sp>
        <p:nvSpPr>
          <p:cNvPr id="10" name="Oval 9"/>
          <p:cNvSpPr/>
          <p:nvPr/>
        </p:nvSpPr>
        <p:spPr>
          <a:xfrm>
            <a:off x="822960" y="1408176"/>
            <a:ext cx="68580" cy="68580"/>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1" name="TextBox 10"/>
          <p:cNvSpPr txBox="1"/>
          <p:nvPr/>
        </p:nvSpPr>
        <p:spPr>
          <a:xfrm>
            <a:off x="969264" y="1325880"/>
            <a:ext cx="10369296" cy="295466"/>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200" dirty="0">
                <a:latin typeface="Arial" panose="020B0604020202020204" pitchFamily="34" charset="0"/>
                <a:cs typeface="Arial" panose="020B0604020202020204" pitchFamily="34" charset="0"/>
              </a:rPr>
              <a:t>[1] Ellen MacArthur Foundation, A New Textiles Economy: Redesigning Fashion’s Future, 2017.</a:t>
            </a:r>
          </a:p>
        </p:txBody>
      </p:sp>
      <p:sp>
        <p:nvSpPr>
          <p:cNvPr id="12" name="Oval 11"/>
          <p:cNvSpPr/>
          <p:nvPr/>
        </p:nvSpPr>
        <p:spPr>
          <a:xfrm>
            <a:off x="822960" y="1947672"/>
            <a:ext cx="68580" cy="68580"/>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3" name="TextBox 12"/>
          <p:cNvSpPr txBox="1"/>
          <p:nvPr/>
        </p:nvSpPr>
        <p:spPr>
          <a:xfrm>
            <a:off x="969264" y="1865376"/>
            <a:ext cx="10369296" cy="295466"/>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200" dirty="0">
                <a:latin typeface="Arial" panose="020B0604020202020204" pitchFamily="34" charset="0"/>
                <a:cs typeface="Arial" panose="020B0604020202020204" pitchFamily="34" charset="0"/>
              </a:rPr>
              <a:t>[2] United Nations Environment </a:t>
            </a:r>
            <a:r>
              <a:rPr sz="1200" dirty="0" err="1">
                <a:latin typeface="Arial" panose="020B0604020202020204" pitchFamily="34" charset="0"/>
                <a:cs typeface="Arial" panose="020B0604020202020204" pitchFamily="34" charset="0"/>
              </a:rPr>
              <a:t>Programme</a:t>
            </a:r>
            <a:r>
              <a:rPr sz="1200" dirty="0">
                <a:latin typeface="Arial" panose="020B0604020202020204" pitchFamily="34" charset="0"/>
                <a:cs typeface="Arial" panose="020B0604020202020204" pitchFamily="34" charset="0"/>
              </a:rPr>
              <a:t>, Sustainability and Circularity in the Textile Value Chain: A Global Roadmap, 2023.</a:t>
            </a:r>
          </a:p>
        </p:txBody>
      </p:sp>
      <p:sp>
        <p:nvSpPr>
          <p:cNvPr id="14" name="Oval 13"/>
          <p:cNvSpPr/>
          <p:nvPr/>
        </p:nvSpPr>
        <p:spPr>
          <a:xfrm>
            <a:off x="822960" y="2487168"/>
            <a:ext cx="68580" cy="68580"/>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5" name="TextBox 14"/>
          <p:cNvSpPr txBox="1"/>
          <p:nvPr/>
        </p:nvSpPr>
        <p:spPr>
          <a:xfrm>
            <a:off x="969264" y="2404872"/>
            <a:ext cx="10369296" cy="295466"/>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200" dirty="0">
                <a:latin typeface="Arial" panose="020B0604020202020204" pitchFamily="34" charset="0"/>
                <a:cs typeface="Arial" panose="020B0604020202020204" pitchFamily="34" charset="0"/>
              </a:rPr>
              <a:t>[3] United Nations, The 17 Goals: Sustainable Development Goals, sdgs.un.org/goals.</a:t>
            </a:r>
          </a:p>
        </p:txBody>
      </p:sp>
      <p:sp>
        <p:nvSpPr>
          <p:cNvPr id="16" name="Oval 15"/>
          <p:cNvSpPr/>
          <p:nvPr/>
        </p:nvSpPr>
        <p:spPr>
          <a:xfrm>
            <a:off x="822960" y="3026663"/>
            <a:ext cx="68580" cy="68580"/>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7" name="TextBox 16"/>
          <p:cNvSpPr txBox="1"/>
          <p:nvPr/>
        </p:nvSpPr>
        <p:spPr>
          <a:xfrm>
            <a:off x="969264" y="2944368"/>
            <a:ext cx="10369296" cy="295466"/>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200" dirty="0">
                <a:latin typeface="Arial" panose="020B0604020202020204" pitchFamily="34" charset="0"/>
                <a:cs typeface="Arial" panose="020B0604020202020204" pitchFamily="34" charset="0"/>
              </a:rPr>
              <a:t>[4] Tan, M. and Le, Q. V., “</a:t>
            </a:r>
            <a:r>
              <a:rPr sz="1200" dirty="0" err="1">
                <a:latin typeface="Arial" panose="020B0604020202020204" pitchFamily="34" charset="0"/>
                <a:cs typeface="Arial" panose="020B0604020202020204" pitchFamily="34" charset="0"/>
              </a:rPr>
              <a:t>EfficientNet</a:t>
            </a:r>
            <a:r>
              <a:rPr sz="1200" dirty="0">
                <a:latin typeface="Arial" panose="020B0604020202020204" pitchFamily="34" charset="0"/>
                <a:cs typeface="Arial" panose="020B0604020202020204" pitchFamily="34" charset="0"/>
              </a:rPr>
              <a:t>: Rethinking Model Scaling for Convolutional Neural Networks,” ICML, 2019.</a:t>
            </a:r>
          </a:p>
        </p:txBody>
      </p:sp>
      <p:sp>
        <p:nvSpPr>
          <p:cNvPr id="18" name="Oval 17"/>
          <p:cNvSpPr/>
          <p:nvPr/>
        </p:nvSpPr>
        <p:spPr>
          <a:xfrm>
            <a:off x="822960" y="3566159"/>
            <a:ext cx="68580" cy="68580"/>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19" name="TextBox 18"/>
          <p:cNvSpPr txBox="1"/>
          <p:nvPr/>
        </p:nvSpPr>
        <p:spPr>
          <a:xfrm>
            <a:off x="969264" y="3483863"/>
            <a:ext cx="10369296" cy="295466"/>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200" dirty="0">
                <a:latin typeface="Arial" panose="020B0604020202020204" pitchFamily="34" charset="0"/>
                <a:cs typeface="Arial" panose="020B0604020202020204" pitchFamily="34" charset="0"/>
              </a:rPr>
              <a:t>[5] Sandler, M. et al., “MobileNetV2: Inverted Residuals and Linear Bottlenecks,” CVPR, 2018.</a:t>
            </a:r>
          </a:p>
        </p:txBody>
      </p:sp>
      <p:sp>
        <p:nvSpPr>
          <p:cNvPr id="20" name="Oval 19"/>
          <p:cNvSpPr/>
          <p:nvPr/>
        </p:nvSpPr>
        <p:spPr>
          <a:xfrm>
            <a:off x="822960" y="4105655"/>
            <a:ext cx="68580" cy="68580"/>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1" name="TextBox 20"/>
          <p:cNvSpPr txBox="1"/>
          <p:nvPr/>
        </p:nvSpPr>
        <p:spPr>
          <a:xfrm>
            <a:off x="969264" y="4023359"/>
            <a:ext cx="10369296" cy="295466"/>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200" dirty="0">
                <a:latin typeface="Arial" panose="020B0604020202020204" pitchFamily="34" charset="0"/>
                <a:cs typeface="Arial" panose="020B0604020202020204" pitchFamily="34" charset="0"/>
              </a:rPr>
              <a:t>[6] </a:t>
            </a:r>
            <a:r>
              <a:rPr sz="1200" dirty="0" err="1">
                <a:latin typeface="Arial" panose="020B0604020202020204" pitchFamily="34" charset="0"/>
                <a:cs typeface="Arial" panose="020B0604020202020204" pitchFamily="34" charset="0"/>
              </a:rPr>
              <a:t>Ronneberger</a:t>
            </a:r>
            <a:r>
              <a:rPr sz="1200" dirty="0">
                <a:latin typeface="Arial" panose="020B0604020202020204" pitchFamily="34" charset="0"/>
                <a:cs typeface="Arial" panose="020B0604020202020204" pitchFamily="34" charset="0"/>
              </a:rPr>
              <a:t>, O., Fischer, P. and </a:t>
            </a:r>
            <a:r>
              <a:rPr sz="1200" dirty="0" err="1">
                <a:latin typeface="Arial" panose="020B0604020202020204" pitchFamily="34" charset="0"/>
                <a:cs typeface="Arial" panose="020B0604020202020204" pitchFamily="34" charset="0"/>
              </a:rPr>
              <a:t>Brox</a:t>
            </a:r>
            <a:r>
              <a:rPr sz="1200" dirty="0">
                <a:latin typeface="Arial" panose="020B0604020202020204" pitchFamily="34" charset="0"/>
                <a:cs typeface="Arial" panose="020B0604020202020204" pitchFamily="34" charset="0"/>
              </a:rPr>
              <a:t>, T., “U-Net: Convolutional Networks for Biomedical Image Segmentation,” MICCAI, 2015.</a:t>
            </a:r>
          </a:p>
        </p:txBody>
      </p:sp>
      <p:sp>
        <p:nvSpPr>
          <p:cNvPr id="22" name="Oval 21"/>
          <p:cNvSpPr/>
          <p:nvPr/>
        </p:nvSpPr>
        <p:spPr>
          <a:xfrm>
            <a:off x="822960" y="4645152"/>
            <a:ext cx="68580" cy="68580"/>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3" name="TextBox 22"/>
          <p:cNvSpPr txBox="1"/>
          <p:nvPr/>
        </p:nvSpPr>
        <p:spPr>
          <a:xfrm>
            <a:off x="969264" y="4562856"/>
            <a:ext cx="10369296" cy="295466"/>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200" dirty="0">
                <a:latin typeface="Arial" panose="020B0604020202020204" pitchFamily="34" charset="0"/>
                <a:cs typeface="Arial" panose="020B0604020202020204" pitchFamily="34" charset="0"/>
              </a:rPr>
              <a:t>[7] Chen, T. and </a:t>
            </a:r>
            <a:r>
              <a:rPr sz="1200" dirty="0" err="1">
                <a:latin typeface="Arial" panose="020B0604020202020204" pitchFamily="34" charset="0"/>
                <a:cs typeface="Arial" panose="020B0604020202020204" pitchFamily="34" charset="0"/>
              </a:rPr>
              <a:t>Guestrin</a:t>
            </a:r>
            <a:r>
              <a:rPr sz="1200" dirty="0">
                <a:latin typeface="Arial" panose="020B0604020202020204" pitchFamily="34" charset="0"/>
                <a:cs typeface="Arial" panose="020B0604020202020204" pitchFamily="34" charset="0"/>
              </a:rPr>
              <a:t>, C., “</a:t>
            </a:r>
            <a:r>
              <a:rPr sz="1200" dirty="0" err="1">
                <a:latin typeface="Arial" panose="020B0604020202020204" pitchFamily="34" charset="0"/>
                <a:cs typeface="Arial" panose="020B0604020202020204" pitchFamily="34" charset="0"/>
              </a:rPr>
              <a:t>XGBoost</a:t>
            </a:r>
            <a:r>
              <a:rPr sz="1200" dirty="0">
                <a:latin typeface="Arial" panose="020B0604020202020204" pitchFamily="34" charset="0"/>
                <a:cs typeface="Arial" panose="020B0604020202020204" pitchFamily="34" charset="0"/>
              </a:rPr>
              <a:t>: A Scalable Tree Boosting System,” KDD, 2016.</a:t>
            </a:r>
          </a:p>
        </p:txBody>
      </p:sp>
      <p:sp>
        <p:nvSpPr>
          <p:cNvPr id="24" name="Oval 23"/>
          <p:cNvSpPr/>
          <p:nvPr/>
        </p:nvSpPr>
        <p:spPr>
          <a:xfrm>
            <a:off x="822960" y="5184648"/>
            <a:ext cx="68580" cy="68580"/>
          </a:xfrm>
          <a:prstGeom prst="ellipse">
            <a:avLst/>
          </a:prstGeom>
          <a:solidFill>
            <a:srgbClr val="238965"/>
          </a:solidFill>
          <a:ln>
            <a:solidFill>
              <a:srgbClr val="238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sp>
        <p:nvSpPr>
          <p:cNvPr id="25" name="TextBox 24"/>
          <p:cNvSpPr txBox="1"/>
          <p:nvPr/>
        </p:nvSpPr>
        <p:spPr>
          <a:xfrm>
            <a:off x="969264" y="5102352"/>
            <a:ext cx="10369296" cy="295466"/>
          </a:xfrm>
          <a:prstGeom prst="rect">
            <a:avLst/>
          </a:prstGeom>
          <a:noFill/>
        </p:spPr>
        <p:txBody>
          <a:bodyPr wrap="square" lIns="54864" tIns="54864" rIns="54864" bIns="54864" anchor="t">
            <a:spAutoFit/>
          </a:bodyPr>
          <a:lstStyle/>
          <a:p>
            <a:pPr algn="l">
              <a:spcAft>
                <a:spcPts val="300"/>
              </a:spcAft>
              <a:defRPr sz="1000" b="0">
                <a:solidFill>
                  <a:srgbClr val="1C2824"/>
                </a:solidFill>
                <a:latin typeface="Aptos"/>
              </a:defRPr>
            </a:pPr>
            <a:r>
              <a:rPr sz="1200" dirty="0">
                <a:latin typeface="Arial" panose="020B0604020202020204" pitchFamily="34" charset="0"/>
                <a:cs typeface="Arial" panose="020B0604020202020204" pitchFamily="34" charset="0"/>
              </a:rPr>
              <a:t>[8] </a:t>
            </a:r>
            <a:r>
              <a:rPr sz="1200" dirty="0" err="1">
                <a:latin typeface="Arial" panose="020B0604020202020204" pitchFamily="34" charset="0"/>
                <a:cs typeface="Arial" panose="020B0604020202020204" pitchFamily="34" charset="0"/>
              </a:rPr>
              <a:t>Breiman</a:t>
            </a:r>
            <a:r>
              <a:rPr sz="1200" dirty="0">
                <a:latin typeface="Arial" panose="020B0604020202020204" pitchFamily="34" charset="0"/>
                <a:cs typeface="Arial" panose="020B0604020202020204" pitchFamily="34" charset="0"/>
              </a:rPr>
              <a:t>, L., “Random Forests,” Machine Learning, vol. 45, pp. 5–32, 2001.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21A026-1A17-5051-CC1F-2EDD75281C3A}"/>
              </a:ext>
            </a:extLst>
          </p:cNvPr>
          <p:cNvSpPr>
            <a:spLocks noGrp="1"/>
          </p:cNvSpPr>
          <p:nvPr>
            <p:ph type="title"/>
          </p:nvPr>
        </p:nvSpPr>
        <p:spPr>
          <a:xfrm>
            <a:off x="2650731" y="999064"/>
            <a:ext cx="5925989" cy="3167510"/>
          </a:xfrm>
        </p:spPr>
        <p:txBody>
          <a:bodyPr vert="horz" lIns="91440" tIns="45720" rIns="91440" bIns="45720" rtlCol="0" anchor="b">
            <a:normAutofit/>
          </a:bodyPr>
          <a:lstStyle/>
          <a:p>
            <a:pPr algn="r" defTabSz="914400">
              <a:lnSpc>
                <a:spcPct val="90000"/>
              </a:lnSpc>
            </a:pPr>
            <a:r>
              <a:rPr lang="en-US" sz="9600" kern="1200" dirty="0">
                <a:solidFill>
                  <a:schemeClr val="tx1"/>
                </a:solidFill>
                <a:latin typeface="+mj-lt"/>
                <a:ea typeface="+mj-ea"/>
                <a:cs typeface="+mj-cs"/>
              </a:rPr>
              <a:t>Thank You!</a:t>
            </a:r>
          </a:p>
        </p:txBody>
      </p:sp>
    </p:spTree>
    <p:extLst>
      <p:ext uri="{BB962C8B-B14F-4D97-AF65-F5344CB8AC3E}">
        <p14:creationId xmlns:p14="http://schemas.microsoft.com/office/powerpoint/2010/main" val="1042177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b72c12f-87a4-44ab-bbc5-4cc8306b158a" xsi:nil="true"/>
    <lcf76f155ced4ddcb4097134ff3c332f xmlns="5aad1aa7-8ede-435c-b3a7-ac11bacaeb5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C351CF19874D54390B54B723E8A2D43" ma:contentTypeVersion="13" ma:contentTypeDescription="Create a new document." ma:contentTypeScope="" ma:versionID="ed8957265f396ef1a05f01d558c99f69">
  <xsd:schema xmlns:xsd="http://www.w3.org/2001/XMLSchema" xmlns:xs="http://www.w3.org/2001/XMLSchema" xmlns:p="http://schemas.microsoft.com/office/2006/metadata/properties" xmlns:ns2="5aad1aa7-8ede-435c-b3a7-ac11bacaeb50" xmlns:ns3="db72c12f-87a4-44ab-bbc5-4cc8306b158a" targetNamespace="http://schemas.microsoft.com/office/2006/metadata/properties" ma:root="true" ma:fieldsID="1597c9238c56ccca7c2d5e0a413be07c" ns2:_="" ns3:_="">
    <xsd:import namespace="5aad1aa7-8ede-435c-b3a7-ac11bacaeb50"/>
    <xsd:import namespace="db72c12f-87a4-44ab-bbc5-4cc8306b15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ad1aa7-8ede-435c-b3a7-ac11bacaeb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b72c12f-87a4-44ab-bbc5-4cc8306b158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a90b710-f748-4220-b362-4102ae550bf9}" ma:internalName="TaxCatchAll" ma:showField="CatchAllData" ma:web="db72c12f-87a4-44ab-bbc5-4cc8306b15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B049C1-47DB-40A8-AE04-8D635DD7586D}">
  <ds:schemaRefs>
    <ds:schemaRef ds:uri="http://schemas.microsoft.com/office/2006/metadata/properties"/>
    <ds:schemaRef ds:uri="http://schemas.microsoft.com/office/infopath/2007/PartnerControls"/>
    <ds:schemaRef ds:uri="db72c12f-87a4-44ab-bbc5-4cc8306b158a"/>
    <ds:schemaRef ds:uri="5aad1aa7-8ede-435c-b3a7-ac11bacaeb50"/>
  </ds:schemaRefs>
</ds:datastoreItem>
</file>

<file path=customXml/itemProps2.xml><?xml version="1.0" encoding="utf-8"?>
<ds:datastoreItem xmlns:ds="http://schemas.openxmlformats.org/officeDocument/2006/customXml" ds:itemID="{A9C336FE-F6E4-48E6-8C93-50B72940055C}">
  <ds:schemaRefs>
    <ds:schemaRef ds:uri="http://schemas.microsoft.com/sharepoint/v3/contenttype/forms"/>
  </ds:schemaRefs>
</ds:datastoreItem>
</file>

<file path=customXml/itemProps3.xml><?xml version="1.0" encoding="utf-8"?>
<ds:datastoreItem xmlns:ds="http://schemas.openxmlformats.org/officeDocument/2006/customXml" ds:itemID="{70BBB269-B93E-44A5-A8D7-9D3CA62AB9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aad1aa7-8ede-435c-b3a7-ac11bacaeb50"/>
    <ds:schemaRef ds:uri="db72c12f-87a4-44ab-bbc5-4cc8306b15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870</TotalTime>
  <Words>2784</Words>
  <Application>Microsoft Office PowerPoint</Application>
  <PresentationFormat>Widescreen</PresentationFormat>
  <Paragraphs>370</Paragraphs>
  <Slides>25</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Arial</vt:lpstr>
      <vt:lpstr>Calibri</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TexCycle AI Final Research Presentation</dc:title>
  <dc:subject>Project introduction, architecture, individual research components, models, methodology, results and limitations</dc:subject>
  <dc:creator>TexCycle AI Research Team</dc:creator>
  <cp:keywords/>
  <dc:description>generated using python-pptx</dc:description>
  <cp:lastModifiedBy>SANDEEPA S.A.C it22281814</cp:lastModifiedBy>
  <cp:revision>35</cp:revision>
  <dcterms:created xsi:type="dcterms:W3CDTF">2013-01-27T09:14:16Z</dcterms:created>
  <dcterms:modified xsi:type="dcterms:W3CDTF">2026-10-19T13:33:57Z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0x0101003C351CF19874D54390B54B723E8A2D43</vt:lpwstr>
  </property>
  <property fmtid="{D5CDD505-2E9C-101B-9397-08002B2CF9AE}" pid="3" name="MediaServiceImageTags">
    <vt:lpwstr/>
  </property>
</Properties>
</file>